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7.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8.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47cab23e294e36" /><Relationship Type="http://schemas.openxmlformats.org/officeDocument/2006/relationships/extended-properties" Target="/docProps/app.xml" Id="R5d1c0dc4ec014dd1" /><Relationship Type="http://schemas.openxmlformats.org/officeDocument/2006/relationships/officeDocument" Target="/ppt/presentation.xml" Id="Ra93c4045e1a64f8b" /></Relationships>
</file>

<file path=ppt/presentation.xml><?xml version="1.0" encoding="utf-8"?>
<p:presentation xmlns:p="http://schemas.openxmlformats.org/presentationml/2006/main">
  <p:sldMasterIdLst>
    <p:sldMasterId xmlns:r="http://schemas.openxmlformats.org/officeDocument/2006/relationships" id="2147483648" r:id="R8b2b6973a6194ccc"/>
  </p:sldMasterIdLst>
  <p:notesMasterIdLst>
    <p:notesMasterId xmlns:r="http://schemas.openxmlformats.org/officeDocument/2006/relationships" r:id="R70d924927c3448d7"/>
  </p:notesMasterIdLst>
  <p:sldIdLst>
    <p:sldId xmlns:r="http://schemas.openxmlformats.org/officeDocument/2006/relationships" id="256" r:id="R6fc25627157f4b3b"/>
    <p:sldId xmlns:r="http://schemas.openxmlformats.org/officeDocument/2006/relationships" id="257" r:id="R660c569f90b04691"/>
    <p:sldId xmlns:r="http://schemas.openxmlformats.org/officeDocument/2006/relationships" id="258" r:id="R445086742cff4074"/>
    <p:sldId xmlns:r="http://schemas.openxmlformats.org/officeDocument/2006/relationships" id="259" r:id="R4af8f6a4ef1a4a3e"/>
    <p:sldId xmlns:r="http://schemas.openxmlformats.org/officeDocument/2006/relationships" id="260" r:id="R20ff67b2e8b040a9"/>
    <p:sldId xmlns:r="http://schemas.openxmlformats.org/officeDocument/2006/relationships" id="261" r:id="Rde126d0e84394854"/>
    <p:sldId xmlns:r="http://schemas.openxmlformats.org/officeDocument/2006/relationships" id="262" r:id="R1509253132e945ab"/>
    <p:sldId xmlns:r="http://schemas.openxmlformats.org/officeDocument/2006/relationships" id="263" r:id="Ref9167b7fcde4964"/>
    <p:sldId xmlns:r="http://schemas.openxmlformats.org/officeDocument/2006/relationships" id="264" r:id="R54f819b9dae14beb"/>
    <p:sldId xmlns:r="http://schemas.openxmlformats.org/officeDocument/2006/relationships" id="265" r:id="R0c7373a18a3b47c0"/>
    <p:sldId xmlns:r="http://schemas.openxmlformats.org/officeDocument/2006/relationships" id="266" r:id="R24cf6ae54cd64626"/>
    <p:sldId xmlns:r="http://schemas.openxmlformats.org/officeDocument/2006/relationships" id="267" r:id="Rae6b15e0a427437d"/>
    <p:sldId xmlns:r="http://schemas.openxmlformats.org/officeDocument/2006/relationships" id="268" r:id="R717e7555380e4b7e"/>
    <p:sldId xmlns:r="http://schemas.openxmlformats.org/officeDocument/2006/relationships" id="269" r:id="R84548005d36d4db2"/>
    <p:sldId xmlns:r="http://schemas.openxmlformats.org/officeDocument/2006/relationships" id="270" r:id="R1ab07eba174749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d149b849fa4f24" /><Relationship Type="http://schemas.openxmlformats.org/officeDocument/2006/relationships/slideMaster" Target="/ppt/slideMasters/slideMaster1.xml" Id="R8b2b6973a6194ccc" /><Relationship Type="http://schemas.openxmlformats.org/officeDocument/2006/relationships/notesMaster" Target="/ppt/notesMasters/notesMaster1.xml" Id="R70d924927c3448d7" /><Relationship Type="http://schemas.openxmlformats.org/officeDocument/2006/relationships/presProps" Target="/ppt/presProps.xml" Id="Re2cc062683fd41c2" /><Relationship Type="http://schemas.openxmlformats.org/officeDocument/2006/relationships/tableStyles" Target="/ppt/tableStyles.xml" Id="Rda9be11cc78f46dd" /><Relationship Type="http://schemas.openxmlformats.org/officeDocument/2006/relationships/slide" Target="/ppt/slides/slide1.xml" Id="R6fc25627157f4b3b" /><Relationship Type="http://schemas.openxmlformats.org/officeDocument/2006/relationships/slide" Target="/ppt/slides/slide2.xml" Id="R660c569f90b04691" /><Relationship Type="http://schemas.openxmlformats.org/officeDocument/2006/relationships/slide" Target="/ppt/slides/slide3.xml" Id="R445086742cff4074" /><Relationship Type="http://schemas.openxmlformats.org/officeDocument/2006/relationships/slide" Target="/ppt/slides/slide4.xml" Id="R4af8f6a4ef1a4a3e" /><Relationship Type="http://schemas.openxmlformats.org/officeDocument/2006/relationships/slide" Target="/ppt/slides/slide5.xml" Id="R20ff67b2e8b040a9" /><Relationship Type="http://schemas.openxmlformats.org/officeDocument/2006/relationships/slide" Target="/ppt/slides/slide6.xml" Id="Rde126d0e84394854" /><Relationship Type="http://schemas.openxmlformats.org/officeDocument/2006/relationships/slide" Target="/ppt/slides/slide7.xml" Id="R1509253132e945ab" /><Relationship Type="http://schemas.openxmlformats.org/officeDocument/2006/relationships/slide" Target="/ppt/slides/slide8.xml" Id="Ref9167b7fcde4964" /><Relationship Type="http://schemas.openxmlformats.org/officeDocument/2006/relationships/slide" Target="/ppt/slides/slide9.xml" Id="R54f819b9dae14beb" /><Relationship Type="http://schemas.openxmlformats.org/officeDocument/2006/relationships/slide" Target="/ppt/slides/slide10.xml" Id="R0c7373a18a3b47c0" /><Relationship Type="http://schemas.openxmlformats.org/officeDocument/2006/relationships/slide" Target="/ppt/slides/slide11.xml" Id="R24cf6ae54cd64626" /><Relationship Type="http://schemas.openxmlformats.org/officeDocument/2006/relationships/slide" Target="/ppt/slides/slide12.xml" Id="Rae6b15e0a427437d" /><Relationship Type="http://schemas.openxmlformats.org/officeDocument/2006/relationships/slide" Target="/ppt/slides/slide13.xml" Id="R717e7555380e4b7e" /><Relationship Type="http://schemas.openxmlformats.org/officeDocument/2006/relationships/slide" Target="/ppt/slides/slide14.xml" Id="R84548005d36d4db2" /><Relationship Type="http://schemas.openxmlformats.org/officeDocument/2006/relationships/slide" Target="/ppt/slides/slide15.xml" Id="R1ab07eba174749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33af10073b40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13b772189c4ac6" /><Relationship Type="http://schemas.openxmlformats.org/officeDocument/2006/relationships/notesMaster" Target="/ppt/notesMasters/notesMaster1.xml" Id="R6d8396ce588749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e7740a0d704d34" /><Relationship Type="http://schemas.openxmlformats.org/officeDocument/2006/relationships/notesMaster" Target="/ppt/notesMasters/notesMaster1.xml" Id="R8b06aa5c6c1846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1da7e3d1ac4d4f" /><Relationship Type="http://schemas.openxmlformats.org/officeDocument/2006/relationships/notesMaster" Target="/ppt/notesMasters/notesMaster1.xml" Id="Re00598e2b85040c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6028ab5cdf4eee" /><Relationship Type="http://schemas.openxmlformats.org/officeDocument/2006/relationships/notesMaster" Target="/ppt/notesMasters/notesMaster1.xml" Id="Rf6c069b1d5c043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4d02f5fd2e4514" /><Relationship Type="http://schemas.openxmlformats.org/officeDocument/2006/relationships/notesMaster" Target="/ppt/notesMasters/notesMaster1.xml" Id="R5e26f4cfd65b49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973f7d95e04fb6" /><Relationship Type="http://schemas.openxmlformats.org/officeDocument/2006/relationships/notesMaster" Target="/ppt/notesMasters/notesMaster1.xml" Id="R98fd934d96b4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6fbb332c4e496b" /><Relationship Type="http://schemas.openxmlformats.org/officeDocument/2006/relationships/notesMaster" Target="/ppt/notesMasters/notesMaster1.xml" Id="R8846649f92874a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6f8fd359d24fc8" /><Relationship Type="http://schemas.openxmlformats.org/officeDocument/2006/relationships/notesMaster" Target="/ppt/notesMasters/notesMaster1.xml" Id="Rc3d5f46d97e54a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c43855c26542a8" /><Relationship Type="http://schemas.openxmlformats.org/officeDocument/2006/relationships/notesMaster" Target="/ppt/notesMasters/notesMaster1.xml" Id="R2bdda49007514f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0a0151b2ae487c" /><Relationship Type="http://schemas.openxmlformats.org/officeDocument/2006/relationships/notesMaster" Target="/ppt/notesMasters/notesMaster1.xml" Id="R2da75b7656c4480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0faf52b5b294f82" /><Relationship Type="http://schemas.openxmlformats.org/officeDocument/2006/relationships/notesMaster" Target="/ppt/notesMasters/notesMaster1.xml" Id="Rc03869c55bc24c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f414522871427e" /><Relationship Type="http://schemas.openxmlformats.org/officeDocument/2006/relationships/notesMaster" Target="/ppt/notesMasters/notesMaster1.xml" Id="Rbb359fe3aa2b4e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db7912ee4a45f0" /><Relationship Type="http://schemas.openxmlformats.org/officeDocument/2006/relationships/notesMaster" Target="/ppt/notesMasters/notesMaster1.xml" Id="R35a6cf19435943e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c78f7724034217" /><Relationship Type="http://schemas.openxmlformats.org/officeDocument/2006/relationships/notesMaster" Target="/ppt/notesMasters/notesMaster1.xml" Id="R219ef869e66f409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1ae904700d47be" /><Relationship Type="http://schemas.openxmlformats.org/officeDocument/2006/relationships/notesMaster" Target="/ppt/notesMasters/notesMaster1.xml" Id="Rda563dfffd5041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45 seconds. No equation yet. Show the simulated delivery data. Ask students to guess a fee at5.5km from the overall pattern. Accept approximate guesses.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45 seconds. Gather two or three guesses. Explain a model as a simple summary of a pattern that we use to estimate new cases. No claim of guaranteed accuracy. Then introduce y=mx+c in the next slide as a name for a straight-line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20 seconds. Start with the equation. Ask students which part describes the starting amount and which part describes the change. No proof or derivation.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40 seconds. Explain the water tank scenario. At time zero it already holds 5 litres. Point to the intercept and ask for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45 seconds. Each minute adds 2 litres. Show the points (1,7) and (2,9). Increase x by 1, y by 2. Units of m are litres per minute.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40 seconds. Students describe each trend before reading the labels. These are illustrative lines, not preset dataset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Step 1. This is simulated delivery data, with separate observations. Ask whether all points lie on one line and what trend students notice. Do not give the dataset trend in the dropdown.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Step 1. Explain that the line summarises the whole dataset. It need not pass through each point. The app calculates it automatically. Do not teach the least-squares algorithm.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40 seconds. A supervised model learns from examples of inputs and observed outputs. Here the computer selects the line from the data, rather than a person specifying its final slope and starting value. The left line is an illustrative starting guess, not a recorded training run. The right line summarises the data better. Do not introduce loss, gradients or manual calculations. Source: https://developers.google.com/machine-learning/crash-course/linear-regression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40 seconds. Linear regression is a simple window into machine learning, not a claim that every AI system is a straight line. Many modern AI systems use neural networks, which can model nonlinear patterns from richer inputs. Use image recognition or a text model as familiar examples. Text language models predict a next token from context; say next piece of text rather than teaching tokenization. Sources: https://developers.google.com/machine-learning/crash-course/neural-networks and https://developers.google.com/machine-learning/crash-course/llm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about 40 seconds. Fitting the examples is not sufficient: test predictions on new examples withheld during learning. This gives evidence about generalization, not a guarantee. To check a model, predict outcomes for examples it did not learn from, then compare with their actual outcomes. Today, comparing a student line with the browser line helps discuss different models; it does not establish their real-world accuracy. Data quality also matters, as one unusual point in the activity can change the fitted line. Keep training/test terminology optional. Source: https://developers.google.com/machine-learning/crash-course/overfitting/generalization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Step 2. Students keep their selected dataset and click or tap the graph. Ask them to predict first, compare m and c, and use Undo or Reset between experiments. Have students undo after each trial before comparing a different new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Step 3. Each dot represents simulated observations from a different student. Students first draw an intuitive straight line on the worksheet, then estimate the score for 3.5 hours per day and record it before checking the page. Axes are fixed at 0–24 hours and 0–100 marks. A trend does not prove that more study guarantees a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written predictions. The fitted line is y=2x+50. m is about 2 marks per extra study hour in this model. c is the estimated score at zero hours. 3.5 hours is within the observed 0–6-hour range. 10 hours is outside. At 24 hours the model gives 98 marks, but this remains far outside the observed range and cannot guarantee a result. Discuss how other factors influence scores. Say: 這些數據不能證明，多溫習一小時就會令成績增加兩分。 These data do not show that an extra study hour causes a two-mark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5 minutes. Students complete the last worksheet section. Ask pairs to share one observation. Review initial value and rate of change without proof or rigorous mathematics.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8ffa8bb1234af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719457b7a9455c" /><Relationship Type="http://schemas.openxmlformats.org/officeDocument/2006/relationships/slideLayout" Target="/ppt/slideLayouts/slideLayout1.xml" Id="R1b8bd899ec014c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8bd899ec014c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bb2921590e41fc" /><Relationship Type="http://schemas.openxmlformats.org/officeDocument/2006/relationships/chart" Target="/ppt/slides/charts/chart1.xml" Id="R4098624365a84013" /><Relationship Type="http://schemas.openxmlformats.org/officeDocument/2006/relationships/notesSlide" Target="/ppt/notesSlides/notesSlide1.xml" Id="R763e8edcfd824f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a4b55a21a74fed" /><Relationship Type="http://schemas.openxmlformats.org/officeDocument/2006/relationships/notesSlide" Target="/ppt/notesSlides/notesSlide2.xml" Id="Refd62415228b4f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57905d3ca374659" /><Relationship Type="http://schemas.openxmlformats.org/officeDocument/2006/relationships/notesSlide" Target="/ppt/notesSlides/notesSlide3.xml" Id="Ra6d7656e44ba45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05bca0a0014fb0" /><Relationship Type="http://schemas.openxmlformats.org/officeDocument/2006/relationships/chart" Target="/ppt/slides/charts/chart2.xml" Id="R5d90713960614c9b" /><Relationship Type="http://schemas.openxmlformats.org/officeDocument/2006/relationships/notesSlide" Target="/ppt/notesSlides/notesSlide4.xml" Id="Rc4692704c0084e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d2503749ac48a7" /><Relationship Type="http://schemas.openxmlformats.org/officeDocument/2006/relationships/chart" Target="/ppt/slides/charts/chart3.xml" Id="R86839fc698a84edf" /><Relationship Type="http://schemas.openxmlformats.org/officeDocument/2006/relationships/notesSlide" Target="/ppt/notesSlides/notesSlide5.xml" Id="R98524e35473144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91bd1adcf14665" /><Relationship Type="http://schemas.openxmlformats.org/officeDocument/2006/relationships/chart" Target="/ppt/slides/charts/chart4.xml" Id="R56ab84bdd3ca4499" /><Relationship Type="http://schemas.openxmlformats.org/officeDocument/2006/relationships/chart" Target="/ppt/slides/charts/chart5.xml" Id="Rdb3d18ff511549d5" /><Relationship Type="http://schemas.openxmlformats.org/officeDocument/2006/relationships/chart" Target="/ppt/slides/charts/chart6.xml" Id="Rd31c9c02aff44faa" /><Relationship Type="http://schemas.openxmlformats.org/officeDocument/2006/relationships/notesSlide" Target="/ppt/notesSlides/notesSlide6.xml" Id="R1d89c00f8c194d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ee5161956c4043" /><Relationship Type="http://schemas.openxmlformats.org/officeDocument/2006/relationships/chart" Target="/ppt/slides/charts/chart7.xml" Id="R2479a647818f4736" /><Relationship Type="http://schemas.openxmlformats.org/officeDocument/2006/relationships/notesSlide" Target="/ppt/notesSlides/notesSlide7.xml" Id="Raed64ce2fc0547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4bb83088c4947a2" /><Relationship Type="http://schemas.openxmlformats.org/officeDocument/2006/relationships/chart" Target="/ppt/slides/charts/chart8.xml" Id="Rf5a1bf4112ab449f" /><Relationship Type="http://schemas.openxmlformats.org/officeDocument/2006/relationships/notesSlide" Target="/ppt/notesSlides/notesSlide8.xml" Id="R6026e5d9a53b47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dd13f81d13845d7" /><Relationship Type="http://schemas.openxmlformats.org/officeDocument/2006/relationships/chart" Target="/ppt/slides/charts/chart9.xml" Id="Rbb40d088a83c445e" /><Relationship Type="http://schemas.openxmlformats.org/officeDocument/2006/relationships/chart" Target="/ppt/slides/charts/chart10.xml" Id="R7f0d611ca2854b17" /><Relationship Type="http://schemas.openxmlformats.org/officeDocument/2006/relationships/notesSlide" Target="/ppt/notesSlides/notesSlide9.xml" Id="Rca6aa96ed47444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b84a32983754119" /><Relationship Type="http://schemas.openxmlformats.org/officeDocument/2006/relationships/notesSlide" Target="/ppt/notesSlides/notesSlide10.xml" Id="Rcb883254c36d43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9191d080af4f7a" /><Relationship Type="http://schemas.openxmlformats.org/officeDocument/2006/relationships/notesSlide" Target="/ppt/notesSlides/notesSlide11.xml" Id="Rd72cfa856ad242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362fd49863f46a6" /><Relationship Type="http://schemas.openxmlformats.org/officeDocument/2006/relationships/notesSlide" Target="/ppt/notesSlides/notesSlide12.xml" Id="R7bd652dac65f49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f5fbe178b144a2" /><Relationship Type="http://schemas.openxmlformats.org/officeDocument/2006/relationships/chart" Target="/ppt/slides/charts/chart11.xml" Id="R17c7a67ba22547e0" /><Relationship Type="http://schemas.openxmlformats.org/officeDocument/2006/relationships/notesSlide" Target="/ppt/notesSlides/notesSlide13.xml" Id="Rf2f1a97cbb2641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e6db7b58e14287" /><Relationship Type="http://schemas.openxmlformats.org/officeDocument/2006/relationships/notesSlide" Target="/ppt/notesSlides/notesSlide14.xml" Id="R9081a9b45bf947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c0eb51775184853" /><Relationship Type="http://schemas.openxmlformats.org/officeDocument/2006/relationships/notesSlide" Target="/ppt/notesSlides/notesSlide15.xml" Id="R5ed05d28a3f44e3c" /></Relationships>
</file>

<file path=ppt/slides/charts/chart1.xml><?xml version="1.0" encoding="utf-8"?>
<c:chartSpace xmlns:c="http://schemas.openxmlformats.org/drawingml/2006/chart">
  <c:lang val="en-US"/>
  <c:chart>
    <c:plotArea>
      <c:scatterChart>
        <c:scatterStyle val="lineMarker"/>
        <c:ser>
          <c:idx val="0"/>
          <c:order val="0"/>
          <c:tx>
            <c:v>例子 / Examples</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0</c:formatCode>
              <c:ptCount val="11"/>
              <c:pt idx="0">
                <c:v>12</c:v>
              </c:pt>
              <c:pt idx="1">
                <c:v>9</c:v>
              </c:pt>
              <c:pt idx="2">
                <c:v>22</c:v>
              </c:pt>
              <c:pt idx="3">
                <c:v>13</c:v>
              </c:pt>
              <c:pt idx="4">
                <c:v>26</c:v>
              </c:pt>
              <c:pt idx="5">
                <c:v>22</c:v>
              </c:pt>
              <c:pt idx="6">
                <c:v>35</c:v>
              </c:pt>
              <c:pt idx="7">
                <c:v>26</c:v>
              </c:pt>
              <c:pt idx="8">
                <c:v>42</c:v>
              </c:pt>
              <c:pt idx="9">
                <c:v>34</c:v>
              </c:pt>
              <c:pt idx="10">
                <c:v>43</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Fee (HK$)</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10"/>
      </c:valAx>
      <c:valAx>
        <c:axId val="48650112"/>
        <c:scaling>
          <c:orientation val="minMax"/>
          <c:max val="10"/>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Distance (km)</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模型 / Model</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5</c:v>
              </c:pt>
            </c:numLit>
          </c:xVal>
          <c:yVal>
            <c:numLit>
              <c:formatCode>0</c:formatCode>
              <c:ptCount val="2"/>
              <c:pt idx="0">
                <c:v>5</c:v>
              </c:pt>
              <c:pt idx="1">
                <c:v>15</c:v>
              </c:pt>
            </c:numLit>
          </c:yVal>
        </c:ser>
        <c:ser>
          <c:idx val="1"/>
          <c:order val="1"/>
          <c:tx>
            <c:v>初始值 / Initial value</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
              <c:pt idx="0">
                <c:v>0</c:v>
              </c:pt>
            </c:numLit>
          </c:xVal>
          <c:yVal>
            <c:numLit>
              <c:formatCode>0</c:formatCode>
              <c:ptCount val="1"/>
              <c:pt idx="0">
                <c:v>5</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 (L)</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5"/>
      </c:valAx>
      <c:valAx>
        <c:axId val="48650112"/>
        <c:scaling>
          <c:orientation val="minMax"/>
          <c:max val="5"/>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 (min)</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1"/>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模型 / Model</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6"/>
              <c:pt idx="0">
                <c:v>0</c:v>
              </c:pt>
              <c:pt idx="1">
                <c:v>1</c:v>
              </c:pt>
              <c:pt idx="2">
                <c:v>2</c:v>
              </c:pt>
              <c:pt idx="3">
                <c:v>3</c:v>
              </c:pt>
              <c:pt idx="4">
                <c:v>4</c:v>
              </c:pt>
              <c:pt idx="5">
                <c:v>5</c:v>
              </c:pt>
            </c:numLit>
          </c:xVal>
          <c:yVal>
            <c:numLit>
              <c:formatCode>0</c:formatCode>
              <c:ptCount val="6"/>
              <c:pt idx="0">
                <c:v>5</c:v>
              </c:pt>
              <c:pt idx="1">
                <c:v>7</c:v>
              </c:pt>
              <c:pt idx="2">
                <c:v>9</c:v>
              </c:pt>
              <c:pt idx="3">
                <c:v>11</c:v>
              </c:pt>
              <c:pt idx="4">
                <c:v>13</c:v>
              </c:pt>
              <c:pt idx="5">
                <c:v>15</c:v>
              </c:pt>
            </c:numLit>
          </c:yVal>
        </c:ser>
        <c:ser>
          <c:idx val="1"/>
          <c:order val="1"/>
          <c:tx>
            <c:v>觀察 / Values</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2"/>
              <c:pt idx="0">
                <c:v>1</c:v>
              </c:pt>
              <c:pt idx="1">
                <c:v>2</c:v>
              </c:pt>
            </c:numLit>
          </c:xVal>
          <c:yVal>
            <c:numLit>
              <c:formatCode>0</c:formatCode>
              <c:ptCount val="2"/>
              <c:pt idx="0">
                <c:v>7</c:v>
              </c:pt>
              <c:pt idx="1">
                <c:v>9</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 (L)</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5"/>
      </c:valAx>
      <c:valAx>
        <c:axId val="48650112"/>
        <c:scaling>
          <c:orientation val="minMax"/>
          <c:max val="5"/>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 (min)</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1"/>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Line</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4</c:v>
              </c:pt>
            </c:numLit>
          </c:xVal>
          <c:yVal>
            <c:numLit>
              <c:formatCode>0</c:formatCode>
              <c:ptCount val="2"/>
              <c:pt idx="0">
                <c:v>2</c:v>
              </c:pt>
              <c:pt idx="1">
                <c:v>10</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4"/>
      </c:valAx>
      <c:valAx>
        <c:axId val="48650112"/>
        <c:scaling>
          <c:orientation val="minMax"/>
          <c:max val="4"/>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Line</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4</c:v>
              </c:pt>
            </c:numLit>
          </c:xVal>
          <c:yVal>
            <c:numLit>
              <c:formatCode>0</c:formatCode>
              <c:ptCount val="2"/>
              <c:pt idx="0">
                <c:v>10</c:v>
              </c:pt>
              <c:pt idx="1">
                <c:v>2</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4"/>
      </c:valAx>
      <c:valAx>
        <c:axId val="48650112"/>
        <c:scaling>
          <c:orientation val="minMax"/>
          <c:max val="4"/>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Line</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4</c:v>
              </c:pt>
            </c:numLit>
          </c:xVal>
          <c:yVal>
            <c:numLit>
              <c:formatCode>0</c:formatCode>
              <c:ptCount val="2"/>
              <c:pt idx="0">
                <c:v>6</c:v>
              </c:pt>
              <c:pt idx="1">
                <c:v>6</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2"/>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4"/>
      </c:valAx>
      <c:valAx>
        <c:axId val="48650112"/>
        <c:scaling>
          <c:orientation val="minMax"/>
          <c:max val="4"/>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7.xml><?xml version="1.0" encoding="utf-8"?>
<c:chartSpace xmlns:c="http://schemas.openxmlformats.org/drawingml/2006/chart">
  <c:lang val="en-US"/>
  <c:chart>
    <c:plotArea>
      <c:scatterChart>
        <c:scatterStyle val="lineMarker"/>
        <c:ser>
          <c:idx val="0"/>
          <c:order val="0"/>
          <c:tx>
            <c:v>數據 / Data</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0</c:formatCode>
              <c:ptCount val="11"/>
              <c:pt idx="0">
                <c:v>12</c:v>
              </c:pt>
              <c:pt idx="1">
                <c:v>9</c:v>
              </c:pt>
              <c:pt idx="2">
                <c:v>22</c:v>
              </c:pt>
              <c:pt idx="3">
                <c:v>13</c:v>
              </c:pt>
              <c:pt idx="4">
                <c:v>26</c:v>
              </c:pt>
              <c:pt idx="5">
                <c:v>22</c:v>
              </c:pt>
              <c:pt idx="6">
                <c:v>35</c:v>
              </c:pt>
              <c:pt idx="7">
                <c:v>26</c:v>
              </c:pt>
              <c:pt idx="8">
                <c:v>42</c:v>
              </c:pt>
              <c:pt idx="9">
                <c:v>34</c:v>
              </c:pt>
              <c:pt idx="10">
                <c:v>43</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收費 / Fee (HK$)</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10"/>
      </c:valAx>
      <c:valAx>
        <c:axId val="48650112"/>
        <c:scaling>
          <c:orientation val="minMax"/>
          <c:max val="10"/>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距離 / Distance (km)</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8.xml><?xml version="1.0" encoding="utf-8"?>
<c:chartSpace xmlns:c="http://schemas.openxmlformats.org/drawingml/2006/chart">
  <c:lang val="en-US"/>
  <c:chart>
    <c:plotArea>
      <c:scatterChart>
        <c:scatterStyle val="lineMarker"/>
        <c:ser>
          <c:idx val="0"/>
          <c:order val="0"/>
          <c:tx>
            <c:v>數據 / Data</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0</c:formatCode>
              <c:ptCount val="11"/>
              <c:pt idx="0">
                <c:v>12</c:v>
              </c:pt>
              <c:pt idx="1">
                <c:v>9</c:v>
              </c:pt>
              <c:pt idx="2">
                <c:v>22</c:v>
              </c:pt>
              <c:pt idx="3">
                <c:v>13</c:v>
              </c:pt>
              <c:pt idx="4">
                <c:v>26</c:v>
              </c:pt>
              <c:pt idx="5">
                <c:v>22</c:v>
              </c:pt>
              <c:pt idx="6">
                <c:v>35</c:v>
              </c:pt>
              <c:pt idx="7">
                <c:v>26</c:v>
              </c:pt>
              <c:pt idx="8">
                <c:v>42</c:v>
              </c:pt>
              <c:pt idx="9">
                <c:v>34</c:v>
              </c:pt>
              <c:pt idx="10">
                <c:v>43</c:v>
              </c:pt>
            </c:numLit>
          </c:yVal>
        </c:ser>
        <c:ser>
          <c:idx val="1"/>
          <c:order val="1"/>
          <c:tx>
            <c:v>最佳擬合 / Best fit</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10</c:v>
              </c:pt>
            </c:numLit>
          </c:xVal>
          <c:yVal>
            <c:numLit>
              <c:formatCode>0</c:formatCode>
              <c:ptCount val="2"/>
              <c:pt idx="0">
                <c:v>9.9090909091</c:v>
              </c:pt>
              <c:pt idx="1">
                <c:v>41.7272727273</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收費 / Fee (HK$)</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10"/>
      </c:valAx>
      <c:valAx>
        <c:axId val="48650112"/>
        <c:scaling>
          <c:orientation val="minMax"/>
          <c:max val="10"/>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距離 / Distance (km)</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2"/>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9.xml><?xml version="1.0" encoding="utf-8"?>
<c:chartSpace xmlns:c="http://schemas.openxmlformats.org/drawingml/2006/chart">
  <c:lang val="en-US"/>
  <c:chart>
    <c:plotArea>
      <c:scatterChart>
        <c:scatterStyle val="lineMarker"/>
        <c:ser>
          <c:idx val="0"/>
          <c:order val="0"/>
          <c:tx>
            <c:v>數據 / Data</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0</c:formatCode>
              <c:ptCount val="11"/>
              <c:pt idx="0">
                <c:v>12</c:v>
              </c:pt>
              <c:pt idx="1">
                <c:v>9</c:v>
              </c:pt>
              <c:pt idx="2">
                <c:v>22</c:v>
              </c:pt>
              <c:pt idx="3">
                <c:v>13</c:v>
              </c:pt>
              <c:pt idx="4">
                <c:v>26</c:v>
              </c:pt>
              <c:pt idx="5">
                <c:v>22</c:v>
              </c:pt>
              <c:pt idx="6">
                <c:v>35</c:v>
              </c:pt>
              <c:pt idx="7">
                <c:v>26</c:v>
              </c:pt>
              <c:pt idx="8">
                <c:v>42</c:v>
              </c:pt>
              <c:pt idx="9">
                <c:v>34</c:v>
              </c:pt>
              <c:pt idx="10">
                <c:v>43</c:v>
              </c:pt>
            </c:numLit>
          </c:yVal>
        </c:ser>
        <c:ser>
          <c:idx val="1"/>
          <c:order val="1"/>
          <c:tx>
            <c:v>初步猜測 / Initial guess</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10</c:v>
              </c:pt>
            </c:numLit>
          </c:xVal>
          <c:yVal>
            <c:numLit>
              <c:formatCode>0</c:formatCode>
              <c:ptCount val="2"/>
              <c:pt idx="0">
                <c:v>12</c:v>
              </c:pt>
              <c:pt idx="1">
                <c:v>25</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10"/>
      </c:valAx>
      <c:valAx>
        <c:axId val="48650112"/>
        <c:scaling>
          <c:orientation val="minMax"/>
          <c:max val="10"/>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5"/>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10.xml><?xml version="1.0" encoding="utf-8"?>
<c:chartSpace xmlns:c="http://schemas.openxmlformats.org/drawingml/2006/chart">
  <c:lang val="en-US"/>
  <c:chart>
    <c:plotArea>
      <c:scatterChart>
        <c:scatterStyle val="lineMarker"/>
        <c:ser>
          <c:idx val="0"/>
          <c:order val="0"/>
          <c:tx>
            <c:v>數據 / Data</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11"/>
              <c:pt idx="0">
                <c:v>0</c:v>
              </c:pt>
              <c:pt idx="1">
                <c:v>1</c:v>
              </c:pt>
              <c:pt idx="2">
                <c:v>2</c:v>
              </c:pt>
              <c:pt idx="3">
                <c:v>3</c:v>
              </c:pt>
              <c:pt idx="4">
                <c:v>4</c:v>
              </c:pt>
              <c:pt idx="5">
                <c:v>5</c:v>
              </c:pt>
              <c:pt idx="6">
                <c:v>6</c:v>
              </c:pt>
              <c:pt idx="7">
                <c:v>7</c:v>
              </c:pt>
              <c:pt idx="8">
                <c:v>8</c:v>
              </c:pt>
              <c:pt idx="9">
                <c:v>9</c:v>
              </c:pt>
              <c:pt idx="10">
                <c:v>10</c:v>
              </c:pt>
            </c:numLit>
          </c:xVal>
          <c:yVal>
            <c:numLit>
              <c:formatCode>0</c:formatCode>
              <c:ptCount val="11"/>
              <c:pt idx="0">
                <c:v>12</c:v>
              </c:pt>
              <c:pt idx="1">
                <c:v>9</c:v>
              </c:pt>
              <c:pt idx="2">
                <c:v>22</c:v>
              </c:pt>
              <c:pt idx="3">
                <c:v>13</c:v>
              </c:pt>
              <c:pt idx="4">
                <c:v>26</c:v>
              </c:pt>
              <c:pt idx="5">
                <c:v>22</c:v>
              </c:pt>
              <c:pt idx="6">
                <c:v>35</c:v>
              </c:pt>
              <c:pt idx="7">
                <c:v>26</c:v>
              </c:pt>
              <c:pt idx="8">
                <c:v>42</c:v>
              </c:pt>
              <c:pt idx="9">
                <c:v>34</c:v>
              </c:pt>
              <c:pt idx="10">
                <c:v>43</c:v>
              </c:pt>
            </c:numLit>
          </c:yVal>
        </c:ser>
        <c:ser>
          <c:idx val="1"/>
          <c:order val="1"/>
          <c:tx>
            <c:v>較合適的直線 / Better fit</c:v>
          </c:tx>
          <c:spPr>
            <a:solidFill xmlns:a="http://schemas.openxmlformats.org/drawingml/2006/main">
              <a:srgbClr val="B65320"/>
            </a:solidFill>
            <a:ln xmlns:a="http://schemas.openxmlformats.org/drawingml/2006/main" w="28575">
              <a:solidFill>
                <a:srgbClr val="B65320"/>
              </a:solidFill>
            </a:ln>
          </c:spPr>
          <c:marker>
            <c:symbol val="none"/>
          </c:marker>
          <c:xVal>
            <c:numLit>
              <c:formatCode>General</c:formatCode>
              <c:ptCount val="2"/>
              <c:pt idx="0">
                <c:v>0</c:v>
              </c:pt>
              <c:pt idx="1">
                <c:v>10</c:v>
              </c:pt>
            </c:numLit>
          </c:xVal>
          <c:yVal>
            <c:numLit>
              <c:formatCode>0</c:formatCode>
              <c:ptCount val="2"/>
              <c:pt idx="0">
                <c:v>9.9090909091</c:v>
              </c:pt>
              <c:pt idx="1">
                <c:v>41.7272727273</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y</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10"/>
      </c:valAx>
      <c:valAx>
        <c:axId val="48650112"/>
        <c:scaling>
          <c:orientation val="minMax"/>
          <c:max val="10"/>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x</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5"/>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charts/chart11.xml><?xml version="1.0" encoding="utf-8"?>
<c:chartSpace xmlns:c="http://schemas.openxmlformats.org/drawingml/2006/chart">
  <c:lang val="en-US"/>
  <c:chart>
    <c:plotArea>
      <c:scatterChart>
        <c:scatterStyle val="lineMarker"/>
        <c:ser>
          <c:idx val="0"/>
          <c:order val="0"/>
          <c:tx>
            <c:v>模擬學生 / Simulated students</c:v>
          </c:tx>
          <c:spPr>
            <a:solidFill xmlns:a="http://schemas.openxmlformats.org/drawingml/2006/main">
              <a:srgbClr val="086C61"/>
            </a:solidFill>
            <a:ln xmlns:a="http://schemas.openxmlformats.org/drawingml/2006/main" w="0">
              <a:noFill/>
            </a:ln>
          </c:spPr>
          <c:marker>
            <c:symbol val="circle"/>
            <c:size val="9"/>
            <c:spPr>
              <a:noFill xmlns:a="http://schemas.openxmlformats.org/drawingml/2006/main"/>
            </c:spPr>
          </c:marker>
          <c:xVal>
            <c:numLit>
              <c:formatCode>General</c:formatCode>
              <c:ptCount val="7"/>
              <c:pt idx="0">
                <c:v>0</c:v>
              </c:pt>
              <c:pt idx="1">
                <c:v>1</c:v>
              </c:pt>
              <c:pt idx="2">
                <c:v>2</c:v>
              </c:pt>
              <c:pt idx="3">
                <c:v>3</c:v>
              </c:pt>
              <c:pt idx="4">
                <c:v>4</c:v>
              </c:pt>
              <c:pt idx="5">
                <c:v>5</c:v>
              </c:pt>
              <c:pt idx="6">
                <c:v>6</c:v>
              </c:pt>
            </c:numLit>
          </c:xVal>
          <c:yVal>
            <c:numLit>
              <c:formatCode>0</c:formatCode>
              <c:ptCount val="7"/>
              <c:pt idx="0">
                <c:v>53</c:v>
              </c:pt>
              <c:pt idx="1">
                <c:v>46</c:v>
              </c:pt>
              <c:pt idx="2">
                <c:v>59</c:v>
              </c:pt>
              <c:pt idx="3">
                <c:v>52</c:v>
              </c:pt>
              <c:pt idx="4">
                <c:v>63</c:v>
              </c:pt>
              <c:pt idx="5">
                <c:v>54</c:v>
              </c:pt>
              <c:pt idx="6">
                <c:v>65</c:v>
              </c:pt>
            </c:numLit>
          </c:yVal>
        </c:ser>
        <c:dLbls>
          <c:txPr>
            <a:bodyPr xmlns:a="http://schemas.openxmlformats.org/drawingml/2006/main" anchorCtr="1"/>
            <a:lstStyle xmlns:a="http://schemas.openxmlformats.org/drawingml/2006/main"/>
            <a:p xmlns:a="http://schemas.openxmlformats.org/drawingml/2006/main">
              <a:pPr>
                <a:defRPr>
                  <a:latin typeface="Heiti TC"/>
                  <a:ea typeface="Heiti TC"/>
                  <a:cs typeface="Heiti TC"/>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考試成績 / Exam score</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50112"/>
        <c:majorUnit val="20"/>
      </c:valAx>
      <c:valAx>
        <c:axId val="48650112"/>
        <c:scaling>
          <c:orientation val="minMax"/>
          <c:max val="24"/>
          <c:min val="0"/>
        </c:scaling>
        <c:delete val="0"/>
        <c:axPos val="b"/>
        <c:majorGridlines>
          <c:spPr>
            <a:ln xmlns:a="http://schemas.openxmlformats.org/drawingml/2006/main" w="9525">
              <a:solidFill>
                <a:srgbClr val="D8E4DF"/>
              </a:solidFill>
            </a:ln>
          </c:spPr>
        </c:majorGridlines>
        <c:title>
          <c:tx>
            <c:rich>
              <a:bodyPr xmlns:a="http://schemas.openxmlformats.org/drawingml/2006/main"/>
              <a:lstStyle xmlns:a="http://schemas.openxmlformats.org/drawingml/2006/main"/>
              <a:p xmlns:a="http://schemas.openxmlformats.org/drawingml/2006/main">
                <a:r>
                  <a:rPr sz="1650">
                    <a:solidFill>
                      <a:srgbClr val="173C43"/>
                    </a:solidFill>
                    <a:latin typeface="Heiti TC"/>
                    <a:ea typeface="Heiti TC"/>
                    <a:cs typeface="Heiti TC"/>
                  </a:rPr>
                  <a:t>每天溫習時間 / Daily study time (h)</a:t>
                </a:r>
              </a:p>
            </c:rich>
          </c:tx>
          <c:overlay val="0"/>
          <c:txPr>
            <a:bodyPr xmlns:a="http://schemas.openxmlformats.org/drawingml/2006/main" anchorCtr="1"/>
            <a:lstStyle xmlns:a="http://schemas.openxmlformats.org/drawingml/2006/main"/>
            <a:p xmlns:a="http://schemas.openxmlformats.org/drawingml/2006/main">
              <a:pPr>
                <a:defRPr sz="1650">
                  <a:solidFill>
                    <a:srgbClr val="173C43"/>
                  </a:solidFill>
                  <a:latin typeface="Heiti TC"/>
                  <a:ea typeface="Heiti TC"/>
                  <a:cs typeface="Heiti TC"/>
                </a:defRPr>
              </a:pPr>
            </a:p>
          </c:txPr>
        </c:title>
        <c:numFmt formatCode="0"/>
        <c:majorTickMark val="none"/>
        <c:minorTickMark val="none"/>
        <c:spPr>
          <a:ln xmlns:a="http://schemas.openxmlformats.org/drawingml/2006/main" w="9525">
            <a:solidFill>
              <a:srgbClr val="526B70"/>
            </a:solidFill>
          </a:ln>
        </c:spPr>
        <c:txPr>
          <a:bodyPr xmlns:a="http://schemas.openxmlformats.org/drawingml/2006/main" anchorCtr="1"/>
          <a:lstStyle xmlns:a="http://schemas.openxmlformats.org/drawingml/2006/main"/>
          <a:p xmlns:a="http://schemas.openxmlformats.org/drawingml/2006/main">
            <a:pPr>
              <a:defRPr sz="1500">
                <a:solidFill>
                  <a:srgbClr val="526B70"/>
                </a:solidFill>
                <a:latin typeface="Heiti TC"/>
                <a:ea typeface="Heiti TC"/>
                <a:cs typeface="Heiti TC"/>
              </a:defRPr>
            </a:pPr>
          </a:p>
        </c:txPr>
        <c:crossAx val="48672768"/>
        <c:majorUnit val="6"/>
      </c:valAx>
      <c:spPr>
        <a:solidFill xmlns:a="http://schemas.openxmlformats.org/drawingml/2006/main">
          <a:srgbClr val="FFFFFF"/>
        </a:solidFill>
        <a:ln xmlns:a="http://schemas.openxmlformats.org/drawingml/2006/main" w="9525">
          <a:solidFill>
            <a:srgbClr val="D8E4DF"/>
          </a:solidFill>
        </a:ln>
      </c:spPr>
    </c:plotArea>
    <c:plotVisOnly val="1"/>
  </c:chart>
  <c:spPr>
    <a:solidFill xmlns:a="http://schemas.openxmlformats.org/drawingml/2006/main">
      <a:srgbClr val="F5F7F4"/>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6A6B13-B268-4317-8205-08E673C9714A}"/>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誰是預測高手？</a:t>
            </a:r>
          </a:p>
        </p:txBody>
      </p:sp>
      <p:sp>
        <p:nvSpPr>
          <p:cNvPr id="2" name="">
            <a:extLst xmlns:a="http://schemas.openxmlformats.org/drawingml/2006/main">
              <a:ext uri="{FF2B5EF4-FFF2-40B4-BE49-F238E27FC236}">
                <a16:creationId xmlns:a16="http://schemas.microsoft.com/office/drawing/2014/main" id="{F4ED2651-2B6F-40DD-BEAD-567BE8D4208F}"/>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Who can spot the pattern?</a:t>
            </a:r>
          </a:p>
        </p:txBody>
      </p:sp>
      <p:sp>
        <p:nvSpPr>
          <p:cNvPr id="3" name="">
            <a:extLst xmlns:a="http://schemas.openxmlformats.org/drawingml/2006/main">
              <a:ext uri="{FF2B5EF4-FFF2-40B4-BE49-F238E27FC236}">
                <a16:creationId xmlns:a16="http://schemas.microsoft.com/office/drawing/2014/main" id="{02AB62A7-658C-4E0D-B27F-AD6A00E5E0EF}"/>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a:t>
            </a:r>
          </a:p>
        </p:txBody>
      </p:sp>
      <p:graphicFrame>
        <p:nvGraphicFramePr>
          <p:cNvPr id="12" name="Chart"/>
          <p:cNvGraphicFramePr/>
          <p:nvPr/>
        </p:nvGraphicFramePr>
        <p:xfrm>
          <a:off xmlns:a="http://schemas.openxmlformats.org/drawingml/2006/main" x="609600" y="1657350"/>
          <a:ext xmlns:a="http://schemas.openxmlformats.org/drawingml/2006/main" cx="7000875" cy="4333875"/>
        </p:xfrm>
        <a:graphic xmlns:a="http://schemas.openxmlformats.org/drawingml/2006/main">
          <a:graphicData uri="http://schemas.openxmlformats.org/drawingml/2006/chart">
            <c:chart xmlns:r="http://schemas.openxmlformats.org/officeDocument/2006/relationships" xmlns:c="http://schemas.openxmlformats.org/drawingml/2006/chart" r:id="R4098624365a84013"/>
          </a:graphicData>
        </a:graphic>
      </p:graphicFrame>
      <p:sp>
        <p:nvSpPr>
          <p:cNvPr id="5" name="">
            <a:extLst xmlns:a="http://schemas.openxmlformats.org/drawingml/2006/main">
              <a:ext uri="{FF2B5EF4-FFF2-40B4-BE49-F238E27FC236}">
                <a16:creationId xmlns:a16="http://schemas.microsoft.com/office/drawing/2014/main" id="{94429B72-2F9F-44A0-B72D-0A468343FCDE}"/>
              </a:ext>
            </a:extLst>
          </p:cNvPr>
          <p:cNvSpPr>
            <a:spLocks xmlns:a="http://schemas.openxmlformats.org/drawingml/2006/main" noGrp="1"/>
          </p:cNvSpPr>
          <p:nvPr/>
        </p:nvSpPr>
        <p:spPr>
          <a:xfrm xmlns:a="http://schemas.openxmlformats.org/drawingml/2006/main">
            <a:off x="8096250" y="2066925"/>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5.5 公里，大約幾多錢？</a:t>
            </a:r>
          </a:p>
        </p:txBody>
      </p:sp>
      <p:sp>
        <p:nvSpPr>
          <p:cNvPr id="6" name="">
            <a:extLst xmlns:a="http://schemas.openxmlformats.org/drawingml/2006/main">
              <a:ext uri="{FF2B5EF4-FFF2-40B4-BE49-F238E27FC236}">
                <a16:creationId xmlns:a16="http://schemas.microsoft.com/office/drawing/2014/main" id="{DE5BD4C1-683D-499B-9232-5403C5720038}"/>
              </a:ext>
            </a:extLst>
          </p:cNvPr>
          <p:cNvSpPr>
            <a:spLocks xmlns:a="http://schemas.openxmlformats.org/drawingml/2006/main" noGrp="1"/>
          </p:cNvSpPr>
          <p:nvPr/>
        </p:nvSpPr>
        <p:spPr>
          <a:xfrm xmlns:a="http://schemas.openxmlformats.org/drawingml/2006/main">
            <a:off x="8096250" y="253365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About how much for 5.5 km?</a:t>
            </a:r>
          </a:p>
        </p:txBody>
      </p:sp>
      <p:sp>
        <p:nvSpPr>
          <p:cNvPr id="7" name="">
            <a:extLst xmlns:a="http://schemas.openxmlformats.org/drawingml/2006/main">
              <a:ext uri="{FF2B5EF4-FFF2-40B4-BE49-F238E27FC236}">
                <a16:creationId xmlns:a16="http://schemas.microsoft.com/office/drawing/2014/main" id="{218276CA-1074-47EE-9A0F-52C82A710B76}"/>
              </a:ext>
            </a:extLst>
          </p:cNvPr>
          <p:cNvSpPr>
            <a:spLocks xmlns:a="http://schemas.openxmlformats.org/drawingml/2006/main" noGrp="1"/>
          </p:cNvSpPr>
          <p:nvPr/>
        </p:nvSpPr>
        <p:spPr>
          <a:xfrm xmlns:a="http://schemas.openxmlformats.org/drawingml/2006/main">
            <a:off x="8096250" y="3752850"/>
            <a:ext cx="3381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先猜，不需算公式</a:t>
            </a:r>
          </a:p>
        </p:txBody>
      </p:sp>
      <p:sp>
        <p:nvSpPr>
          <p:cNvPr id="8" name="">
            <a:extLst xmlns:a="http://schemas.openxmlformats.org/drawingml/2006/main">
              <a:ext uri="{FF2B5EF4-FFF2-40B4-BE49-F238E27FC236}">
                <a16:creationId xmlns:a16="http://schemas.microsoft.com/office/drawing/2014/main" id="{956830B5-022B-4075-8673-6451F0D17A55}"/>
              </a:ext>
            </a:extLst>
          </p:cNvPr>
          <p:cNvSpPr>
            <a:spLocks xmlns:a="http://schemas.openxmlformats.org/drawingml/2006/main" noGrp="1"/>
          </p:cNvSpPr>
          <p:nvPr/>
        </p:nvSpPr>
        <p:spPr>
          <a:xfrm xmlns:a="http://schemas.openxmlformats.org/drawingml/2006/main">
            <a:off x="8096250" y="42195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Guess first. No formula needed</a:t>
            </a:r>
          </a:p>
        </p:txBody>
      </p:sp>
    </p:spTree>
    <p:extLst>
      <p:ext uri="{BB962C8B-B14F-4D97-AF65-F5344CB8AC3E}">
        <p14:creationId xmlns:p14="http://schemas.microsoft.com/office/powerpoint/2010/main" val="1743401741"/>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D5233F-04F0-4946-8FDE-AB6A6A29A60D}"/>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你的猜測，用了哪些線索？</a:t>
            </a:r>
          </a:p>
        </p:txBody>
      </p:sp>
      <p:sp>
        <p:nvSpPr>
          <p:cNvPr id="2" name="">
            <a:extLst xmlns:a="http://schemas.openxmlformats.org/drawingml/2006/main">
              <a:ext uri="{FF2B5EF4-FFF2-40B4-BE49-F238E27FC236}">
                <a16:creationId xmlns:a16="http://schemas.microsoft.com/office/drawing/2014/main" id="{E647C9EA-C49A-4EF0-939C-234D1C8EB2E5}"/>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What clues helped your guess?</a:t>
            </a:r>
          </a:p>
        </p:txBody>
      </p:sp>
      <p:sp>
        <p:nvSpPr>
          <p:cNvPr id="3" name="">
            <a:extLst xmlns:a="http://schemas.openxmlformats.org/drawingml/2006/main">
              <a:ext uri="{FF2B5EF4-FFF2-40B4-BE49-F238E27FC236}">
                <a16:creationId xmlns:a16="http://schemas.microsoft.com/office/drawing/2014/main" id="{16A7E3A6-30B3-4E93-A9F2-58C62001C5DE}"/>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F399605B-A041-41C9-957D-C5C67896C870}"/>
              </a:ext>
            </a:extLst>
          </p:cNvPr>
          <p:cNvSpPr>
            <a:spLocks xmlns:a="http://schemas.openxmlformats.org/drawingml/2006/main" noGrp="1"/>
          </p:cNvSpPr>
          <p:nvPr/>
        </p:nvSpPr>
        <p:spPr>
          <a:xfrm xmlns:a="http://schemas.openxmlformats.org/drawingml/2006/main">
            <a:off x="609600" y="18097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看所有點，還是只看其中一點？</a:t>
            </a:r>
          </a:p>
        </p:txBody>
      </p:sp>
      <p:sp>
        <p:nvSpPr>
          <p:cNvPr id="5" name="">
            <a:extLst xmlns:a="http://schemas.openxmlformats.org/drawingml/2006/main">
              <a:ext uri="{FF2B5EF4-FFF2-40B4-BE49-F238E27FC236}">
                <a16:creationId xmlns:a16="http://schemas.microsoft.com/office/drawing/2014/main" id="{F0419833-8257-40B2-A74C-D51E28180002}"/>
              </a:ext>
            </a:extLst>
          </p:cNvPr>
          <p:cNvSpPr>
            <a:spLocks xmlns:a="http://schemas.openxmlformats.org/drawingml/2006/main" noGrp="1"/>
          </p:cNvSpPr>
          <p:nvPr/>
        </p:nvSpPr>
        <p:spPr>
          <a:xfrm xmlns:a="http://schemas.openxmlformats.org/drawingml/2006/main">
            <a:off x="609600" y="22764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Did you look at all the dots, or only one?</a:t>
            </a:r>
          </a:p>
        </p:txBody>
      </p:sp>
      <p:sp>
        <p:nvSpPr>
          <p:cNvPr id="6" name="">
            <a:extLst xmlns:a="http://schemas.openxmlformats.org/drawingml/2006/main">
              <a:ext uri="{FF2B5EF4-FFF2-40B4-BE49-F238E27FC236}">
                <a16:creationId xmlns:a16="http://schemas.microsoft.com/office/drawing/2014/main" id="{28EA4D6B-5EFE-48AB-BF29-CA4503C04331}"/>
              </a:ext>
            </a:extLst>
          </p:cNvPr>
          <p:cNvSpPr>
            <a:spLocks xmlns:a="http://schemas.openxmlformats.org/drawingml/2006/main" noGrp="1"/>
          </p:cNvSpPr>
          <p:nvPr/>
        </p:nvSpPr>
        <p:spPr>
          <a:xfrm xmlns:a="http://schemas.openxmlformats.org/drawingml/2006/main">
            <a:off x="609600" y="31908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我們用一條直線，概括大家的整體趨勢</a:t>
            </a:r>
          </a:p>
        </p:txBody>
      </p:sp>
      <p:sp>
        <p:nvSpPr>
          <p:cNvPr id="7" name="">
            <a:extLst xmlns:a="http://schemas.openxmlformats.org/drawingml/2006/main">
              <a:ext uri="{FF2B5EF4-FFF2-40B4-BE49-F238E27FC236}">
                <a16:creationId xmlns:a16="http://schemas.microsoft.com/office/drawing/2014/main" id="{C9DBFBEA-3737-4EA0-BC31-60809FC4EA80}"/>
              </a:ext>
            </a:extLst>
          </p:cNvPr>
          <p:cNvSpPr>
            <a:spLocks xmlns:a="http://schemas.openxmlformats.org/drawingml/2006/main" noGrp="1"/>
          </p:cNvSpPr>
          <p:nvPr/>
        </p:nvSpPr>
        <p:spPr>
          <a:xfrm xmlns:a="http://schemas.openxmlformats.org/drawingml/2006/main">
            <a:off x="609600" y="36576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A straight line can summarise the overall trend</a:t>
            </a:r>
          </a:p>
        </p:txBody>
      </p:sp>
      <p:sp>
        <p:nvSpPr>
          <p:cNvPr id="8" name="">
            <a:extLst xmlns:a="http://schemas.openxmlformats.org/drawingml/2006/main">
              <a:ext uri="{FF2B5EF4-FFF2-40B4-BE49-F238E27FC236}">
                <a16:creationId xmlns:a16="http://schemas.microsoft.com/office/drawing/2014/main" id="{C62C4387-2495-4AA1-98F3-AF3DE64CE0C4}"/>
              </a:ext>
            </a:extLst>
          </p:cNvPr>
          <p:cNvSpPr>
            <a:spLocks xmlns:a="http://schemas.openxmlformats.org/drawingml/2006/main" noGrp="1"/>
          </p:cNvSpPr>
          <p:nvPr/>
        </p:nvSpPr>
        <p:spPr>
          <a:xfrm xmlns:a="http://schemas.openxmlformats.org/drawingml/2006/main">
            <a:off x="609600" y="45720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像一張簡單地圖：有用，但不是每個細節都準確</a:t>
            </a:r>
          </a:p>
        </p:txBody>
      </p:sp>
      <p:sp>
        <p:nvSpPr>
          <p:cNvPr id="9" name="">
            <a:extLst xmlns:a="http://schemas.openxmlformats.org/drawingml/2006/main">
              <a:ext uri="{FF2B5EF4-FFF2-40B4-BE49-F238E27FC236}">
                <a16:creationId xmlns:a16="http://schemas.microsoft.com/office/drawing/2014/main" id="{D462CDDB-37A3-4061-B0BB-03CF45EA330E}"/>
              </a:ext>
            </a:extLst>
          </p:cNvPr>
          <p:cNvSpPr>
            <a:spLocks xmlns:a="http://schemas.openxmlformats.org/drawingml/2006/main" noGrp="1"/>
          </p:cNvSpPr>
          <p:nvPr/>
        </p:nvSpPr>
        <p:spPr>
          <a:xfrm xmlns:a="http://schemas.openxmlformats.org/drawingml/2006/main">
            <a:off x="609600" y="50387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Like a simple map: useful, without every detail being exact</a:t>
            </a:r>
          </a:p>
        </p:txBody>
      </p:sp>
    </p:spTree>
    <p:extLst>
      <p:ext uri="{BB962C8B-B14F-4D97-AF65-F5344CB8AC3E}">
        <p14:creationId xmlns:p14="http://schemas.microsoft.com/office/powerpoint/2010/main" val="624124160"/>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6337E04-7673-4C24-8D42-6456EDA04C2C}"/>
              </a:ext>
            </a:extLst>
          </p:cNvPr>
          <p:cNvSpPr>
            <a:spLocks xmlns:a="http://schemas.openxmlformats.org/drawingml/2006/main" noGrp="1"/>
          </p:cNvSpPr>
          <p:nvPr/>
        </p:nvSpPr>
        <p:spPr>
          <a:xfrm xmlns:a="http://schemas.openxmlformats.org/drawingml/2006/main">
            <a:off x="609600" y="552450"/>
            <a:ext cx="10953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086C61"/>
                </a:solidFill>
                <a:latin typeface="Arial"/>
                <a:ea typeface="Arial"/>
                <a:cs typeface="Arial"/>
              </a:defRPr>
            </a:pPr>
            <a:r>
              <a:rPr sz="8700" b="1">
                <a:solidFill>
                  <a:srgbClr val="086C61"/>
                </a:solidFill>
                <a:latin typeface="Arial"/>
                <a:ea typeface="Arial"/>
                <a:cs typeface="Arial"/>
              </a:rPr>
              <a:t>y = mx + c</a:t>
            </a:r>
          </a:p>
        </p:txBody>
      </p:sp>
      <p:sp>
        <p:nvSpPr>
          <p:cNvPr id="2" name="">
            <a:extLst xmlns:a="http://schemas.openxmlformats.org/drawingml/2006/main">
              <a:ext uri="{FF2B5EF4-FFF2-40B4-BE49-F238E27FC236}">
                <a16:creationId xmlns:a16="http://schemas.microsoft.com/office/drawing/2014/main" id="{AC1769C2-8708-4EC7-9226-940D2FED9BC5}"/>
              </a:ext>
            </a:extLst>
          </p:cNvPr>
          <p:cNvSpPr>
            <a:spLocks xmlns:a="http://schemas.openxmlformats.org/drawingml/2006/main" noGrp="1"/>
          </p:cNvSpPr>
          <p:nvPr/>
        </p:nvSpPr>
        <p:spPr>
          <a:xfrm xmlns:a="http://schemas.openxmlformats.org/drawingml/2006/main">
            <a:off x="609600" y="22764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3C43"/>
                </a:solidFill>
                <a:latin typeface="Heiti TC"/>
                <a:ea typeface="Heiti TC"/>
                <a:cs typeface="Heiti TC"/>
              </a:defRPr>
            </a:pPr>
            <a:r>
              <a:rPr sz="3000" b="0">
                <a:solidFill>
                  <a:srgbClr val="173C43"/>
                </a:solidFill>
                <a:latin typeface="Heiti TC"/>
                <a:ea typeface="Heiti TC"/>
                <a:cs typeface="Heiti TC"/>
              </a:rPr>
              <a:t>m：變化率</a:t>
            </a:r>
          </a:p>
        </p:txBody>
      </p:sp>
      <p:sp>
        <p:nvSpPr>
          <p:cNvPr id="3" name="">
            <a:extLst xmlns:a="http://schemas.openxmlformats.org/drawingml/2006/main">
              <a:ext uri="{FF2B5EF4-FFF2-40B4-BE49-F238E27FC236}">
                <a16:creationId xmlns:a16="http://schemas.microsoft.com/office/drawing/2014/main" id="{7B3299EF-862D-4ABD-957A-1F2734BDE2DA}"/>
              </a:ext>
            </a:extLst>
          </p:cNvPr>
          <p:cNvSpPr>
            <a:spLocks xmlns:a="http://schemas.openxmlformats.org/drawingml/2006/main" noGrp="1"/>
          </p:cNvSpPr>
          <p:nvPr/>
        </p:nvSpPr>
        <p:spPr>
          <a:xfrm xmlns:a="http://schemas.openxmlformats.org/drawingml/2006/main">
            <a:off x="609600" y="27432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6B70"/>
                </a:solidFill>
                <a:latin typeface="Arial"/>
                <a:ea typeface="Arial"/>
                <a:cs typeface="Arial"/>
              </a:defRPr>
            </a:pPr>
            <a:r>
              <a:rPr sz="2400" b="0">
                <a:solidFill>
                  <a:srgbClr val="526B70"/>
                </a:solidFill>
                <a:latin typeface="Arial"/>
                <a:ea typeface="Arial"/>
                <a:cs typeface="Arial"/>
              </a:rPr>
              <a:t>m: rate of change</a:t>
            </a:r>
          </a:p>
        </p:txBody>
      </p:sp>
      <p:sp>
        <p:nvSpPr>
          <p:cNvPr id="4" name="">
            <a:extLst xmlns:a="http://schemas.openxmlformats.org/drawingml/2006/main">
              <a:ext uri="{FF2B5EF4-FFF2-40B4-BE49-F238E27FC236}">
                <a16:creationId xmlns:a16="http://schemas.microsoft.com/office/drawing/2014/main" id="{6D270525-DCD9-4DED-8824-2D7E509EB82A}"/>
              </a:ext>
            </a:extLst>
          </p:cNvPr>
          <p:cNvSpPr>
            <a:spLocks xmlns:a="http://schemas.openxmlformats.org/drawingml/2006/main" noGrp="1"/>
          </p:cNvSpPr>
          <p:nvPr/>
        </p:nvSpPr>
        <p:spPr>
          <a:xfrm xmlns:a="http://schemas.openxmlformats.org/drawingml/2006/main">
            <a:off x="6334125" y="22764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3C43"/>
                </a:solidFill>
                <a:latin typeface="Heiti TC"/>
                <a:ea typeface="Heiti TC"/>
                <a:cs typeface="Heiti TC"/>
              </a:defRPr>
            </a:pPr>
            <a:r>
              <a:rPr sz="3000" b="0">
                <a:solidFill>
                  <a:srgbClr val="173C43"/>
                </a:solidFill>
                <a:latin typeface="Heiti TC"/>
                <a:ea typeface="Heiti TC"/>
                <a:cs typeface="Heiti TC"/>
              </a:rPr>
              <a:t>c：初始值</a:t>
            </a:r>
          </a:p>
        </p:txBody>
      </p:sp>
      <p:sp>
        <p:nvSpPr>
          <p:cNvPr id="5" name="">
            <a:extLst xmlns:a="http://schemas.openxmlformats.org/drawingml/2006/main">
              <a:ext uri="{FF2B5EF4-FFF2-40B4-BE49-F238E27FC236}">
                <a16:creationId xmlns:a16="http://schemas.microsoft.com/office/drawing/2014/main" id="{00115EE9-1BCF-476B-B616-9C1E358FB953}"/>
              </a:ext>
            </a:extLst>
          </p:cNvPr>
          <p:cNvSpPr>
            <a:spLocks xmlns:a="http://schemas.openxmlformats.org/drawingml/2006/main" noGrp="1"/>
          </p:cNvSpPr>
          <p:nvPr/>
        </p:nvSpPr>
        <p:spPr>
          <a:xfrm xmlns:a="http://schemas.openxmlformats.org/drawingml/2006/main">
            <a:off x="6334125" y="27432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26B70"/>
                </a:solidFill>
                <a:latin typeface="Arial"/>
                <a:ea typeface="Arial"/>
                <a:cs typeface="Arial"/>
              </a:defRPr>
            </a:pPr>
            <a:r>
              <a:rPr sz="2400" b="0">
                <a:solidFill>
                  <a:srgbClr val="526B70"/>
                </a:solidFill>
                <a:latin typeface="Arial"/>
                <a:ea typeface="Arial"/>
                <a:cs typeface="Arial"/>
              </a:rPr>
              <a:t>c: initial value</a:t>
            </a:r>
          </a:p>
        </p:txBody>
      </p:sp>
      <p:sp>
        <p:nvSpPr>
          <p:cNvPr id="6" name="">
            <a:extLst xmlns:a="http://schemas.openxmlformats.org/drawingml/2006/main">
              <a:ext uri="{FF2B5EF4-FFF2-40B4-BE49-F238E27FC236}">
                <a16:creationId xmlns:a16="http://schemas.microsoft.com/office/drawing/2014/main" id="{C6664E3E-FE8C-40D8-8A1A-1C46F6AE1CF1}"/>
              </a:ext>
            </a:extLst>
          </p:cNvPr>
          <p:cNvSpPr>
            <a:spLocks xmlns:a="http://schemas.openxmlformats.org/drawingml/2006/main" noGrp="1"/>
          </p:cNvSpPr>
          <p:nvPr/>
        </p:nvSpPr>
        <p:spPr>
          <a:xfrm xmlns:a="http://schemas.openxmlformats.org/drawingml/2006/main">
            <a:off x="609600" y="34956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x 每增加 1，y 改變多少？</a:t>
            </a:r>
          </a:p>
        </p:txBody>
      </p:sp>
      <p:sp>
        <p:nvSpPr>
          <p:cNvPr id="7" name="">
            <a:extLst xmlns:a="http://schemas.openxmlformats.org/drawingml/2006/main">
              <a:ext uri="{FF2B5EF4-FFF2-40B4-BE49-F238E27FC236}">
                <a16:creationId xmlns:a16="http://schemas.microsoft.com/office/drawing/2014/main" id="{D0F4FC41-A33D-4B33-BA7A-2D2AC89C9ECE}"/>
              </a:ext>
            </a:extLst>
          </p:cNvPr>
          <p:cNvSpPr>
            <a:spLocks xmlns:a="http://schemas.openxmlformats.org/drawingml/2006/main" noGrp="1"/>
          </p:cNvSpPr>
          <p:nvPr/>
        </p:nvSpPr>
        <p:spPr>
          <a:xfrm xmlns:a="http://schemas.openxmlformats.org/drawingml/2006/main">
            <a:off x="609600" y="39624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How much does y change for each extra 1 in x?</a:t>
            </a:r>
          </a:p>
        </p:txBody>
      </p:sp>
      <p:sp>
        <p:nvSpPr>
          <p:cNvPr id="8" name="">
            <a:extLst xmlns:a="http://schemas.openxmlformats.org/drawingml/2006/main">
              <a:ext uri="{FF2B5EF4-FFF2-40B4-BE49-F238E27FC236}">
                <a16:creationId xmlns:a16="http://schemas.microsoft.com/office/drawing/2014/main" id="{440F439A-5048-4FB0-A765-7E60D7C85828}"/>
              </a:ext>
            </a:extLst>
          </p:cNvPr>
          <p:cNvSpPr>
            <a:spLocks xmlns:a="http://schemas.openxmlformats.org/drawingml/2006/main" noGrp="1"/>
          </p:cNvSpPr>
          <p:nvPr/>
        </p:nvSpPr>
        <p:spPr>
          <a:xfrm xmlns:a="http://schemas.openxmlformats.org/drawingml/2006/main">
            <a:off x="6334125" y="3495675"/>
            <a:ext cx="523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當 x = 0 時，y 是多少？</a:t>
            </a:r>
          </a:p>
        </p:txBody>
      </p:sp>
      <p:sp>
        <p:nvSpPr>
          <p:cNvPr id="9" name="">
            <a:extLst xmlns:a="http://schemas.openxmlformats.org/drawingml/2006/main">
              <a:ext uri="{FF2B5EF4-FFF2-40B4-BE49-F238E27FC236}">
                <a16:creationId xmlns:a16="http://schemas.microsoft.com/office/drawing/2014/main" id="{0DF31721-F529-445C-89BA-2E3F1E50E061}"/>
              </a:ext>
            </a:extLst>
          </p:cNvPr>
          <p:cNvSpPr>
            <a:spLocks xmlns:a="http://schemas.openxmlformats.org/drawingml/2006/main" noGrp="1"/>
          </p:cNvSpPr>
          <p:nvPr/>
        </p:nvSpPr>
        <p:spPr>
          <a:xfrm xmlns:a="http://schemas.openxmlformats.org/drawingml/2006/main">
            <a:off x="6334125" y="39624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What is y when x = 0?</a:t>
            </a:r>
          </a:p>
        </p:txBody>
      </p:sp>
      <p:sp>
        <p:nvSpPr>
          <p:cNvPr id="10" name="">
            <a:extLst xmlns:a="http://schemas.openxmlformats.org/drawingml/2006/main">
              <a:ext uri="{FF2B5EF4-FFF2-40B4-BE49-F238E27FC236}">
                <a16:creationId xmlns:a16="http://schemas.microsoft.com/office/drawing/2014/main" id="{AF9D628B-E0B3-4F61-AC49-9F58570F43E8}"/>
              </a:ext>
            </a:extLst>
          </p:cNvPr>
          <p:cNvSpPr>
            <a:spLocks xmlns:a="http://schemas.openxmlformats.org/drawingml/2006/main" noGrp="1"/>
          </p:cNvSpPr>
          <p:nvPr/>
        </p:nvSpPr>
        <p:spPr>
          <a:xfrm xmlns:a="http://schemas.openxmlformats.org/drawingml/2006/main">
            <a:off x="609600" y="524827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一條直線描述 x 與 y 的關係</a:t>
            </a:r>
          </a:p>
        </p:txBody>
      </p:sp>
      <p:sp>
        <p:nvSpPr>
          <p:cNvPr id="11" name="">
            <a:extLst xmlns:a="http://schemas.openxmlformats.org/drawingml/2006/main">
              <a:ext uri="{FF2B5EF4-FFF2-40B4-BE49-F238E27FC236}">
                <a16:creationId xmlns:a16="http://schemas.microsoft.com/office/drawing/2014/main" id="{91F71C44-87D0-4059-A84D-D7C13298FFEA}"/>
              </a:ext>
            </a:extLst>
          </p:cNvPr>
          <p:cNvSpPr>
            <a:spLocks xmlns:a="http://schemas.openxmlformats.org/drawingml/2006/main" noGrp="1"/>
          </p:cNvSpPr>
          <p:nvPr/>
        </p:nvSpPr>
        <p:spPr>
          <a:xfrm xmlns:a="http://schemas.openxmlformats.org/drawingml/2006/main">
            <a:off x="609600" y="57150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 straight line describes the relationship between x and y</a:t>
            </a:r>
          </a:p>
        </p:txBody>
      </p:sp>
      <p:sp>
        <p:nvSpPr>
          <p:cNvPr id="12" name="">
            <a:extLst xmlns:a="http://schemas.openxmlformats.org/drawingml/2006/main">
              <a:ext uri="{FF2B5EF4-FFF2-40B4-BE49-F238E27FC236}">
                <a16:creationId xmlns:a16="http://schemas.microsoft.com/office/drawing/2014/main" id="{FEBD0D22-C0F3-4531-9AC4-64B1720E8CCB}"/>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3</a:t>
            </a:r>
          </a:p>
        </p:txBody>
      </p:sp>
    </p:spTree>
    <p:extLst>
      <p:ext uri="{BB962C8B-B14F-4D97-AF65-F5344CB8AC3E}">
        <p14:creationId xmlns:p14="http://schemas.microsoft.com/office/powerpoint/2010/main" val="1814533469"/>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68829DA-034D-4BD1-9DB2-4150D33A7C5F}"/>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c：初始值</a:t>
            </a:r>
          </a:p>
        </p:txBody>
      </p:sp>
      <p:sp>
        <p:nvSpPr>
          <p:cNvPr id="2" name="">
            <a:extLst xmlns:a="http://schemas.openxmlformats.org/drawingml/2006/main">
              <a:ext uri="{FF2B5EF4-FFF2-40B4-BE49-F238E27FC236}">
                <a16:creationId xmlns:a16="http://schemas.microsoft.com/office/drawing/2014/main" id="{8407A131-175A-4B58-B50E-2472B7E2B640}"/>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c: the initial value</a:t>
            </a:r>
          </a:p>
        </p:txBody>
      </p:sp>
      <p:sp>
        <p:nvSpPr>
          <p:cNvPr id="3" name="">
            <a:extLst xmlns:a="http://schemas.openxmlformats.org/drawingml/2006/main">
              <a:ext uri="{FF2B5EF4-FFF2-40B4-BE49-F238E27FC236}">
                <a16:creationId xmlns:a16="http://schemas.microsoft.com/office/drawing/2014/main" id="{A49FA5EE-F5E6-4314-B60D-D4F7B050C482}"/>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C00CAE64-0BB7-4E64-BAC6-B5BE4C33F365}"/>
              </a:ext>
            </a:extLst>
          </p:cNvPr>
          <p:cNvSpPr>
            <a:spLocks xmlns:a="http://schemas.openxmlformats.org/drawingml/2006/main" noGrp="1"/>
          </p:cNvSpPr>
          <p:nvPr/>
        </p:nvSpPr>
        <p:spPr>
          <a:xfrm xmlns:a="http://schemas.openxmlformats.org/drawingml/2006/main">
            <a:off x="609600" y="16573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水箱原有 5 公升水</a:t>
            </a:r>
          </a:p>
        </p:txBody>
      </p:sp>
      <p:sp>
        <p:nvSpPr>
          <p:cNvPr id="5" name="">
            <a:extLst xmlns:a="http://schemas.openxmlformats.org/drawingml/2006/main">
              <a:ext uri="{FF2B5EF4-FFF2-40B4-BE49-F238E27FC236}">
                <a16:creationId xmlns:a16="http://schemas.microsoft.com/office/drawing/2014/main" id="{BEDD3A09-95DA-4498-B449-97E3615445C6}"/>
              </a:ext>
            </a:extLst>
          </p:cNvPr>
          <p:cNvSpPr>
            <a:spLocks xmlns:a="http://schemas.openxmlformats.org/drawingml/2006/main" noGrp="1"/>
          </p:cNvSpPr>
          <p:nvPr/>
        </p:nvSpPr>
        <p:spPr>
          <a:xfrm xmlns:a="http://schemas.openxmlformats.org/drawingml/2006/main">
            <a:off x="609600" y="21240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 tank starts with 5 litres of water</a:t>
            </a:r>
          </a:p>
        </p:txBody>
      </p:sp>
      <p:sp>
        <p:nvSpPr>
          <p:cNvPr id="6" name="">
            <a:extLst xmlns:a="http://schemas.openxmlformats.org/drawingml/2006/main">
              <a:ext uri="{FF2B5EF4-FFF2-40B4-BE49-F238E27FC236}">
                <a16:creationId xmlns:a16="http://schemas.microsoft.com/office/drawing/2014/main" id="{D7DE9954-2020-4C34-849E-30C48F4D0151}"/>
              </a:ext>
            </a:extLst>
          </p:cNvPr>
          <p:cNvSpPr>
            <a:spLocks xmlns:a="http://schemas.openxmlformats.org/drawingml/2006/main" noGrp="1"/>
          </p:cNvSpPr>
          <p:nvPr/>
        </p:nvSpPr>
        <p:spPr>
          <a:xfrm xmlns:a="http://schemas.openxmlformats.org/drawingml/2006/main">
            <a:off x="609600" y="27622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x：時間（分鐘）</a:t>
            </a:r>
          </a:p>
        </p:txBody>
      </p:sp>
      <p:sp>
        <p:nvSpPr>
          <p:cNvPr id="7" name="">
            <a:extLst xmlns:a="http://schemas.openxmlformats.org/drawingml/2006/main">
              <a:ext uri="{FF2B5EF4-FFF2-40B4-BE49-F238E27FC236}">
                <a16:creationId xmlns:a16="http://schemas.microsoft.com/office/drawing/2014/main" id="{1957C1A2-96CF-4B41-A89E-2BB325C0AF92}"/>
              </a:ext>
            </a:extLst>
          </p:cNvPr>
          <p:cNvSpPr>
            <a:spLocks xmlns:a="http://schemas.openxmlformats.org/drawingml/2006/main" noGrp="1"/>
          </p:cNvSpPr>
          <p:nvPr/>
        </p:nvSpPr>
        <p:spPr>
          <a:xfrm xmlns:a="http://schemas.openxmlformats.org/drawingml/2006/main">
            <a:off x="609600" y="32289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x: time in minutes</a:t>
            </a:r>
          </a:p>
        </p:txBody>
      </p:sp>
      <p:sp>
        <p:nvSpPr>
          <p:cNvPr id="8" name="">
            <a:extLst xmlns:a="http://schemas.openxmlformats.org/drawingml/2006/main">
              <a:ext uri="{FF2B5EF4-FFF2-40B4-BE49-F238E27FC236}">
                <a16:creationId xmlns:a16="http://schemas.microsoft.com/office/drawing/2014/main" id="{295E26E4-B861-4428-820C-C310B594D335}"/>
              </a:ext>
            </a:extLst>
          </p:cNvPr>
          <p:cNvSpPr>
            <a:spLocks xmlns:a="http://schemas.openxmlformats.org/drawingml/2006/main" noGrp="1"/>
          </p:cNvSpPr>
          <p:nvPr/>
        </p:nvSpPr>
        <p:spPr>
          <a:xfrm xmlns:a="http://schemas.openxmlformats.org/drawingml/2006/main">
            <a:off x="609600" y="37909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y：水量（公升）</a:t>
            </a:r>
          </a:p>
        </p:txBody>
      </p:sp>
      <p:sp>
        <p:nvSpPr>
          <p:cNvPr id="9" name="">
            <a:extLst xmlns:a="http://schemas.openxmlformats.org/drawingml/2006/main">
              <a:ext uri="{FF2B5EF4-FFF2-40B4-BE49-F238E27FC236}">
                <a16:creationId xmlns:a16="http://schemas.microsoft.com/office/drawing/2014/main" id="{8C383F61-93F1-4A99-BA8E-0C11F7887E32}"/>
              </a:ext>
            </a:extLst>
          </p:cNvPr>
          <p:cNvSpPr>
            <a:spLocks xmlns:a="http://schemas.openxmlformats.org/drawingml/2006/main" noGrp="1"/>
          </p:cNvSpPr>
          <p:nvPr/>
        </p:nvSpPr>
        <p:spPr>
          <a:xfrm xmlns:a="http://schemas.openxmlformats.org/drawingml/2006/main">
            <a:off x="609600" y="42576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y: amount of water in litres</a:t>
            </a:r>
          </a:p>
        </p:txBody>
      </p:sp>
      <p:sp>
        <p:nvSpPr>
          <p:cNvPr id="10" name="">
            <a:extLst xmlns:a="http://schemas.openxmlformats.org/drawingml/2006/main">
              <a:ext uri="{FF2B5EF4-FFF2-40B4-BE49-F238E27FC236}">
                <a16:creationId xmlns:a16="http://schemas.microsoft.com/office/drawing/2014/main" id="{FB1FFA6F-B7F4-4242-9DC5-A18D737A1914}"/>
              </a:ext>
            </a:extLst>
          </p:cNvPr>
          <p:cNvSpPr>
            <a:spLocks xmlns:a="http://schemas.openxmlformats.org/drawingml/2006/main" noGrp="1"/>
          </p:cNvSpPr>
          <p:nvPr/>
        </p:nvSpPr>
        <p:spPr>
          <a:xfrm xmlns:a="http://schemas.openxmlformats.org/drawingml/2006/main">
            <a:off x="609600" y="50482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86C61"/>
                </a:solidFill>
                <a:latin typeface="Arial"/>
                <a:ea typeface="Arial"/>
                <a:cs typeface="Arial"/>
              </a:defRPr>
            </a:pPr>
            <a:r>
              <a:rPr sz="3300" b="1">
                <a:solidFill>
                  <a:srgbClr val="086C61"/>
                </a:solidFill>
                <a:latin typeface="Arial"/>
                <a:ea typeface="Arial"/>
                <a:cs typeface="Arial"/>
              </a:rPr>
              <a:t>x = 0, y = 5</a:t>
            </a:r>
          </a:p>
        </p:txBody>
      </p:sp>
      <p:graphicFrame>
        <p:nvGraphicFramePr>
          <p:cNvPr id="22" name="Chart"/>
          <p:cNvGraphicFramePr/>
          <p:nvPr/>
        </p:nvGraphicFramePr>
        <p:xfrm>
          <a:off xmlns:a="http://schemas.openxmlformats.org/drawingml/2006/main" x="5810250" y="1590675"/>
          <a:ext xmlns:a="http://schemas.openxmlformats.org/drawingml/2006/main" cx="5810250" cy="4381500"/>
        </p:xfrm>
        <a:graphic xmlns:a="http://schemas.openxmlformats.org/drawingml/2006/main">
          <a:graphicData uri="http://schemas.openxmlformats.org/drawingml/2006/chart">
            <c:chart xmlns:r="http://schemas.openxmlformats.org/officeDocument/2006/relationships" xmlns:c="http://schemas.openxmlformats.org/drawingml/2006/chart" r:id="R5d90713960614c9b"/>
          </a:graphicData>
        </a:graphic>
      </p:graphicFrame>
    </p:spTree>
    <p:extLst>
      <p:ext uri="{BB962C8B-B14F-4D97-AF65-F5344CB8AC3E}">
        <p14:creationId xmlns:p14="http://schemas.microsoft.com/office/powerpoint/2010/main" val="233305993"/>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35B1CF3-2C80-41DB-A63F-8447A24854F2}"/>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m：每增加 1 單位的變化</a:t>
            </a:r>
          </a:p>
        </p:txBody>
      </p:sp>
      <p:sp>
        <p:nvSpPr>
          <p:cNvPr id="2" name="">
            <a:extLst xmlns:a="http://schemas.openxmlformats.org/drawingml/2006/main">
              <a:ext uri="{FF2B5EF4-FFF2-40B4-BE49-F238E27FC236}">
                <a16:creationId xmlns:a16="http://schemas.microsoft.com/office/drawing/2014/main" id="{422EB2DD-E5C8-4E71-8425-CE0F21082483}"/>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m: the change for each extra unit</a:t>
            </a:r>
          </a:p>
        </p:txBody>
      </p:sp>
      <p:sp>
        <p:nvSpPr>
          <p:cNvPr id="3" name="">
            <a:extLst xmlns:a="http://schemas.openxmlformats.org/drawingml/2006/main">
              <a:ext uri="{FF2B5EF4-FFF2-40B4-BE49-F238E27FC236}">
                <a16:creationId xmlns:a16="http://schemas.microsoft.com/office/drawing/2014/main" id="{BDA35DE1-39AF-4E5F-94FE-0DB6BC1D9A73}"/>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5</a:t>
            </a:r>
          </a:p>
        </p:txBody>
      </p:sp>
      <p:sp>
        <p:nvSpPr>
          <p:cNvPr id="4" name="">
            <a:extLst xmlns:a="http://schemas.openxmlformats.org/drawingml/2006/main">
              <a:ext uri="{FF2B5EF4-FFF2-40B4-BE49-F238E27FC236}">
                <a16:creationId xmlns:a16="http://schemas.microsoft.com/office/drawing/2014/main" id="{908D5F8C-0F0E-4429-A7F3-7FFB2A618D7F}"/>
              </a:ext>
            </a:extLst>
          </p:cNvPr>
          <p:cNvSpPr>
            <a:spLocks xmlns:a="http://schemas.openxmlformats.org/drawingml/2006/main" noGrp="1"/>
          </p:cNvSpPr>
          <p:nvPr/>
        </p:nvSpPr>
        <p:spPr>
          <a:xfrm xmlns:a="http://schemas.openxmlformats.org/drawingml/2006/main">
            <a:off x="609600" y="1647825"/>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每分鐘加入 2 公升水</a:t>
            </a:r>
          </a:p>
        </p:txBody>
      </p:sp>
      <p:sp>
        <p:nvSpPr>
          <p:cNvPr id="5" name="">
            <a:extLst xmlns:a="http://schemas.openxmlformats.org/drawingml/2006/main">
              <a:ext uri="{FF2B5EF4-FFF2-40B4-BE49-F238E27FC236}">
                <a16:creationId xmlns:a16="http://schemas.microsoft.com/office/drawing/2014/main" id="{8D8C6688-024E-465A-8449-51825DCB95D4}"/>
              </a:ext>
            </a:extLst>
          </p:cNvPr>
          <p:cNvSpPr>
            <a:spLocks xmlns:a="http://schemas.openxmlformats.org/drawingml/2006/main" noGrp="1"/>
          </p:cNvSpPr>
          <p:nvPr/>
        </p:nvSpPr>
        <p:spPr>
          <a:xfrm xmlns:a="http://schemas.openxmlformats.org/drawingml/2006/main">
            <a:off x="609600" y="21145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We add 2 litres each minute</a:t>
            </a:r>
          </a:p>
        </p:txBody>
      </p:sp>
      <p:sp>
        <p:nvSpPr>
          <p:cNvPr id="6" name="">
            <a:extLst xmlns:a="http://schemas.openxmlformats.org/drawingml/2006/main">
              <a:ext uri="{FF2B5EF4-FFF2-40B4-BE49-F238E27FC236}">
                <a16:creationId xmlns:a16="http://schemas.microsoft.com/office/drawing/2014/main" id="{2174D7A2-48EF-48EE-8033-1DE117A8B084}"/>
              </a:ext>
            </a:extLst>
          </p:cNvPr>
          <p:cNvSpPr>
            <a:spLocks xmlns:a="http://schemas.openxmlformats.org/drawingml/2006/main" noGrp="1"/>
          </p:cNvSpPr>
          <p:nvPr/>
        </p:nvSpPr>
        <p:spPr>
          <a:xfrm xmlns:a="http://schemas.openxmlformats.org/drawingml/2006/main">
            <a:off x="609600" y="277177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086C61"/>
                </a:solidFill>
                <a:latin typeface="Arial"/>
                <a:ea typeface="Arial"/>
                <a:cs typeface="Arial"/>
              </a:defRPr>
            </a:pPr>
            <a:r>
              <a:rPr sz="3900" b="1">
                <a:solidFill>
                  <a:srgbClr val="086C61"/>
                </a:solidFill>
                <a:latin typeface="Arial"/>
                <a:ea typeface="Arial"/>
                <a:cs typeface="Arial"/>
              </a:rPr>
              <a:t>y = 2x + 5</a:t>
            </a:r>
          </a:p>
        </p:txBody>
      </p:sp>
      <p:sp>
        <p:nvSpPr>
          <p:cNvPr id="7" name="">
            <a:extLst xmlns:a="http://schemas.openxmlformats.org/drawingml/2006/main">
              <a:ext uri="{FF2B5EF4-FFF2-40B4-BE49-F238E27FC236}">
                <a16:creationId xmlns:a16="http://schemas.microsoft.com/office/drawing/2014/main" id="{686FBA57-0CD1-4CCD-914D-4781ECEC102A}"/>
              </a:ext>
            </a:extLst>
          </p:cNvPr>
          <p:cNvSpPr>
            <a:spLocks xmlns:a="http://schemas.openxmlformats.org/drawingml/2006/main" noGrp="1"/>
          </p:cNvSpPr>
          <p:nvPr/>
        </p:nvSpPr>
        <p:spPr>
          <a:xfrm xmlns:a="http://schemas.openxmlformats.org/drawingml/2006/main">
            <a:off x="609600" y="36766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x 增加 1，y 增加 2</a:t>
            </a:r>
          </a:p>
        </p:txBody>
      </p:sp>
      <p:sp>
        <p:nvSpPr>
          <p:cNvPr id="8" name="">
            <a:extLst xmlns:a="http://schemas.openxmlformats.org/drawingml/2006/main">
              <a:ext uri="{FF2B5EF4-FFF2-40B4-BE49-F238E27FC236}">
                <a16:creationId xmlns:a16="http://schemas.microsoft.com/office/drawing/2014/main" id="{F10965B6-931F-4B5D-AC07-0E814F8E05CB}"/>
              </a:ext>
            </a:extLst>
          </p:cNvPr>
          <p:cNvSpPr>
            <a:spLocks xmlns:a="http://schemas.openxmlformats.org/drawingml/2006/main" noGrp="1"/>
          </p:cNvSpPr>
          <p:nvPr/>
        </p:nvSpPr>
        <p:spPr>
          <a:xfrm xmlns:a="http://schemas.openxmlformats.org/drawingml/2006/main">
            <a:off x="609600" y="41433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When x increases by 1, y increases by 2</a:t>
            </a:r>
          </a:p>
        </p:txBody>
      </p:sp>
      <p:sp>
        <p:nvSpPr>
          <p:cNvPr id="9" name="">
            <a:extLst xmlns:a="http://schemas.openxmlformats.org/drawingml/2006/main">
              <a:ext uri="{FF2B5EF4-FFF2-40B4-BE49-F238E27FC236}">
                <a16:creationId xmlns:a16="http://schemas.microsoft.com/office/drawing/2014/main" id="{50C79DDC-B40C-4011-B626-DEC4D38A7AE5}"/>
              </a:ext>
            </a:extLst>
          </p:cNvPr>
          <p:cNvSpPr>
            <a:spLocks xmlns:a="http://schemas.openxmlformats.org/drawingml/2006/main" noGrp="1"/>
          </p:cNvSpPr>
          <p:nvPr/>
        </p:nvSpPr>
        <p:spPr>
          <a:xfrm xmlns:a="http://schemas.openxmlformats.org/drawingml/2006/main">
            <a:off x="609600" y="474345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m = 2 公升／分鐘</a:t>
            </a:r>
          </a:p>
        </p:txBody>
      </p:sp>
      <p:sp>
        <p:nvSpPr>
          <p:cNvPr id="10" name="">
            <a:extLst xmlns:a="http://schemas.openxmlformats.org/drawingml/2006/main">
              <a:ext uri="{FF2B5EF4-FFF2-40B4-BE49-F238E27FC236}">
                <a16:creationId xmlns:a16="http://schemas.microsoft.com/office/drawing/2014/main" id="{D9418CC4-2F29-4112-BD26-3F6602F367DA}"/>
              </a:ext>
            </a:extLst>
          </p:cNvPr>
          <p:cNvSpPr>
            <a:spLocks xmlns:a="http://schemas.openxmlformats.org/drawingml/2006/main" noGrp="1"/>
          </p:cNvSpPr>
          <p:nvPr/>
        </p:nvSpPr>
        <p:spPr>
          <a:xfrm xmlns:a="http://schemas.openxmlformats.org/drawingml/2006/main">
            <a:off x="609600" y="52101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m = 2 litres per minute</a:t>
            </a:r>
          </a:p>
        </p:txBody>
      </p:sp>
      <p:graphicFrame>
        <p:nvGraphicFramePr>
          <p:cNvPr id="22" name="Chart"/>
          <p:cNvGraphicFramePr/>
          <p:nvPr/>
        </p:nvGraphicFramePr>
        <p:xfrm>
          <a:off xmlns:a="http://schemas.openxmlformats.org/drawingml/2006/main" x="5810250" y="1590675"/>
          <a:ext xmlns:a="http://schemas.openxmlformats.org/drawingml/2006/main" cx="5810250" cy="4381500"/>
        </p:xfrm>
        <a:graphic xmlns:a="http://schemas.openxmlformats.org/drawingml/2006/main">
          <a:graphicData uri="http://schemas.openxmlformats.org/drawingml/2006/chart">
            <c:chart xmlns:r="http://schemas.openxmlformats.org/officeDocument/2006/relationships" xmlns:c="http://schemas.openxmlformats.org/drawingml/2006/chart" r:id="R86839fc698a84edf"/>
          </a:graphicData>
        </a:graphic>
      </p:graphicFrame>
    </p:spTree>
    <p:extLst>
      <p:ext uri="{BB962C8B-B14F-4D97-AF65-F5344CB8AC3E}">
        <p14:creationId xmlns:p14="http://schemas.microsoft.com/office/powerpoint/2010/main" val="1377124455"/>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F26C6D-43FA-402E-BE99-7E61931682C3}"/>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m 的正負與趨勢</a:t>
            </a:r>
          </a:p>
        </p:txBody>
      </p:sp>
      <p:sp>
        <p:nvSpPr>
          <p:cNvPr id="2" name="">
            <a:extLst xmlns:a="http://schemas.openxmlformats.org/drawingml/2006/main">
              <a:ext uri="{FF2B5EF4-FFF2-40B4-BE49-F238E27FC236}">
                <a16:creationId xmlns:a16="http://schemas.microsoft.com/office/drawing/2014/main" id="{5537C02B-B10D-4EEE-BFDD-92D3B8C19F93}"/>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The sign of m and the trend</a:t>
            </a:r>
          </a:p>
        </p:txBody>
      </p:sp>
      <p:sp>
        <p:nvSpPr>
          <p:cNvPr id="3" name="">
            <a:extLst xmlns:a="http://schemas.openxmlformats.org/drawingml/2006/main">
              <a:ext uri="{FF2B5EF4-FFF2-40B4-BE49-F238E27FC236}">
                <a16:creationId xmlns:a16="http://schemas.microsoft.com/office/drawing/2014/main" id="{AC188D7D-2FEB-4520-A910-1B8D49FE291B}"/>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C0798F54-290E-483D-BEF7-03F068941BB9}"/>
              </a:ext>
            </a:extLst>
          </p:cNvPr>
          <p:cNvSpPr>
            <a:spLocks xmlns:a="http://schemas.openxmlformats.org/drawingml/2006/main" noGrp="1"/>
          </p:cNvSpPr>
          <p:nvPr/>
        </p:nvSpPr>
        <p:spPr>
          <a:xfrm xmlns:a="http://schemas.openxmlformats.org/drawingml/2006/main">
            <a:off x="714375" y="16859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6C61"/>
                </a:solidFill>
                <a:latin typeface="Arial"/>
                <a:ea typeface="Arial"/>
                <a:cs typeface="Arial"/>
              </a:defRPr>
            </a:pPr>
            <a:r>
              <a:rPr sz="3150" b="1">
                <a:solidFill>
                  <a:srgbClr val="086C61"/>
                </a:solidFill>
                <a:latin typeface="Arial"/>
                <a:ea typeface="Arial"/>
                <a:cs typeface="Arial"/>
              </a:rPr>
              <a:t>m &gt; 0</a:t>
            </a:r>
          </a:p>
        </p:txBody>
      </p:sp>
      <p:graphicFrame>
        <p:nvGraphicFramePr>
          <p:cNvPr id="20" name="Chart"/>
          <p:cNvGraphicFramePr/>
          <p:nvPr/>
        </p:nvGraphicFramePr>
        <p:xfrm>
          <a:off xmlns:a="http://schemas.openxmlformats.org/drawingml/2006/main" x="476250" y="2333625"/>
          <a:ext xmlns:a="http://schemas.openxmlformats.org/drawingml/2006/main" cx="3476625" cy="2781300"/>
        </p:xfrm>
        <a:graphic xmlns:a="http://schemas.openxmlformats.org/drawingml/2006/main">
          <a:graphicData uri="http://schemas.openxmlformats.org/drawingml/2006/chart">
            <c:chart xmlns:r="http://schemas.openxmlformats.org/officeDocument/2006/relationships" xmlns:c="http://schemas.openxmlformats.org/drawingml/2006/chart" r:id="R56ab84bdd3ca4499"/>
          </a:graphicData>
        </a:graphic>
      </p:graphicFrame>
      <p:sp>
        <p:nvSpPr>
          <p:cNvPr id="6" name="">
            <a:extLst xmlns:a="http://schemas.openxmlformats.org/drawingml/2006/main">
              <a:ext uri="{FF2B5EF4-FFF2-40B4-BE49-F238E27FC236}">
                <a16:creationId xmlns:a16="http://schemas.microsoft.com/office/drawing/2014/main" id="{E28D7460-C511-4D33-A97B-BD94058F4901}"/>
              </a:ext>
            </a:extLst>
          </p:cNvPr>
          <p:cNvSpPr>
            <a:spLocks xmlns:a="http://schemas.openxmlformats.org/drawingml/2006/main" noGrp="1"/>
          </p:cNvSpPr>
          <p:nvPr/>
        </p:nvSpPr>
        <p:spPr>
          <a:xfrm xmlns:a="http://schemas.openxmlformats.org/drawingml/2006/main">
            <a:off x="666750" y="52482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C43"/>
                </a:solidFill>
                <a:latin typeface="Heiti TC"/>
                <a:ea typeface="Heiti TC"/>
                <a:cs typeface="Heiti TC"/>
              </a:defRPr>
            </a:pPr>
            <a:r>
              <a:rPr sz="1875" b="0">
                <a:solidFill>
                  <a:srgbClr val="173C43"/>
                </a:solidFill>
                <a:latin typeface="Heiti TC"/>
                <a:ea typeface="Heiti TC"/>
                <a:cs typeface="Heiti TC"/>
              </a:rPr>
              <a:t>x 增加時，y 增加</a:t>
            </a:r>
          </a:p>
        </p:txBody>
      </p:sp>
      <p:sp>
        <p:nvSpPr>
          <p:cNvPr id="7" name="">
            <a:extLst xmlns:a="http://schemas.openxmlformats.org/drawingml/2006/main">
              <a:ext uri="{FF2B5EF4-FFF2-40B4-BE49-F238E27FC236}">
                <a16:creationId xmlns:a16="http://schemas.microsoft.com/office/drawing/2014/main" id="{5F036775-0142-41FF-9614-52BD82BBBC0F}"/>
              </a:ext>
            </a:extLst>
          </p:cNvPr>
          <p:cNvSpPr>
            <a:spLocks xmlns:a="http://schemas.openxmlformats.org/drawingml/2006/main" noGrp="1"/>
          </p:cNvSpPr>
          <p:nvPr/>
        </p:nvSpPr>
        <p:spPr>
          <a:xfrm xmlns:a="http://schemas.openxmlformats.org/drawingml/2006/main">
            <a:off x="666750" y="5715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y increases as x increases</a:t>
            </a:r>
          </a:p>
        </p:txBody>
      </p:sp>
      <p:sp>
        <p:nvSpPr>
          <p:cNvPr id="8" name="">
            <a:extLst xmlns:a="http://schemas.openxmlformats.org/drawingml/2006/main">
              <a:ext uri="{FF2B5EF4-FFF2-40B4-BE49-F238E27FC236}">
                <a16:creationId xmlns:a16="http://schemas.microsoft.com/office/drawing/2014/main" id="{E24AEB3C-0134-43D1-A525-048AC05048D3}"/>
              </a:ext>
            </a:extLst>
          </p:cNvPr>
          <p:cNvSpPr>
            <a:spLocks xmlns:a="http://schemas.openxmlformats.org/drawingml/2006/main" noGrp="1"/>
          </p:cNvSpPr>
          <p:nvPr/>
        </p:nvSpPr>
        <p:spPr>
          <a:xfrm xmlns:a="http://schemas.openxmlformats.org/drawingml/2006/main">
            <a:off x="4572000" y="16859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6C61"/>
                </a:solidFill>
                <a:latin typeface="Arial"/>
                <a:ea typeface="Arial"/>
                <a:cs typeface="Arial"/>
              </a:defRPr>
            </a:pPr>
            <a:r>
              <a:rPr sz="3150" b="1">
                <a:solidFill>
                  <a:srgbClr val="086C61"/>
                </a:solidFill>
                <a:latin typeface="Arial"/>
                <a:ea typeface="Arial"/>
                <a:cs typeface="Arial"/>
              </a:rPr>
              <a:t>m &lt; 0</a:t>
            </a:r>
          </a:p>
        </p:txBody>
      </p:sp>
      <p:graphicFrame>
        <p:nvGraphicFramePr>
          <p:cNvPr id="24" name="Chart"/>
          <p:cNvGraphicFramePr/>
          <p:nvPr/>
        </p:nvGraphicFramePr>
        <p:xfrm>
          <a:off xmlns:a="http://schemas.openxmlformats.org/drawingml/2006/main" x="4333875" y="2333625"/>
          <a:ext xmlns:a="http://schemas.openxmlformats.org/drawingml/2006/main" cx="3476625" cy="2781300"/>
        </p:xfrm>
        <a:graphic xmlns:a="http://schemas.openxmlformats.org/drawingml/2006/main">
          <a:graphicData uri="http://schemas.openxmlformats.org/drawingml/2006/chart">
            <c:chart xmlns:r="http://schemas.openxmlformats.org/officeDocument/2006/relationships" xmlns:c="http://schemas.openxmlformats.org/drawingml/2006/chart" r:id="Rdb3d18ff511549d5"/>
          </a:graphicData>
        </a:graphic>
      </p:graphicFrame>
      <p:sp>
        <p:nvSpPr>
          <p:cNvPr id="10" name="">
            <a:extLst xmlns:a="http://schemas.openxmlformats.org/drawingml/2006/main">
              <a:ext uri="{FF2B5EF4-FFF2-40B4-BE49-F238E27FC236}">
                <a16:creationId xmlns:a16="http://schemas.microsoft.com/office/drawing/2014/main" id="{D4F75402-90D6-4E2E-BE53-384F17015963}"/>
              </a:ext>
            </a:extLst>
          </p:cNvPr>
          <p:cNvSpPr>
            <a:spLocks xmlns:a="http://schemas.openxmlformats.org/drawingml/2006/main" noGrp="1"/>
          </p:cNvSpPr>
          <p:nvPr/>
        </p:nvSpPr>
        <p:spPr>
          <a:xfrm xmlns:a="http://schemas.openxmlformats.org/drawingml/2006/main">
            <a:off x="4524375" y="52482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C43"/>
                </a:solidFill>
                <a:latin typeface="Heiti TC"/>
                <a:ea typeface="Heiti TC"/>
                <a:cs typeface="Heiti TC"/>
              </a:defRPr>
            </a:pPr>
            <a:r>
              <a:rPr sz="1875" b="0">
                <a:solidFill>
                  <a:srgbClr val="173C43"/>
                </a:solidFill>
                <a:latin typeface="Heiti TC"/>
                <a:ea typeface="Heiti TC"/>
                <a:cs typeface="Heiti TC"/>
              </a:rPr>
              <a:t>x 增加時，y 減少</a:t>
            </a:r>
          </a:p>
        </p:txBody>
      </p:sp>
      <p:sp>
        <p:nvSpPr>
          <p:cNvPr id="11" name="">
            <a:extLst xmlns:a="http://schemas.openxmlformats.org/drawingml/2006/main">
              <a:ext uri="{FF2B5EF4-FFF2-40B4-BE49-F238E27FC236}">
                <a16:creationId xmlns:a16="http://schemas.microsoft.com/office/drawing/2014/main" id="{58D99703-8BAB-44E9-AF85-3FBA3CB35074}"/>
              </a:ext>
            </a:extLst>
          </p:cNvPr>
          <p:cNvSpPr>
            <a:spLocks xmlns:a="http://schemas.openxmlformats.org/drawingml/2006/main" noGrp="1"/>
          </p:cNvSpPr>
          <p:nvPr/>
        </p:nvSpPr>
        <p:spPr>
          <a:xfrm xmlns:a="http://schemas.openxmlformats.org/drawingml/2006/main">
            <a:off x="4524375" y="5715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y decreases as x increases</a:t>
            </a:r>
          </a:p>
        </p:txBody>
      </p:sp>
      <p:sp>
        <p:nvSpPr>
          <p:cNvPr id="12" name="">
            <a:extLst xmlns:a="http://schemas.openxmlformats.org/drawingml/2006/main">
              <a:ext uri="{FF2B5EF4-FFF2-40B4-BE49-F238E27FC236}">
                <a16:creationId xmlns:a16="http://schemas.microsoft.com/office/drawing/2014/main" id="{4EBD3475-DBA1-4200-83D0-AA518416CC05}"/>
              </a:ext>
            </a:extLst>
          </p:cNvPr>
          <p:cNvSpPr>
            <a:spLocks xmlns:a="http://schemas.openxmlformats.org/drawingml/2006/main" noGrp="1"/>
          </p:cNvSpPr>
          <p:nvPr/>
        </p:nvSpPr>
        <p:spPr>
          <a:xfrm xmlns:a="http://schemas.openxmlformats.org/drawingml/2006/main">
            <a:off x="8429625" y="168592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86C61"/>
                </a:solidFill>
                <a:latin typeface="Arial"/>
                <a:ea typeface="Arial"/>
                <a:cs typeface="Arial"/>
              </a:defRPr>
            </a:pPr>
            <a:r>
              <a:rPr sz="3150" b="1">
                <a:solidFill>
                  <a:srgbClr val="086C61"/>
                </a:solidFill>
                <a:latin typeface="Arial"/>
                <a:ea typeface="Arial"/>
                <a:cs typeface="Arial"/>
              </a:rPr>
              <a:t>m = 0</a:t>
            </a:r>
          </a:p>
        </p:txBody>
      </p:sp>
      <p:graphicFrame>
        <p:nvGraphicFramePr>
          <p:cNvPr id="28" name="Chart"/>
          <p:cNvGraphicFramePr/>
          <p:nvPr/>
        </p:nvGraphicFramePr>
        <p:xfrm>
          <a:off xmlns:a="http://schemas.openxmlformats.org/drawingml/2006/main" x="8191500" y="2333625"/>
          <a:ext xmlns:a="http://schemas.openxmlformats.org/drawingml/2006/main" cx="3476625" cy="2781300"/>
        </p:xfrm>
        <a:graphic xmlns:a="http://schemas.openxmlformats.org/drawingml/2006/main">
          <a:graphicData uri="http://schemas.openxmlformats.org/drawingml/2006/chart">
            <c:chart xmlns:r="http://schemas.openxmlformats.org/officeDocument/2006/relationships" xmlns:c="http://schemas.openxmlformats.org/drawingml/2006/chart" r:id="Rd31c9c02aff44faa"/>
          </a:graphicData>
        </a:graphic>
      </p:graphicFrame>
      <p:sp>
        <p:nvSpPr>
          <p:cNvPr id="14" name="">
            <a:extLst xmlns:a="http://schemas.openxmlformats.org/drawingml/2006/main">
              <a:ext uri="{FF2B5EF4-FFF2-40B4-BE49-F238E27FC236}">
                <a16:creationId xmlns:a16="http://schemas.microsoft.com/office/drawing/2014/main" id="{444BDBB4-8FE9-44F3-906C-CA0F297E9F13}"/>
              </a:ext>
            </a:extLst>
          </p:cNvPr>
          <p:cNvSpPr>
            <a:spLocks xmlns:a="http://schemas.openxmlformats.org/drawingml/2006/main" noGrp="1"/>
          </p:cNvSpPr>
          <p:nvPr/>
        </p:nvSpPr>
        <p:spPr>
          <a:xfrm xmlns:a="http://schemas.openxmlformats.org/drawingml/2006/main">
            <a:off x="8382000" y="5248275"/>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C43"/>
                </a:solidFill>
                <a:latin typeface="Heiti TC"/>
                <a:ea typeface="Heiti TC"/>
                <a:cs typeface="Heiti TC"/>
              </a:defRPr>
            </a:pPr>
            <a:r>
              <a:rPr sz="1875" b="0">
                <a:solidFill>
                  <a:srgbClr val="173C43"/>
                </a:solidFill>
                <a:latin typeface="Heiti TC"/>
                <a:ea typeface="Heiti TC"/>
                <a:cs typeface="Heiti TC"/>
              </a:rPr>
              <a:t>y 保持不變</a:t>
            </a:r>
          </a:p>
        </p:txBody>
      </p:sp>
      <p:sp>
        <p:nvSpPr>
          <p:cNvPr id="15" name="">
            <a:extLst xmlns:a="http://schemas.openxmlformats.org/drawingml/2006/main">
              <a:ext uri="{FF2B5EF4-FFF2-40B4-BE49-F238E27FC236}">
                <a16:creationId xmlns:a16="http://schemas.microsoft.com/office/drawing/2014/main" id="{C0A72D3A-8A7F-4D79-8841-812F3CD0BE4F}"/>
              </a:ext>
            </a:extLst>
          </p:cNvPr>
          <p:cNvSpPr>
            <a:spLocks xmlns:a="http://schemas.openxmlformats.org/drawingml/2006/main" noGrp="1"/>
          </p:cNvSpPr>
          <p:nvPr/>
        </p:nvSpPr>
        <p:spPr>
          <a:xfrm xmlns:a="http://schemas.openxmlformats.org/drawingml/2006/main">
            <a:off x="8382000" y="57150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y stays the same</a:t>
            </a:r>
          </a:p>
        </p:txBody>
      </p:sp>
    </p:spTree>
    <p:extLst>
      <p:ext uri="{BB962C8B-B14F-4D97-AF65-F5344CB8AC3E}">
        <p14:creationId xmlns:p14="http://schemas.microsoft.com/office/powerpoint/2010/main" val="581355002"/>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BD657FB-EA1C-47A4-AFFD-50FB61615E31}"/>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真實情境的數據會有差異</a:t>
            </a:r>
          </a:p>
        </p:txBody>
      </p:sp>
      <p:sp>
        <p:nvSpPr>
          <p:cNvPr id="2" name="">
            <a:extLst xmlns:a="http://schemas.openxmlformats.org/drawingml/2006/main">
              <a:ext uri="{FF2B5EF4-FFF2-40B4-BE49-F238E27FC236}">
                <a16:creationId xmlns:a16="http://schemas.microsoft.com/office/drawing/2014/main" id="{37187CD8-D975-45E4-8279-DE41D0181384}"/>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Data in real situations varies</a:t>
            </a:r>
          </a:p>
        </p:txBody>
      </p:sp>
      <p:sp>
        <p:nvSpPr>
          <p:cNvPr id="3" name="">
            <a:extLst xmlns:a="http://schemas.openxmlformats.org/drawingml/2006/main">
              <a:ext uri="{FF2B5EF4-FFF2-40B4-BE49-F238E27FC236}">
                <a16:creationId xmlns:a16="http://schemas.microsoft.com/office/drawing/2014/main" id="{77DF44AC-F838-46AD-8568-2B0B3A79592F}"/>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7</a:t>
            </a:r>
          </a:p>
        </p:txBody>
      </p:sp>
      <p:graphicFrame>
        <p:nvGraphicFramePr>
          <p:cNvPr id="15" name="Chart"/>
          <p:cNvGraphicFramePr/>
          <p:nvPr/>
        </p:nvGraphicFramePr>
        <p:xfrm>
          <a:off xmlns:a="http://schemas.openxmlformats.org/drawingml/2006/main" x="609600" y="1647825"/>
          <a:ext xmlns:a="http://schemas.openxmlformats.org/drawingml/2006/main" cx="6905625" cy="4286250"/>
        </p:xfrm>
        <a:graphic xmlns:a="http://schemas.openxmlformats.org/drawingml/2006/main">
          <a:graphicData uri="http://schemas.openxmlformats.org/drawingml/2006/chart">
            <c:chart xmlns:r="http://schemas.openxmlformats.org/officeDocument/2006/relationships" xmlns:c="http://schemas.openxmlformats.org/drawingml/2006/chart" r:id="R2479a647818f4736"/>
          </a:graphicData>
        </a:graphic>
      </p:graphicFrame>
      <p:sp>
        <p:nvSpPr>
          <p:cNvPr id="5" name="">
            <a:extLst xmlns:a="http://schemas.openxmlformats.org/drawingml/2006/main">
              <a:ext uri="{FF2B5EF4-FFF2-40B4-BE49-F238E27FC236}">
                <a16:creationId xmlns:a16="http://schemas.microsoft.com/office/drawing/2014/main" id="{01004425-F94A-47A8-AF26-6335E1D7490F}"/>
              </a:ext>
            </a:extLst>
          </p:cNvPr>
          <p:cNvSpPr>
            <a:spLocks xmlns:a="http://schemas.openxmlformats.org/drawingml/2006/main" noGrp="1"/>
          </p:cNvSpPr>
          <p:nvPr/>
        </p:nvSpPr>
        <p:spPr>
          <a:xfrm xmlns:a="http://schemas.openxmlformats.org/drawingml/2006/main">
            <a:off x="8020050" y="182880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每個點是一個觀察</a:t>
            </a:r>
          </a:p>
        </p:txBody>
      </p:sp>
      <p:sp>
        <p:nvSpPr>
          <p:cNvPr id="6" name="">
            <a:extLst xmlns:a="http://schemas.openxmlformats.org/drawingml/2006/main">
              <a:ext uri="{FF2B5EF4-FFF2-40B4-BE49-F238E27FC236}">
                <a16:creationId xmlns:a16="http://schemas.microsoft.com/office/drawing/2014/main" id="{B915C8F9-6A6F-42CB-8A7D-9A592FD875A3}"/>
              </a:ext>
            </a:extLst>
          </p:cNvPr>
          <p:cNvSpPr>
            <a:spLocks xmlns:a="http://schemas.openxmlformats.org/drawingml/2006/main" noGrp="1"/>
          </p:cNvSpPr>
          <p:nvPr/>
        </p:nvSpPr>
        <p:spPr>
          <a:xfrm xmlns:a="http://schemas.openxmlformats.org/drawingml/2006/main">
            <a:off x="8020050" y="229552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Each dot is an observation</a:t>
            </a:r>
          </a:p>
        </p:txBody>
      </p:sp>
      <p:sp>
        <p:nvSpPr>
          <p:cNvPr id="7" name="">
            <a:extLst xmlns:a="http://schemas.openxmlformats.org/drawingml/2006/main">
              <a:ext uri="{FF2B5EF4-FFF2-40B4-BE49-F238E27FC236}">
                <a16:creationId xmlns:a16="http://schemas.microsoft.com/office/drawing/2014/main" id="{EBA88D78-4F12-42E9-90F2-0A7D168F9F1F}"/>
              </a:ext>
            </a:extLst>
          </p:cNvPr>
          <p:cNvSpPr>
            <a:spLocks xmlns:a="http://schemas.openxmlformats.org/drawingml/2006/main" noGrp="1"/>
          </p:cNvSpPr>
          <p:nvPr/>
        </p:nvSpPr>
        <p:spPr>
          <a:xfrm xmlns:a="http://schemas.openxmlformats.org/drawingml/2006/main">
            <a:off x="8020050" y="310515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各點是否在同一直線上？</a:t>
            </a:r>
          </a:p>
        </p:txBody>
      </p:sp>
      <p:sp>
        <p:nvSpPr>
          <p:cNvPr id="8" name="">
            <a:extLst xmlns:a="http://schemas.openxmlformats.org/drawingml/2006/main">
              <a:ext uri="{FF2B5EF4-FFF2-40B4-BE49-F238E27FC236}">
                <a16:creationId xmlns:a16="http://schemas.microsoft.com/office/drawing/2014/main" id="{964EAE2F-A432-4733-9C77-F9DA11672149}"/>
              </a:ext>
            </a:extLst>
          </p:cNvPr>
          <p:cNvSpPr>
            <a:spLocks xmlns:a="http://schemas.openxmlformats.org/drawingml/2006/main" noGrp="1"/>
          </p:cNvSpPr>
          <p:nvPr/>
        </p:nvSpPr>
        <p:spPr>
          <a:xfrm xmlns:a="http://schemas.openxmlformats.org/drawingml/2006/main">
            <a:off x="8020050" y="357187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Do all the dots lie on one line?</a:t>
            </a:r>
          </a:p>
        </p:txBody>
      </p:sp>
      <p:sp>
        <p:nvSpPr>
          <p:cNvPr id="9" name="">
            <a:extLst xmlns:a="http://schemas.openxmlformats.org/drawingml/2006/main">
              <a:ext uri="{FF2B5EF4-FFF2-40B4-BE49-F238E27FC236}">
                <a16:creationId xmlns:a16="http://schemas.microsoft.com/office/drawing/2014/main" id="{B2C0E26D-D933-454B-876E-D8ED367B4222}"/>
              </a:ext>
            </a:extLst>
          </p:cNvPr>
          <p:cNvSpPr>
            <a:spLocks xmlns:a="http://schemas.openxmlformats.org/drawingml/2006/main" noGrp="1"/>
          </p:cNvSpPr>
          <p:nvPr/>
        </p:nvSpPr>
        <p:spPr>
          <a:xfrm xmlns:a="http://schemas.openxmlformats.org/drawingml/2006/main">
            <a:off x="8020050" y="441960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你看到甚麼趨勢？</a:t>
            </a:r>
          </a:p>
        </p:txBody>
      </p:sp>
      <p:sp>
        <p:nvSpPr>
          <p:cNvPr id="10" name="">
            <a:extLst xmlns:a="http://schemas.openxmlformats.org/drawingml/2006/main">
              <a:ext uri="{FF2B5EF4-FFF2-40B4-BE49-F238E27FC236}">
                <a16:creationId xmlns:a16="http://schemas.microsoft.com/office/drawing/2014/main" id="{8E013D35-FCF6-4DC5-BC74-2F94C23280F3}"/>
              </a:ext>
            </a:extLst>
          </p:cNvPr>
          <p:cNvSpPr>
            <a:spLocks xmlns:a="http://schemas.openxmlformats.org/drawingml/2006/main" noGrp="1"/>
          </p:cNvSpPr>
          <p:nvPr/>
        </p:nvSpPr>
        <p:spPr>
          <a:xfrm xmlns:a="http://schemas.openxmlformats.org/drawingml/2006/main">
            <a:off x="8020050" y="488632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What trend do you notice?</a:t>
            </a:r>
          </a:p>
        </p:txBody>
      </p:sp>
      <p:sp>
        <p:nvSpPr>
          <p:cNvPr id="11" name="">
            <a:extLst xmlns:a="http://schemas.openxmlformats.org/drawingml/2006/main">
              <a:ext uri="{FF2B5EF4-FFF2-40B4-BE49-F238E27FC236}">
                <a16:creationId xmlns:a16="http://schemas.microsoft.com/office/drawing/2014/main" id="{9E31C4A0-CECB-443F-B38F-D04179B72A87}"/>
              </a:ext>
            </a:extLst>
          </p:cNvPr>
          <p:cNvSpPr>
            <a:spLocks xmlns:a="http://schemas.openxmlformats.org/drawingml/2006/main" noGrp="1"/>
          </p:cNvSpPr>
          <p:nvPr/>
        </p:nvSpPr>
        <p:spPr>
          <a:xfrm xmlns:a="http://schemas.openxmlformats.org/drawingml/2006/main">
            <a:off x="609600" y="61912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Heiti TC"/>
                <a:ea typeface="Heiti TC"/>
                <a:cs typeface="Heiti TC"/>
              </a:defRPr>
            </a:pPr>
            <a:r>
              <a:rPr sz="1350" b="0">
                <a:solidFill>
                  <a:srgbClr val="526B70"/>
                </a:solidFill>
                <a:latin typeface="Heiti TC"/>
                <a:ea typeface="Heiti TC"/>
                <a:cs typeface="Heiti TC"/>
              </a:rPr>
              <a:t>教學模擬數據 / Simulated classroom data</a:t>
            </a:r>
          </a:p>
        </p:txBody>
      </p:sp>
    </p:spTree>
    <p:extLst>
      <p:ext uri="{BB962C8B-B14F-4D97-AF65-F5344CB8AC3E}">
        <p14:creationId xmlns:p14="http://schemas.microsoft.com/office/powerpoint/2010/main" val="326941127"/>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1436617-A37D-4FCB-BA9B-755B14113F07}"/>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線性回歸與最佳擬合直線</a:t>
            </a:r>
          </a:p>
        </p:txBody>
      </p:sp>
      <p:sp>
        <p:nvSpPr>
          <p:cNvPr id="2" name="">
            <a:extLst xmlns:a="http://schemas.openxmlformats.org/drawingml/2006/main">
              <a:ext uri="{FF2B5EF4-FFF2-40B4-BE49-F238E27FC236}">
                <a16:creationId xmlns:a16="http://schemas.microsoft.com/office/drawing/2014/main" id="{30B89ADF-9CAF-49FD-8ABA-E9FDB4E1C0D0}"/>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Linear regression and the best-fit line</a:t>
            </a:r>
          </a:p>
        </p:txBody>
      </p:sp>
      <p:sp>
        <p:nvSpPr>
          <p:cNvPr id="3" name="">
            <a:extLst xmlns:a="http://schemas.openxmlformats.org/drawingml/2006/main">
              <a:ext uri="{FF2B5EF4-FFF2-40B4-BE49-F238E27FC236}">
                <a16:creationId xmlns:a16="http://schemas.microsoft.com/office/drawing/2014/main" id="{33692C4D-F499-495E-B449-0780E7B7BE0E}"/>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8</a:t>
            </a:r>
          </a:p>
        </p:txBody>
      </p:sp>
      <p:graphicFrame>
        <p:nvGraphicFramePr>
          <p:cNvPr id="15" name="Chart"/>
          <p:cNvGraphicFramePr/>
          <p:nvPr/>
        </p:nvGraphicFramePr>
        <p:xfrm>
          <a:off xmlns:a="http://schemas.openxmlformats.org/drawingml/2006/main" x="609600" y="1647825"/>
          <a:ext xmlns:a="http://schemas.openxmlformats.org/drawingml/2006/main" cx="6905625" cy="4286250"/>
        </p:xfrm>
        <a:graphic xmlns:a="http://schemas.openxmlformats.org/drawingml/2006/main">
          <a:graphicData uri="http://schemas.openxmlformats.org/drawingml/2006/chart">
            <c:chart xmlns:r="http://schemas.openxmlformats.org/officeDocument/2006/relationships" xmlns:c="http://schemas.openxmlformats.org/drawingml/2006/chart" r:id="Rf5a1bf4112ab449f"/>
          </a:graphicData>
        </a:graphic>
      </p:graphicFrame>
      <p:sp>
        <p:nvSpPr>
          <p:cNvPr id="5" name="">
            <a:extLst xmlns:a="http://schemas.openxmlformats.org/drawingml/2006/main">
              <a:ext uri="{FF2B5EF4-FFF2-40B4-BE49-F238E27FC236}">
                <a16:creationId xmlns:a16="http://schemas.microsoft.com/office/drawing/2014/main" id="{F0BA6F4F-B613-4B16-AFCC-6BF876FB6651}"/>
              </a:ext>
            </a:extLst>
          </p:cNvPr>
          <p:cNvSpPr>
            <a:spLocks xmlns:a="http://schemas.openxmlformats.org/drawingml/2006/main" noGrp="1"/>
          </p:cNvSpPr>
          <p:nvPr/>
        </p:nvSpPr>
        <p:spPr>
          <a:xfrm xmlns:a="http://schemas.openxmlformats.org/drawingml/2006/main">
            <a:off x="8020050" y="182880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用一條直線概括整體趨勢</a:t>
            </a:r>
          </a:p>
        </p:txBody>
      </p:sp>
      <p:sp>
        <p:nvSpPr>
          <p:cNvPr id="6" name="">
            <a:extLst xmlns:a="http://schemas.openxmlformats.org/drawingml/2006/main">
              <a:ext uri="{FF2B5EF4-FFF2-40B4-BE49-F238E27FC236}">
                <a16:creationId xmlns:a16="http://schemas.microsoft.com/office/drawing/2014/main" id="{4F912BED-E09D-40E9-8BFE-64D84151FCB0}"/>
              </a:ext>
            </a:extLst>
          </p:cNvPr>
          <p:cNvSpPr>
            <a:spLocks xmlns:a="http://schemas.openxmlformats.org/drawingml/2006/main" noGrp="1"/>
          </p:cNvSpPr>
          <p:nvPr/>
        </p:nvSpPr>
        <p:spPr>
          <a:xfrm xmlns:a="http://schemas.openxmlformats.org/drawingml/2006/main">
            <a:off x="8020050" y="229552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One line summarises the overall trend</a:t>
            </a:r>
          </a:p>
        </p:txBody>
      </p:sp>
      <p:sp>
        <p:nvSpPr>
          <p:cNvPr id="7" name="">
            <a:extLst xmlns:a="http://schemas.openxmlformats.org/drawingml/2006/main">
              <a:ext uri="{FF2B5EF4-FFF2-40B4-BE49-F238E27FC236}">
                <a16:creationId xmlns:a16="http://schemas.microsoft.com/office/drawing/2014/main" id="{3AC9775E-49D5-4318-BD51-33C9EE9D7086}"/>
              </a:ext>
            </a:extLst>
          </p:cNvPr>
          <p:cNvSpPr>
            <a:spLocks xmlns:a="http://schemas.openxmlformats.org/drawingml/2006/main" noGrp="1"/>
          </p:cNvSpPr>
          <p:nvPr/>
        </p:nvSpPr>
        <p:spPr>
          <a:xfrm xmlns:a="http://schemas.openxmlformats.org/drawingml/2006/main">
            <a:off x="8020050" y="323850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它不必通過每一個點</a:t>
            </a:r>
          </a:p>
        </p:txBody>
      </p:sp>
      <p:sp>
        <p:nvSpPr>
          <p:cNvPr id="8" name="">
            <a:extLst xmlns:a="http://schemas.openxmlformats.org/drawingml/2006/main">
              <a:ext uri="{FF2B5EF4-FFF2-40B4-BE49-F238E27FC236}">
                <a16:creationId xmlns:a16="http://schemas.microsoft.com/office/drawing/2014/main" id="{9319F7E2-1246-48D0-A579-28C482BE6163}"/>
              </a:ext>
            </a:extLst>
          </p:cNvPr>
          <p:cNvSpPr>
            <a:spLocks xmlns:a="http://schemas.openxmlformats.org/drawingml/2006/main" noGrp="1"/>
          </p:cNvSpPr>
          <p:nvPr/>
        </p:nvSpPr>
        <p:spPr>
          <a:xfrm xmlns:a="http://schemas.openxmlformats.org/drawingml/2006/main">
            <a:off x="8020050" y="370522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It need not pass through every dot</a:t>
            </a:r>
          </a:p>
        </p:txBody>
      </p:sp>
      <p:sp>
        <p:nvSpPr>
          <p:cNvPr id="9" name="">
            <a:extLst xmlns:a="http://schemas.openxmlformats.org/drawingml/2006/main">
              <a:ext uri="{FF2B5EF4-FFF2-40B4-BE49-F238E27FC236}">
                <a16:creationId xmlns:a16="http://schemas.microsoft.com/office/drawing/2014/main" id="{77925EBA-FB17-4AA1-A9BE-DE84EA57A686}"/>
              </a:ext>
            </a:extLst>
          </p:cNvPr>
          <p:cNvSpPr>
            <a:spLocks xmlns:a="http://schemas.openxmlformats.org/drawingml/2006/main" noGrp="1"/>
          </p:cNvSpPr>
          <p:nvPr/>
        </p:nvSpPr>
        <p:spPr>
          <a:xfrm xmlns:a="http://schemas.openxmlformats.org/drawingml/2006/main">
            <a:off x="8020050" y="4600575"/>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網頁會自動更新直線</a:t>
            </a:r>
          </a:p>
        </p:txBody>
      </p:sp>
      <p:sp>
        <p:nvSpPr>
          <p:cNvPr id="10" name="">
            <a:extLst xmlns:a="http://schemas.openxmlformats.org/drawingml/2006/main">
              <a:ext uri="{FF2B5EF4-FFF2-40B4-BE49-F238E27FC236}">
                <a16:creationId xmlns:a16="http://schemas.microsoft.com/office/drawing/2014/main" id="{53EA0176-7E3F-4F17-A915-EE07522769D9}"/>
              </a:ext>
            </a:extLst>
          </p:cNvPr>
          <p:cNvSpPr>
            <a:spLocks xmlns:a="http://schemas.openxmlformats.org/drawingml/2006/main" noGrp="1"/>
          </p:cNvSpPr>
          <p:nvPr/>
        </p:nvSpPr>
        <p:spPr>
          <a:xfrm xmlns:a="http://schemas.openxmlformats.org/drawingml/2006/main">
            <a:off x="8020050" y="5067300"/>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The page updates the line automatically</a:t>
            </a:r>
          </a:p>
        </p:txBody>
      </p:sp>
      <p:sp>
        <p:nvSpPr>
          <p:cNvPr id="11" name="">
            <a:extLst xmlns:a="http://schemas.openxmlformats.org/drawingml/2006/main">
              <a:ext uri="{FF2B5EF4-FFF2-40B4-BE49-F238E27FC236}">
                <a16:creationId xmlns:a16="http://schemas.microsoft.com/office/drawing/2014/main" id="{CB0F8927-7B2B-4405-A934-CF5DE4E7FD6E}"/>
              </a:ext>
            </a:extLst>
          </p:cNvPr>
          <p:cNvSpPr>
            <a:spLocks xmlns:a="http://schemas.openxmlformats.org/drawingml/2006/main" noGrp="1"/>
          </p:cNvSpPr>
          <p:nvPr/>
        </p:nvSpPr>
        <p:spPr>
          <a:xfrm xmlns:a="http://schemas.openxmlformats.org/drawingml/2006/main">
            <a:off x="609600" y="6191250"/>
            <a:ext cx="762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Heiti TC"/>
                <a:ea typeface="Heiti TC"/>
                <a:cs typeface="Heiti TC"/>
              </a:defRPr>
            </a:pPr>
            <a:r>
              <a:rPr sz="1350" b="0">
                <a:solidFill>
                  <a:srgbClr val="526B70"/>
                </a:solidFill>
                <a:latin typeface="Heiti TC"/>
                <a:ea typeface="Heiti TC"/>
                <a:cs typeface="Heiti TC"/>
              </a:rPr>
              <a:t>教學模擬數據 / Simulated classroom data</a:t>
            </a:r>
          </a:p>
        </p:txBody>
      </p:sp>
    </p:spTree>
    <p:extLst>
      <p:ext uri="{BB962C8B-B14F-4D97-AF65-F5344CB8AC3E}">
        <p14:creationId xmlns:p14="http://schemas.microsoft.com/office/powerpoint/2010/main" val="634634023"/>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F1107A3-58F6-40F6-B709-9AA2BF21F93B}"/>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線性回歸是一種簡單的機器學習</a:t>
            </a:r>
          </a:p>
        </p:txBody>
      </p:sp>
      <p:sp>
        <p:nvSpPr>
          <p:cNvPr id="2" name="">
            <a:extLst xmlns:a="http://schemas.openxmlformats.org/drawingml/2006/main">
              <a:ext uri="{FF2B5EF4-FFF2-40B4-BE49-F238E27FC236}">
                <a16:creationId xmlns:a16="http://schemas.microsoft.com/office/drawing/2014/main" id="{72029940-3F85-40BC-8F54-3784AF85DDB4}"/>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Linear regression is a simple form of machine learning</a:t>
            </a:r>
          </a:p>
        </p:txBody>
      </p:sp>
      <p:sp>
        <p:nvSpPr>
          <p:cNvPr id="3" name="">
            <a:extLst xmlns:a="http://schemas.openxmlformats.org/drawingml/2006/main">
              <a:ext uri="{FF2B5EF4-FFF2-40B4-BE49-F238E27FC236}">
                <a16:creationId xmlns:a16="http://schemas.microsoft.com/office/drawing/2014/main" id="{76D4ED69-F769-4BA1-A02D-3C1EEFF03112}"/>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9</a:t>
            </a:r>
          </a:p>
        </p:txBody>
      </p:sp>
      <p:sp>
        <p:nvSpPr>
          <p:cNvPr id="4" name="">
            <a:extLst xmlns:a="http://schemas.openxmlformats.org/drawingml/2006/main">
              <a:ext uri="{FF2B5EF4-FFF2-40B4-BE49-F238E27FC236}">
                <a16:creationId xmlns:a16="http://schemas.microsoft.com/office/drawing/2014/main" id="{936532B7-81E4-40B1-A0AA-B95D70089DFF}"/>
              </a:ext>
            </a:extLst>
          </p:cNvPr>
          <p:cNvSpPr>
            <a:spLocks xmlns:a="http://schemas.openxmlformats.org/drawingml/2006/main" noGrp="1"/>
          </p:cNvSpPr>
          <p:nvPr/>
        </p:nvSpPr>
        <p:spPr>
          <a:xfrm xmlns:a="http://schemas.openxmlformats.org/drawingml/2006/main">
            <a:off x="609600" y="16383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調整前的猜測（示意）</a:t>
            </a:r>
          </a:p>
        </p:txBody>
      </p:sp>
      <p:sp>
        <p:nvSpPr>
          <p:cNvPr id="5" name="">
            <a:extLst xmlns:a="http://schemas.openxmlformats.org/drawingml/2006/main">
              <a:ext uri="{FF2B5EF4-FFF2-40B4-BE49-F238E27FC236}">
                <a16:creationId xmlns:a16="http://schemas.microsoft.com/office/drawing/2014/main" id="{86580141-804B-46CE-84FE-95C1CE680605}"/>
              </a:ext>
            </a:extLst>
          </p:cNvPr>
          <p:cNvSpPr>
            <a:spLocks xmlns:a="http://schemas.openxmlformats.org/drawingml/2006/main" noGrp="1"/>
          </p:cNvSpPr>
          <p:nvPr/>
        </p:nvSpPr>
        <p:spPr>
          <a:xfrm xmlns:a="http://schemas.openxmlformats.org/drawingml/2006/main">
            <a:off x="609600" y="21050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An initial guess (illustration)</a:t>
            </a:r>
          </a:p>
        </p:txBody>
      </p:sp>
      <p:sp>
        <p:nvSpPr>
          <p:cNvPr id="6" name="">
            <a:extLst xmlns:a="http://schemas.openxmlformats.org/drawingml/2006/main">
              <a:ext uri="{FF2B5EF4-FFF2-40B4-BE49-F238E27FC236}">
                <a16:creationId xmlns:a16="http://schemas.microsoft.com/office/drawing/2014/main" id="{2CD8896F-D0DA-4967-BD0B-EDFBCF7ACD0A}"/>
              </a:ext>
            </a:extLst>
          </p:cNvPr>
          <p:cNvSpPr>
            <a:spLocks xmlns:a="http://schemas.openxmlformats.org/drawingml/2006/main" noGrp="1"/>
          </p:cNvSpPr>
          <p:nvPr/>
        </p:nvSpPr>
        <p:spPr>
          <a:xfrm xmlns:a="http://schemas.openxmlformats.org/drawingml/2006/main">
            <a:off x="6429375" y="16383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根據例子，找出較合適的直線</a:t>
            </a:r>
          </a:p>
        </p:txBody>
      </p:sp>
      <p:sp>
        <p:nvSpPr>
          <p:cNvPr id="7" name="">
            <a:extLst xmlns:a="http://schemas.openxmlformats.org/drawingml/2006/main">
              <a:ext uri="{FF2B5EF4-FFF2-40B4-BE49-F238E27FC236}">
                <a16:creationId xmlns:a16="http://schemas.microsoft.com/office/drawing/2014/main" id="{50FE7F1F-A36B-4CBC-A6A1-C12D5E84F1F9}"/>
              </a:ext>
            </a:extLst>
          </p:cNvPr>
          <p:cNvSpPr>
            <a:spLocks xmlns:a="http://schemas.openxmlformats.org/drawingml/2006/main" noGrp="1"/>
          </p:cNvSpPr>
          <p:nvPr/>
        </p:nvSpPr>
        <p:spPr>
          <a:xfrm xmlns:a="http://schemas.openxmlformats.org/drawingml/2006/main">
            <a:off x="6429375" y="21050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The examples guide a better-fitting line</a:t>
            </a:r>
          </a:p>
        </p:txBody>
      </p:sp>
      <p:graphicFrame>
        <p:nvGraphicFramePr>
          <p:cNvPr id="20" name="Chart"/>
          <p:cNvGraphicFramePr/>
          <p:nvPr/>
        </p:nvGraphicFramePr>
        <p:xfrm>
          <a:off xmlns:a="http://schemas.openxmlformats.org/drawingml/2006/main" x="609600" y="2590800"/>
          <a:ext xmlns:a="http://schemas.openxmlformats.org/drawingml/2006/main" cx="5286375" cy="2857500"/>
        </p:xfrm>
        <a:graphic xmlns:a="http://schemas.openxmlformats.org/drawingml/2006/main">
          <a:graphicData uri="http://schemas.openxmlformats.org/drawingml/2006/chart">
            <c:chart xmlns:r="http://schemas.openxmlformats.org/officeDocument/2006/relationships" xmlns:c="http://schemas.openxmlformats.org/drawingml/2006/chart" r:id="Rbb40d088a83c445e"/>
          </a:graphicData>
        </a:graphic>
      </p:graphicFrame>
      <p:graphicFrame>
        <p:nvGraphicFramePr>
          <p:cNvPr id="21" name="Chart"/>
          <p:cNvGraphicFramePr/>
          <p:nvPr/>
        </p:nvGraphicFramePr>
        <p:xfrm>
          <a:off xmlns:a="http://schemas.openxmlformats.org/drawingml/2006/main" x="6429375" y="2590800"/>
          <a:ext xmlns:a="http://schemas.openxmlformats.org/drawingml/2006/main" cx="5286375" cy="2857500"/>
        </p:xfrm>
        <a:graphic xmlns:a="http://schemas.openxmlformats.org/drawingml/2006/main">
          <a:graphicData uri="http://schemas.openxmlformats.org/drawingml/2006/chart">
            <c:chart xmlns:r="http://schemas.openxmlformats.org/officeDocument/2006/relationships" xmlns:c="http://schemas.openxmlformats.org/drawingml/2006/chart" r:id="R7f0d611ca2854b17"/>
          </a:graphicData>
        </a:graphic>
      </p:graphicFrame>
      <p:sp>
        <p:nvSpPr>
          <p:cNvPr id="10" name="">
            <a:extLst xmlns:a="http://schemas.openxmlformats.org/drawingml/2006/main">
              <a:ext uri="{FF2B5EF4-FFF2-40B4-BE49-F238E27FC236}">
                <a16:creationId xmlns:a16="http://schemas.microsoft.com/office/drawing/2014/main" id="{11782787-9DDA-4C8C-AEB9-279E2A48C44C}"/>
              </a:ext>
            </a:extLst>
          </p:cNvPr>
          <p:cNvSpPr>
            <a:spLocks xmlns:a="http://schemas.openxmlformats.org/drawingml/2006/main" noGrp="1"/>
          </p:cNvSpPr>
          <p:nvPr/>
        </p:nvSpPr>
        <p:spPr>
          <a:xfrm xmlns:a="http://schemas.openxmlformats.org/drawingml/2006/main">
            <a:off x="609600" y="55245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電腦從數據學習，然後用學到的模式作預測</a:t>
            </a:r>
          </a:p>
        </p:txBody>
      </p:sp>
      <p:sp>
        <p:nvSpPr>
          <p:cNvPr id="11" name="">
            <a:extLst xmlns:a="http://schemas.openxmlformats.org/drawingml/2006/main">
              <a:ext uri="{FF2B5EF4-FFF2-40B4-BE49-F238E27FC236}">
                <a16:creationId xmlns:a16="http://schemas.microsoft.com/office/drawing/2014/main" id="{8163B2F0-3A1F-4320-88EC-E15B28724F76}"/>
              </a:ext>
            </a:extLst>
          </p:cNvPr>
          <p:cNvSpPr>
            <a:spLocks xmlns:a="http://schemas.openxmlformats.org/drawingml/2006/main" noGrp="1"/>
          </p:cNvSpPr>
          <p:nvPr/>
        </p:nvSpPr>
        <p:spPr>
          <a:xfrm xmlns:a="http://schemas.openxmlformats.org/drawingml/2006/main">
            <a:off x="609600" y="59912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The computer learns from data, then uses the pattern to predict</a:t>
            </a:r>
          </a:p>
        </p:txBody>
      </p:sp>
      <p:sp>
        <p:nvSpPr>
          <p:cNvPr id="12" name="">
            <a:extLst xmlns:a="http://schemas.openxmlformats.org/drawingml/2006/main">
              <a:ext uri="{FF2B5EF4-FFF2-40B4-BE49-F238E27FC236}">
                <a16:creationId xmlns:a16="http://schemas.microsoft.com/office/drawing/2014/main" id="{2B29844A-C3EA-4F49-A094-741A147F2DD0}"/>
              </a:ext>
            </a:extLst>
          </p:cNvPr>
          <p:cNvSpPr>
            <a:spLocks xmlns:a="http://schemas.openxmlformats.org/drawingml/2006/main" noGrp="1"/>
          </p:cNvSpPr>
          <p:nvPr/>
        </p:nvSpPr>
        <p:spPr>
          <a:xfrm xmlns:a="http://schemas.openxmlformats.org/drawingml/2006/main">
            <a:off x="609600" y="64198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0"/>
                </a:solidFill>
                <a:latin typeface="Heiti TC"/>
                <a:ea typeface="Heiti TC"/>
                <a:cs typeface="Heiti TC"/>
              </a:defRPr>
            </a:pPr>
            <a:r>
              <a:rPr sz="1200" b="0">
                <a:solidFill>
                  <a:srgbClr val="526B70"/>
                </a:solidFill>
                <a:latin typeface="Heiti TC"/>
                <a:ea typeface="Heiti TC"/>
                <a:cs typeface="Heiti TC"/>
              </a:rPr>
              <a:t>參考 / Source: Google Machine Learning Crash Course</a:t>
            </a:r>
          </a:p>
        </p:txBody>
      </p:sp>
    </p:spTree>
    <p:extLst>
      <p:ext uri="{BB962C8B-B14F-4D97-AF65-F5344CB8AC3E}">
        <p14:creationId xmlns:p14="http://schemas.microsoft.com/office/powerpoint/2010/main" val="1240807934"/>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695A61F-E399-4098-B28B-4230D5934316}"/>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現代 AI 能學習更複雜的模式</a:t>
            </a:r>
          </a:p>
        </p:txBody>
      </p:sp>
      <p:sp>
        <p:nvSpPr>
          <p:cNvPr id="2" name="">
            <a:extLst xmlns:a="http://schemas.openxmlformats.org/drawingml/2006/main">
              <a:ext uri="{FF2B5EF4-FFF2-40B4-BE49-F238E27FC236}">
                <a16:creationId xmlns:a16="http://schemas.microsoft.com/office/drawing/2014/main" id="{8C8AFCFC-29BE-48D8-B5C8-58506F1FF83F}"/>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Modern AI can learn more complex patterns</a:t>
            </a:r>
          </a:p>
        </p:txBody>
      </p:sp>
      <p:sp>
        <p:nvSpPr>
          <p:cNvPr id="3" name="">
            <a:extLst xmlns:a="http://schemas.openxmlformats.org/drawingml/2006/main">
              <a:ext uri="{FF2B5EF4-FFF2-40B4-BE49-F238E27FC236}">
                <a16:creationId xmlns:a16="http://schemas.microsoft.com/office/drawing/2014/main" id="{D0966460-CB89-469E-A1AB-7F62486DE228}"/>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7168BB2-8B3D-4309-9DB5-04D61D360D65}"/>
              </a:ext>
            </a:extLst>
          </p:cNvPr>
          <p:cNvSpPr>
            <a:spLocks xmlns:a="http://schemas.openxmlformats.org/drawingml/2006/main" noGrp="1"/>
          </p:cNvSpPr>
          <p:nvPr/>
        </p:nvSpPr>
        <p:spPr>
          <a:xfrm xmlns:a="http://schemas.openxmlformats.org/drawingml/2006/main">
            <a:off x="609600" y="16668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今天：從數字的例子，學習一條直線</a:t>
            </a:r>
          </a:p>
        </p:txBody>
      </p:sp>
      <p:sp>
        <p:nvSpPr>
          <p:cNvPr id="5" name="">
            <a:extLst xmlns:a="http://schemas.openxmlformats.org/drawingml/2006/main">
              <a:ext uri="{FF2B5EF4-FFF2-40B4-BE49-F238E27FC236}">
                <a16:creationId xmlns:a16="http://schemas.microsoft.com/office/drawing/2014/main" id="{A4EDD5F7-0D58-422A-8B09-929D2C959659}"/>
              </a:ext>
            </a:extLst>
          </p:cNvPr>
          <p:cNvSpPr>
            <a:spLocks xmlns:a="http://schemas.openxmlformats.org/drawingml/2006/main" noGrp="1"/>
          </p:cNvSpPr>
          <p:nvPr/>
        </p:nvSpPr>
        <p:spPr>
          <a:xfrm xmlns:a="http://schemas.openxmlformats.org/drawingml/2006/main">
            <a:off x="609600" y="21336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Today: learn a straight line from numerical examples</a:t>
            </a:r>
          </a:p>
        </p:txBody>
      </p:sp>
      <p:sp>
        <p:nvSpPr>
          <p:cNvPr id="6" name="">
            <a:extLst xmlns:a="http://schemas.openxmlformats.org/drawingml/2006/main">
              <a:ext uri="{FF2B5EF4-FFF2-40B4-BE49-F238E27FC236}">
                <a16:creationId xmlns:a16="http://schemas.microsoft.com/office/drawing/2014/main" id="{0651A7A2-DD41-4496-89EC-597D6BA3AD5F}"/>
              </a:ext>
            </a:extLst>
          </p:cNvPr>
          <p:cNvSpPr>
            <a:spLocks xmlns:a="http://schemas.openxmlformats.org/drawingml/2006/main" noGrp="1"/>
          </p:cNvSpPr>
          <p:nvPr/>
        </p:nvSpPr>
        <p:spPr>
          <a:xfrm xmlns:a="http://schemas.openxmlformats.org/drawingml/2006/main">
            <a:off x="609600" y="28194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許多現代 AI 使用神經網絡，學習更複雜的模式</a:t>
            </a:r>
          </a:p>
        </p:txBody>
      </p:sp>
      <p:sp>
        <p:nvSpPr>
          <p:cNvPr id="7" name="">
            <a:extLst xmlns:a="http://schemas.openxmlformats.org/drawingml/2006/main">
              <a:ext uri="{FF2B5EF4-FFF2-40B4-BE49-F238E27FC236}">
                <a16:creationId xmlns:a16="http://schemas.microsoft.com/office/drawing/2014/main" id="{49071059-434E-4DA2-9B78-08EDC1C6C8D6}"/>
              </a:ext>
            </a:extLst>
          </p:cNvPr>
          <p:cNvSpPr>
            <a:spLocks xmlns:a="http://schemas.openxmlformats.org/drawingml/2006/main" noGrp="1"/>
          </p:cNvSpPr>
          <p:nvPr/>
        </p:nvSpPr>
        <p:spPr>
          <a:xfrm xmlns:a="http://schemas.openxmlformats.org/drawingml/2006/main">
            <a:off x="609600" y="32861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Many modern AI systems use neural networks to learn more complex patterns</a:t>
            </a:r>
          </a:p>
        </p:txBody>
      </p:sp>
      <p:sp>
        <p:nvSpPr>
          <p:cNvPr id="8" name="">
            <a:extLst xmlns:a="http://schemas.openxmlformats.org/drawingml/2006/main">
              <a:ext uri="{FF2B5EF4-FFF2-40B4-BE49-F238E27FC236}">
                <a16:creationId xmlns:a16="http://schemas.microsoft.com/office/drawing/2014/main" id="{8C762CE5-EB5E-4508-94BB-87E3231F7FA7}"/>
              </a:ext>
            </a:extLst>
          </p:cNvPr>
          <p:cNvSpPr>
            <a:spLocks xmlns:a="http://schemas.openxmlformats.org/drawingml/2006/main" noGrp="1"/>
          </p:cNvSpPr>
          <p:nvPr/>
        </p:nvSpPr>
        <p:spPr>
          <a:xfrm xmlns:a="http://schemas.openxmlformats.org/drawingml/2006/main">
            <a:off x="609600" y="39814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例子：辨認照片中的物件，或預測下一小段文字</a:t>
            </a:r>
          </a:p>
        </p:txBody>
      </p:sp>
      <p:sp>
        <p:nvSpPr>
          <p:cNvPr id="9" name="">
            <a:extLst xmlns:a="http://schemas.openxmlformats.org/drawingml/2006/main">
              <a:ext uri="{FF2B5EF4-FFF2-40B4-BE49-F238E27FC236}">
                <a16:creationId xmlns:a16="http://schemas.microsoft.com/office/drawing/2014/main" id="{7EC1ECAC-5DDE-4A4C-BC73-0230B19E155C}"/>
              </a:ext>
            </a:extLst>
          </p:cNvPr>
          <p:cNvSpPr>
            <a:spLocks xmlns:a="http://schemas.openxmlformats.org/drawingml/2006/main" noGrp="1"/>
          </p:cNvSpPr>
          <p:nvPr/>
        </p:nvSpPr>
        <p:spPr>
          <a:xfrm xmlns:a="http://schemas.openxmlformats.org/drawingml/2006/main">
            <a:off x="609600" y="44481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Examples: recognise objects in photos, or predict the next piece of text</a:t>
            </a:r>
          </a:p>
        </p:txBody>
      </p:sp>
      <p:sp>
        <p:nvSpPr>
          <p:cNvPr id="10" name="">
            <a:extLst xmlns:a="http://schemas.openxmlformats.org/drawingml/2006/main">
              <a:ext uri="{FF2B5EF4-FFF2-40B4-BE49-F238E27FC236}">
                <a16:creationId xmlns:a16="http://schemas.microsoft.com/office/drawing/2014/main" id="{51FC691D-95E8-4373-8043-038BDBD98744}"/>
              </a:ext>
            </a:extLst>
          </p:cNvPr>
          <p:cNvSpPr>
            <a:spLocks xmlns:a="http://schemas.openxmlformats.org/drawingml/2006/main" noGrp="1"/>
          </p:cNvSpPr>
          <p:nvPr/>
        </p:nvSpPr>
        <p:spPr>
          <a:xfrm xmlns:a="http://schemas.openxmlformats.org/drawingml/2006/main">
            <a:off x="609600" y="51530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C43"/>
                </a:solidFill>
                <a:latin typeface="Heiti TC"/>
                <a:ea typeface="Heiti TC"/>
                <a:cs typeface="Heiti TC"/>
              </a:defRPr>
            </a:pPr>
            <a:r>
              <a:rPr sz="2250" b="0">
                <a:solidFill>
                  <a:srgbClr val="173C43"/>
                </a:solidFill>
                <a:latin typeface="Heiti TC"/>
                <a:ea typeface="Heiti TC"/>
                <a:cs typeface="Heiti TC"/>
              </a:rPr>
              <a:t>共同想法：從例子學習，再應用於新的情況</a:t>
            </a:r>
          </a:p>
        </p:txBody>
      </p:sp>
      <p:sp>
        <p:nvSpPr>
          <p:cNvPr id="11" name="">
            <a:extLst xmlns:a="http://schemas.openxmlformats.org/drawingml/2006/main">
              <a:ext uri="{FF2B5EF4-FFF2-40B4-BE49-F238E27FC236}">
                <a16:creationId xmlns:a16="http://schemas.microsoft.com/office/drawing/2014/main" id="{4F385D45-9D68-4C1B-A852-B9BF49049CB5}"/>
              </a:ext>
            </a:extLst>
          </p:cNvPr>
          <p:cNvSpPr>
            <a:spLocks xmlns:a="http://schemas.openxmlformats.org/drawingml/2006/main" noGrp="1"/>
          </p:cNvSpPr>
          <p:nvPr/>
        </p:nvSpPr>
        <p:spPr>
          <a:xfrm xmlns:a="http://schemas.openxmlformats.org/drawingml/2006/main">
            <a:off x="609600" y="5619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Shared idea: learn from examples, then apply the learning to new cases</a:t>
            </a:r>
          </a:p>
        </p:txBody>
      </p:sp>
      <p:sp>
        <p:nvSpPr>
          <p:cNvPr id="12" name="">
            <a:extLst xmlns:a="http://schemas.openxmlformats.org/drawingml/2006/main">
              <a:ext uri="{FF2B5EF4-FFF2-40B4-BE49-F238E27FC236}">
                <a16:creationId xmlns:a16="http://schemas.microsoft.com/office/drawing/2014/main" id="{FB2973DB-3E4F-46E7-A2E7-5087800E5961}"/>
              </a:ext>
            </a:extLst>
          </p:cNvPr>
          <p:cNvSpPr>
            <a:spLocks xmlns:a="http://schemas.openxmlformats.org/drawingml/2006/main" noGrp="1"/>
          </p:cNvSpPr>
          <p:nvPr/>
        </p:nvSpPr>
        <p:spPr>
          <a:xfrm xmlns:a="http://schemas.openxmlformats.org/drawingml/2006/main">
            <a:off x="609600" y="64198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0"/>
                </a:solidFill>
                <a:latin typeface="Heiti TC"/>
                <a:ea typeface="Heiti TC"/>
                <a:cs typeface="Heiti TC"/>
              </a:defRPr>
            </a:pPr>
            <a:r>
              <a:rPr sz="1200" b="0">
                <a:solidFill>
                  <a:srgbClr val="526B70"/>
                </a:solidFill>
                <a:latin typeface="Heiti TC"/>
                <a:ea typeface="Heiti TC"/>
                <a:cs typeface="Heiti TC"/>
              </a:rPr>
              <a:t>參考 / Source: Google Machine Learning Crash Course</a:t>
            </a:r>
          </a:p>
        </p:txBody>
      </p:sp>
    </p:spTree>
    <p:extLst>
      <p:ext uri="{BB962C8B-B14F-4D97-AF65-F5344CB8AC3E}">
        <p14:creationId xmlns:p14="http://schemas.microsoft.com/office/powerpoint/2010/main" val="835853755"/>
      </p:ext>
    </p:extLst>
  </p:cSld>
</p:sld>
</file>

<file path=ppt/slides/slide11.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528B13-788F-416B-A4BC-0E2770007351}"/>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學會模式，還是只記住例子？</a:t>
            </a:r>
          </a:p>
        </p:txBody>
      </p:sp>
      <p:sp>
        <p:nvSpPr>
          <p:cNvPr id="2" name="">
            <a:extLst xmlns:a="http://schemas.openxmlformats.org/drawingml/2006/main">
              <a:ext uri="{FF2B5EF4-FFF2-40B4-BE49-F238E27FC236}">
                <a16:creationId xmlns:a16="http://schemas.microsoft.com/office/drawing/2014/main" id="{4F3461E2-0E59-4A60-AC20-CC4E87A6C92B}"/>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Learning a pattern, or only remembering examples?</a:t>
            </a:r>
          </a:p>
        </p:txBody>
      </p:sp>
      <p:sp>
        <p:nvSpPr>
          <p:cNvPr id="3" name="">
            <a:extLst xmlns:a="http://schemas.openxmlformats.org/drawingml/2006/main">
              <a:ext uri="{FF2B5EF4-FFF2-40B4-BE49-F238E27FC236}">
                <a16:creationId xmlns:a16="http://schemas.microsoft.com/office/drawing/2014/main" id="{DD4889CC-0352-47CC-8C58-7EFE53CD420D}"/>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F5B432E-7803-4089-8540-850AA2A8F008}"/>
              </a:ext>
            </a:extLst>
          </p:cNvPr>
          <p:cNvSpPr>
            <a:spLocks xmlns:a="http://schemas.openxmlformats.org/drawingml/2006/main" noGrp="1"/>
          </p:cNvSpPr>
          <p:nvPr/>
        </p:nvSpPr>
        <p:spPr>
          <a:xfrm xmlns:a="http://schemas.openxmlformats.org/drawingml/2006/main">
            <a:off x="609600" y="17145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學習時：用一些例子找出模式</a:t>
            </a:r>
          </a:p>
        </p:txBody>
      </p:sp>
      <p:sp>
        <p:nvSpPr>
          <p:cNvPr id="5" name="">
            <a:extLst xmlns:a="http://schemas.openxmlformats.org/drawingml/2006/main">
              <a:ext uri="{FF2B5EF4-FFF2-40B4-BE49-F238E27FC236}">
                <a16:creationId xmlns:a16="http://schemas.microsoft.com/office/drawing/2014/main" id="{63B0CF02-1FCF-4638-80F7-01158357CA33}"/>
              </a:ext>
            </a:extLst>
          </p:cNvPr>
          <p:cNvSpPr>
            <a:spLocks xmlns:a="http://schemas.openxmlformats.org/drawingml/2006/main" noGrp="1"/>
          </p:cNvSpPr>
          <p:nvPr/>
        </p:nvSpPr>
        <p:spPr>
          <a:xfrm xmlns:a="http://schemas.openxmlformats.org/drawingml/2006/main">
            <a:off x="609600" y="218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During learning: use some examples to find a pattern</a:t>
            </a:r>
          </a:p>
        </p:txBody>
      </p:sp>
      <p:sp>
        <p:nvSpPr>
          <p:cNvPr id="6" name="">
            <a:extLst xmlns:a="http://schemas.openxmlformats.org/drawingml/2006/main">
              <a:ext uri="{FF2B5EF4-FFF2-40B4-BE49-F238E27FC236}">
                <a16:creationId xmlns:a16="http://schemas.microsoft.com/office/drawing/2014/main" id="{A40AF608-CF21-49D1-AA57-CCDFB3625B3F}"/>
              </a:ext>
            </a:extLst>
          </p:cNvPr>
          <p:cNvSpPr>
            <a:spLocks xmlns:a="http://schemas.openxmlformats.org/drawingml/2006/main" noGrp="1"/>
          </p:cNvSpPr>
          <p:nvPr/>
        </p:nvSpPr>
        <p:spPr>
          <a:xfrm xmlns:a="http://schemas.openxmlformats.org/drawingml/2006/main">
            <a:off x="609600" y="31337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檢查時：用新例子，比較預測與實際結果</a:t>
            </a:r>
          </a:p>
        </p:txBody>
      </p:sp>
      <p:sp>
        <p:nvSpPr>
          <p:cNvPr id="7" name="">
            <a:extLst xmlns:a="http://schemas.openxmlformats.org/drawingml/2006/main">
              <a:ext uri="{FF2B5EF4-FFF2-40B4-BE49-F238E27FC236}">
                <a16:creationId xmlns:a16="http://schemas.microsoft.com/office/drawing/2014/main" id="{1B722019-EA02-45D5-9558-B8B68916DDB1}"/>
              </a:ext>
            </a:extLst>
          </p:cNvPr>
          <p:cNvSpPr>
            <a:spLocks xmlns:a="http://schemas.openxmlformats.org/drawingml/2006/main" noGrp="1"/>
          </p:cNvSpPr>
          <p:nvPr/>
        </p:nvSpPr>
        <p:spPr>
          <a:xfrm xmlns:a="http://schemas.openxmlformats.org/drawingml/2006/main">
            <a:off x="609600" y="36004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During checking: compare predictions with actual outcomes on new examples</a:t>
            </a:r>
          </a:p>
        </p:txBody>
      </p:sp>
      <p:sp>
        <p:nvSpPr>
          <p:cNvPr id="8" name="">
            <a:extLst xmlns:a="http://schemas.openxmlformats.org/drawingml/2006/main">
              <a:ext uri="{FF2B5EF4-FFF2-40B4-BE49-F238E27FC236}">
                <a16:creationId xmlns:a16="http://schemas.microsoft.com/office/drawing/2014/main" id="{C9F1E89A-0CD2-4C94-A534-572CD02D0063}"/>
              </a:ext>
            </a:extLst>
          </p:cNvPr>
          <p:cNvSpPr>
            <a:spLocks xmlns:a="http://schemas.openxmlformats.org/drawingml/2006/main" noGrp="1"/>
          </p:cNvSpPr>
          <p:nvPr/>
        </p:nvSpPr>
        <p:spPr>
          <a:xfrm xmlns:a="http://schemas.openxmlformats.org/drawingml/2006/main">
            <a:off x="609600" y="45529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數據的品質會影響預測；模型的答案也可能有誤</a:t>
            </a:r>
          </a:p>
        </p:txBody>
      </p:sp>
      <p:sp>
        <p:nvSpPr>
          <p:cNvPr id="9" name="">
            <a:extLst xmlns:a="http://schemas.openxmlformats.org/drawingml/2006/main">
              <a:ext uri="{FF2B5EF4-FFF2-40B4-BE49-F238E27FC236}">
                <a16:creationId xmlns:a16="http://schemas.microsoft.com/office/drawing/2014/main" id="{810C6EAB-A4DD-4671-9D10-2DC38856321A}"/>
              </a:ext>
            </a:extLst>
          </p:cNvPr>
          <p:cNvSpPr>
            <a:spLocks xmlns:a="http://schemas.openxmlformats.org/drawingml/2006/main" noGrp="1"/>
          </p:cNvSpPr>
          <p:nvPr/>
        </p:nvSpPr>
        <p:spPr>
          <a:xfrm xmlns:a="http://schemas.openxmlformats.org/drawingml/2006/main">
            <a:off x="609600" y="50196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Data quality affects predictions. A model can still give a wrong answer.</a:t>
            </a:r>
          </a:p>
        </p:txBody>
      </p:sp>
      <p:sp>
        <p:nvSpPr>
          <p:cNvPr id="10" name="">
            <a:extLst xmlns:a="http://schemas.openxmlformats.org/drawingml/2006/main">
              <a:ext uri="{FF2B5EF4-FFF2-40B4-BE49-F238E27FC236}">
                <a16:creationId xmlns:a16="http://schemas.microsoft.com/office/drawing/2014/main" id="{397B7A77-AD80-416B-82FA-8CB07F531ABA}"/>
              </a:ext>
            </a:extLst>
          </p:cNvPr>
          <p:cNvSpPr>
            <a:spLocks xmlns:a="http://schemas.openxmlformats.org/drawingml/2006/main" noGrp="1"/>
          </p:cNvSpPr>
          <p:nvPr/>
        </p:nvSpPr>
        <p:spPr>
          <a:xfrm xmlns:a="http://schemas.openxmlformats.org/drawingml/2006/main">
            <a:off x="609600" y="6419850"/>
            <a:ext cx="10096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B70"/>
                </a:solidFill>
                <a:latin typeface="Heiti TC"/>
                <a:ea typeface="Heiti TC"/>
                <a:cs typeface="Heiti TC"/>
              </a:defRPr>
            </a:pPr>
            <a:r>
              <a:rPr sz="1200" b="0">
                <a:solidFill>
                  <a:srgbClr val="526B70"/>
                </a:solidFill>
                <a:latin typeface="Heiti TC"/>
                <a:ea typeface="Heiti TC"/>
                <a:cs typeface="Heiti TC"/>
              </a:rPr>
              <a:t>參考 / Source: Google Machine Learning Crash Course</a:t>
            </a:r>
          </a:p>
        </p:txBody>
      </p:sp>
    </p:spTree>
    <p:extLst>
      <p:ext uri="{BB962C8B-B14F-4D97-AF65-F5344CB8AC3E}">
        <p14:creationId xmlns:p14="http://schemas.microsoft.com/office/powerpoint/2010/main" val="1269326950"/>
      </p:ext>
    </p:extLst>
  </p:cSld>
</p:sld>
</file>

<file path=ppt/slides/slide1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EBF8CFC-D9DB-47A3-A4A2-21FF75BF8F61}"/>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加入新點，觀察直線</a:t>
            </a:r>
          </a:p>
        </p:txBody>
      </p:sp>
      <p:sp>
        <p:nvSpPr>
          <p:cNvPr id="2" name="">
            <a:extLst xmlns:a="http://schemas.openxmlformats.org/drawingml/2006/main">
              <a:ext uri="{FF2B5EF4-FFF2-40B4-BE49-F238E27FC236}">
                <a16:creationId xmlns:a16="http://schemas.microsoft.com/office/drawing/2014/main" id="{AE90A079-5BBC-465A-A7E4-7AA6FEEA4908}"/>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Add points and observe the line</a:t>
            </a:r>
          </a:p>
        </p:txBody>
      </p:sp>
      <p:sp>
        <p:nvSpPr>
          <p:cNvPr id="3" name="">
            <a:extLst xmlns:a="http://schemas.openxmlformats.org/drawingml/2006/main">
              <a:ext uri="{FF2B5EF4-FFF2-40B4-BE49-F238E27FC236}">
                <a16:creationId xmlns:a16="http://schemas.microsoft.com/office/drawing/2014/main" id="{DCA4CC95-3E8B-41FA-AB81-25C5CA263F63}"/>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EECEC7A7-18AE-44CE-B69B-DF01C1D0950D}"/>
              </a:ext>
            </a:extLst>
          </p:cNvPr>
          <p:cNvSpPr>
            <a:spLocks xmlns:a="http://schemas.openxmlformats.org/drawingml/2006/main" noGrp="1"/>
          </p:cNvSpPr>
          <p:nvPr/>
        </p:nvSpPr>
        <p:spPr>
          <a:xfrm xmlns:a="http://schemas.openxmlformats.org/drawingml/2006/main">
            <a:off x="609600" y="171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在圖上點一下，加入一個數據點</a:t>
            </a:r>
          </a:p>
        </p:txBody>
      </p:sp>
      <p:sp>
        <p:nvSpPr>
          <p:cNvPr id="5" name="">
            <a:extLst xmlns:a="http://schemas.openxmlformats.org/drawingml/2006/main">
              <a:ext uri="{FF2B5EF4-FFF2-40B4-BE49-F238E27FC236}">
                <a16:creationId xmlns:a16="http://schemas.microsoft.com/office/drawing/2014/main" id="{EE5EB6F3-C2CF-4B2C-9D8A-E34D166FA891}"/>
              </a:ext>
            </a:extLst>
          </p:cNvPr>
          <p:cNvSpPr>
            <a:spLocks xmlns:a="http://schemas.openxmlformats.org/drawingml/2006/main" noGrp="1"/>
          </p:cNvSpPr>
          <p:nvPr/>
        </p:nvSpPr>
        <p:spPr>
          <a:xfrm xmlns:a="http://schemas.openxmlformats.org/drawingml/2006/main">
            <a:off x="609600" y="21812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Click or tap the graph to add a data point</a:t>
            </a:r>
          </a:p>
        </p:txBody>
      </p:sp>
      <p:sp>
        <p:nvSpPr>
          <p:cNvPr id="6" name="">
            <a:extLst xmlns:a="http://schemas.openxmlformats.org/drawingml/2006/main">
              <a:ext uri="{FF2B5EF4-FFF2-40B4-BE49-F238E27FC236}">
                <a16:creationId xmlns:a16="http://schemas.microsoft.com/office/drawing/2014/main" id="{02146206-5A72-4BAC-8602-CE077BCE8BD4}"/>
              </a:ext>
            </a:extLst>
          </p:cNvPr>
          <p:cNvSpPr>
            <a:spLocks xmlns:a="http://schemas.openxmlformats.org/drawingml/2006/main" noGrp="1"/>
          </p:cNvSpPr>
          <p:nvPr/>
        </p:nvSpPr>
        <p:spPr>
          <a:xfrm xmlns:a="http://schemas.openxmlformats.org/drawingml/2006/main">
            <a:off x="609600" y="29527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比較加入點前後的 m 和 c</a:t>
            </a:r>
          </a:p>
        </p:txBody>
      </p:sp>
      <p:sp>
        <p:nvSpPr>
          <p:cNvPr id="7" name="">
            <a:extLst xmlns:a="http://schemas.openxmlformats.org/drawingml/2006/main">
              <a:ext uri="{FF2B5EF4-FFF2-40B4-BE49-F238E27FC236}">
                <a16:creationId xmlns:a16="http://schemas.microsoft.com/office/drawing/2014/main" id="{AC0EE1BD-CAA1-400F-8218-D92CCCB1FB43}"/>
              </a:ext>
            </a:extLst>
          </p:cNvPr>
          <p:cNvSpPr>
            <a:spLocks xmlns:a="http://schemas.openxmlformats.org/drawingml/2006/main" noGrp="1"/>
          </p:cNvSpPr>
          <p:nvPr/>
        </p:nvSpPr>
        <p:spPr>
          <a:xfrm xmlns:a="http://schemas.openxmlformats.org/drawingml/2006/main">
            <a:off x="609600" y="34194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Compare m and c before and after adding the point</a:t>
            </a:r>
          </a:p>
        </p:txBody>
      </p:sp>
      <p:sp>
        <p:nvSpPr>
          <p:cNvPr id="8" name="">
            <a:extLst xmlns:a="http://schemas.openxmlformats.org/drawingml/2006/main">
              <a:ext uri="{FF2B5EF4-FFF2-40B4-BE49-F238E27FC236}">
                <a16:creationId xmlns:a16="http://schemas.microsoft.com/office/drawing/2014/main" id="{F6D6AD99-74C0-411C-897B-FE5873CA4BA4}"/>
              </a:ext>
            </a:extLst>
          </p:cNvPr>
          <p:cNvSpPr>
            <a:spLocks xmlns:a="http://schemas.openxmlformats.org/drawingml/2006/main" noGrp="1"/>
          </p:cNvSpPr>
          <p:nvPr/>
        </p:nvSpPr>
        <p:spPr>
          <a:xfrm xmlns:a="http://schemas.openxmlformats.org/drawingml/2006/main">
            <a:off x="609600" y="41910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3C43"/>
                </a:solidFill>
                <a:latin typeface="Heiti TC"/>
                <a:ea typeface="Heiti TC"/>
                <a:cs typeface="Heiti TC"/>
              </a:defRPr>
            </a:pPr>
            <a:r>
              <a:rPr sz="2625" b="0">
                <a:solidFill>
                  <a:srgbClr val="173C43"/>
                </a:solidFill>
                <a:latin typeface="Heiti TC"/>
                <a:ea typeface="Heiti TC"/>
                <a:cs typeface="Heiti TC"/>
              </a:rPr>
              <a:t>試一個遠離其他點的新點</a:t>
            </a:r>
          </a:p>
        </p:txBody>
      </p:sp>
      <p:sp>
        <p:nvSpPr>
          <p:cNvPr id="9" name="">
            <a:extLst xmlns:a="http://schemas.openxmlformats.org/drawingml/2006/main">
              <a:ext uri="{FF2B5EF4-FFF2-40B4-BE49-F238E27FC236}">
                <a16:creationId xmlns:a16="http://schemas.microsoft.com/office/drawing/2014/main" id="{94A206B8-4D80-44E7-851D-D5787A499D0A}"/>
              </a:ext>
            </a:extLst>
          </p:cNvPr>
          <p:cNvSpPr>
            <a:spLocks xmlns:a="http://schemas.openxmlformats.org/drawingml/2006/main" noGrp="1"/>
          </p:cNvSpPr>
          <p:nvPr/>
        </p:nvSpPr>
        <p:spPr>
          <a:xfrm xmlns:a="http://schemas.openxmlformats.org/drawingml/2006/main">
            <a:off x="609600" y="46577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B70"/>
                </a:solidFill>
                <a:latin typeface="Arial"/>
                <a:ea typeface="Arial"/>
                <a:cs typeface="Arial"/>
              </a:defRPr>
            </a:pPr>
            <a:r>
              <a:rPr sz="2025" b="0">
                <a:solidFill>
                  <a:srgbClr val="526B70"/>
                </a:solidFill>
                <a:latin typeface="Arial"/>
                <a:ea typeface="Arial"/>
                <a:cs typeface="Arial"/>
              </a:rPr>
              <a:t>Try a point far from the other dots</a:t>
            </a:r>
          </a:p>
        </p:txBody>
      </p:sp>
      <p:sp>
        <p:nvSpPr>
          <p:cNvPr id="10" name="">
            <a:extLst xmlns:a="http://schemas.openxmlformats.org/drawingml/2006/main">
              <a:ext uri="{FF2B5EF4-FFF2-40B4-BE49-F238E27FC236}">
                <a16:creationId xmlns:a16="http://schemas.microsoft.com/office/drawing/2014/main" id="{92D3527C-5003-4260-A777-52B4A7C72C41}"/>
              </a:ext>
            </a:extLst>
          </p:cNvPr>
          <p:cNvSpPr>
            <a:spLocks xmlns:a="http://schemas.openxmlformats.org/drawingml/2006/main" noGrp="1"/>
          </p:cNvSpPr>
          <p:nvPr/>
        </p:nvSpPr>
        <p:spPr>
          <a:xfrm xmlns:a="http://schemas.openxmlformats.org/drawingml/2006/main">
            <a:off x="609600" y="536257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43"/>
                </a:solidFill>
                <a:latin typeface="Heiti TC"/>
                <a:ea typeface="Heiti TC"/>
                <a:cs typeface="Heiti TC"/>
              </a:defRPr>
            </a:pPr>
            <a:r>
              <a:rPr sz="2025" b="0">
                <a:solidFill>
                  <a:srgbClr val="173C43"/>
                </a:solidFill>
                <a:latin typeface="Heiti TC"/>
                <a:ea typeface="Heiti TC"/>
                <a:cs typeface="Heiti TC"/>
              </a:rPr>
              <a:t>先預測，再觀察。把結果寫在工作紙上。</a:t>
            </a:r>
          </a:p>
        </p:txBody>
      </p:sp>
      <p:sp>
        <p:nvSpPr>
          <p:cNvPr id="11" name="">
            <a:extLst xmlns:a="http://schemas.openxmlformats.org/drawingml/2006/main">
              <a:ext uri="{FF2B5EF4-FFF2-40B4-BE49-F238E27FC236}">
                <a16:creationId xmlns:a16="http://schemas.microsoft.com/office/drawing/2014/main" id="{05E81699-FA99-4CFD-B398-7DA9A39E9A30}"/>
              </a:ext>
            </a:extLst>
          </p:cNvPr>
          <p:cNvSpPr>
            <a:spLocks xmlns:a="http://schemas.openxmlformats.org/drawingml/2006/main" noGrp="1"/>
          </p:cNvSpPr>
          <p:nvPr/>
        </p:nvSpPr>
        <p:spPr>
          <a:xfrm xmlns:a="http://schemas.openxmlformats.org/drawingml/2006/main">
            <a:off x="609600" y="58293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Predict first, then observe. Record the result on your worksheet.</a:t>
            </a:r>
          </a:p>
        </p:txBody>
      </p:sp>
    </p:spTree>
    <p:extLst>
      <p:ext uri="{BB962C8B-B14F-4D97-AF65-F5344CB8AC3E}">
        <p14:creationId xmlns:p14="http://schemas.microsoft.com/office/powerpoint/2010/main" val="176448993"/>
      </p:ext>
    </p:extLst>
  </p:cSld>
</p:sld>
</file>

<file path=ppt/slides/slide1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4AA8BD-F2AC-4451-88FF-4F52D10B3731}"/>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每天溫習時間與考試成績</a:t>
            </a:r>
          </a:p>
        </p:txBody>
      </p:sp>
      <p:sp>
        <p:nvSpPr>
          <p:cNvPr id="2" name="">
            <a:extLst xmlns:a="http://schemas.openxmlformats.org/drawingml/2006/main">
              <a:ext uri="{FF2B5EF4-FFF2-40B4-BE49-F238E27FC236}">
                <a16:creationId xmlns:a16="http://schemas.microsoft.com/office/drawing/2014/main" id="{4B50B3F2-4B62-440E-B37C-393A3FAAC517}"/>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Daily study time and exam score</a:t>
            </a:r>
          </a:p>
        </p:txBody>
      </p:sp>
      <p:sp>
        <p:nvSpPr>
          <p:cNvPr id="3" name="">
            <a:extLst xmlns:a="http://schemas.openxmlformats.org/drawingml/2006/main">
              <a:ext uri="{FF2B5EF4-FFF2-40B4-BE49-F238E27FC236}">
                <a16:creationId xmlns:a16="http://schemas.microsoft.com/office/drawing/2014/main" id="{CE570DD3-6279-4295-921E-C011E2DC1335}"/>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13</a:t>
            </a:r>
          </a:p>
        </p:txBody>
      </p:sp>
      <p:graphicFrame>
        <p:nvGraphicFramePr>
          <p:cNvPr id="15" name="Chart"/>
          <p:cNvGraphicFramePr/>
          <p:nvPr/>
        </p:nvGraphicFramePr>
        <p:xfrm>
          <a:off xmlns:a="http://schemas.openxmlformats.org/drawingml/2006/main" x="609600" y="1647825"/>
          <a:ext xmlns:a="http://schemas.openxmlformats.org/drawingml/2006/main" cx="6905625" cy="4286250"/>
        </p:xfrm>
        <a:graphic xmlns:a="http://schemas.openxmlformats.org/drawingml/2006/main">
          <a:graphicData uri="http://schemas.openxmlformats.org/drawingml/2006/chart">
            <c:chart xmlns:r="http://schemas.openxmlformats.org/officeDocument/2006/relationships" xmlns:c="http://schemas.openxmlformats.org/drawingml/2006/chart" r:id="R17c7a67ba22547e0"/>
          </a:graphicData>
        </a:graphic>
      </p:graphicFrame>
      <p:sp>
        <p:nvSpPr>
          <p:cNvPr id="5" name="">
            <a:extLst xmlns:a="http://schemas.openxmlformats.org/drawingml/2006/main">
              <a:ext uri="{FF2B5EF4-FFF2-40B4-BE49-F238E27FC236}">
                <a16:creationId xmlns:a16="http://schemas.microsoft.com/office/drawing/2014/main" id="{7D996E34-B905-4F29-8EFC-995F4FFBCCA2}"/>
              </a:ext>
            </a:extLst>
          </p:cNvPr>
          <p:cNvSpPr>
            <a:spLocks xmlns:a="http://schemas.openxmlformats.org/drawingml/2006/main" noGrp="1"/>
          </p:cNvSpPr>
          <p:nvPr/>
        </p:nvSpPr>
        <p:spPr>
          <a:xfrm xmlns:a="http://schemas.openxmlformats.org/drawingml/2006/main">
            <a:off x="8020050" y="1819275"/>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3.5 小時的預測成績？</a:t>
            </a:r>
          </a:p>
        </p:txBody>
      </p:sp>
      <p:sp>
        <p:nvSpPr>
          <p:cNvPr id="6" name="">
            <a:extLst xmlns:a="http://schemas.openxmlformats.org/drawingml/2006/main">
              <a:ext uri="{FF2B5EF4-FFF2-40B4-BE49-F238E27FC236}">
                <a16:creationId xmlns:a16="http://schemas.microsoft.com/office/drawing/2014/main" id="{F245E9FA-A43F-4477-934A-6E736C0B726F}"/>
              </a:ext>
            </a:extLst>
          </p:cNvPr>
          <p:cNvSpPr>
            <a:spLocks xmlns:a="http://schemas.openxmlformats.org/drawingml/2006/main" noGrp="1"/>
          </p:cNvSpPr>
          <p:nvPr/>
        </p:nvSpPr>
        <p:spPr>
          <a:xfrm xmlns:a="http://schemas.openxmlformats.org/drawingml/2006/main">
            <a:off x="8020050" y="2286000"/>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Score for 3.5 hours a day?</a:t>
            </a:r>
          </a:p>
        </p:txBody>
      </p:sp>
      <p:sp>
        <p:nvSpPr>
          <p:cNvPr id="7" name="">
            <a:extLst xmlns:a="http://schemas.openxmlformats.org/drawingml/2006/main">
              <a:ext uri="{FF2B5EF4-FFF2-40B4-BE49-F238E27FC236}">
                <a16:creationId xmlns:a16="http://schemas.microsoft.com/office/drawing/2014/main" id="{16D1F827-77DF-4608-9FDA-9FE8D135B5FC}"/>
              </a:ext>
            </a:extLst>
          </p:cNvPr>
          <p:cNvSpPr>
            <a:spLocks xmlns:a="http://schemas.openxmlformats.org/drawingml/2006/main" noGrp="1"/>
          </p:cNvSpPr>
          <p:nvPr/>
        </p:nvSpPr>
        <p:spPr>
          <a:xfrm xmlns:a="http://schemas.openxmlformats.org/drawingml/2006/main">
            <a:off x="8020050" y="339090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C43"/>
                </a:solidFill>
                <a:latin typeface="Heiti TC"/>
                <a:ea typeface="Heiti TC"/>
                <a:cs typeface="Heiti TC"/>
              </a:defRPr>
            </a:pPr>
            <a:r>
              <a:rPr sz="2175" b="0">
                <a:solidFill>
                  <a:srgbClr val="173C43"/>
                </a:solidFill>
                <a:latin typeface="Heiti TC"/>
                <a:ea typeface="Heiti TC"/>
                <a:cs typeface="Heiti TC"/>
              </a:rPr>
              <a:t>先畫直線，再估計</a:t>
            </a:r>
          </a:p>
        </p:txBody>
      </p:sp>
      <p:sp>
        <p:nvSpPr>
          <p:cNvPr id="8" name="">
            <a:extLst xmlns:a="http://schemas.openxmlformats.org/drawingml/2006/main">
              <a:ext uri="{FF2B5EF4-FFF2-40B4-BE49-F238E27FC236}">
                <a16:creationId xmlns:a16="http://schemas.microsoft.com/office/drawing/2014/main" id="{84410C72-E626-437F-B0CF-B24F73857A46}"/>
              </a:ext>
            </a:extLst>
          </p:cNvPr>
          <p:cNvSpPr>
            <a:spLocks xmlns:a="http://schemas.openxmlformats.org/drawingml/2006/main" noGrp="1"/>
          </p:cNvSpPr>
          <p:nvPr/>
        </p:nvSpPr>
        <p:spPr>
          <a:xfrm xmlns:a="http://schemas.openxmlformats.org/drawingml/2006/main">
            <a:off x="8020050" y="385762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Draw your line, then estimate</a:t>
            </a:r>
          </a:p>
        </p:txBody>
      </p:sp>
      <p:sp>
        <p:nvSpPr>
          <p:cNvPr id="9" name="">
            <a:extLst xmlns:a="http://schemas.openxmlformats.org/drawingml/2006/main">
              <a:ext uri="{FF2B5EF4-FFF2-40B4-BE49-F238E27FC236}">
                <a16:creationId xmlns:a16="http://schemas.microsoft.com/office/drawing/2014/main" id="{D75A799C-31B6-4D94-A524-C329864C9120}"/>
              </a:ext>
            </a:extLst>
          </p:cNvPr>
          <p:cNvSpPr>
            <a:spLocks xmlns:a="http://schemas.openxmlformats.org/drawingml/2006/main" noGrp="1"/>
          </p:cNvSpPr>
          <p:nvPr/>
        </p:nvSpPr>
        <p:spPr>
          <a:xfrm xmlns:a="http://schemas.openxmlformats.org/drawingml/2006/main">
            <a:off x="8020050" y="4819650"/>
            <a:ext cx="3571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C43"/>
                </a:solidFill>
                <a:latin typeface="Heiti TC"/>
                <a:ea typeface="Heiti TC"/>
                <a:cs typeface="Heiti TC"/>
              </a:defRPr>
            </a:pPr>
            <a:r>
              <a:rPr sz="2100" b="0">
                <a:solidFill>
                  <a:srgbClr val="173C43"/>
                </a:solidFill>
                <a:latin typeface="Heiti TC"/>
                <a:ea typeface="Heiti TC"/>
                <a:cs typeface="Heiti TC"/>
              </a:rPr>
              <a:t>10 小時的預測可信嗎？</a:t>
            </a:r>
          </a:p>
        </p:txBody>
      </p:sp>
      <p:sp>
        <p:nvSpPr>
          <p:cNvPr id="10" name="">
            <a:extLst xmlns:a="http://schemas.openxmlformats.org/drawingml/2006/main">
              <a:ext uri="{FF2B5EF4-FFF2-40B4-BE49-F238E27FC236}">
                <a16:creationId xmlns:a16="http://schemas.microsoft.com/office/drawing/2014/main" id="{A5C48AB6-F31A-4B41-9E0A-A36136D0133C}"/>
              </a:ext>
            </a:extLst>
          </p:cNvPr>
          <p:cNvSpPr>
            <a:spLocks xmlns:a="http://schemas.openxmlformats.org/drawingml/2006/main" noGrp="1"/>
          </p:cNvSpPr>
          <p:nvPr/>
        </p:nvSpPr>
        <p:spPr>
          <a:xfrm xmlns:a="http://schemas.openxmlformats.org/drawingml/2006/main">
            <a:off x="8020050" y="5286375"/>
            <a:ext cx="3571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How reliable is a prediction for 10 hours?</a:t>
            </a:r>
          </a:p>
        </p:txBody>
      </p:sp>
      <p:sp>
        <p:nvSpPr>
          <p:cNvPr id="11" name="">
            <a:extLst xmlns:a="http://schemas.openxmlformats.org/drawingml/2006/main">
              <a:ext uri="{FF2B5EF4-FFF2-40B4-BE49-F238E27FC236}">
                <a16:creationId xmlns:a16="http://schemas.microsoft.com/office/drawing/2014/main" id="{29A82052-4849-4670-A985-A7D746CA424A}"/>
              </a:ext>
            </a:extLst>
          </p:cNvPr>
          <p:cNvSpPr>
            <a:spLocks xmlns:a="http://schemas.openxmlformats.org/drawingml/2006/main" noGrp="1"/>
          </p:cNvSpPr>
          <p:nvPr/>
        </p:nvSpPr>
        <p:spPr>
          <a:xfrm xmlns:a="http://schemas.openxmlformats.org/drawingml/2006/main">
            <a:off x="609600" y="6191250"/>
            <a:ext cx="904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Heiti TC"/>
                <a:ea typeface="Heiti TC"/>
                <a:cs typeface="Heiti TC"/>
              </a:defRPr>
            </a:pPr>
            <a:r>
              <a:rPr sz="1350" b="0">
                <a:solidFill>
                  <a:srgbClr val="526B70"/>
                </a:solidFill>
                <a:latin typeface="Heiti TC"/>
                <a:ea typeface="Heiti TC"/>
                <a:cs typeface="Heiti TC"/>
              </a:rPr>
              <a:t>不同學生的模擬數據 / Simulated data for different students</a:t>
            </a:r>
          </a:p>
        </p:txBody>
      </p:sp>
    </p:spTree>
    <p:extLst>
      <p:ext uri="{BB962C8B-B14F-4D97-AF65-F5344CB8AC3E}">
        <p14:creationId xmlns:p14="http://schemas.microsoft.com/office/powerpoint/2010/main" val="1271092245"/>
      </p:ext>
    </p:extLst>
  </p:cSld>
</p:sld>
</file>

<file path=ppt/slides/slide1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3E96F8C-651C-47C4-B36D-9D0637F01275}"/>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預測結果與模型的限制</a:t>
            </a:r>
          </a:p>
        </p:txBody>
      </p:sp>
      <p:sp>
        <p:nvSpPr>
          <p:cNvPr id="2" name="">
            <a:extLst xmlns:a="http://schemas.openxmlformats.org/drawingml/2006/main">
              <a:ext uri="{FF2B5EF4-FFF2-40B4-BE49-F238E27FC236}">
                <a16:creationId xmlns:a16="http://schemas.microsoft.com/office/drawing/2014/main" id="{6E574D39-3AFD-4C23-B2C7-A56609C7A6A9}"/>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Prediction results and limits of the model</a:t>
            </a:r>
          </a:p>
        </p:txBody>
      </p:sp>
      <p:sp>
        <p:nvSpPr>
          <p:cNvPr id="3" name="">
            <a:extLst xmlns:a="http://schemas.openxmlformats.org/drawingml/2006/main">
              <a:ext uri="{FF2B5EF4-FFF2-40B4-BE49-F238E27FC236}">
                <a16:creationId xmlns:a16="http://schemas.microsoft.com/office/drawing/2014/main" id="{7F148D9F-6A3C-49FC-8067-35AEB8460E39}"/>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A135DF09-F368-4B46-969C-5DE70EF586B0}"/>
              </a:ext>
            </a:extLst>
          </p:cNvPr>
          <p:cNvSpPr>
            <a:spLocks xmlns:a="http://schemas.openxmlformats.org/drawingml/2006/main" noGrp="1"/>
          </p:cNvSpPr>
          <p:nvPr/>
        </p:nvSpPr>
        <p:spPr>
          <a:xfrm xmlns:a="http://schemas.openxmlformats.org/drawingml/2006/main">
            <a:off x="609600" y="1657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86C61"/>
                </a:solidFill>
                <a:latin typeface="Arial"/>
                <a:ea typeface="Arial"/>
                <a:cs typeface="Arial"/>
              </a:defRPr>
            </a:pPr>
            <a:r>
              <a:rPr sz="4350" b="1">
                <a:solidFill>
                  <a:srgbClr val="086C61"/>
                </a:solidFill>
                <a:latin typeface="Arial"/>
                <a:ea typeface="Arial"/>
                <a:cs typeface="Arial"/>
              </a:rPr>
              <a:t>y = 2x + 50</a:t>
            </a:r>
          </a:p>
        </p:txBody>
      </p:sp>
      <p:sp>
        <p:nvSpPr>
          <p:cNvPr id="5" name="">
            <a:extLst xmlns:a="http://schemas.openxmlformats.org/drawingml/2006/main">
              <a:ext uri="{FF2B5EF4-FFF2-40B4-BE49-F238E27FC236}">
                <a16:creationId xmlns:a16="http://schemas.microsoft.com/office/drawing/2014/main" id="{EBDC5206-9EC1-4598-9B01-035A8B68A8E3}"/>
              </a:ext>
            </a:extLst>
          </p:cNvPr>
          <p:cNvSpPr>
            <a:spLocks xmlns:a="http://schemas.openxmlformats.org/drawingml/2006/main" noGrp="1"/>
          </p:cNvSpPr>
          <p:nvPr/>
        </p:nvSpPr>
        <p:spPr>
          <a:xfrm xmlns:a="http://schemas.openxmlformats.org/drawingml/2006/main">
            <a:off x="609600" y="27432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43"/>
                </a:solidFill>
                <a:latin typeface="Heiti TC"/>
                <a:ea typeface="Heiti TC"/>
                <a:cs typeface="Heiti TC"/>
              </a:defRPr>
            </a:pPr>
            <a:r>
              <a:rPr sz="2025" b="0">
                <a:solidFill>
                  <a:srgbClr val="173C43"/>
                </a:solidFill>
                <a:latin typeface="Heiti TC"/>
                <a:ea typeface="Heiti TC"/>
                <a:cs typeface="Heiti TC"/>
              </a:rPr>
              <a:t>m = 2：模型中每小時約多 2 分</a:t>
            </a:r>
          </a:p>
        </p:txBody>
      </p:sp>
      <p:sp>
        <p:nvSpPr>
          <p:cNvPr id="6" name="">
            <a:extLst xmlns:a="http://schemas.openxmlformats.org/drawingml/2006/main">
              <a:ext uri="{FF2B5EF4-FFF2-40B4-BE49-F238E27FC236}">
                <a16:creationId xmlns:a16="http://schemas.microsoft.com/office/drawing/2014/main" id="{F31F20CE-579F-4F76-A2B9-C20A9CF02E69}"/>
              </a:ext>
            </a:extLst>
          </p:cNvPr>
          <p:cNvSpPr>
            <a:spLocks xmlns:a="http://schemas.openxmlformats.org/drawingml/2006/main" noGrp="1"/>
          </p:cNvSpPr>
          <p:nvPr/>
        </p:nvSpPr>
        <p:spPr>
          <a:xfrm xmlns:a="http://schemas.openxmlformats.org/drawingml/2006/main">
            <a:off x="609600" y="3209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In this model, m = 2 marks per extra hour</a:t>
            </a:r>
          </a:p>
        </p:txBody>
      </p:sp>
      <p:sp>
        <p:nvSpPr>
          <p:cNvPr id="7" name="">
            <a:extLst xmlns:a="http://schemas.openxmlformats.org/drawingml/2006/main">
              <a:ext uri="{FF2B5EF4-FFF2-40B4-BE49-F238E27FC236}">
                <a16:creationId xmlns:a16="http://schemas.microsoft.com/office/drawing/2014/main" id="{6BB04D22-A620-4A75-9F89-CD5E4C91F1C4}"/>
              </a:ext>
            </a:extLst>
          </p:cNvPr>
          <p:cNvSpPr>
            <a:spLocks xmlns:a="http://schemas.openxmlformats.org/drawingml/2006/main" noGrp="1"/>
          </p:cNvSpPr>
          <p:nvPr/>
        </p:nvSpPr>
        <p:spPr>
          <a:xfrm xmlns:a="http://schemas.openxmlformats.org/drawingml/2006/main">
            <a:off x="6381750" y="274320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C43"/>
                </a:solidFill>
                <a:latin typeface="Heiti TC"/>
                <a:ea typeface="Heiti TC"/>
                <a:cs typeface="Heiti TC"/>
              </a:defRPr>
            </a:pPr>
            <a:r>
              <a:rPr sz="2025" b="0">
                <a:solidFill>
                  <a:srgbClr val="173C43"/>
                </a:solidFill>
                <a:latin typeface="Heiti TC"/>
                <a:ea typeface="Heiti TC"/>
                <a:cs typeface="Heiti TC"/>
              </a:rPr>
              <a:t>c = 50：0 小時時估計的成績</a:t>
            </a:r>
          </a:p>
        </p:txBody>
      </p:sp>
      <p:sp>
        <p:nvSpPr>
          <p:cNvPr id="8" name="">
            <a:extLst xmlns:a="http://schemas.openxmlformats.org/drawingml/2006/main">
              <a:ext uri="{FF2B5EF4-FFF2-40B4-BE49-F238E27FC236}">
                <a16:creationId xmlns:a16="http://schemas.microsoft.com/office/drawing/2014/main" id="{5748D0D9-B038-4644-B319-46948614D3C3}"/>
              </a:ext>
            </a:extLst>
          </p:cNvPr>
          <p:cNvSpPr>
            <a:spLocks xmlns:a="http://schemas.openxmlformats.org/drawingml/2006/main" noGrp="1"/>
          </p:cNvSpPr>
          <p:nvPr/>
        </p:nvSpPr>
        <p:spPr>
          <a:xfrm xmlns:a="http://schemas.openxmlformats.org/drawingml/2006/main">
            <a:off x="6381750" y="3209925"/>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c = 50: estimated score at 0 hours</a:t>
            </a:r>
          </a:p>
        </p:txBody>
      </p:sp>
      <p:sp>
        <p:nvSpPr>
          <p:cNvPr id="9" name="">
            <a:extLst xmlns:a="http://schemas.openxmlformats.org/drawingml/2006/main">
              <a:ext uri="{FF2B5EF4-FFF2-40B4-BE49-F238E27FC236}">
                <a16:creationId xmlns:a16="http://schemas.microsoft.com/office/drawing/2014/main" id="{2B4C08A3-0059-40EF-AF3D-E8F1A47BABC2}"/>
              </a:ext>
            </a:extLst>
          </p:cNvPr>
          <p:cNvSpPr>
            <a:spLocks xmlns:a="http://schemas.openxmlformats.org/drawingml/2006/main" noGrp="1"/>
          </p:cNvSpPr>
          <p:nvPr/>
        </p:nvSpPr>
        <p:spPr>
          <a:xfrm xmlns:a="http://schemas.openxmlformats.org/drawingml/2006/main">
            <a:off x="609600" y="39528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3.5 小時：約 57 分</a:t>
            </a:r>
          </a:p>
        </p:txBody>
      </p:sp>
      <p:sp>
        <p:nvSpPr>
          <p:cNvPr id="10" name="">
            <a:extLst xmlns:a="http://schemas.openxmlformats.org/drawingml/2006/main">
              <a:ext uri="{FF2B5EF4-FFF2-40B4-BE49-F238E27FC236}">
                <a16:creationId xmlns:a16="http://schemas.microsoft.com/office/drawing/2014/main" id="{61BBFD26-D2FD-4040-A498-7E8F7FF8D7AE}"/>
              </a:ext>
            </a:extLst>
          </p:cNvPr>
          <p:cNvSpPr>
            <a:spLocks xmlns:a="http://schemas.openxmlformats.org/drawingml/2006/main" noGrp="1"/>
          </p:cNvSpPr>
          <p:nvPr/>
        </p:nvSpPr>
        <p:spPr>
          <a:xfrm xmlns:a="http://schemas.openxmlformats.org/drawingml/2006/main">
            <a:off x="609600" y="44196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3.5 hours: about 57 marks</a:t>
            </a:r>
          </a:p>
        </p:txBody>
      </p:sp>
      <p:sp>
        <p:nvSpPr>
          <p:cNvPr id="11" name="">
            <a:extLst xmlns:a="http://schemas.openxmlformats.org/drawingml/2006/main">
              <a:ext uri="{FF2B5EF4-FFF2-40B4-BE49-F238E27FC236}">
                <a16:creationId xmlns:a16="http://schemas.microsoft.com/office/drawing/2014/main" id="{E4815236-8BF2-46D8-9A87-DC66DC202609}"/>
              </a:ext>
            </a:extLst>
          </p:cNvPr>
          <p:cNvSpPr>
            <a:spLocks xmlns:a="http://schemas.openxmlformats.org/drawingml/2006/main" noGrp="1"/>
          </p:cNvSpPr>
          <p:nvPr/>
        </p:nvSpPr>
        <p:spPr>
          <a:xfrm xmlns:a="http://schemas.openxmlformats.org/drawingml/2006/main">
            <a:off x="6381750" y="39528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C43"/>
                </a:solidFill>
                <a:latin typeface="Heiti TC"/>
                <a:ea typeface="Heiti TC"/>
                <a:cs typeface="Heiti TC"/>
              </a:defRPr>
            </a:pPr>
            <a:r>
              <a:rPr sz="2400" b="0">
                <a:solidFill>
                  <a:srgbClr val="173C43"/>
                </a:solidFill>
                <a:latin typeface="Heiti TC"/>
                <a:ea typeface="Heiti TC"/>
                <a:cs typeface="Heiti TC"/>
              </a:rPr>
              <a:t>10 小時：約 70 分</a:t>
            </a:r>
          </a:p>
        </p:txBody>
      </p:sp>
      <p:sp>
        <p:nvSpPr>
          <p:cNvPr id="12" name="">
            <a:extLst xmlns:a="http://schemas.openxmlformats.org/drawingml/2006/main">
              <a:ext uri="{FF2B5EF4-FFF2-40B4-BE49-F238E27FC236}">
                <a16:creationId xmlns:a16="http://schemas.microsoft.com/office/drawing/2014/main" id="{76C7B4F1-4702-4550-B2F3-40F5ABC20658}"/>
              </a:ext>
            </a:extLst>
          </p:cNvPr>
          <p:cNvSpPr>
            <a:spLocks xmlns:a="http://schemas.openxmlformats.org/drawingml/2006/main" noGrp="1"/>
          </p:cNvSpPr>
          <p:nvPr/>
        </p:nvSpPr>
        <p:spPr>
          <a:xfrm xmlns:a="http://schemas.openxmlformats.org/drawingml/2006/main">
            <a:off x="6381750" y="44196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10 hours: about 70 marks</a:t>
            </a:r>
          </a:p>
        </p:txBody>
      </p:sp>
      <p:sp>
        <p:nvSpPr>
          <p:cNvPr id="13" name="">
            <a:extLst xmlns:a="http://schemas.openxmlformats.org/drawingml/2006/main">
              <a:ext uri="{FF2B5EF4-FFF2-40B4-BE49-F238E27FC236}">
                <a16:creationId xmlns:a16="http://schemas.microsoft.com/office/drawing/2014/main" id="{10C7B2C4-0378-4251-97B2-291759133577}"/>
              </a:ext>
            </a:extLst>
          </p:cNvPr>
          <p:cNvSpPr>
            <a:spLocks xmlns:a="http://schemas.openxmlformats.org/drawingml/2006/main" noGrp="1"/>
          </p:cNvSpPr>
          <p:nvPr/>
        </p:nvSpPr>
        <p:spPr>
          <a:xfrm xmlns:a="http://schemas.openxmlformats.org/drawingml/2006/main">
            <a:off x="609600" y="516255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C43"/>
                </a:solidFill>
                <a:latin typeface="Heiti TC"/>
                <a:ea typeface="Heiti TC"/>
                <a:cs typeface="Heiti TC"/>
              </a:defRPr>
            </a:pPr>
            <a:r>
              <a:rPr sz="1950" b="0">
                <a:solidFill>
                  <a:srgbClr val="173C43"/>
                </a:solidFill>
                <a:latin typeface="Heiti TC"/>
                <a:ea typeface="Heiti TC"/>
                <a:cs typeface="Heiti TC"/>
              </a:rPr>
              <a:t>10 小時超出觀察範圍。這些數據也不能證明，溫習會令分數上升。</a:t>
            </a:r>
          </a:p>
        </p:txBody>
      </p:sp>
      <p:sp>
        <p:nvSpPr>
          <p:cNvPr id="14" name="">
            <a:extLst xmlns:a="http://schemas.openxmlformats.org/drawingml/2006/main">
              <a:ext uri="{FF2B5EF4-FFF2-40B4-BE49-F238E27FC236}">
                <a16:creationId xmlns:a16="http://schemas.microsoft.com/office/drawing/2014/main" id="{359919B3-B271-461C-9532-549B52A1657D}"/>
              </a:ext>
            </a:extLst>
          </p:cNvPr>
          <p:cNvSpPr>
            <a:spLocks xmlns:a="http://schemas.openxmlformats.org/drawingml/2006/main" noGrp="1"/>
          </p:cNvSpPr>
          <p:nvPr/>
        </p:nvSpPr>
        <p:spPr>
          <a:xfrm xmlns:a="http://schemas.openxmlformats.org/drawingml/2006/main">
            <a:off x="609600" y="56292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B70"/>
                </a:solidFill>
                <a:latin typeface="Arial"/>
                <a:ea typeface="Arial"/>
                <a:cs typeface="Arial"/>
              </a:defRPr>
            </a:pPr>
            <a:r>
              <a:rPr sz="1800" b="0">
                <a:solidFill>
                  <a:srgbClr val="526B70"/>
                </a:solidFill>
                <a:latin typeface="Arial"/>
                <a:ea typeface="Arial"/>
                <a:cs typeface="Arial"/>
              </a:rPr>
              <a:t>10 hours is outside the data range. The data does not prove cause and effect.</a:t>
            </a:r>
          </a:p>
        </p:txBody>
      </p:sp>
    </p:spTree>
    <p:extLst>
      <p:ext uri="{BB962C8B-B14F-4D97-AF65-F5344CB8AC3E}">
        <p14:creationId xmlns:p14="http://schemas.microsoft.com/office/powerpoint/2010/main" val="55271044"/>
      </p:ext>
    </p:extLst>
  </p:cSld>
</p:sld>
</file>

<file path=ppt/slides/slide1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07309A9-21C8-401D-B97E-1036CE7A46A4}"/>
              </a:ext>
            </a:extLst>
          </p:cNvPr>
          <p:cNvSpPr>
            <a:spLocks xmlns:a="http://schemas.openxmlformats.org/drawingml/2006/main" noGrp="1"/>
          </p:cNvSpPr>
          <p:nvPr/>
        </p:nvSpPr>
        <p:spPr>
          <a:xfrm xmlns:a="http://schemas.openxmlformats.org/drawingml/2006/main">
            <a:off x="609600" y="4000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3C43"/>
                </a:solidFill>
                <a:latin typeface="Heiti TC"/>
                <a:ea typeface="Heiti TC"/>
                <a:cs typeface="Heiti TC"/>
              </a:defRPr>
            </a:pPr>
            <a:r>
              <a:rPr sz="3300" b="0">
                <a:solidFill>
                  <a:srgbClr val="173C43"/>
                </a:solidFill>
                <a:latin typeface="Heiti TC"/>
                <a:ea typeface="Heiti TC"/>
                <a:cs typeface="Heiti TC"/>
              </a:rPr>
              <a:t>你的預測與觀察</a:t>
            </a:r>
          </a:p>
        </p:txBody>
      </p:sp>
      <p:sp>
        <p:nvSpPr>
          <p:cNvPr id="2" name="">
            <a:extLst xmlns:a="http://schemas.openxmlformats.org/drawingml/2006/main">
              <a:ext uri="{FF2B5EF4-FFF2-40B4-BE49-F238E27FC236}">
                <a16:creationId xmlns:a16="http://schemas.microsoft.com/office/drawing/2014/main" id="{2752E5B4-E2B2-4D8F-A5AA-2B49C080E6CB}"/>
              </a:ext>
            </a:extLst>
          </p:cNvPr>
          <p:cNvSpPr>
            <a:spLocks xmlns:a="http://schemas.openxmlformats.org/drawingml/2006/main" noGrp="1"/>
          </p:cNvSpPr>
          <p:nvPr/>
        </p:nvSpPr>
        <p:spPr>
          <a:xfrm xmlns:a="http://schemas.openxmlformats.org/drawingml/2006/main">
            <a:off x="609600" y="8667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526B70"/>
                </a:solidFill>
                <a:latin typeface="Arial"/>
                <a:ea typeface="Arial"/>
                <a:cs typeface="Arial"/>
              </a:defRPr>
            </a:pPr>
            <a:r>
              <a:rPr sz="2700" b="0">
                <a:solidFill>
                  <a:srgbClr val="526B70"/>
                </a:solidFill>
                <a:latin typeface="Arial"/>
                <a:ea typeface="Arial"/>
                <a:cs typeface="Arial"/>
              </a:rPr>
              <a:t>Your prediction and observation</a:t>
            </a:r>
          </a:p>
        </p:txBody>
      </p:sp>
      <p:sp>
        <p:nvSpPr>
          <p:cNvPr id="3" name="">
            <a:extLst xmlns:a="http://schemas.openxmlformats.org/drawingml/2006/main">
              <a:ext uri="{FF2B5EF4-FFF2-40B4-BE49-F238E27FC236}">
                <a16:creationId xmlns:a16="http://schemas.microsoft.com/office/drawing/2014/main" id="{E0FD936A-A943-4063-9909-A32D8B8464E1}"/>
              </a:ext>
            </a:extLst>
          </p:cNvPr>
          <p:cNvSpPr>
            <a:spLocks xmlns:a="http://schemas.openxmlformats.org/drawingml/2006/main" noGrp="1"/>
          </p:cNvSpPr>
          <p:nvPr/>
        </p:nvSpPr>
        <p:spPr>
          <a:xfrm xmlns:a="http://schemas.openxmlformats.org/drawingml/2006/main">
            <a:off x="11144250" y="6381750"/>
            <a:ext cx="52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B70"/>
                </a:solidFill>
                <a:latin typeface="Arial"/>
                <a:ea typeface="Arial"/>
                <a:cs typeface="Arial"/>
              </a:defRPr>
            </a:pPr>
            <a:r>
              <a:rPr sz="1350" b="0">
                <a:solidFill>
                  <a:srgbClr val="526B70"/>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8F8F66EA-7A36-48F4-B0B9-D27692176868}"/>
              </a:ext>
            </a:extLst>
          </p:cNvPr>
          <p:cNvSpPr>
            <a:spLocks xmlns:a="http://schemas.openxmlformats.org/drawingml/2006/main" noGrp="1"/>
          </p:cNvSpPr>
          <p:nvPr/>
        </p:nvSpPr>
        <p:spPr>
          <a:xfrm xmlns:a="http://schemas.openxmlformats.org/drawingml/2006/main">
            <a:off x="609600" y="1762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你的估計與網頁的預測接近嗎？</a:t>
            </a:r>
          </a:p>
        </p:txBody>
      </p:sp>
      <p:sp>
        <p:nvSpPr>
          <p:cNvPr id="5" name="">
            <a:extLst xmlns:a="http://schemas.openxmlformats.org/drawingml/2006/main">
              <a:ext uri="{FF2B5EF4-FFF2-40B4-BE49-F238E27FC236}">
                <a16:creationId xmlns:a16="http://schemas.microsoft.com/office/drawing/2014/main" id="{43DE64DD-F03B-4A45-B2C8-1F848AD8E96B}"/>
              </a:ext>
            </a:extLst>
          </p:cNvPr>
          <p:cNvSpPr>
            <a:spLocks xmlns:a="http://schemas.openxmlformats.org/drawingml/2006/main" noGrp="1"/>
          </p:cNvSpPr>
          <p:nvPr/>
        </p:nvSpPr>
        <p:spPr>
          <a:xfrm xmlns:a="http://schemas.openxmlformats.org/drawingml/2006/main">
            <a:off x="609600" y="2228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Was your estimate close to the page’s prediction?</a:t>
            </a:r>
          </a:p>
        </p:txBody>
      </p:sp>
      <p:sp>
        <p:nvSpPr>
          <p:cNvPr id="6" name="">
            <a:extLst xmlns:a="http://schemas.openxmlformats.org/drawingml/2006/main">
              <a:ext uri="{FF2B5EF4-FFF2-40B4-BE49-F238E27FC236}">
                <a16:creationId xmlns:a16="http://schemas.microsoft.com/office/drawing/2014/main" id="{63FC105B-6BA9-4A92-98C8-93FE2F7CEA14}"/>
              </a:ext>
            </a:extLst>
          </p:cNvPr>
          <p:cNvSpPr>
            <a:spLocks xmlns:a="http://schemas.openxmlformats.org/drawingml/2006/main" noGrp="1"/>
          </p:cNvSpPr>
          <p:nvPr/>
        </p:nvSpPr>
        <p:spPr>
          <a:xfrm xmlns:a="http://schemas.openxmlformats.org/drawingml/2006/main">
            <a:off x="609600" y="30956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你畫的直線與網頁的直線有甚麼分別？</a:t>
            </a:r>
          </a:p>
        </p:txBody>
      </p:sp>
      <p:sp>
        <p:nvSpPr>
          <p:cNvPr id="7" name="">
            <a:extLst xmlns:a="http://schemas.openxmlformats.org/drawingml/2006/main">
              <a:ext uri="{FF2B5EF4-FFF2-40B4-BE49-F238E27FC236}">
                <a16:creationId xmlns:a16="http://schemas.microsoft.com/office/drawing/2014/main" id="{90CF0C8A-907E-46B2-932A-59C5D5F5F6DB}"/>
              </a:ext>
            </a:extLst>
          </p:cNvPr>
          <p:cNvSpPr>
            <a:spLocks xmlns:a="http://schemas.openxmlformats.org/drawingml/2006/main" noGrp="1"/>
          </p:cNvSpPr>
          <p:nvPr/>
        </p:nvSpPr>
        <p:spPr>
          <a:xfrm xmlns:a="http://schemas.openxmlformats.org/drawingml/2006/main">
            <a:off x="609600" y="35623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How does your own line compare with the line on the page?</a:t>
            </a:r>
          </a:p>
        </p:txBody>
      </p:sp>
      <p:sp>
        <p:nvSpPr>
          <p:cNvPr id="8" name="">
            <a:extLst xmlns:a="http://schemas.openxmlformats.org/drawingml/2006/main">
              <a:ext uri="{FF2B5EF4-FFF2-40B4-BE49-F238E27FC236}">
                <a16:creationId xmlns:a16="http://schemas.microsoft.com/office/drawing/2014/main" id="{53393D66-6874-4B52-86E3-69BEC5457572}"/>
              </a:ext>
            </a:extLst>
          </p:cNvPr>
          <p:cNvSpPr>
            <a:spLocks xmlns:a="http://schemas.openxmlformats.org/drawingml/2006/main" noGrp="1"/>
          </p:cNvSpPr>
          <p:nvPr/>
        </p:nvSpPr>
        <p:spPr>
          <a:xfrm xmlns:a="http://schemas.openxmlformats.org/drawingml/2006/main">
            <a:off x="609600" y="44291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3C43"/>
                </a:solidFill>
                <a:latin typeface="Heiti TC"/>
                <a:ea typeface="Heiti TC"/>
                <a:cs typeface="Heiti TC"/>
              </a:defRPr>
            </a:pPr>
            <a:r>
              <a:rPr sz="2550" b="0">
                <a:solidFill>
                  <a:srgbClr val="173C43"/>
                </a:solidFill>
                <a:latin typeface="Heiti TC"/>
                <a:ea typeface="Heiti TC"/>
                <a:cs typeface="Heiti TC"/>
              </a:rPr>
              <a:t>你會較信賴哪個預測？為甚麼？</a:t>
            </a:r>
          </a:p>
        </p:txBody>
      </p:sp>
      <p:sp>
        <p:nvSpPr>
          <p:cNvPr id="9" name="">
            <a:extLst xmlns:a="http://schemas.openxmlformats.org/drawingml/2006/main">
              <a:ext uri="{FF2B5EF4-FFF2-40B4-BE49-F238E27FC236}">
                <a16:creationId xmlns:a16="http://schemas.microsoft.com/office/drawing/2014/main" id="{E26DE810-1761-4712-BABF-3996EA3F068F}"/>
              </a:ext>
            </a:extLst>
          </p:cNvPr>
          <p:cNvSpPr>
            <a:spLocks xmlns:a="http://schemas.openxmlformats.org/drawingml/2006/main" noGrp="1"/>
          </p:cNvSpPr>
          <p:nvPr/>
        </p:nvSpPr>
        <p:spPr>
          <a:xfrm xmlns:a="http://schemas.openxmlformats.org/drawingml/2006/main">
            <a:off x="609600" y="48958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B70"/>
                </a:solidFill>
                <a:latin typeface="Arial"/>
                <a:ea typeface="Arial"/>
                <a:cs typeface="Arial"/>
              </a:defRPr>
            </a:pPr>
            <a:r>
              <a:rPr sz="1950" b="0">
                <a:solidFill>
                  <a:srgbClr val="526B70"/>
                </a:solidFill>
                <a:latin typeface="Arial"/>
                <a:ea typeface="Arial"/>
                <a:cs typeface="Arial"/>
              </a:rPr>
              <a:t>Which prediction would you trust more? Why?</a:t>
            </a:r>
          </a:p>
        </p:txBody>
      </p:sp>
      <p:sp>
        <p:nvSpPr>
          <p:cNvPr id="10" name="">
            <a:extLst xmlns:a="http://schemas.openxmlformats.org/drawingml/2006/main">
              <a:ext uri="{FF2B5EF4-FFF2-40B4-BE49-F238E27FC236}">
                <a16:creationId xmlns:a16="http://schemas.microsoft.com/office/drawing/2014/main" id="{8F9B5B4B-1418-4447-BD6D-2875147D72C6}"/>
              </a:ext>
            </a:extLst>
          </p:cNvPr>
          <p:cNvSpPr>
            <a:spLocks xmlns:a="http://schemas.openxmlformats.org/drawingml/2006/main" noGrp="1"/>
          </p:cNvSpPr>
          <p:nvPr/>
        </p:nvSpPr>
        <p:spPr>
          <a:xfrm xmlns:a="http://schemas.openxmlformats.org/drawingml/2006/main">
            <a:off x="609600" y="5838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086C61"/>
                </a:solidFill>
                <a:latin typeface="Heiti TC"/>
                <a:ea typeface="Heiti TC"/>
                <a:cs typeface="Heiti TC"/>
              </a:defRPr>
            </a:pPr>
            <a:r>
              <a:rPr sz="1725" b="0">
                <a:solidFill>
                  <a:srgbClr val="086C61"/>
                </a:solidFill>
                <a:latin typeface="Heiti TC"/>
                <a:ea typeface="Heiti TC"/>
                <a:cs typeface="Heiti TC"/>
              </a:rPr>
              <a:t>工作紙最後一節 / Final section of the worksheet</a:t>
            </a:r>
          </a:p>
        </p:txBody>
      </p:sp>
    </p:spTree>
    <p:extLst>
      <p:ext uri="{BB962C8B-B14F-4D97-AF65-F5344CB8AC3E}">
        <p14:creationId xmlns:p14="http://schemas.microsoft.com/office/powerpoint/2010/main" val="1566664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2026-10-06T04:00:17.2700000Z</dcterms:created>
  <dcterms:modified xsi:type="dcterms:W3CDTF">2026-10-06T04:00:17.2700000Z</dcterms:modified>
</coreProperties>
</file>