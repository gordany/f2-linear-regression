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2.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slides/charts/chart5.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6.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7.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8.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810d4ca19d84b1b" /><Relationship Type="http://schemas.openxmlformats.org/officeDocument/2006/relationships/extended-properties" Target="/docProps/app.xml" Id="Rc3cca26cbaa448cf" /><Relationship Type="http://schemas.openxmlformats.org/officeDocument/2006/relationships/officeDocument" Target="/ppt/presentation.xml" Id="R53afe769f65249cb" /></Relationships>
</file>

<file path=ppt/presentation.xml><?xml version="1.0" encoding="utf-8"?>
<p:presentation xmlns:p="http://schemas.openxmlformats.org/presentationml/2006/main">
  <p:sldMasterIdLst>
    <p:sldMasterId xmlns:r="http://schemas.openxmlformats.org/officeDocument/2006/relationships" id="2147483648" r:id="Rb87840c133ba45a1"/>
  </p:sldMasterIdLst>
  <p:notesMasterIdLst>
    <p:notesMasterId xmlns:r="http://schemas.openxmlformats.org/officeDocument/2006/relationships" r:id="R37cede2ce28f43a5"/>
  </p:notesMasterIdLst>
  <p:sldIdLst>
    <p:sldId xmlns:r="http://schemas.openxmlformats.org/officeDocument/2006/relationships" id="256" r:id="R599e0dd3894f4f37"/>
    <p:sldId xmlns:r="http://schemas.openxmlformats.org/officeDocument/2006/relationships" id="257" r:id="R7203345ec06f410c"/>
    <p:sldId xmlns:r="http://schemas.openxmlformats.org/officeDocument/2006/relationships" id="258" r:id="R037bb063dc234d8b"/>
    <p:sldId xmlns:r="http://schemas.openxmlformats.org/officeDocument/2006/relationships" id="259" r:id="R215a9184593740b0"/>
    <p:sldId xmlns:r="http://schemas.openxmlformats.org/officeDocument/2006/relationships" id="260" r:id="Rdfe5fd761c4d4fa1"/>
    <p:sldId xmlns:r="http://schemas.openxmlformats.org/officeDocument/2006/relationships" id="261" r:id="R27224f16267c404b"/>
    <p:sldId xmlns:r="http://schemas.openxmlformats.org/officeDocument/2006/relationships" id="262" r:id="R92b5fbdef10b4215"/>
    <p:sldId xmlns:r="http://schemas.openxmlformats.org/officeDocument/2006/relationships" id="263" r:id="Rbcc7a505791d4fda"/>
    <p:sldId xmlns:r="http://schemas.openxmlformats.org/officeDocument/2006/relationships" id="264" r:id="Rb253c47e278c44cf"/>
    <p:sldId xmlns:r="http://schemas.openxmlformats.org/officeDocument/2006/relationships" id="265" r:id="Rea90da2126d24bf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05e708c280649c7" /><Relationship Type="http://schemas.openxmlformats.org/officeDocument/2006/relationships/slideMaster" Target="/ppt/slideMasters/slideMaster1.xml" Id="Rb87840c133ba45a1" /><Relationship Type="http://schemas.openxmlformats.org/officeDocument/2006/relationships/notesMaster" Target="/ppt/notesMasters/notesMaster1.xml" Id="R37cede2ce28f43a5" /><Relationship Type="http://schemas.openxmlformats.org/officeDocument/2006/relationships/presProps" Target="/ppt/presProps.xml" Id="Rf4633b26090941de" /><Relationship Type="http://schemas.openxmlformats.org/officeDocument/2006/relationships/tableStyles" Target="/ppt/tableStyles.xml" Id="R3d16b2514f00466d" /><Relationship Type="http://schemas.openxmlformats.org/officeDocument/2006/relationships/slide" Target="/ppt/slides/slide1.xml" Id="R599e0dd3894f4f37" /><Relationship Type="http://schemas.openxmlformats.org/officeDocument/2006/relationships/slide" Target="/ppt/slides/slide2.xml" Id="R7203345ec06f410c" /><Relationship Type="http://schemas.openxmlformats.org/officeDocument/2006/relationships/slide" Target="/ppt/slides/slide3.xml" Id="R037bb063dc234d8b" /><Relationship Type="http://schemas.openxmlformats.org/officeDocument/2006/relationships/slide" Target="/ppt/slides/slide4.xml" Id="R215a9184593740b0" /><Relationship Type="http://schemas.openxmlformats.org/officeDocument/2006/relationships/slide" Target="/ppt/slides/slide5.xml" Id="Rdfe5fd761c4d4fa1" /><Relationship Type="http://schemas.openxmlformats.org/officeDocument/2006/relationships/slide" Target="/ppt/slides/slide6.xml" Id="R27224f16267c404b" /><Relationship Type="http://schemas.openxmlformats.org/officeDocument/2006/relationships/slide" Target="/ppt/slides/slide7.xml" Id="R92b5fbdef10b4215" /><Relationship Type="http://schemas.openxmlformats.org/officeDocument/2006/relationships/slide" Target="/ppt/slides/slide8.xml" Id="Rbcc7a505791d4fda" /><Relationship Type="http://schemas.openxmlformats.org/officeDocument/2006/relationships/slide" Target="/ppt/slides/slide9.xml" Id="Rb253c47e278c44cf" /><Relationship Type="http://schemas.openxmlformats.org/officeDocument/2006/relationships/slide" Target="/ppt/slides/slide10.xml" Id="Rea90da2126d24bf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406aad023664c2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a50f94c63dc4e8e" /><Relationship Type="http://schemas.openxmlformats.org/officeDocument/2006/relationships/notesMaster" Target="/ppt/notesMasters/notesMaster1.xml" Id="Rd4b5f8c2fc054dcf" /></Relationships>
</file>

<file path=ppt/notesSlides/_rels/notesSlide2.xml.rels>&#65279;<?xml version="1.0" encoding="utf-8"?><Relationships xmlns="http://schemas.openxmlformats.org/package/2006/relationships"><Relationship Type="http://schemas.openxmlformats.org/officeDocument/2006/relationships/slide" Target="/ppt/slides/slide2.xml" Id="R721d5f7bb7e54bf6" /><Relationship Type="http://schemas.openxmlformats.org/officeDocument/2006/relationships/notesMaster" Target="/ppt/notesMasters/notesMaster1.xml" Id="R3a0ede7560d640d1" /></Relationships>
</file>

<file path=ppt/notesSlides/_rels/notesSlide3.xml.rels>&#65279;<?xml version="1.0" encoding="utf-8"?><Relationships xmlns="http://schemas.openxmlformats.org/package/2006/relationships"><Relationship Type="http://schemas.openxmlformats.org/officeDocument/2006/relationships/slide" Target="/ppt/slides/slide3.xml" Id="Re5d3608f19464341" /><Relationship Type="http://schemas.openxmlformats.org/officeDocument/2006/relationships/notesMaster" Target="/ppt/notesMasters/notesMaster1.xml" Id="R725068a296da4a7b" /></Relationships>
</file>

<file path=ppt/notesSlides/_rels/notesSlide4.xml.rels>&#65279;<?xml version="1.0" encoding="utf-8"?><Relationships xmlns="http://schemas.openxmlformats.org/package/2006/relationships"><Relationship Type="http://schemas.openxmlformats.org/officeDocument/2006/relationships/slide" Target="/ppt/slides/slide4.xml" Id="Rfbf75f1e97714185" /><Relationship Type="http://schemas.openxmlformats.org/officeDocument/2006/relationships/notesMaster" Target="/ppt/notesMasters/notesMaster1.xml" Id="Re0c8d3bbd0be4acd" /></Relationships>
</file>

<file path=ppt/notesSlides/_rels/notesSlide5.xml.rels>&#65279;<?xml version="1.0" encoding="utf-8"?><Relationships xmlns="http://schemas.openxmlformats.org/package/2006/relationships"><Relationship Type="http://schemas.openxmlformats.org/officeDocument/2006/relationships/slide" Target="/ppt/slides/slide5.xml" Id="R7d0cf81b7abd4bd3" /><Relationship Type="http://schemas.openxmlformats.org/officeDocument/2006/relationships/notesMaster" Target="/ppt/notesMasters/notesMaster1.xml" Id="Rddfaf14e13774bae" /></Relationships>
</file>

<file path=ppt/notesSlides/_rels/notesSlide6.xml.rels>&#65279;<?xml version="1.0" encoding="utf-8"?><Relationships xmlns="http://schemas.openxmlformats.org/package/2006/relationships"><Relationship Type="http://schemas.openxmlformats.org/officeDocument/2006/relationships/slide" Target="/ppt/slides/slide6.xml" Id="R07fc259ba1504b46" /><Relationship Type="http://schemas.openxmlformats.org/officeDocument/2006/relationships/notesMaster" Target="/ppt/notesMasters/notesMaster1.xml" Id="Ra4653f74bb7244ff" /></Relationships>
</file>

<file path=ppt/notesSlides/_rels/notesSlide7.xml.rels>&#65279;<?xml version="1.0" encoding="utf-8"?><Relationships xmlns="http://schemas.openxmlformats.org/package/2006/relationships"><Relationship Type="http://schemas.openxmlformats.org/officeDocument/2006/relationships/slide" Target="/ppt/slides/slide7.xml" Id="R41985b8b73854a01" /><Relationship Type="http://schemas.openxmlformats.org/officeDocument/2006/relationships/notesMaster" Target="/ppt/notesMasters/notesMaster1.xml" Id="Rd8e95313b8984a5d" /></Relationships>
</file>

<file path=ppt/notesSlides/_rels/notesSlide8.xml.rels>&#65279;<?xml version="1.0" encoding="utf-8"?><Relationships xmlns="http://schemas.openxmlformats.org/package/2006/relationships"><Relationship Type="http://schemas.openxmlformats.org/officeDocument/2006/relationships/slide" Target="/ppt/slides/slide8.xml" Id="R791c211da9324a93" /><Relationship Type="http://schemas.openxmlformats.org/officeDocument/2006/relationships/notesMaster" Target="/ppt/notesMasters/notesMaster1.xml" Id="R99cdbbc0b46e4ea7" /></Relationships>
</file>

<file path=ppt/notesSlides/_rels/notesSlide9.xml.rels>&#65279;<?xml version="1.0" encoding="utf-8"?><Relationships xmlns="http://schemas.openxmlformats.org/package/2006/relationships"><Relationship Type="http://schemas.openxmlformats.org/officeDocument/2006/relationships/slide" Target="/ppt/slides/slide9.xml" Id="Rf5622c8a8bef4ee5" /><Relationship Type="http://schemas.openxmlformats.org/officeDocument/2006/relationships/notesMaster" Target="/ppt/notesMasters/notesMaster1.xml" Id="Rdfd6194433fd4b2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1a1d8f25ef44c8b" /><Relationship Type="http://schemas.openxmlformats.org/officeDocument/2006/relationships/notesMaster" Target="/ppt/notesMasters/notesMaster1.xml" Id="R33615d08c5974fa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about 45 seconds. Start with the equation. Ask students which part describes the starting amount and which part describes the change. No proof or derivation.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about 60 seconds. Explain the water tank scenario. At time zero it already holds 5 litres. Point to the intercept and ask for 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about 75 seconds. Each minute adds 2 litres. Show the points (1,7) and (2,9). Increase x by 1, y by 2. Units of m are litres per minute.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about 60 seconds. Students describe each trend before reading the labels. These are illustrative lines, not preset dataset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Step 1. This is simulated delivery data, with separate observations. Ask whether all points lie on one line and what trend students notice. Do not give the dataset trend in the dropdown.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Continue Step 1. Explain that the line summarises the whole dataset. It need not pass through each point. The app calculates it automatically. Do not teach the least-squares algorithm.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Step 2. Students keep their selected dataset and click or tap the graph. Ask them to predict first, compare m and c, and use Undo or Reset between experiments. No coordinate-entry controls appear on the page.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Step 3. Each dot represents simulated observations from a different student. Students first draw an intuitive straight line on the worksheet, then estimate the score for 3.5 hours per day and record it before checking the page. Axes are fixed at 0–24 hours and 0–100 marks. A trend does not prove that more study guarantees a score.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written predictions. The fitted line is y=2x+50. m is about 2 marks per extra study hour in this model. c is the estimated score at zero hours. 3.5 hours is within the observed 0–6-hour range. 10 hours is outside. At 24 hours the model gives 98 marks, but this remains far outside the observed range and cannot guarantee a result. Discuss how other factors influence scores.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Final 5 minutes. Students complete the last worksheet section. Ask pairs to share one observation. Review initial value and rate of change without proof or rigorous mathematics.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a548800d1dd485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39f84a8b8904f2a" /><Relationship Type="http://schemas.openxmlformats.org/officeDocument/2006/relationships/slideLayout" Target="/ppt/slideLayouts/slideLayout1.xml" Id="R2f9807e8ffac4de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f9807e8ffac4de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444fc065c904f59" /><Relationship Type="http://schemas.openxmlformats.org/officeDocument/2006/relationships/notesSlide" Target="/ppt/notesSlides/notesSlide1.xml" Id="R2249a0c02417406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595184374134fc2" /><Relationship Type="http://schemas.openxmlformats.org/officeDocument/2006/relationships/chart" Target="/ppt/slides/charts/chart1.xml" Id="R437b7772241a48de" /><Relationship Type="http://schemas.openxmlformats.org/officeDocument/2006/relationships/notesSlide" Target="/ppt/notesSlides/notesSlide2.xml" Id="R2c6e85ad3f644b5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c05627db4334950" /><Relationship Type="http://schemas.openxmlformats.org/officeDocument/2006/relationships/chart" Target="/ppt/slides/charts/chart2.xml" Id="R134249e8bd05490e" /><Relationship Type="http://schemas.openxmlformats.org/officeDocument/2006/relationships/notesSlide" Target="/ppt/notesSlides/notesSlide3.xml" Id="R2e7c0212be314c6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fd812cf6f2047e0" /><Relationship Type="http://schemas.openxmlformats.org/officeDocument/2006/relationships/chart" Target="/ppt/slides/charts/chart3.xml" Id="R6472b465f9f6477e" /><Relationship Type="http://schemas.openxmlformats.org/officeDocument/2006/relationships/chart" Target="/ppt/slides/charts/chart4.xml" Id="R7186cbb7785b4111" /><Relationship Type="http://schemas.openxmlformats.org/officeDocument/2006/relationships/chart" Target="/ppt/slides/charts/chart5.xml" Id="R6590931fbe294bbf" /><Relationship Type="http://schemas.openxmlformats.org/officeDocument/2006/relationships/notesSlide" Target="/ppt/notesSlides/notesSlide4.xml" Id="R1a4f8331a3194b1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9553a7e058248d7" /><Relationship Type="http://schemas.openxmlformats.org/officeDocument/2006/relationships/chart" Target="/ppt/slides/charts/chart6.xml" Id="R9c86b687b451473a" /><Relationship Type="http://schemas.openxmlformats.org/officeDocument/2006/relationships/notesSlide" Target="/ppt/notesSlides/notesSlide5.xml" Id="R50b59b4b0bb4498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28b158fdda043fe" /><Relationship Type="http://schemas.openxmlformats.org/officeDocument/2006/relationships/chart" Target="/ppt/slides/charts/chart7.xml" Id="Rfbde1cea682f4647" /><Relationship Type="http://schemas.openxmlformats.org/officeDocument/2006/relationships/notesSlide" Target="/ppt/notesSlides/notesSlide6.xml" Id="R9946a1d9ce0b47f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33c6efae4f14f3f" /><Relationship Type="http://schemas.openxmlformats.org/officeDocument/2006/relationships/notesSlide" Target="/ppt/notesSlides/notesSlide7.xml" Id="Rab181a766ff9410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6ae8dda90a742c0" /><Relationship Type="http://schemas.openxmlformats.org/officeDocument/2006/relationships/chart" Target="/ppt/slides/charts/chart8.xml" Id="R4b9cf690c3614ac5" /><Relationship Type="http://schemas.openxmlformats.org/officeDocument/2006/relationships/notesSlide" Target="/ppt/notesSlides/notesSlide8.xml" Id="R223c4f0f8fe24dc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438afff3f2f4c06" /><Relationship Type="http://schemas.openxmlformats.org/officeDocument/2006/relationships/notesSlide" Target="/ppt/notesSlides/notesSlide9.xml" Id="Rdfb1dcf4baeb4d9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c0ae529db1943ff" /><Relationship Type="http://schemas.openxmlformats.org/officeDocument/2006/relationships/notesSlide" Target="/ppt/notesSlides/notesSlide10.xml" Id="R742c706c92064437" /></Relationships>
</file>

<file path=ppt/slides/charts/chart1.xml><?xml version="1.0" encoding="utf-8"?>
<c:chartSpace xmlns:c="http://schemas.openxmlformats.org/drawingml/2006/chart">
  <c:lang val="en-US"/>
  <c:chart>
    <c:plotArea>
      <c:scatterChart>
        <c:scatterStyle val="lineMarker"/>
        <c:ser>
          <c:idx val="0"/>
          <c:order val="0"/>
          <c:tx>
            <c:v>模型 / Model</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5</c:v>
              </c:pt>
            </c:numLit>
          </c:xVal>
          <c:yVal>
            <c:numLit>
              <c:formatCode>0</c:formatCode>
              <c:ptCount val="2"/>
              <c:pt idx="0">
                <c:v>5</c:v>
              </c:pt>
              <c:pt idx="1">
                <c:v>15</c:v>
              </c:pt>
            </c:numLit>
          </c:yVal>
        </c:ser>
        <c:ser>
          <c:idx val="1"/>
          <c:order val="1"/>
          <c:tx>
            <c:v>初始值 / Initial value</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1"/>
              <c:pt idx="0">
                <c:v>0</c:v>
              </c:pt>
            </c:numLit>
          </c:xVal>
          <c:yVal>
            <c:numLit>
              <c:formatCode>0</c:formatCode>
              <c:ptCount val="1"/>
              <c:pt idx="0">
                <c:v>5</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5"/>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 (L)</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5"/>
      </c:valAx>
      <c:valAx>
        <c:axId val="48650112"/>
        <c:scaling>
          <c:orientation val="minMax"/>
          <c:max val="5"/>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 (min)</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1"/>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2.xml><?xml version="1.0" encoding="utf-8"?>
<c:chartSpace xmlns:c="http://schemas.openxmlformats.org/drawingml/2006/chart">
  <c:lang val="en-US"/>
  <c:chart>
    <c:plotArea>
      <c:scatterChart>
        <c:scatterStyle val="lineMarker"/>
        <c:ser>
          <c:idx val="0"/>
          <c:order val="0"/>
          <c:tx>
            <c:v>模型 / Model</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6"/>
              <c:pt idx="0">
                <c:v>0</c:v>
              </c:pt>
              <c:pt idx="1">
                <c:v>1</c:v>
              </c:pt>
              <c:pt idx="2">
                <c:v>2</c:v>
              </c:pt>
              <c:pt idx="3">
                <c:v>3</c:v>
              </c:pt>
              <c:pt idx="4">
                <c:v>4</c:v>
              </c:pt>
              <c:pt idx="5">
                <c:v>5</c:v>
              </c:pt>
            </c:numLit>
          </c:xVal>
          <c:yVal>
            <c:numLit>
              <c:formatCode>0</c:formatCode>
              <c:ptCount val="6"/>
              <c:pt idx="0">
                <c:v>5</c:v>
              </c:pt>
              <c:pt idx="1">
                <c:v>7</c:v>
              </c:pt>
              <c:pt idx="2">
                <c:v>9</c:v>
              </c:pt>
              <c:pt idx="3">
                <c:v>11</c:v>
              </c:pt>
              <c:pt idx="4">
                <c:v>13</c:v>
              </c:pt>
              <c:pt idx="5">
                <c:v>15</c:v>
              </c:pt>
            </c:numLit>
          </c:yVal>
        </c:ser>
        <c:ser>
          <c:idx val="1"/>
          <c:order val="1"/>
          <c:tx>
            <c:v>觀察 / Values</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2"/>
              <c:pt idx="0">
                <c:v>1</c:v>
              </c:pt>
              <c:pt idx="1">
                <c:v>2</c:v>
              </c:pt>
            </c:numLit>
          </c:xVal>
          <c:yVal>
            <c:numLit>
              <c:formatCode>0</c:formatCode>
              <c:ptCount val="2"/>
              <c:pt idx="0">
                <c:v>7</c:v>
              </c:pt>
              <c:pt idx="1">
                <c:v>9</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5"/>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 (L)</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5"/>
      </c:valAx>
      <c:valAx>
        <c:axId val="48650112"/>
        <c:scaling>
          <c:orientation val="minMax"/>
          <c:max val="5"/>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 (min)</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1"/>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3.xml><?xml version="1.0" encoding="utf-8"?>
<c:chartSpace xmlns:c="http://schemas.openxmlformats.org/drawingml/2006/chart">
  <c:lang val="en-US"/>
  <c:chart>
    <c:plotArea>
      <c:scatterChart>
        <c:scatterStyle val="lineMarker"/>
        <c:ser>
          <c:idx val="0"/>
          <c:order val="0"/>
          <c:tx>
            <c:v>Line</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4</c:v>
              </c:pt>
            </c:numLit>
          </c:xVal>
          <c:yVal>
            <c:numLit>
              <c:formatCode>0</c:formatCode>
              <c:ptCount val="2"/>
              <c:pt idx="0">
                <c:v>2</c:v>
              </c:pt>
              <c:pt idx="1">
                <c:v>10</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2"/>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4"/>
      </c:valAx>
      <c:valAx>
        <c:axId val="48650112"/>
        <c:scaling>
          <c:orientation val="minMax"/>
          <c:max val="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4.xml><?xml version="1.0" encoding="utf-8"?>
<c:chartSpace xmlns:c="http://schemas.openxmlformats.org/drawingml/2006/chart">
  <c:lang val="en-US"/>
  <c:chart>
    <c:plotArea>
      <c:scatterChart>
        <c:scatterStyle val="lineMarker"/>
        <c:ser>
          <c:idx val="0"/>
          <c:order val="0"/>
          <c:tx>
            <c:v>Line</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4</c:v>
              </c:pt>
            </c:numLit>
          </c:xVal>
          <c:yVal>
            <c:numLit>
              <c:formatCode>0</c:formatCode>
              <c:ptCount val="2"/>
              <c:pt idx="0">
                <c:v>10</c:v>
              </c:pt>
              <c:pt idx="1">
                <c:v>2</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2"/>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4"/>
      </c:valAx>
      <c:valAx>
        <c:axId val="48650112"/>
        <c:scaling>
          <c:orientation val="minMax"/>
          <c:max val="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5.xml><?xml version="1.0" encoding="utf-8"?>
<c:chartSpace xmlns:c="http://schemas.openxmlformats.org/drawingml/2006/chart">
  <c:lang val="en-US"/>
  <c:chart>
    <c:plotArea>
      <c:scatterChart>
        <c:scatterStyle val="lineMarker"/>
        <c:ser>
          <c:idx val="0"/>
          <c:order val="0"/>
          <c:tx>
            <c:v>Line</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4</c:v>
              </c:pt>
            </c:numLit>
          </c:xVal>
          <c:yVal>
            <c:numLit>
              <c:formatCode>0</c:formatCode>
              <c:ptCount val="2"/>
              <c:pt idx="0">
                <c:v>6</c:v>
              </c:pt>
              <c:pt idx="1">
                <c:v>6</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2"/>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4"/>
      </c:valAx>
      <c:valAx>
        <c:axId val="48650112"/>
        <c:scaling>
          <c:orientation val="minMax"/>
          <c:max val="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6.xml><?xml version="1.0" encoding="utf-8"?>
<c:chartSpace xmlns:c="http://schemas.openxmlformats.org/drawingml/2006/chart">
  <c:lang val="en-US"/>
  <c:chart>
    <c:plotArea>
      <c:scatterChart>
        <c:scatterStyle val="lineMarker"/>
        <c:ser>
          <c:idx val="0"/>
          <c:order val="0"/>
          <c:tx>
            <c:v>數據 / Data</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11"/>
              <c:pt idx="0">
                <c:v>0</c:v>
              </c:pt>
              <c:pt idx="1">
                <c:v>1</c:v>
              </c:pt>
              <c:pt idx="2">
                <c:v>2</c:v>
              </c:pt>
              <c:pt idx="3">
                <c:v>3</c:v>
              </c:pt>
              <c:pt idx="4">
                <c:v>4</c:v>
              </c:pt>
              <c:pt idx="5">
                <c:v>5</c:v>
              </c:pt>
              <c:pt idx="6">
                <c:v>6</c:v>
              </c:pt>
              <c:pt idx="7">
                <c:v>7</c:v>
              </c:pt>
              <c:pt idx="8">
                <c:v>8</c:v>
              </c:pt>
              <c:pt idx="9">
                <c:v>9</c:v>
              </c:pt>
              <c:pt idx="10">
                <c:v>10</c:v>
              </c:pt>
            </c:numLit>
          </c:xVal>
          <c:yVal>
            <c:numLit>
              <c:formatCode>0</c:formatCode>
              <c:ptCount val="11"/>
              <c:pt idx="0">
                <c:v>12</c:v>
              </c:pt>
              <c:pt idx="1">
                <c:v>9</c:v>
              </c:pt>
              <c:pt idx="2">
                <c:v>22</c:v>
              </c:pt>
              <c:pt idx="3">
                <c:v>13</c:v>
              </c:pt>
              <c:pt idx="4">
                <c:v>26</c:v>
              </c:pt>
              <c:pt idx="5">
                <c:v>22</c:v>
              </c:pt>
              <c:pt idx="6">
                <c:v>35</c:v>
              </c:pt>
              <c:pt idx="7">
                <c:v>26</c:v>
              </c:pt>
              <c:pt idx="8">
                <c:v>42</c:v>
              </c:pt>
              <c:pt idx="9">
                <c:v>34</c:v>
              </c:pt>
              <c:pt idx="10">
                <c:v>43</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50"/>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收費 / Fee (HK$)</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10"/>
      </c:valAx>
      <c:valAx>
        <c:axId val="48650112"/>
        <c:scaling>
          <c:orientation val="minMax"/>
          <c:max val="10"/>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距離 / Distance (km)</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7.xml><?xml version="1.0" encoding="utf-8"?>
<c:chartSpace xmlns:c="http://schemas.openxmlformats.org/drawingml/2006/chart">
  <c:lang val="en-US"/>
  <c:chart>
    <c:plotArea>
      <c:scatterChart>
        <c:scatterStyle val="lineMarker"/>
        <c:ser>
          <c:idx val="0"/>
          <c:order val="0"/>
          <c:tx>
            <c:v>數據 / Data</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11"/>
              <c:pt idx="0">
                <c:v>0</c:v>
              </c:pt>
              <c:pt idx="1">
                <c:v>1</c:v>
              </c:pt>
              <c:pt idx="2">
                <c:v>2</c:v>
              </c:pt>
              <c:pt idx="3">
                <c:v>3</c:v>
              </c:pt>
              <c:pt idx="4">
                <c:v>4</c:v>
              </c:pt>
              <c:pt idx="5">
                <c:v>5</c:v>
              </c:pt>
              <c:pt idx="6">
                <c:v>6</c:v>
              </c:pt>
              <c:pt idx="7">
                <c:v>7</c:v>
              </c:pt>
              <c:pt idx="8">
                <c:v>8</c:v>
              </c:pt>
              <c:pt idx="9">
                <c:v>9</c:v>
              </c:pt>
              <c:pt idx="10">
                <c:v>10</c:v>
              </c:pt>
            </c:numLit>
          </c:xVal>
          <c:yVal>
            <c:numLit>
              <c:formatCode>0</c:formatCode>
              <c:ptCount val="11"/>
              <c:pt idx="0">
                <c:v>12</c:v>
              </c:pt>
              <c:pt idx="1">
                <c:v>9</c:v>
              </c:pt>
              <c:pt idx="2">
                <c:v>22</c:v>
              </c:pt>
              <c:pt idx="3">
                <c:v>13</c:v>
              </c:pt>
              <c:pt idx="4">
                <c:v>26</c:v>
              </c:pt>
              <c:pt idx="5">
                <c:v>22</c:v>
              </c:pt>
              <c:pt idx="6">
                <c:v>35</c:v>
              </c:pt>
              <c:pt idx="7">
                <c:v>26</c:v>
              </c:pt>
              <c:pt idx="8">
                <c:v>42</c:v>
              </c:pt>
              <c:pt idx="9">
                <c:v>34</c:v>
              </c:pt>
              <c:pt idx="10">
                <c:v>43</c:v>
              </c:pt>
            </c:numLit>
          </c:yVal>
        </c:ser>
        <c:ser>
          <c:idx val="1"/>
          <c:order val="1"/>
          <c:tx>
            <c:v>最佳擬合 / Best fit</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10</c:v>
              </c:pt>
            </c:numLit>
          </c:xVal>
          <c:yVal>
            <c:numLit>
              <c:formatCode>0</c:formatCode>
              <c:ptCount val="2"/>
              <c:pt idx="0">
                <c:v>9.9090909091</c:v>
              </c:pt>
              <c:pt idx="1">
                <c:v>41.7272727273</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50"/>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收費 / Fee (HK$)</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10"/>
      </c:valAx>
      <c:valAx>
        <c:axId val="48650112"/>
        <c:scaling>
          <c:orientation val="minMax"/>
          <c:max val="10"/>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距離 / Distance (km)</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8.xml><?xml version="1.0" encoding="utf-8"?>
<c:chartSpace xmlns:c="http://schemas.openxmlformats.org/drawingml/2006/chart">
  <c:lang val="en-US"/>
  <c:chart>
    <c:plotArea>
      <c:scatterChart>
        <c:scatterStyle val="lineMarker"/>
        <c:ser>
          <c:idx val="0"/>
          <c:order val="0"/>
          <c:tx>
            <c:v>模擬學生 / Simulated students</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7"/>
              <c:pt idx="0">
                <c:v>0</c:v>
              </c:pt>
              <c:pt idx="1">
                <c:v>1</c:v>
              </c:pt>
              <c:pt idx="2">
                <c:v>2</c:v>
              </c:pt>
              <c:pt idx="3">
                <c:v>3</c:v>
              </c:pt>
              <c:pt idx="4">
                <c:v>4</c:v>
              </c:pt>
              <c:pt idx="5">
                <c:v>5</c:v>
              </c:pt>
              <c:pt idx="6">
                <c:v>6</c:v>
              </c:pt>
            </c:numLit>
          </c:xVal>
          <c:yVal>
            <c:numLit>
              <c:formatCode>0</c:formatCode>
              <c:ptCount val="7"/>
              <c:pt idx="0">
                <c:v>53</c:v>
              </c:pt>
              <c:pt idx="1">
                <c:v>46</c:v>
              </c:pt>
              <c:pt idx="2">
                <c:v>59</c:v>
              </c:pt>
              <c:pt idx="3">
                <c:v>52</c:v>
              </c:pt>
              <c:pt idx="4">
                <c:v>63</c:v>
              </c:pt>
              <c:pt idx="5">
                <c:v>54</c:v>
              </c:pt>
              <c:pt idx="6">
                <c:v>65</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考試成績 / Exam score</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20"/>
      </c:valAx>
      <c:valAx>
        <c:axId val="48650112"/>
        <c:scaling>
          <c:orientation val="minMax"/>
          <c:max val="2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每天溫習時間 / Daily study time (h)</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6"/>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slide1.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897EECA-374A-4A31-97DF-AF32DC266E8D}"/>
              </a:ext>
            </a:extLst>
          </p:cNvPr>
          <p:cNvSpPr>
            <a:spLocks xmlns:a="http://schemas.openxmlformats.org/drawingml/2006/main" noGrp="1"/>
          </p:cNvSpPr>
          <p:nvPr/>
        </p:nvSpPr>
        <p:spPr>
          <a:xfrm xmlns:a="http://schemas.openxmlformats.org/drawingml/2006/main">
            <a:off x="609600" y="552450"/>
            <a:ext cx="10953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700" b="1">
                <a:solidFill>
                  <a:srgbClr val="086C61"/>
                </a:solidFill>
                <a:latin typeface="Arial"/>
                <a:ea typeface="Arial"/>
                <a:cs typeface="Arial"/>
              </a:defRPr>
            </a:pPr>
            <a:r>
              <a:rPr sz="8700" b="1">
                <a:solidFill>
                  <a:srgbClr val="086C61"/>
                </a:solidFill>
                <a:latin typeface="Arial"/>
                <a:ea typeface="Arial"/>
                <a:cs typeface="Arial"/>
              </a:rPr>
              <a:t>y = mx + c</a:t>
            </a:r>
          </a:p>
        </p:txBody>
      </p:sp>
      <p:sp>
        <p:nvSpPr>
          <p:cNvPr id="2" name="">
            <a:extLst xmlns:a="http://schemas.openxmlformats.org/drawingml/2006/main">
              <a:ext uri="{FF2B5EF4-FFF2-40B4-BE49-F238E27FC236}">
                <a16:creationId xmlns:a16="http://schemas.microsoft.com/office/drawing/2014/main" id="{06CDE012-56F7-4434-8E15-4E32392C9FE3}"/>
              </a:ext>
            </a:extLst>
          </p:cNvPr>
          <p:cNvSpPr>
            <a:spLocks xmlns:a="http://schemas.openxmlformats.org/drawingml/2006/main" noGrp="1"/>
          </p:cNvSpPr>
          <p:nvPr/>
        </p:nvSpPr>
        <p:spPr>
          <a:xfrm xmlns:a="http://schemas.openxmlformats.org/drawingml/2006/main">
            <a:off x="609600" y="227647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0">
                <a:solidFill>
                  <a:srgbClr val="173C43"/>
                </a:solidFill>
                <a:latin typeface="Heiti TC"/>
                <a:ea typeface="Heiti TC"/>
                <a:cs typeface="Heiti TC"/>
              </a:defRPr>
            </a:pPr>
            <a:r>
              <a:rPr sz="3000" b="0">
                <a:solidFill>
                  <a:srgbClr val="173C43"/>
                </a:solidFill>
                <a:latin typeface="Heiti TC"/>
                <a:ea typeface="Heiti TC"/>
                <a:cs typeface="Heiti TC"/>
              </a:rPr>
              <a:t>m：變化率</a:t>
            </a:r>
          </a:p>
        </p:txBody>
      </p:sp>
      <p:sp>
        <p:nvSpPr>
          <p:cNvPr id="3" name="">
            <a:extLst xmlns:a="http://schemas.openxmlformats.org/drawingml/2006/main">
              <a:ext uri="{FF2B5EF4-FFF2-40B4-BE49-F238E27FC236}">
                <a16:creationId xmlns:a16="http://schemas.microsoft.com/office/drawing/2014/main" id="{C21323CE-8927-4D86-91C9-4764C7BC7608}"/>
              </a:ext>
            </a:extLst>
          </p:cNvPr>
          <p:cNvSpPr>
            <a:spLocks xmlns:a="http://schemas.openxmlformats.org/drawingml/2006/main" noGrp="1"/>
          </p:cNvSpPr>
          <p:nvPr/>
        </p:nvSpPr>
        <p:spPr>
          <a:xfrm xmlns:a="http://schemas.openxmlformats.org/drawingml/2006/main">
            <a:off x="609600" y="27432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526B70"/>
                </a:solidFill>
                <a:latin typeface="Arial"/>
                <a:ea typeface="Arial"/>
                <a:cs typeface="Arial"/>
              </a:defRPr>
            </a:pPr>
            <a:r>
              <a:rPr sz="2400" b="0">
                <a:solidFill>
                  <a:srgbClr val="526B70"/>
                </a:solidFill>
                <a:latin typeface="Arial"/>
                <a:ea typeface="Arial"/>
                <a:cs typeface="Arial"/>
              </a:rPr>
              <a:t>m: rate of change</a:t>
            </a:r>
          </a:p>
        </p:txBody>
      </p:sp>
      <p:sp>
        <p:nvSpPr>
          <p:cNvPr id="4" name="">
            <a:extLst xmlns:a="http://schemas.openxmlformats.org/drawingml/2006/main">
              <a:ext uri="{FF2B5EF4-FFF2-40B4-BE49-F238E27FC236}">
                <a16:creationId xmlns:a16="http://schemas.microsoft.com/office/drawing/2014/main" id="{518065A3-512F-4F87-9BEF-FB50E7D5D714}"/>
              </a:ext>
            </a:extLst>
          </p:cNvPr>
          <p:cNvSpPr>
            <a:spLocks xmlns:a="http://schemas.openxmlformats.org/drawingml/2006/main" noGrp="1"/>
          </p:cNvSpPr>
          <p:nvPr/>
        </p:nvSpPr>
        <p:spPr>
          <a:xfrm xmlns:a="http://schemas.openxmlformats.org/drawingml/2006/main">
            <a:off x="6334125" y="227647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0">
                <a:solidFill>
                  <a:srgbClr val="173C43"/>
                </a:solidFill>
                <a:latin typeface="Heiti TC"/>
                <a:ea typeface="Heiti TC"/>
                <a:cs typeface="Heiti TC"/>
              </a:defRPr>
            </a:pPr>
            <a:r>
              <a:rPr sz="3000" b="0">
                <a:solidFill>
                  <a:srgbClr val="173C43"/>
                </a:solidFill>
                <a:latin typeface="Heiti TC"/>
                <a:ea typeface="Heiti TC"/>
                <a:cs typeface="Heiti TC"/>
              </a:rPr>
              <a:t>c：初始值</a:t>
            </a:r>
          </a:p>
        </p:txBody>
      </p:sp>
      <p:sp>
        <p:nvSpPr>
          <p:cNvPr id="5" name="">
            <a:extLst xmlns:a="http://schemas.openxmlformats.org/drawingml/2006/main">
              <a:ext uri="{FF2B5EF4-FFF2-40B4-BE49-F238E27FC236}">
                <a16:creationId xmlns:a16="http://schemas.microsoft.com/office/drawing/2014/main" id="{760AF1C8-CCC0-4F68-A13A-0D87F42B82A8}"/>
              </a:ext>
            </a:extLst>
          </p:cNvPr>
          <p:cNvSpPr>
            <a:spLocks xmlns:a="http://schemas.openxmlformats.org/drawingml/2006/main" noGrp="1"/>
          </p:cNvSpPr>
          <p:nvPr/>
        </p:nvSpPr>
        <p:spPr>
          <a:xfrm xmlns:a="http://schemas.openxmlformats.org/drawingml/2006/main">
            <a:off x="6334125" y="27432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526B70"/>
                </a:solidFill>
                <a:latin typeface="Arial"/>
                <a:ea typeface="Arial"/>
                <a:cs typeface="Arial"/>
              </a:defRPr>
            </a:pPr>
            <a:r>
              <a:rPr sz="2400" b="0">
                <a:solidFill>
                  <a:srgbClr val="526B70"/>
                </a:solidFill>
                <a:latin typeface="Arial"/>
                <a:ea typeface="Arial"/>
                <a:cs typeface="Arial"/>
              </a:rPr>
              <a:t>c: initial value</a:t>
            </a:r>
          </a:p>
        </p:txBody>
      </p:sp>
      <p:sp>
        <p:nvSpPr>
          <p:cNvPr id="6" name="">
            <a:extLst xmlns:a="http://schemas.openxmlformats.org/drawingml/2006/main">
              <a:ext uri="{FF2B5EF4-FFF2-40B4-BE49-F238E27FC236}">
                <a16:creationId xmlns:a16="http://schemas.microsoft.com/office/drawing/2014/main" id="{CBE5DE0A-14CF-4FFA-AA41-10FD3131BEC4}"/>
              </a:ext>
            </a:extLst>
          </p:cNvPr>
          <p:cNvSpPr>
            <a:spLocks xmlns:a="http://schemas.openxmlformats.org/drawingml/2006/main" noGrp="1"/>
          </p:cNvSpPr>
          <p:nvPr/>
        </p:nvSpPr>
        <p:spPr>
          <a:xfrm xmlns:a="http://schemas.openxmlformats.org/drawingml/2006/main">
            <a:off x="609600" y="349567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x 每增加 1，y 改變多少？</a:t>
            </a:r>
          </a:p>
        </p:txBody>
      </p:sp>
      <p:sp>
        <p:nvSpPr>
          <p:cNvPr id="7" name="">
            <a:extLst xmlns:a="http://schemas.openxmlformats.org/drawingml/2006/main">
              <a:ext uri="{FF2B5EF4-FFF2-40B4-BE49-F238E27FC236}">
                <a16:creationId xmlns:a16="http://schemas.microsoft.com/office/drawing/2014/main" id="{AFE7DF78-4739-4D51-B4AE-B1C94D25A009}"/>
              </a:ext>
            </a:extLst>
          </p:cNvPr>
          <p:cNvSpPr>
            <a:spLocks xmlns:a="http://schemas.openxmlformats.org/drawingml/2006/main" noGrp="1"/>
          </p:cNvSpPr>
          <p:nvPr/>
        </p:nvSpPr>
        <p:spPr>
          <a:xfrm xmlns:a="http://schemas.openxmlformats.org/drawingml/2006/main">
            <a:off x="609600" y="39624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How much does y change for each extra 1 in x?</a:t>
            </a:r>
          </a:p>
        </p:txBody>
      </p:sp>
      <p:sp>
        <p:nvSpPr>
          <p:cNvPr id="8" name="">
            <a:extLst xmlns:a="http://schemas.openxmlformats.org/drawingml/2006/main">
              <a:ext uri="{FF2B5EF4-FFF2-40B4-BE49-F238E27FC236}">
                <a16:creationId xmlns:a16="http://schemas.microsoft.com/office/drawing/2014/main" id="{7B617BEF-41DA-4182-BB61-56C0770B6029}"/>
              </a:ext>
            </a:extLst>
          </p:cNvPr>
          <p:cNvSpPr>
            <a:spLocks xmlns:a="http://schemas.openxmlformats.org/drawingml/2006/main" noGrp="1"/>
          </p:cNvSpPr>
          <p:nvPr/>
        </p:nvSpPr>
        <p:spPr>
          <a:xfrm xmlns:a="http://schemas.openxmlformats.org/drawingml/2006/main">
            <a:off x="6334125" y="349567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當 x = 0 時，y 是多少？</a:t>
            </a:r>
          </a:p>
        </p:txBody>
      </p:sp>
      <p:sp>
        <p:nvSpPr>
          <p:cNvPr id="9" name="">
            <a:extLst xmlns:a="http://schemas.openxmlformats.org/drawingml/2006/main">
              <a:ext uri="{FF2B5EF4-FFF2-40B4-BE49-F238E27FC236}">
                <a16:creationId xmlns:a16="http://schemas.microsoft.com/office/drawing/2014/main" id="{F16C0329-8039-4434-AA27-DBBA3BEC7C43}"/>
              </a:ext>
            </a:extLst>
          </p:cNvPr>
          <p:cNvSpPr>
            <a:spLocks xmlns:a="http://schemas.openxmlformats.org/drawingml/2006/main" noGrp="1"/>
          </p:cNvSpPr>
          <p:nvPr/>
        </p:nvSpPr>
        <p:spPr>
          <a:xfrm xmlns:a="http://schemas.openxmlformats.org/drawingml/2006/main">
            <a:off x="6334125" y="39624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What is y when x = 0?</a:t>
            </a:r>
          </a:p>
        </p:txBody>
      </p:sp>
      <p:sp>
        <p:nvSpPr>
          <p:cNvPr id="10" name="">
            <a:extLst xmlns:a="http://schemas.openxmlformats.org/drawingml/2006/main">
              <a:ext uri="{FF2B5EF4-FFF2-40B4-BE49-F238E27FC236}">
                <a16:creationId xmlns:a16="http://schemas.microsoft.com/office/drawing/2014/main" id="{FBDC2F93-ECDB-419C-B1F6-99ADF33B6E51}"/>
              </a:ext>
            </a:extLst>
          </p:cNvPr>
          <p:cNvSpPr>
            <a:spLocks xmlns:a="http://schemas.openxmlformats.org/drawingml/2006/main" noGrp="1"/>
          </p:cNvSpPr>
          <p:nvPr/>
        </p:nvSpPr>
        <p:spPr>
          <a:xfrm xmlns:a="http://schemas.openxmlformats.org/drawingml/2006/main">
            <a:off x="609600" y="524827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一條直線描述 x 與 y 的關係</a:t>
            </a:r>
          </a:p>
        </p:txBody>
      </p:sp>
      <p:sp>
        <p:nvSpPr>
          <p:cNvPr id="11" name="">
            <a:extLst xmlns:a="http://schemas.openxmlformats.org/drawingml/2006/main">
              <a:ext uri="{FF2B5EF4-FFF2-40B4-BE49-F238E27FC236}">
                <a16:creationId xmlns:a16="http://schemas.microsoft.com/office/drawing/2014/main" id="{C1DD1E23-A2F6-48BE-94BF-C841C23FA752}"/>
              </a:ext>
            </a:extLst>
          </p:cNvPr>
          <p:cNvSpPr>
            <a:spLocks xmlns:a="http://schemas.openxmlformats.org/drawingml/2006/main" noGrp="1"/>
          </p:cNvSpPr>
          <p:nvPr/>
        </p:nvSpPr>
        <p:spPr>
          <a:xfrm xmlns:a="http://schemas.openxmlformats.org/drawingml/2006/main">
            <a:off x="609600" y="57150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A straight line describes the relationship between x and y</a:t>
            </a:r>
          </a:p>
        </p:txBody>
      </p:sp>
      <p:sp>
        <p:nvSpPr>
          <p:cNvPr id="12" name="">
            <a:extLst xmlns:a="http://schemas.openxmlformats.org/drawingml/2006/main">
              <a:ext uri="{FF2B5EF4-FFF2-40B4-BE49-F238E27FC236}">
                <a16:creationId xmlns:a16="http://schemas.microsoft.com/office/drawing/2014/main" id="{3FBAC7DF-4AF5-4CED-A840-3BC99036F2D0}"/>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a:t>
            </a:r>
          </a:p>
        </p:txBody>
      </p:sp>
    </p:spTree>
    <p:extLst>
      <p:ext uri="{BB962C8B-B14F-4D97-AF65-F5344CB8AC3E}">
        <p14:creationId xmlns:p14="http://schemas.microsoft.com/office/powerpoint/2010/main" val="1269116003"/>
      </p:ext>
    </p:extLst>
  </p:cSld>
</p:sld>
</file>

<file path=ppt/slides/slide2.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17A74F3-8C44-419A-B833-B8BEF9101349}"/>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c：初始值</a:t>
            </a:r>
          </a:p>
        </p:txBody>
      </p:sp>
      <p:sp>
        <p:nvSpPr>
          <p:cNvPr id="2" name="">
            <a:extLst xmlns:a="http://schemas.openxmlformats.org/drawingml/2006/main">
              <a:ext uri="{FF2B5EF4-FFF2-40B4-BE49-F238E27FC236}">
                <a16:creationId xmlns:a16="http://schemas.microsoft.com/office/drawing/2014/main" id="{C46085C3-9D0D-40DE-ACF0-3F9D713BD4C7}"/>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c: the initial value</a:t>
            </a:r>
          </a:p>
        </p:txBody>
      </p:sp>
      <p:sp>
        <p:nvSpPr>
          <p:cNvPr id="3" name="">
            <a:extLst xmlns:a="http://schemas.openxmlformats.org/drawingml/2006/main">
              <a:ext uri="{FF2B5EF4-FFF2-40B4-BE49-F238E27FC236}">
                <a16:creationId xmlns:a16="http://schemas.microsoft.com/office/drawing/2014/main" id="{E9FFF018-8215-45BD-A19B-1C20A94BC78C}"/>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2</a:t>
            </a:r>
          </a:p>
        </p:txBody>
      </p:sp>
      <p:sp>
        <p:nvSpPr>
          <p:cNvPr id="4" name="">
            <a:extLst xmlns:a="http://schemas.openxmlformats.org/drawingml/2006/main">
              <a:ext uri="{FF2B5EF4-FFF2-40B4-BE49-F238E27FC236}">
                <a16:creationId xmlns:a16="http://schemas.microsoft.com/office/drawing/2014/main" id="{EAF490FD-8705-429C-97B7-400D92F26008}"/>
              </a:ext>
            </a:extLst>
          </p:cNvPr>
          <p:cNvSpPr>
            <a:spLocks xmlns:a="http://schemas.openxmlformats.org/drawingml/2006/main" noGrp="1"/>
          </p:cNvSpPr>
          <p:nvPr/>
        </p:nvSpPr>
        <p:spPr>
          <a:xfrm xmlns:a="http://schemas.openxmlformats.org/drawingml/2006/main">
            <a:off x="609600" y="1657350"/>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水箱原有 5 公升水</a:t>
            </a:r>
          </a:p>
        </p:txBody>
      </p:sp>
      <p:sp>
        <p:nvSpPr>
          <p:cNvPr id="5" name="">
            <a:extLst xmlns:a="http://schemas.openxmlformats.org/drawingml/2006/main">
              <a:ext uri="{FF2B5EF4-FFF2-40B4-BE49-F238E27FC236}">
                <a16:creationId xmlns:a16="http://schemas.microsoft.com/office/drawing/2014/main" id="{898B3100-EDE1-4804-9E96-D905D48D8B9F}"/>
              </a:ext>
            </a:extLst>
          </p:cNvPr>
          <p:cNvSpPr>
            <a:spLocks xmlns:a="http://schemas.openxmlformats.org/drawingml/2006/main" noGrp="1"/>
          </p:cNvSpPr>
          <p:nvPr/>
        </p:nvSpPr>
        <p:spPr>
          <a:xfrm xmlns:a="http://schemas.openxmlformats.org/drawingml/2006/main">
            <a:off x="609600" y="2124075"/>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A tank starts with 5 litres of water</a:t>
            </a:r>
          </a:p>
        </p:txBody>
      </p:sp>
      <p:sp>
        <p:nvSpPr>
          <p:cNvPr id="6" name="">
            <a:extLst xmlns:a="http://schemas.openxmlformats.org/drawingml/2006/main">
              <a:ext uri="{FF2B5EF4-FFF2-40B4-BE49-F238E27FC236}">
                <a16:creationId xmlns:a16="http://schemas.microsoft.com/office/drawing/2014/main" id="{6DF407AB-CF66-4656-B07C-D787F33E22B9}"/>
              </a:ext>
            </a:extLst>
          </p:cNvPr>
          <p:cNvSpPr>
            <a:spLocks xmlns:a="http://schemas.openxmlformats.org/drawingml/2006/main" noGrp="1"/>
          </p:cNvSpPr>
          <p:nvPr/>
        </p:nvSpPr>
        <p:spPr>
          <a:xfrm xmlns:a="http://schemas.openxmlformats.org/drawingml/2006/main">
            <a:off x="609600" y="2762250"/>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x：時間（分鐘）</a:t>
            </a:r>
          </a:p>
        </p:txBody>
      </p:sp>
      <p:sp>
        <p:nvSpPr>
          <p:cNvPr id="7" name="">
            <a:extLst xmlns:a="http://schemas.openxmlformats.org/drawingml/2006/main">
              <a:ext uri="{FF2B5EF4-FFF2-40B4-BE49-F238E27FC236}">
                <a16:creationId xmlns:a16="http://schemas.microsoft.com/office/drawing/2014/main" id="{299F87C8-E620-4313-9A19-9C3B37562809}"/>
              </a:ext>
            </a:extLst>
          </p:cNvPr>
          <p:cNvSpPr>
            <a:spLocks xmlns:a="http://schemas.openxmlformats.org/drawingml/2006/main" noGrp="1"/>
          </p:cNvSpPr>
          <p:nvPr/>
        </p:nvSpPr>
        <p:spPr>
          <a:xfrm xmlns:a="http://schemas.openxmlformats.org/drawingml/2006/main">
            <a:off x="609600" y="3228975"/>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x: time in minutes</a:t>
            </a:r>
          </a:p>
        </p:txBody>
      </p:sp>
      <p:sp>
        <p:nvSpPr>
          <p:cNvPr id="8" name="">
            <a:extLst xmlns:a="http://schemas.openxmlformats.org/drawingml/2006/main">
              <a:ext uri="{FF2B5EF4-FFF2-40B4-BE49-F238E27FC236}">
                <a16:creationId xmlns:a16="http://schemas.microsoft.com/office/drawing/2014/main" id="{25A0AA19-0E47-4968-9656-0D23ADB8885A}"/>
              </a:ext>
            </a:extLst>
          </p:cNvPr>
          <p:cNvSpPr>
            <a:spLocks xmlns:a="http://schemas.openxmlformats.org/drawingml/2006/main" noGrp="1"/>
          </p:cNvSpPr>
          <p:nvPr/>
        </p:nvSpPr>
        <p:spPr>
          <a:xfrm xmlns:a="http://schemas.openxmlformats.org/drawingml/2006/main">
            <a:off x="609600" y="3790950"/>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y：水量（公升）</a:t>
            </a:r>
          </a:p>
        </p:txBody>
      </p:sp>
      <p:sp>
        <p:nvSpPr>
          <p:cNvPr id="9" name="">
            <a:extLst xmlns:a="http://schemas.openxmlformats.org/drawingml/2006/main">
              <a:ext uri="{FF2B5EF4-FFF2-40B4-BE49-F238E27FC236}">
                <a16:creationId xmlns:a16="http://schemas.microsoft.com/office/drawing/2014/main" id="{99C40FA6-432B-406D-BDD5-DFFB74E64694}"/>
              </a:ext>
            </a:extLst>
          </p:cNvPr>
          <p:cNvSpPr>
            <a:spLocks xmlns:a="http://schemas.openxmlformats.org/drawingml/2006/main" noGrp="1"/>
          </p:cNvSpPr>
          <p:nvPr/>
        </p:nvSpPr>
        <p:spPr>
          <a:xfrm xmlns:a="http://schemas.openxmlformats.org/drawingml/2006/main">
            <a:off x="609600" y="4257675"/>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y: amount of water in litres</a:t>
            </a:r>
          </a:p>
        </p:txBody>
      </p:sp>
      <p:sp>
        <p:nvSpPr>
          <p:cNvPr id="10" name="">
            <a:extLst xmlns:a="http://schemas.openxmlformats.org/drawingml/2006/main">
              <a:ext uri="{FF2B5EF4-FFF2-40B4-BE49-F238E27FC236}">
                <a16:creationId xmlns:a16="http://schemas.microsoft.com/office/drawing/2014/main" id="{CC941FDD-62A6-44DB-BBDA-A6080A4105B5}"/>
              </a:ext>
            </a:extLst>
          </p:cNvPr>
          <p:cNvSpPr>
            <a:spLocks xmlns:a="http://schemas.openxmlformats.org/drawingml/2006/main" noGrp="1"/>
          </p:cNvSpPr>
          <p:nvPr/>
        </p:nvSpPr>
        <p:spPr>
          <a:xfrm xmlns:a="http://schemas.openxmlformats.org/drawingml/2006/main">
            <a:off x="609600" y="5048250"/>
            <a:ext cx="4572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086C61"/>
                </a:solidFill>
                <a:latin typeface="Arial"/>
                <a:ea typeface="Arial"/>
                <a:cs typeface="Arial"/>
              </a:defRPr>
            </a:pPr>
            <a:r>
              <a:rPr sz="3300" b="1">
                <a:solidFill>
                  <a:srgbClr val="086C61"/>
                </a:solidFill>
                <a:latin typeface="Arial"/>
                <a:ea typeface="Arial"/>
                <a:cs typeface="Arial"/>
              </a:rPr>
              <a:t>x = 0, y = 5</a:t>
            </a:r>
          </a:p>
        </p:txBody>
      </p:sp>
      <p:graphicFrame>
        <p:nvGraphicFramePr>
          <p:cNvPr id="22" name="Chart"/>
          <p:cNvGraphicFramePr/>
          <p:nvPr/>
        </p:nvGraphicFramePr>
        <p:xfrm>
          <a:off xmlns:a="http://schemas.openxmlformats.org/drawingml/2006/main" x="5810250" y="1590675"/>
          <a:ext xmlns:a="http://schemas.openxmlformats.org/drawingml/2006/main" cx="5810250" cy="4381500"/>
        </p:xfrm>
        <a:graphic xmlns:a="http://schemas.openxmlformats.org/drawingml/2006/main">
          <a:graphicData uri="http://schemas.openxmlformats.org/drawingml/2006/chart">
            <c:chart xmlns:r="http://schemas.openxmlformats.org/officeDocument/2006/relationships" xmlns:c="http://schemas.openxmlformats.org/drawingml/2006/chart" r:id="R437b7772241a48de"/>
          </a:graphicData>
        </a:graphic>
      </p:graphicFrame>
    </p:spTree>
    <p:extLst>
      <p:ext uri="{BB962C8B-B14F-4D97-AF65-F5344CB8AC3E}">
        <p14:creationId xmlns:p14="http://schemas.microsoft.com/office/powerpoint/2010/main" val="2061989515"/>
      </p:ext>
    </p:extLst>
  </p:cSld>
</p:sld>
</file>

<file path=ppt/slides/slide3.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9B901D0-453F-46CB-9B15-DCA6100DCEF9}"/>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m：每增加 1 單位的變化</a:t>
            </a:r>
          </a:p>
        </p:txBody>
      </p:sp>
      <p:sp>
        <p:nvSpPr>
          <p:cNvPr id="2" name="">
            <a:extLst xmlns:a="http://schemas.openxmlformats.org/drawingml/2006/main">
              <a:ext uri="{FF2B5EF4-FFF2-40B4-BE49-F238E27FC236}">
                <a16:creationId xmlns:a16="http://schemas.microsoft.com/office/drawing/2014/main" id="{DFBB052E-26FB-4C39-9C62-0C6EA74AA046}"/>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m: the change for each extra unit</a:t>
            </a:r>
          </a:p>
        </p:txBody>
      </p:sp>
      <p:sp>
        <p:nvSpPr>
          <p:cNvPr id="3" name="">
            <a:extLst xmlns:a="http://schemas.openxmlformats.org/drawingml/2006/main">
              <a:ext uri="{FF2B5EF4-FFF2-40B4-BE49-F238E27FC236}">
                <a16:creationId xmlns:a16="http://schemas.microsoft.com/office/drawing/2014/main" id="{E1E5148F-40B9-46A4-9C57-953EE7F7D57C}"/>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3</a:t>
            </a:r>
          </a:p>
        </p:txBody>
      </p:sp>
      <p:sp>
        <p:nvSpPr>
          <p:cNvPr id="4" name="">
            <a:extLst xmlns:a="http://schemas.openxmlformats.org/drawingml/2006/main">
              <a:ext uri="{FF2B5EF4-FFF2-40B4-BE49-F238E27FC236}">
                <a16:creationId xmlns:a16="http://schemas.microsoft.com/office/drawing/2014/main" id="{ED03F71F-EA84-4EC6-B679-57B5E31888C8}"/>
              </a:ext>
            </a:extLst>
          </p:cNvPr>
          <p:cNvSpPr>
            <a:spLocks xmlns:a="http://schemas.openxmlformats.org/drawingml/2006/main" noGrp="1"/>
          </p:cNvSpPr>
          <p:nvPr/>
        </p:nvSpPr>
        <p:spPr>
          <a:xfrm xmlns:a="http://schemas.openxmlformats.org/drawingml/2006/main">
            <a:off x="609600" y="1647825"/>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每分鐘加入 2 公升水</a:t>
            </a:r>
          </a:p>
        </p:txBody>
      </p:sp>
      <p:sp>
        <p:nvSpPr>
          <p:cNvPr id="5" name="">
            <a:extLst xmlns:a="http://schemas.openxmlformats.org/drawingml/2006/main">
              <a:ext uri="{FF2B5EF4-FFF2-40B4-BE49-F238E27FC236}">
                <a16:creationId xmlns:a16="http://schemas.microsoft.com/office/drawing/2014/main" id="{B36ECCA4-1B06-40E2-9D3D-564DC794497A}"/>
              </a:ext>
            </a:extLst>
          </p:cNvPr>
          <p:cNvSpPr>
            <a:spLocks xmlns:a="http://schemas.openxmlformats.org/drawingml/2006/main" noGrp="1"/>
          </p:cNvSpPr>
          <p:nvPr/>
        </p:nvSpPr>
        <p:spPr>
          <a:xfrm xmlns:a="http://schemas.openxmlformats.org/drawingml/2006/main">
            <a:off x="609600" y="211455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We add 2 litres each minute</a:t>
            </a:r>
          </a:p>
        </p:txBody>
      </p:sp>
      <p:sp>
        <p:nvSpPr>
          <p:cNvPr id="6" name="">
            <a:extLst xmlns:a="http://schemas.openxmlformats.org/drawingml/2006/main">
              <a:ext uri="{FF2B5EF4-FFF2-40B4-BE49-F238E27FC236}">
                <a16:creationId xmlns:a16="http://schemas.microsoft.com/office/drawing/2014/main" id="{CEA38183-64BA-4FD2-A22B-F26D39F483BA}"/>
              </a:ext>
            </a:extLst>
          </p:cNvPr>
          <p:cNvSpPr>
            <a:spLocks xmlns:a="http://schemas.openxmlformats.org/drawingml/2006/main" noGrp="1"/>
          </p:cNvSpPr>
          <p:nvPr/>
        </p:nvSpPr>
        <p:spPr>
          <a:xfrm xmlns:a="http://schemas.openxmlformats.org/drawingml/2006/main">
            <a:off x="609600" y="2771775"/>
            <a:ext cx="4667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086C61"/>
                </a:solidFill>
                <a:latin typeface="Arial"/>
                <a:ea typeface="Arial"/>
                <a:cs typeface="Arial"/>
              </a:defRPr>
            </a:pPr>
            <a:r>
              <a:rPr sz="3900" b="1">
                <a:solidFill>
                  <a:srgbClr val="086C61"/>
                </a:solidFill>
                <a:latin typeface="Arial"/>
                <a:ea typeface="Arial"/>
                <a:cs typeface="Arial"/>
              </a:rPr>
              <a:t>y = 2x + 5</a:t>
            </a:r>
          </a:p>
        </p:txBody>
      </p:sp>
      <p:sp>
        <p:nvSpPr>
          <p:cNvPr id="7" name="">
            <a:extLst xmlns:a="http://schemas.openxmlformats.org/drawingml/2006/main">
              <a:ext uri="{FF2B5EF4-FFF2-40B4-BE49-F238E27FC236}">
                <a16:creationId xmlns:a16="http://schemas.microsoft.com/office/drawing/2014/main" id="{9246E134-75B8-4215-9C33-89111C0E685E}"/>
              </a:ext>
            </a:extLst>
          </p:cNvPr>
          <p:cNvSpPr>
            <a:spLocks xmlns:a="http://schemas.openxmlformats.org/drawingml/2006/main" noGrp="1"/>
          </p:cNvSpPr>
          <p:nvPr/>
        </p:nvSpPr>
        <p:spPr>
          <a:xfrm xmlns:a="http://schemas.openxmlformats.org/drawingml/2006/main">
            <a:off x="609600" y="367665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3C43"/>
                </a:solidFill>
                <a:latin typeface="Heiti TC"/>
                <a:ea typeface="Heiti TC"/>
                <a:cs typeface="Heiti TC"/>
              </a:defRPr>
            </a:pPr>
            <a:r>
              <a:rPr sz="2100" b="0">
                <a:solidFill>
                  <a:srgbClr val="173C43"/>
                </a:solidFill>
                <a:latin typeface="Heiti TC"/>
                <a:ea typeface="Heiti TC"/>
                <a:cs typeface="Heiti TC"/>
              </a:rPr>
              <a:t>x 增加 1，y 增加 2</a:t>
            </a:r>
          </a:p>
        </p:txBody>
      </p:sp>
      <p:sp>
        <p:nvSpPr>
          <p:cNvPr id="8" name="">
            <a:extLst xmlns:a="http://schemas.openxmlformats.org/drawingml/2006/main">
              <a:ext uri="{FF2B5EF4-FFF2-40B4-BE49-F238E27FC236}">
                <a16:creationId xmlns:a16="http://schemas.microsoft.com/office/drawing/2014/main" id="{E13069B7-CB06-4EB7-B3FC-2A395E6B5ED5}"/>
              </a:ext>
            </a:extLst>
          </p:cNvPr>
          <p:cNvSpPr>
            <a:spLocks xmlns:a="http://schemas.openxmlformats.org/drawingml/2006/main" noGrp="1"/>
          </p:cNvSpPr>
          <p:nvPr/>
        </p:nvSpPr>
        <p:spPr>
          <a:xfrm xmlns:a="http://schemas.openxmlformats.org/drawingml/2006/main">
            <a:off x="609600" y="414337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When x increases by 1, y increases by 2</a:t>
            </a:r>
          </a:p>
        </p:txBody>
      </p:sp>
      <p:sp>
        <p:nvSpPr>
          <p:cNvPr id="9" name="">
            <a:extLst xmlns:a="http://schemas.openxmlformats.org/drawingml/2006/main">
              <a:ext uri="{FF2B5EF4-FFF2-40B4-BE49-F238E27FC236}">
                <a16:creationId xmlns:a16="http://schemas.microsoft.com/office/drawing/2014/main" id="{83933070-E104-49E7-A1B4-5276BAC2B2BE}"/>
              </a:ext>
            </a:extLst>
          </p:cNvPr>
          <p:cNvSpPr>
            <a:spLocks xmlns:a="http://schemas.openxmlformats.org/drawingml/2006/main" noGrp="1"/>
          </p:cNvSpPr>
          <p:nvPr/>
        </p:nvSpPr>
        <p:spPr>
          <a:xfrm xmlns:a="http://schemas.openxmlformats.org/drawingml/2006/main">
            <a:off x="609600" y="474345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3C43"/>
                </a:solidFill>
                <a:latin typeface="Heiti TC"/>
                <a:ea typeface="Heiti TC"/>
                <a:cs typeface="Heiti TC"/>
              </a:defRPr>
            </a:pPr>
            <a:r>
              <a:rPr sz="2250" b="0">
                <a:solidFill>
                  <a:srgbClr val="173C43"/>
                </a:solidFill>
                <a:latin typeface="Heiti TC"/>
                <a:ea typeface="Heiti TC"/>
                <a:cs typeface="Heiti TC"/>
              </a:rPr>
              <a:t>m = 2 公升／分鐘</a:t>
            </a:r>
          </a:p>
        </p:txBody>
      </p:sp>
      <p:sp>
        <p:nvSpPr>
          <p:cNvPr id="10" name="">
            <a:extLst xmlns:a="http://schemas.openxmlformats.org/drawingml/2006/main">
              <a:ext uri="{FF2B5EF4-FFF2-40B4-BE49-F238E27FC236}">
                <a16:creationId xmlns:a16="http://schemas.microsoft.com/office/drawing/2014/main" id="{4A1B3915-2040-4C81-BDB2-6EA919897D4E}"/>
              </a:ext>
            </a:extLst>
          </p:cNvPr>
          <p:cNvSpPr>
            <a:spLocks xmlns:a="http://schemas.openxmlformats.org/drawingml/2006/main" noGrp="1"/>
          </p:cNvSpPr>
          <p:nvPr/>
        </p:nvSpPr>
        <p:spPr>
          <a:xfrm xmlns:a="http://schemas.openxmlformats.org/drawingml/2006/main">
            <a:off x="609600" y="521017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m = 2 litres per minute</a:t>
            </a:r>
          </a:p>
        </p:txBody>
      </p:sp>
      <p:graphicFrame>
        <p:nvGraphicFramePr>
          <p:cNvPr id="22" name="Chart"/>
          <p:cNvGraphicFramePr/>
          <p:nvPr/>
        </p:nvGraphicFramePr>
        <p:xfrm>
          <a:off xmlns:a="http://schemas.openxmlformats.org/drawingml/2006/main" x="5810250" y="1590675"/>
          <a:ext xmlns:a="http://schemas.openxmlformats.org/drawingml/2006/main" cx="5810250" cy="4381500"/>
        </p:xfrm>
        <a:graphic xmlns:a="http://schemas.openxmlformats.org/drawingml/2006/main">
          <a:graphicData uri="http://schemas.openxmlformats.org/drawingml/2006/chart">
            <c:chart xmlns:r="http://schemas.openxmlformats.org/officeDocument/2006/relationships" xmlns:c="http://schemas.openxmlformats.org/drawingml/2006/chart" r:id="R134249e8bd05490e"/>
          </a:graphicData>
        </a:graphic>
      </p:graphicFrame>
    </p:spTree>
    <p:extLst>
      <p:ext uri="{BB962C8B-B14F-4D97-AF65-F5344CB8AC3E}">
        <p14:creationId xmlns:p14="http://schemas.microsoft.com/office/powerpoint/2010/main" val="1305999608"/>
      </p:ext>
    </p:extLst>
  </p:cSld>
</p:sld>
</file>

<file path=ppt/slides/slide4.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715EF15-8AF5-429A-BFC6-4B6E399CA98D}"/>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m 的正負與趨勢</a:t>
            </a:r>
          </a:p>
        </p:txBody>
      </p:sp>
      <p:sp>
        <p:nvSpPr>
          <p:cNvPr id="2" name="">
            <a:extLst xmlns:a="http://schemas.openxmlformats.org/drawingml/2006/main">
              <a:ext uri="{FF2B5EF4-FFF2-40B4-BE49-F238E27FC236}">
                <a16:creationId xmlns:a16="http://schemas.microsoft.com/office/drawing/2014/main" id="{1BC9751C-C47E-4D50-A7A5-8A021C87E94B}"/>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The sign of m and the trend</a:t>
            </a:r>
          </a:p>
        </p:txBody>
      </p:sp>
      <p:sp>
        <p:nvSpPr>
          <p:cNvPr id="3" name="">
            <a:extLst xmlns:a="http://schemas.openxmlformats.org/drawingml/2006/main">
              <a:ext uri="{FF2B5EF4-FFF2-40B4-BE49-F238E27FC236}">
                <a16:creationId xmlns:a16="http://schemas.microsoft.com/office/drawing/2014/main" id="{86A0AB2F-8214-4403-B119-F0ADCDCDC726}"/>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4</a:t>
            </a:r>
          </a:p>
        </p:txBody>
      </p:sp>
      <p:sp>
        <p:nvSpPr>
          <p:cNvPr id="4" name="">
            <a:extLst xmlns:a="http://schemas.openxmlformats.org/drawingml/2006/main">
              <a:ext uri="{FF2B5EF4-FFF2-40B4-BE49-F238E27FC236}">
                <a16:creationId xmlns:a16="http://schemas.microsoft.com/office/drawing/2014/main" id="{0D8E42B8-93D5-4585-BAEA-3F5804FFFA89}"/>
              </a:ext>
            </a:extLst>
          </p:cNvPr>
          <p:cNvSpPr>
            <a:spLocks xmlns:a="http://schemas.openxmlformats.org/drawingml/2006/main" noGrp="1"/>
          </p:cNvSpPr>
          <p:nvPr/>
        </p:nvSpPr>
        <p:spPr>
          <a:xfrm xmlns:a="http://schemas.openxmlformats.org/drawingml/2006/main">
            <a:off x="714375" y="1685925"/>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086C61"/>
                </a:solidFill>
                <a:latin typeface="Arial"/>
                <a:ea typeface="Arial"/>
                <a:cs typeface="Arial"/>
              </a:defRPr>
            </a:pPr>
            <a:r>
              <a:rPr sz="3150" b="1">
                <a:solidFill>
                  <a:srgbClr val="086C61"/>
                </a:solidFill>
                <a:latin typeface="Arial"/>
                <a:ea typeface="Arial"/>
                <a:cs typeface="Arial"/>
              </a:rPr>
              <a:t>m &gt; 0</a:t>
            </a:r>
          </a:p>
        </p:txBody>
      </p:sp>
      <p:graphicFrame>
        <p:nvGraphicFramePr>
          <p:cNvPr id="20" name="Chart"/>
          <p:cNvGraphicFramePr/>
          <p:nvPr/>
        </p:nvGraphicFramePr>
        <p:xfrm>
          <a:off xmlns:a="http://schemas.openxmlformats.org/drawingml/2006/main" x="476250" y="2333625"/>
          <a:ext xmlns:a="http://schemas.openxmlformats.org/drawingml/2006/main" cx="3476625" cy="2781300"/>
        </p:xfrm>
        <a:graphic xmlns:a="http://schemas.openxmlformats.org/drawingml/2006/main">
          <a:graphicData uri="http://schemas.openxmlformats.org/drawingml/2006/chart">
            <c:chart xmlns:r="http://schemas.openxmlformats.org/officeDocument/2006/relationships" xmlns:c="http://schemas.openxmlformats.org/drawingml/2006/chart" r:id="R6472b465f9f6477e"/>
          </a:graphicData>
        </a:graphic>
      </p:graphicFrame>
      <p:sp>
        <p:nvSpPr>
          <p:cNvPr id="6" name="">
            <a:extLst xmlns:a="http://schemas.openxmlformats.org/drawingml/2006/main">
              <a:ext uri="{FF2B5EF4-FFF2-40B4-BE49-F238E27FC236}">
                <a16:creationId xmlns:a16="http://schemas.microsoft.com/office/drawing/2014/main" id="{CBC414AD-BCEB-47E3-931A-9A16882594C3}"/>
              </a:ext>
            </a:extLst>
          </p:cNvPr>
          <p:cNvSpPr>
            <a:spLocks xmlns:a="http://schemas.openxmlformats.org/drawingml/2006/main" noGrp="1"/>
          </p:cNvSpPr>
          <p:nvPr/>
        </p:nvSpPr>
        <p:spPr>
          <a:xfrm xmlns:a="http://schemas.openxmlformats.org/drawingml/2006/main">
            <a:off x="666750" y="5248275"/>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3C43"/>
                </a:solidFill>
                <a:latin typeface="Heiti TC"/>
                <a:ea typeface="Heiti TC"/>
                <a:cs typeface="Heiti TC"/>
              </a:defRPr>
            </a:pPr>
            <a:r>
              <a:rPr sz="1875" b="0">
                <a:solidFill>
                  <a:srgbClr val="173C43"/>
                </a:solidFill>
                <a:latin typeface="Heiti TC"/>
                <a:ea typeface="Heiti TC"/>
                <a:cs typeface="Heiti TC"/>
              </a:rPr>
              <a:t>y 隨 x 增加</a:t>
            </a:r>
          </a:p>
        </p:txBody>
      </p:sp>
      <p:sp>
        <p:nvSpPr>
          <p:cNvPr id="7" name="">
            <a:extLst xmlns:a="http://schemas.openxmlformats.org/drawingml/2006/main">
              <a:ext uri="{FF2B5EF4-FFF2-40B4-BE49-F238E27FC236}">
                <a16:creationId xmlns:a16="http://schemas.microsoft.com/office/drawing/2014/main" id="{489E4962-ED85-4F57-A46D-D2FDE1B49CBD}"/>
              </a:ext>
            </a:extLst>
          </p:cNvPr>
          <p:cNvSpPr>
            <a:spLocks xmlns:a="http://schemas.openxmlformats.org/drawingml/2006/main" noGrp="1"/>
          </p:cNvSpPr>
          <p:nvPr/>
        </p:nvSpPr>
        <p:spPr>
          <a:xfrm xmlns:a="http://schemas.openxmlformats.org/drawingml/2006/main">
            <a:off x="666750" y="5715000"/>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y increases as x increases</a:t>
            </a:r>
          </a:p>
        </p:txBody>
      </p:sp>
      <p:sp>
        <p:nvSpPr>
          <p:cNvPr id="8" name="">
            <a:extLst xmlns:a="http://schemas.openxmlformats.org/drawingml/2006/main">
              <a:ext uri="{FF2B5EF4-FFF2-40B4-BE49-F238E27FC236}">
                <a16:creationId xmlns:a16="http://schemas.microsoft.com/office/drawing/2014/main" id="{72D9EDEF-3A51-46C3-9047-911C03779591}"/>
              </a:ext>
            </a:extLst>
          </p:cNvPr>
          <p:cNvSpPr>
            <a:spLocks xmlns:a="http://schemas.openxmlformats.org/drawingml/2006/main" noGrp="1"/>
          </p:cNvSpPr>
          <p:nvPr/>
        </p:nvSpPr>
        <p:spPr>
          <a:xfrm xmlns:a="http://schemas.openxmlformats.org/drawingml/2006/main">
            <a:off x="4572000" y="1685925"/>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086C61"/>
                </a:solidFill>
                <a:latin typeface="Arial"/>
                <a:ea typeface="Arial"/>
                <a:cs typeface="Arial"/>
              </a:defRPr>
            </a:pPr>
            <a:r>
              <a:rPr sz="3150" b="1">
                <a:solidFill>
                  <a:srgbClr val="086C61"/>
                </a:solidFill>
                <a:latin typeface="Arial"/>
                <a:ea typeface="Arial"/>
                <a:cs typeface="Arial"/>
              </a:rPr>
              <a:t>m &lt; 0</a:t>
            </a:r>
          </a:p>
        </p:txBody>
      </p:sp>
      <p:graphicFrame>
        <p:nvGraphicFramePr>
          <p:cNvPr id="24" name="Chart"/>
          <p:cNvGraphicFramePr/>
          <p:nvPr/>
        </p:nvGraphicFramePr>
        <p:xfrm>
          <a:off xmlns:a="http://schemas.openxmlformats.org/drawingml/2006/main" x="4333875" y="2333625"/>
          <a:ext xmlns:a="http://schemas.openxmlformats.org/drawingml/2006/main" cx="3476625" cy="2781300"/>
        </p:xfrm>
        <a:graphic xmlns:a="http://schemas.openxmlformats.org/drawingml/2006/main">
          <a:graphicData uri="http://schemas.openxmlformats.org/drawingml/2006/chart">
            <c:chart xmlns:r="http://schemas.openxmlformats.org/officeDocument/2006/relationships" xmlns:c="http://schemas.openxmlformats.org/drawingml/2006/chart" r:id="R7186cbb7785b4111"/>
          </a:graphicData>
        </a:graphic>
      </p:graphicFrame>
      <p:sp>
        <p:nvSpPr>
          <p:cNvPr id="10" name="">
            <a:extLst xmlns:a="http://schemas.openxmlformats.org/drawingml/2006/main">
              <a:ext uri="{FF2B5EF4-FFF2-40B4-BE49-F238E27FC236}">
                <a16:creationId xmlns:a16="http://schemas.microsoft.com/office/drawing/2014/main" id="{AC480601-5E95-4B25-94AA-F79AC7ACF7CE}"/>
              </a:ext>
            </a:extLst>
          </p:cNvPr>
          <p:cNvSpPr>
            <a:spLocks xmlns:a="http://schemas.openxmlformats.org/drawingml/2006/main" noGrp="1"/>
          </p:cNvSpPr>
          <p:nvPr/>
        </p:nvSpPr>
        <p:spPr>
          <a:xfrm xmlns:a="http://schemas.openxmlformats.org/drawingml/2006/main">
            <a:off x="4524375" y="5248275"/>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3C43"/>
                </a:solidFill>
                <a:latin typeface="Heiti TC"/>
                <a:ea typeface="Heiti TC"/>
                <a:cs typeface="Heiti TC"/>
              </a:defRPr>
            </a:pPr>
            <a:r>
              <a:rPr sz="1875" b="0">
                <a:solidFill>
                  <a:srgbClr val="173C43"/>
                </a:solidFill>
                <a:latin typeface="Heiti TC"/>
                <a:ea typeface="Heiti TC"/>
                <a:cs typeface="Heiti TC"/>
              </a:rPr>
              <a:t>y 隨 x 減少</a:t>
            </a:r>
          </a:p>
        </p:txBody>
      </p:sp>
      <p:sp>
        <p:nvSpPr>
          <p:cNvPr id="11" name="">
            <a:extLst xmlns:a="http://schemas.openxmlformats.org/drawingml/2006/main">
              <a:ext uri="{FF2B5EF4-FFF2-40B4-BE49-F238E27FC236}">
                <a16:creationId xmlns:a16="http://schemas.microsoft.com/office/drawing/2014/main" id="{0D2F9024-44A6-44DE-B045-EA1E9EF2699C}"/>
              </a:ext>
            </a:extLst>
          </p:cNvPr>
          <p:cNvSpPr>
            <a:spLocks xmlns:a="http://schemas.openxmlformats.org/drawingml/2006/main" noGrp="1"/>
          </p:cNvSpPr>
          <p:nvPr/>
        </p:nvSpPr>
        <p:spPr>
          <a:xfrm xmlns:a="http://schemas.openxmlformats.org/drawingml/2006/main">
            <a:off x="4524375" y="5715000"/>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y decreases as x increases</a:t>
            </a:r>
          </a:p>
        </p:txBody>
      </p:sp>
      <p:sp>
        <p:nvSpPr>
          <p:cNvPr id="12" name="">
            <a:extLst xmlns:a="http://schemas.openxmlformats.org/drawingml/2006/main">
              <a:ext uri="{FF2B5EF4-FFF2-40B4-BE49-F238E27FC236}">
                <a16:creationId xmlns:a16="http://schemas.microsoft.com/office/drawing/2014/main" id="{FB8C8DCE-7A0C-4D88-957B-1C1F46AF783B}"/>
              </a:ext>
            </a:extLst>
          </p:cNvPr>
          <p:cNvSpPr>
            <a:spLocks xmlns:a="http://schemas.openxmlformats.org/drawingml/2006/main" noGrp="1"/>
          </p:cNvSpPr>
          <p:nvPr/>
        </p:nvSpPr>
        <p:spPr>
          <a:xfrm xmlns:a="http://schemas.openxmlformats.org/drawingml/2006/main">
            <a:off x="8429625" y="1685925"/>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086C61"/>
                </a:solidFill>
                <a:latin typeface="Arial"/>
                <a:ea typeface="Arial"/>
                <a:cs typeface="Arial"/>
              </a:defRPr>
            </a:pPr>
            <a:r>
              <a:rPr sz="3150" b="1">
                <a:solidFill>
                  <a:srgbClr val="086C61"/>
                </a:solidFill>
                <a:latin typeface="Arial"/>
                <a:ea typeface="Arial"/>
                <a:cs typeface="Arial"/>
              </a:rPr>
              <a:t>m = 0</a:t>
            </a:r>
          </a:p>
        </p:txBody>
      </p:sp>
      <p:graphicFrame>
        <p:nvGraphicFramePr>
          <p:cNvPr id="28" name="Chart"/>
          <p:cNvGraphicFramePr/>
          <p:nvPr/>
        </p:nvGraphicFramePr>
        <p:xfrm>
          <a:off xmlns:a="http://schemas.openxmlformats.org/drawingml/2006/main" x="8191500" y="2333625"/>
          <a:ext xmlns:a="http://schemas.openxmlformats.org/drawingml/2006/main" cx="3476625" cy="2781300"/>
        </p:xfrm>
        <a:graphic xmlns:a="http://schemas.openxmlformats.org/drawingml/2006/main">
          <a:graphicData uri="http://schemas.openxmlformats.org/drawingml/2006/chart">
            <c:chart xmlns:r="http://schemas.openxmlformats.org/officeDocument/2006/relationships" xmlns:c="http://schemas.openxmlformats.org/drawingml/2006/chart" r:id="R6590931fbe294bbf"/>
          </a:graphicData>
        </a:graphic>
      </p:graphicFrame>
      <p:sp>
        <p:nvSpPr>
          <p:cNvPr id="14" name="">
            <a:extLst xmlns:a="http://schemas.openxmlformats.org/drawingml/2006/main">
              <a:ext uri="{FF2B5EF4-FFF2-40B4-BE49-F238E27FC236}">
                <a16:creationId xmlns:a16="http://schemas.microsoft.com/office/drawing/2014/main" id="{AADCA33A-5A1B-4308-853D-EB534128E707}"/>
              </a:ext>
            </a:extLst>
          </p:cNvPr>
          <p:cNvSpPr>
            <a:spLocks xmlns:a="http://schemas.openxmlformats.org/drawingml/2006/main" noGrp="1"/>
          </p:cNvSpPr>
          <p:nvPr/>
        </p:nvSpPr>
        <p:spPr>
          <a:xfrm xmlns:a="http://schemas.openxmlformats.org/drawingml/2006/main">
            <a:off x="8382000" y="5248275"/>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3C43"/>
                </a:solidFill>
                <a:latin typeface="Heiti TC"/>
                <a:ea typeface="Heiti TC"/>
                <a:cs typeface="Heiti TC"/>
              </a:defRPr>
            </a:pPr>
            <a:r>
              <a:rPr sz="1875" b="0">
                <a:solidFill>
                  <a:srgbClr val="173C43"/>
                </a:solidFill>
                <a:latin typeface="Heiti TC"/>
                <a:ea typeface="Heiti TC"/>
                <a:cs typeface="Heiti TC"/>
              </a:rPr>
              <a:t>y 保持不變</a:t>
            </a:r>
          </a:p>
        </p:txBody>
      </p:sp>
      <p:sp>
        <p:nvSpPr>
          <p:cNvPr id="15" name="">
            <a:extLst xmlns:a="http://schemas.openxmlformats.org/drawingml/2006/main">
              <a:ext uri="{FF2B5EF4-FFF2-40B4-BE49-F238E27FC236}">
                <a16:creationId xmlns:a16="http://schemas.microsoft.com/office/drawing/2014/main" id="{B9ED2293-2579-4927-B369-8EE3086F1D13}"/>
              </a:ext>
            </a:extLst>
          </p:cNvPr>
          <p:cNvSpPr>
            <a:spLocks xmlns:a="http://schemas.openxmlformats.org/drawingml/2006/main" noGrp="1"/>
          </p:cNvSpPr>
          <p:nvPr/>
        </p:nvSpPr>
        <p:spPr>
          <a:xfrm xmlns:a="http://schemas.openxmlformats.org/drawingml/2006/main">
            <a:off x="8382000" y="5715000"/>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y stays the same</a:t>
            </a:r>
          </a:p>
        </p:txBody>
      </p:sp>
    </p:spTree>
    <p:extLst>
      <p:ext uri="{BB962C8B-B14F-4D97-AF65-F5344CB8AC3E}">
        <p14:creationId xmlns:p14="http://schemas.microsoft.com/office/powerpoint/2010/main" val="694792508"/>
      </p:ext>
    </p:extLst>
  </p:cSld>
</p:sld>
</file>

<file path=ppt/slides/slide5.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94BCED3-D681-4BED-8A39-6B09021DA280}"/>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真實情境的數據會有差異</a:t>
            </a:r>
          </a:p>
        </p:txBody>
      </p:sp>
      <p:sp>
        <p:nvSpPr>
          <p:cNvPr id="2" name="">
            <a:extLst xmlns:a="http://schemas.openxmlformats.org/drawingml/2006/main">
              <a:ext uri="{FF2B5EF4-FFF2-40B4-BE49-F238E27FC236}">
                <a16:creationId xmlns:a16="http://schemas.microsoft.com/office/drawing/2014/main" id="{AEEC5D00-9FD1-419F-9069-97FF9C5A2C18}"/>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Data in real situations varies</a:t>
            </a:r>
          </a:p>
        </p:txBody>
      </p:sp>
      <p:sp>
        <p:nvSpPr>
          <p:cNvPr id="3" name="">
            <a:extLst xmlns:a="http://schemas.openxmlformats.org/drawingml/2006/main">
              <a:ext uri="{FF2B5EF4-FFF2-40B4-BE49-F238E27FC236}">
                <a16:creationId xmlns:a16="http://schemas.microsoft.com/office/drawing/2014/main" id="{E7C11BBE-8B67-453A-A2D5-2C032F4D6EEB}"/>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5</a:t>
            </a:r>
          </a:p>
        </p:txBody>
      </p:sp>
      <p:graphicFrame>
        <p:nvGraphicFramePr>
          <p:cNvPr id="15" name="Chart"/>
          <p:cNvGraphicFramePr/>
          <p:nvPr/>
        </p:nvGraphicFramePr>
        <p:xfrm>
          <a:off xmlns:a="http://schemas.openxmlformats.org/drawingml/2006/main" x="609600" y="1647825"/>
          <a:ext xmlns:a="http://schemas.openxmlformats.org/drawingml/2006/main" cx="6905625" cy="4286250"/>
        </p:xfrm>
        <a:graphic xmlns:a="http://schemas.openxmlformats.org/drawingml/2006/main">
          <a:graphicData uri="http://schemas.openxmlformats.org/drawingml/2006/chart">
            <c:chart xmlns:r="http://schemas.openxmlformats.org/officeDocument/2006/relationships" xmlns:c="http://schemas.openxmlformats.org/drawingml/2006/chart" r:id="R9c86b687b451473a"/>
          </a:graphicData>
        </a:graphic>
      </p:graphicFrame>
      <p:sp>
        <p:nvSpPr>
          <p:cNvPr id="5" name="">
            <a:extLst xmlns:a="http://schemas.openxmlformats.org/drawingml/2006/main">
              <a:ext uri="{FF2B5EF4-FFF2-40B4-BE49-F238E27FC236}">
                <a16:creationId xmlns:a16="http://schemas.microsoft.com/office/drawing/2014/main" id="{2FC8F212-160C-4897-A606-C25CA2A0304E}"/>
              </a:ext>
            </a:extLst>
          </p:cNvPr>
          <p:cNvSpPr>
            <a:spLocks xmlns:a="http://schemas.openxmlformats.org/drawingml/2006/main" noGrp="1"/>
          </p:cNvSpPr>
          <p:nvPr/>
        </p:nvSpPr>
        <p:spPr>
          <a:xfrm xmlns:a="http://schemas.openxmlformats.org/drawingml/2006/main">
            <a:off x="8020050" y="18288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每個點是一個觀察</a:t>
            </a:r>
          </a:p>
        </p:txBody>
      </p:sp>
      <p:sp>
        <p:nvSpPr>
          <p:cNvPr id="6" name="">
            <a:extLst xmlns:a="http://schemas.openxmlformats.org/drawingml/2006/main">
              <a:ext uri="{FF2B5EF4-FFF2-40B4-BE49-F238E27FC236}">
                <a16:creationId xmlns:a16="http://schemas.microsoft.com/office/drawing/2014/main" id="{AB2EDD67-0EFD-4E9B-9A83-CFBD53429DA0}"/>
              </a:ext>
            </a:extLst>
          </p:cNvPr>
          <p:cNvSpPr>
            <a:spLocks xmlns:a="http://schemas.openxmlformats.org/drawingml/2006/main" noGrp="1"/>
          </p:cNvSpPr>
          <p:nvPr/>
        </p:nvSpPr>
        <p:spPr>
          <a:xfrm xmlns:a="http://schemas.openxmlformats.org/drawingml/2006/main">
            <a:off x="8020050" y="22955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Each dot is an observation</a:t>
            </a:r>
          </a:p>
        </p:txBody>
      </p:sp>
      <p:sp>
        <p:nvSpPr>
          <p:cNvPr id="7" name="">
            <a:extLst xmlns:a="http://schemas.openxmlformats.org/drawingml/2006/main">
              <a:ext uri="{FF2B5EF4-FFF2-40B4-BE49-F238E27FC236}">
                <a16:creationId xmlns:a16="http://schemas.microsoft.com/office/drawing/2014/main" id="{9DCBCD52-0FA7-4BC2-B640-77923F319CE9}"/>
              </a:ext>
            </a:extLst>
          </p:cNvPr>
          <p:cNvSpPr>
            <a:spLocks xmlns:a="http://schemas.openxmlformats.org/drawingml/2006/main" noGrp="1"/>
          </p:cNvSpPr>
          <p:nvPr/>
        </p:nvSpPr>
        <p:spPr>
          <a:xfrm xmlns:a="http://schemas.openxmlformats.org/drawingml/2006/main">
            <a:off x="8020050" y="310515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各點是否在同一直線上？</a:t>
            </a:r>
          </a:p>
        </p:txBody>
      </p:sp>
      <p:sp>
        <p:nvSpPr>
          <p:cNvPr id="8" name="">
            <a:extLst xmlns:a="http://schemas.openxmlformats.org/drawingml/2006/main">
              <a:ext uri="{FF2B5EF4-FFF2-40B4-BE49-F238E27FC236}">
                <a16:creationId xmlns:a16="http://schemas.microsoft.com/office/drawing/2014/main" id="{EC49F744-1635-4C28-95DE-1FE20D7A47D4}"/>
              </a:ext>
            </a:extLst>
          </p:cNvPr>
          <p:cNvSpPr>
            <a:spLocks xmlns:a="http://schemas.openxmlformats.org/drawingml/2006/main" noGrp="1"/>
          </p:cNvSpPr>
          <p:nvPr/>
        </p:nvSpPr>
        <p:spPr>
          <a:xfrm xmlns:a="http://schemas.openxmlformats.org/drawingml/2006/main">
            <a:off x="8020050" y="357187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Do all the dots lie on one line?</a:t>
            </a:r>
          </a:p>
        </p:txBody>
      </p:sp>
      <p:sp>
        <p:nvSpPr>
          <p:cNvPr id="9" name="">
            <a:extLst xmlns:a="http://schemas.openxmlformats.org/drawingml/2006/main">
              <a:ext uri="{FF2B5EF4-FFF2-40B4-BE49-F238E27FC236}">
                <a16:creationId xmlns:a16="http://schemas.microsoft.com/office/drawing/2014/main" id="{689E6B8B-5568-497F-B656-FE72114E698E}"/>
              </a:ext>
            </a:extLst>
          </p:cNvPr>
          <p:cNvSpPr>
            <a:spLocks xmlns:a="http://schemas.openxmlformats.org/drawingml/2006/main" noGrp="1"/>
          </p:cNvSpPr>
          <p:nvPr/>
        </p:nvSpPr>
        <p:spPr>
          <a:xfrm xmlns:a="http://schemas.openxmlformats.org/drawingml/2006/main">
            <a:off x="8020050" y="44196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你看到甚麼趨勢？</a:t>
            </a:r>
          </a:p>
        </p:txBody>
      </p:sp>
      <p:sp>
        <p:nvSpPr>
          <p:cNvPr id="10" name="">
            <a:extLst xmlns:a="http://schemas.openxmlformats.org/drawingml/2006/main">
              <a:ext uri="{FF2B5EF4-FFF2-40B4-BE49-F238E27FC236}">
                <a16:creationId xmlns:a16="http://schemas.microsoft.com/office/drawing/2014/main" id="{17B3394E-EF69-484F-8C8C-7B8D427754A9}"/>
              </a:ext>
            </a:extLst>
          </p:cNvPr>
          <p:cNvSpPr>
            <a:spLocks xmlns:a="http://schemas.openxmlformats.org/drawingml/2006/main" noGrp="1"/>
          </p:cNvSpPr>
          <p:nvPr/>
        </p:nvSpPr>
        <p:spPr>
          <a:xfrm xmlns:a="http://schemas.openxmlformats.org/drawingml/2006/main">
            <a:off x="8020050" y="48863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What trend do you notice?</a:t>
            </a:r>
          </a:p>
        </p:txBody>
      </p:sp>
      <p:sp>
        <p:nvSpPr>
          <p:cNvPr id="11" name="">
            <a:extLst xmlns:a="http://schemas.openxmlformats.org/drawingml/2006/main">
              <a:ext uri="{FF2B5EF4-FFF2-40B4-BE49-F238E27FC236}">
                <a16:creationId xmlns:a16="http://schemas.microsoft.com/office/drawing/2014/main" id="{9251C5AC-F279-4D30-8606-40DC5845BA76}"/>
              </a:ext>
            </a:extLst>
          </p:cNvPr>
          <p:cNvSpPr>
            <a:spLocks xmlns:a="http://schemas.openxmlformats.org/drawingml/2006/main" noGrp="1"/>
          </p:cNvSpPr>
          <p:nvPr/>
        </p:nvSpPr>
        <p:spPr>
          <a:xfrm xmlns:a="http://schemas.openxmlformats.org/drawingml/2006/main">
            <a:off x="609600" y="61912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Heiti TC"/>
                <a:ea typeface="Heiti TC"/>
                <a:cs typeface="Heiti TC"/>
              </a:defRPr>
            </a:pPr>
            <a:r>
              <a:rPr sz="1350" b="0">
                <a:solidFill>
                  <a:srgbClr val="526B70"/>
                </a:solidFill>
                <a:latin typeface="Heiti TC"/>
                <a:ea typeface="Heiti TC"/>
                <a:cs typeface="Heiti TC"/>
              </a:rPr>
              <a:t>教學模擬數據 / Simulated classroom data</a:t>
            </a:r>
          </a:p>
        </p:txBody>
      </p:sp>
    </p:spTree>
    <p:extLst>
      <p:ext uri="{BB962C8B-B14F-4D97-AF65-F5344CB8AC3E}">
        <p14:creationId xmlns:p14="http://schemas.microsoft.com/office/powerpoint/2010/main" val="381958116"/>
      </p:ext>
    </p:extLst>
  </p:cSld>
</p:sld>
</file>

<file path=ppt/slides/slide6.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B9F5760-190A-4F51-801A-E141CE63A029}"/>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線性回歸與最佳擬合直線</a:t>
            </a:r>
          </a:p>
        </p:txBody>
      </p:sp>
      <p:sp>
        <p:nvSpPr>
          <p:cNvPr id="2" name="">
            <a:extLst xmlns:a="http://schemas.openxmlformats.org/drawingml/2006/main">
              <a:ext uri="{FF2B5EF4-FFF2-40B4-BE49-F238E27FC236}">
                <a16:creationId xmlns:a16="http://schemas.microsoft.com/office/drawing/2014/main" id="{8B0ED192-1DF8-4A8C-9832-453450C97CAC}"/>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Linear regression and the best-fit line</a:t>
            </a:r>
          </a:p>
        </p:txBody>
      </p:sp>
      <p:sp>
        <p:nvSpPr>
          <p:cNvPr id="3" name="">
            <a:extLst xmlns:a="http://schemas.openxmlformats.org/drawingml/2006/main">
              <a:ext uri="{FF2B5EF4-FFF2-40B4-BE49-F238E27FC236}">
                <a16:creationId xmlns:a16="http://schemas.microsoft.com/office/drawing/2014/main" id="{9D62B75F-037B-4C87-8A70-E18AC69E2DC7}"/>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6</a:t>
            </a:r>
          </a:p>
        </p:txBody>
      </p:sp>
      <p:graphicFrame>
        <p:nvGraphicFramePr>
          <p:cNvPr id="15" name="Chart"/>
          <p:cNvGraphicFramePr/>
          <p:nvPr/>
        </p:nvGraphicFramePr>
        <p:xfrm>
          <a:off xmlns:a="http://schemas.openxmlformats.org/drawingml/2006/main" x="609600" y="1647825"/>
          <a:ext xmlns:a="http://schemas.openxmlformats.org/drawingml/2006/main" cx="6905625" cy="4286250"/>
        </p:xfrm>
        <a:graphic xmlns:a="http://schemas.openxmlformats.org/drawingml/2006/main">
          <a:graphicData uri="http://schemas.openxmlformats.org/drawingml/2006/chart">
            <c:chart xmlns:r="http://schemas.openxmlformats.org/officeDocument/2006/relationships" xmlns:c="http://schemas.openxmlformats.org/drawingml/2006/chart" r:id="Rfbde1cea682f4647"/>
          </a:graphicData>
        </a:graphic>
      </p:graphicFrame>
      <p:sp>
        <p:nvSpPr>
          <p:cNvPr id="5" name="">
            <a:extLst xmlns:a="http://schemas.openxmlformats.org/drawingml/2006/main">
              <a:ext uri="{FF2B5EF4-FFF2-40B4-BE49-F238E27FC236}">
                <a16:creationId xmlns:a16="http://schemas.microsoft.com/office/drawing/2014/main" id="{BED7697F-9506-45C2-9AF4-E7BB376F23E7}"/>
              </a:ext>
            </a:extLst>
          </p:cNvPr>
          <p:cNvSpPr>
            <a:spLocks xmlns:a="http://schemas.openxmlformats.org/drawingml/2006/main" noGrp="1"/>
          </p:cNvSpPr>
          <p:nvPr/>
        </p:nvSpPr>
        <p:spPr>
          <a:xfrm xmlns:a="http://schemas.openxmlformats.org/drawingml/2006/main">
            <a:off x="8020050" y="18288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用一條直線概括整體趨勢</a:t>
            </a:r>
          </a:p>
        </p:txBody>
      </p:sp>
      <p:sp>
        <p:nvSpPr>
          <p:cNvPr id="6" name="">
            <a:extLst xmlns:a="http://schemas.openxmlformats.org/drawingml/2006/main">
              <a:ext uri="{FF2B5EF4-FFF2-40B4-BE49-F238E27FC236}">
                <a16:creationId xmlns:a16="http://schemas.microsoft.com/office/drawing/2014/main" id="{AD82D457-EE91-4AD5-B1F9-727DB0B40E65}"/>
              </a:ext>
            </a:extLst>
          </p:cNvPr>
          <p:cNvSpPr>
            <a:spLocks xmlns:a="http://schemas.openxmlformats.org/drawingml/2006/main" noGrp="1"/>
          </p:cNvSpPr>
          <p:nvPr/>
        </p:nvSpPr>
        <p:spPr>
          <a:xfrm xmlns:a="http://schemas.openxmlformats.org/drawingml/2006/main">
            <a:off x="8020050" y="22955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One line summarises the overall trend</a:t>
            </a:r>
          </a:p>
        </p:txBody>
      </p:sp>
      <p:sp>
        <p:nvSpPr>
          <p:cNvPr id="7" name="">
            <a:extLst xmlns:a="http://schemas.openxmlformats.org/drawingml/2006/main">
              <a:ext uri="{FF2B5EF4-FFF2-40B4-BE49-F238E27FC236}">
                <a16:creationId xmlns:a16="http://schemas.microsoft.com/office/drawing/2014/main" id="{DB49A7D1-0429-4BD5-84BF-B6C2033148D2}"/>
              </a:ext>
            </a:extLst>
          </p:cNvPr>
          <p:cNvSpPr>
            <a:spLocks xmlns:a="http://schemas.openxmlformats.org/drawingml/2006/main" noGrp="1"/>
          </p:cNvSpPr>
          <p:nvPr/>
        </p:nvSpPr>
        <p:spPr>
          <a:xfrm xmlns:a="http://schemas.openxmlformats.org/drawingml/2006/main">
            <a:off x="8020050" y="32385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它不必通過每一個點</a:t>
            </a:r>
          </a:p>
        </p:txBody>
      </p:sp>
      <p:sp>
        <p:nvSpPr>
          <p:cNvPr id="8" name="">
            <a:extLst xmlns:a="http://schemas.openxmlformats.org/drawingml/2006/main">
              <a:ext uri="{FF2B5EF4-FFF2-40B4-BE49-F238E27FC236}">
                <a16:creationId xmlns:a16="http://schemas.microsoft.com/office/drawing/2014/main" id="{4A6978EC-9EAE-49D4-899D-73DE7B4453EA}"/>
              </a:ext>
            </a:extLst>
          </p:cNvPr>
          <p:cNvSpPr>
            <a:spLocks xmlns:a="http://schemas.openxmlformats.org/drawingml/2006/main" noGrp="1"/>
          </p:cNvSpPr>
          <p:nvPr/>
        </p:nvSpPr>
        <p:spPr>
          <a:xfrm xmlns:a="http://schemas.openxmlformats.org/drawingml/2006/main">
            <a:off x="8020050" y="37052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It need not pass through every dot</a:t>
            </a:r>
          </a:p>
        </p:txBody>
      </p:sp>
      <p:sp>
        <p:nvSpPr>
          <p:cNvPr id="9" name="">
            <a:extLst xmlns:a="http://schemas.openxmlformats.org/drawingml/2006/main">
              <a:ext uri="{FF2B5EF4-FFF2-40B4-BE49-F238E27FC236}">
                <a16:creationId xmlns:a16="http://schemas.microsoft.com/office/drawing/2014/main" id="{15208FB1-BFD1-4396-AE3C-BE8A9E409963}"/>
              </a:ext>
            </a:extLst>
          </p:cNvPr>
          <p:cNvSpPr>
            <a:spLocks xmlns:a="http://schemas.openxmlformats.org/drawingml/2006/main" noGrp="1"/>
          </p:cNvSpPr>
          <p:nvPr/>
        </p:nvSpPr>
        <p:spPr>
          <a:xfrm xmlns:a="http://schemas.openxmlformats.org/drawingml/2006/main">
            <a:off x="8020050" y="4600575"/>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網頁會自動更新直線</a:t>
            </a:r>
          </a:p>
        </p:txBody>
      </p:sp>
      <p:sp>
        <p:nvSpPr>
          <p:cNvPr id="10" name="">
            <a:extLst xmlns:a="http://schemas.openxmlformats.org/drawingml/2006/main">
              <a:ext uri="{FF2B5EF4-FFF2-40B4-BE49-F238E27FC236}">
                <a16:creationId xmlns:a16="http://schemas.microsoft.com/office/drawing/2014/main" id="{913A8237-D9C7-4E64-A93C-9E40DC2797FE}"/>
              </a:ext>
            </a:extLst>
          </p:cNvPr>
          <p:cNvSpPr>
            <a:spLocks xmlns:a="http://schemas.openxmlformats.org/drawingml/2006/main" noGrp="1"/>
          </p:cNvSpPr>
          <p:nvPr/>
        </p:nvSpPr>
        <p:spPr>
          <a:xfrm xmlns:a="http://schemas.openxmlformats.org/drawingml/2006/main">
            <a:off x="8020050" y="5067300"/>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The page updates the line automatically</a:t>
            </a:r>
          </a:p>
        </p:txBody>
      </p:sp>
      <p:sp>
        <p:nvSpPr>
          <p:cNvPr id="11" name="">
            <a:extLst xmlns:a="http://schemas.openxmlformats.org/drawingml/2006/main">
              <a:ext uri="{FF2B5EF4-FFF2-40B4-BE49-F238E27FC236}">
                <a16:creationId xmlns:a16="http://schemas.microsoft.com/office/drawing/2014/main" id="{CC30512D-7C01-4554-A240-A5DA83B5B266}"/>
              </a:ext>
            </a:extLst>
          </p:cNvPr>
          <p:cNvSpPr>
            <a:spLocks xmlns:a="http://schemas.openxmlformats.org/drawingml/2006/main" noGrp="1"/>
          </p:cNvSpPr>
          <p:nvPr/>
        </p:nvSpPr>
        <p:spPr>
          <a:xfrm xmlns:a="http://schemas.openxmlformats.org/drawingml/2006/main">
            <a:off x="609600" y="61912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Heiti TC"/>
                <a:ea typeface="Heiti TC"/>
                <a:cs typeface="Heiti TC"/>
              </a:defRPr>
            </a:pPr>
            <a:r>
              <a:rPr sz="1350" b="0">
                <a:solidFill>
                  <a:srgbClr val="526B70"/>
                </a:solidFill>
                <a:latin typeface="Heiti TC"/>
                <a:ea typeface="Heiti TC"/>
                <a:cs typeface="Heiti TC"/>
              </a:rPr>
              <a:t>教學模擬數據 / Simulated classroom data</a:t>
            </a:r>
          </a:p>
        </p:txBody>
      </p:sp>
    </p:spTree>
    <p:extLst>
      <p:ext uri="{BB962C8B-B14F-4D97-AF65-F5344CB8AC3E}">
        <p14:creationId xmlns:p14="http://schemas.microsoft.com/office/powerpoint/2010/main" val="2014950798"/>
      </p:ext>
    </p:extLst>
  </p:cSld>
</p:sld>
</file>

<file path=ppt/slides/slide7.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746C1DB-A860-4F1C-B806-E756D4CF959C}"/>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加入新點，觀察直線</a:t>
            </a:r>
          </a:p>
        </p:txBody>
      </p:sp>
      <p:sp>
        <p:nvSpPr>
          <p:cNvPr id="2" name="">
            <a:extLst xmlns:a="http://schemas.openxmlformats.org/drawingml/2006/main">
              <a:ext uri="{FF2B5EF4-FFF2-40B4-BE49-F238E27FC236}">
                <a16:creationId xmlns:a16="http://schemas.microsoft.com/office/drawing/2014/main" id="{C3BC3C8C-4E9E-49D6-8707-44A3A4CBF6B5}"/>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Add points and observe the line</a:t>
            </a:r>
          </a:p>
        </p:txBody>
      </p:sp>
      <p:sp>
        <p:nvSpPr>
          <p:cNvPr id="3" name="">
            <a:extLst xmlns:a="http://schemas.openxmlformats.org/drawingml/2006/main">
              <a:ext uri="{FF2B5EF4-FFF2-40B4-BE49-F238E27FC236}">
                <a16:creationId xmlns:a16="http://schemas.microsoft.com/office/drawing/2014/main" id="{B5DA83A7-A25B-494D-9C72-EF8DD4D0F0D1}"/>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7</a:t>
            </a:r>
          </a:p>
        </p:txBody>
      </p:sp>
      <p:sp>
        <p:nvSpPr>
          <p:cNvPr id="4" name="">
            <a:extLst xmlns:a="http://schemas.openxmlformats.org/drawingml/2006/main">
              <a:ext uri="{FF2B5EF4-FFF2-40B4-BE49-F238E27FC236}">
                <a16:creationId xmlns:a16="http://schemas.microsoft.com/office/drawing/2014/main" id="{608F5465-E9C3-453B-B7B0-4A874BAB7B31}"/>
              </a:ext>
            </a:extLst>
          </p:cNvPr>
          <p:cNvSpPr>
            <a:spLocks xmlns:a="http://schemas.openxmlformats.org/drawingml/2006/main" noGrp="1"/>
          </p:cNvSpPr>
          <p:nvPr/>
        </p:nvSpPr>
        <p:spPr>
          <a:xfrm xmlns:a="http://schemas.openxmlformats.org/drawingml/2006/main">
            <a:off x="609600" y="171450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C43"/>
                </a:solidFill>
                <a:latin typeface="Heiti TC"/>
                <a:ea typeface="Heiti TC"/>
                <a:cs typeface="Heiti TC"/>
              </a:defRPr>
            </a:pPr>
            <a:r>
              <a:rPr sz="2625" b="0">
                <a:solidFill>
                  <a:srgbClr val="173C43"/>
                </a:solidFill>
                <a:latin typeface="Heiti TC"/>
                <a:ea typeface="Heiti TC"/>
                <a:cs typeface="Heiti TC"/>
              </a:rPr>
              <a:t>在圖上點一下，加入一個數據點</a:t>
            </a:r>
          </a:p>
        </p:txBody>
      </p:sp>
      <p:sp>
        <p:nvSpPr>
          <p:cNvPr id="5" name="">
            <a:extLst xmlns:a="http://schemas.openxmlformats.org/drawingml/2006/main">
              <a:ext uri="{FF2B5EF4-FFF2-40B4-BE49-F238E27FC236}">
                <a16:creationId xmlns:a16="http://schemas.microsoft.com/office/drawing/2014/main" id="{14F06F07-3B8C-456B-81C2-43B8D24EDF69}"/>
              </a:ext>
            </a:extLst>
          </p:cNvPr>
          <p:cNvSpPr>
            <a:spLocks xmlns:a="http://schemas.openxmlformats.org/drawingml/2006/main" noGrp="1"/>
          </p:cNvSpPr>
          <p:nvPr/>
        </p:nvSpPr>
        <p:spPr>
          <a:xfrm xmlns:a="http://schemas.openxmlformats.org/drawingml/2006/main">
            <a:off x="609600" y="21812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B70"/>
                </a:solidFill>
                <a:latin typeface="Arial"/>
                <a:ea typeface="Arial"/>
                <a:cs typeface="Arial"/>
              </a:defRPr>
            </a:pPr>
            <a:r>
              <a:rPr sz="2025" b="0">
                <a:solidFill>
                  <a:srgbClr val="526B70"/>
                </a:solidFill>
                <a:latin typeface="Arial"/>
                <a:ea typeface="Arial"/>
                <a:cs typeface="Arial"/>
              </a:rPr>
              <a:t>Click or tap the graph to add a data point</a:t>
            </a:r>
          </a:p>
        </p:txBody>
      </p:sp>
      <p:sp>
        <p:nvSpPr>
          <p:cNvPr id="6" name="">
            <a:extLst xmlns:a="http://schemas.openxmlformats.org/drawingml/2006/main">
              <a:ext uri="{FF2B5EF4-FFF2-40B4-BE49-F238E27FC236}">
                <a16:creationId xmlns:a16="http://schemas.microsoft.com/office/drawing/2014/main" id="{CC11CDEA-95B9-4285-B2B9-35FF31383D15}"/>
              </a:ext>
            </a:extLst>
          </p:cNvPr>
          <p:cNvSpPr>
            <a:spLocks xmlns:a="http://schemas.openxmlformats.org/drawingml/2006/main" noGrp="1"/>
          </p:cNvSpPr>
          <p:nvPr/>
        </p:nvSpPr>
        <p:spPr>
          <a:xfrm xmlns:a="http://schemas.openxmlformats.org/drawingml/2006/main">
            <a:off x="609600" y="295275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C43"/>
                </a:solidFill>
                <a:latin typeface="Heiti TC"/>
                <a:ea typeface="Heiti TC"/>
                <a:cs typeface="Heiti TC"/>
              </a:defRPr>
            </a:pPr>
            <a:r>
              <a:rPr sz="2625" b="0">
                <a:solidFill>
                  <a:srgbClr val="173C43"/>
                </a:solidFill>
                <a:latin typeface="Heiti TC"/>
                <a:ea typeface="Heiti TC"/>
                <a:cs typeface="Heiti TC"/>
              </a:rPr>
              <a:t>比較加入點前後的 m 和 c</a:t>
            </a:r>
          </a:p>
        </p:txBody>
      </p:sp>
      <p:sp>
        <p:nvSpPr>
          <p:cNvPr id="7" name="">
            <a:extLst xmlns:a="http://schemas.openxmlformats.org/drawingml/2006/main">
              <a:ext uri="{FF2B5EF4-FFF2-40B4-BE49-F238E27FC236}">
                <a16:creationId xmlns:a16="http://schemas.microsoft.com/office/drawing/2014/main" id="{BE64A215-8BE4-4C82-9850-C96E333D0388}"/>
              </a:ext>
            </a:extLst>
          </p:cNvPr>
          <p:cNvSpPr>
            <a:spLocks xmlns:a="http://schemas.openxmlformats.org/drawingml/2006/main" noGrp="1"/>
          </p:cNvSpPr>
          <p:nvPr/>
        </p:nvSpPr>
        <p:spPr>
          <a:xfrm xmlns:a="http://schemas.openxmlformats.org/drawingml/2006/main">
            <a:off x="609600" y="341947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B70"/>
                </a:solidFill>
                <a:latin typeface="Arial"/>
                <a:ea typeface="Arial"/>
                <a:cs typeface="Arial"/>
              </a:defRPr>
            </a:pPr>
            <a:r>
              <a:rPr sz="2025" b="0">
                <a:solidFill>
                  <a:srgbClr val="526B70"/>
                </a:solidFill>
                <a:latin typeface="Arial"/>
                <a:ea typeface="Arial"/>
                <a:cs typeface="Arial"/>
              </a:rPr>
              <a:t>Compare m and c before and after adding the point</a:t>
            </a:r>
          </a:p>
        </p:txBody>
      </p:sp>
      <p:sp>
        <p:nvSpPr>
          <p:cNvPr id="8" name="">
            <a:extLst xmlns:a="http://schemas.openxmlformats.org/drawingml/2006/main">
              <a:ext uri="{FF2B5EF4-FFF2-40B4-BE49-F238E27FC236}">
                <a16:creationId xmlns:a16="http://schemas.microsoft.com/office/drawing/2014/main" id="{4FC67AF8-95C9-482C-9EE0-DA4A3E422E4E}"/>
              </a:ext>
            </a:extLst>
          </p:cNvPr>
          <p:cNvSpPr>
            <a:spLocks xmlns:a="http://schemas.openxmlformats.org/drawingml/2006/main" noGrp="1"/>
          </p:cNvSpPr>
          <p:nvPr/>
        </p:nvSpPr>
        <p:spPr>
          <a:xfrm xmlns:a="http://schemas.openxmlformats.org/drawingml/2006/main">
            <a:off x="609600" y="419100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C43"/>
                </a:solidFill>
                <a:latin typeface="Heiti TC"/>
                <a:ea typeface="Heiti TC"/>
                <a:cs typeface="Heiti TC"/>
              </a:defRPr>
            </a:pPr>
            <a:r>
              <a:rPr sz="2625" b="0">
                <a:solidFill>
                  <a:srgbClr val="173C43"/>
                </a:solidFill>
                <a:latin typeface="Heiti TC"/>
                <a:ea typeface="Heiti TC"/>
                <a:cs typeface="Heiti TC"/>
              </a:rPr>
              <a:t>試一個遠離其他點的新點</a:t>
            </a:r>
          </a:p>
        </p:txBody>
      </p:sp>
      <p:sp>
        <p:nvSpPr>
          <p:cNvPr id="9" name="">
            <a:extLst xmlns:a="http://schemas.openxmlformats.org/drawingml/2006/main">
              <a:ext uri="{FF2B5EF4-FFF2-40B4-BE49-F238E27FC236}">
                <a16:creationId xmlns:a16="http://schemas.microsoft.com/office/drawing/2014/main" id="{04883810-44AF-4DFF-839F-5E48389E9655}"/>
              </a:ext>
            </a:extLst>
          </p:cNvPr>
          <p:cNvSpPr>
            <a:spLocks xmlns:a="http://schemas.openxmlformats.org/drawingml/2006/main" noGrp="1"/>
          </p:cNvSpPr>
          <p:nvPr/>
        </p:nvSpPr>
        <p:spPr>
          <a:xfrm xmlns:a="http://schemas.openxmlformats.org/drawingml/2006/main">
            <a:off x="609600" y="46577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B70"/>
                </a:solidFill>
                <a:latin typeface="Arial"/>
                <a:ea typeface="Arial"/>
                <a:cs typeface="Arial"/>
              </a:defRPr>
            </a:pPr>
            <a:r>
              <a:rPr sz="2025" b="0">
                <a:solidFill>
                  <a:srgbClr val="526B70"/>
                </a:solidFill>
                <a:latin typeface="Arial"/>
                <a:ea typeface="Arial"/>
                <a:cs typeface="Arial"/>
              </a:rPr>
              <a:t>Try a point far from the other dots</a:t>
            </a:r>
          </a:p>
        </p:txBody>
      </p:sp>
      <p:sp>
        <p:nvSpPr>
          <p:cNvPr id="10" name="">
            <a:extLst xmlns:a="http://schemas.openxmlformats.org/drawingml/2006/main">
              <a:ext uri="{FF2B5EF4-FFF2-40B4-BE49-F238E27FC236}">
                <a16:creationId xmlns:a16="http://schemas.microsoft.com/office/drawing/2014/main" id="{8676299C-58AC-4437-9629-2F2D39A0DB01}"/>
              </a:ext>
            </a:extLst>
          </p:cNvPr>
          <p:cNvSpPr>
            <a:spLocks xmlns:a="http://schemas.openxmlformats.org/drawingml/2006/main" noGrp="1"/>
          </p:cNvSpPr>
          <p:nvPr/>
        </p:nvSpPr>
        <p:spPr>
          <a:xfrm xmlns:a="http://schemas.openxmlformats.org/drawingml/2006/main">
            <a:off x="609600" y="5362575"/>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3C43"/>
                </a:solidFill>
                <a:latin typeface="Heiti TC"/>
                <a:ea typeface="Heiti TC"/>
                <a:cs typeface="Heiti TC"/>
              </a:defRPr>
            </a:pPr>
            <a:r>
              <a:rPr sz="2025" b="0">
                <a:solidFill>
                  <a:srgbClr val="173C43"/>
                </a:solidFill>
                <a:latin typeface="Heiti TC"/>
                <a:ea typeface="Heiti TC"/>
                <a:cs typeface="Heiti TC"/>
              </a:rPr>
              <a:t>先預測，再觀察。把結果寫在工作紙上。</a:t>
            </a:r>
          </a:p>
        </p:txBody>
      </p:sp>
      <p:sp>
        <p:nvSpPr>
          <p:cNvPr id="11" name="">
            <a:extLst xmlns:a="http://schemas.openxmlformats.org/drawingml/2006/main">
              <a:ext uri="{FF2B5EF4-FFF2-40B4-BE49-F238E27FC236}">
                <a16:creationId xmlns:a16="http://schemas.microsoft.com/office/drawing/2014/main" id="{3A2641F9-5C3E-48A4-9CA5-610CC995A2EE}"/>
              </a:ext>
            </a:extLst>
          </p:cNvPr>
          <p:cNvSpPr>
            <a:spLocks xmlns:a="http://schemas.openxmlformats.org/drawingml/2006/main" noGrp="1"/>
          </p:cNvSpPr>
          <p:nvPr/>
        </p:nvSpPr>
        <p:spPr>
          <a:xfrm xmlns:a="http://schemas.openxmlformats.org/drawingml/2006/main">
            <a:off x="609600" y="582930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Predict first, then observe. Record the result on your worksheet.</a:t>
            </a:r>
          </a:p>
        </p:txBody>
      </p:sp>
    </p:spTree>
    <p:extLst>
      <p:ext uri="{BB962C8B-B14F-4D97-AF65-F5344CB8AC3E}">
        <p14:creationId xmlns:p14="http://schemas.microsoft.com/office/powerpoint/2010/main" val="732136842"/>
      </p:ext>
    </p:extLst>
  </p:cSld>
</p:sld>
</file>

<file path=ppt/slides/slide8.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8E9C03A-0120-42B7-B529-DDEDCAC7787C}"/>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每天溫習時間與考試成績</a:t>
            </a:r>
          </a:p>
        </p:txBody>
      </p:sp>
      <p:sp>
        <p:nvSpPr>
          <p:cNvPr id="2" name="">
            <a:extLst xmlns:a="http://schemas.openxmlformats.org/drawingml/2006/main">
              <a:ext uri="{FF2B5EF4-FFF2-40B4-BE49-F238E27FC236}">
                <a16:creationId xmlns:a16="http://schemas.microsoft.com/office/drawing/2014/main" id="{A6F75D8A-0F00-456B-A0AB-187188A281FA}"/>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Daily study time and exam score</a:t>
            </a:r>
          </a:p>
        </p:txBody>
      </p:sp>
      <p:sp>
        <p:nvSpPr>
          <p:cNvPr id="3" name="">
            <a:extLst xmlns:a="http://schemas.openxmlformats.org/drawingml/2006/main">
              <a:ext uri="{FF2B5EF4-FFF2-40B4-BE49-F238E27FC236}">
                <a16:creationId xmlns:a16="http://schemas.microsoft.com/office/drawing/2014/main" id="{5A77516B-4500-4592-AA24-EAE64B182087}"/>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8</a:t>
            </a:r>
          </a:p>
        </p:txBody>
      </p:sp>
      <p:graphicFrame>
        <p:nvGraphicFramePr>
          <p:cNvPr id="15" name="Chart"/>
          <p:cNvGraphicFramePr/>
          <p:nvPr/>
        </p:nvGraphicFramePr>
        <p:xfrm>
          <a:off xmlns:a="http://schemas.openxmlformats.org/drawingml/2006/main" x="609600" y="1647825"/>
          <a:ext xmlns:a="http://schemas.openxmlformats.org/drawingml/2006/main" cx="6905625" cy="4286250"/>
        </p:xfrm>
        <a:graphic xmlns:a="http://schemas.openxmlformats.org/drawingml/2006/main">
          <a:graphicData uri="http://schemas.openxmlformats.org/drawingml/2006/chart">
            <c:chart xmlns:r="http://schemas.openxmlformats.org/officeDocument/2006/relationships" xmlns:c="http://schemas.openxmlformats.org/drawingml/2006/chart" r:id="R4b9cf690c3614ac5"/>
          </a:graphicData>
        </a:graphic>
      </p:graphicFrame>
      <p:sp>
        <p:nvSpPr>
          <p:cNvPr id="5" name="">
            <a:extLst xmlns:a="http://schemas.openxmlformats.org/drawingml/2006/main">
              <a:ext uri="{FF2B5EF4-FFF2-40B4-BE49-F238E27FC236}">
                <a16:creationId xmlns:a16="http://schemas.microsoft.com/office/drawing/2014/main" id="{FCE16414-0839-4592-8BD2-2F293B27E67B}"/>
              </a:ext>
            </a:extLst>
          </p:cNvPr>
          <p:cNvSpPr>
            <a:spLocks xmlns:a="http://schemas.openxmlformats.org/drawingml/2006/main" noGrp="1"/>
          </p:cNvSpPr>
          <p:nvPr/>
        </p:nvSpPr>
        <p:spPr>
          <a:xfrm xmlns:a="http://schemas.openxmlformats.org/drawingml/2006/main">
            <a:off x="8020050" y="1819275"/>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3C43"/>
                </a:solidFill>
                <a:latin typeface="Heiti TC"/>
                <a:ea typeface="Heiti TC"/>
                <a:cs typeface="Heiti TC"/>
              </a:defRPr>
            </a:pPr>
            <a:r>
              <a:rPr sz="2100" b="0">
                <a:solidFill>
                  <a:srgbClr val="173C43"/>
                </a:solidFill>
                <a:latin typeface="Heiti TC"/>
                <a:ea typeface="Heiti TC"/>
                <a:cs typeface="Heiti TC"/>
              </a:rPr>
              <a:t>3.5 小時的預測成績？</a:t>
            </a:r>
          </a:p>
        </p:txBody>
      </p:sp>
      <p:sp>
        <p:nvSpPr>
          <p:cNvPr id="6" name="">
            <a:extLst xmlns:a="http://schemas.openxmlformats.org/drawingml/2006/main">
              <a:ext uri="{FF2B5EF4-FFF2-40B4-BE49-F238E27FC236}">
                <a16:creationId xmlns:a16="http://schemas.microsoft.com/office/drawing/2014/main" id="{1189F653-61E1-4AB6-9859-C423299EDE05}"/>
              </a:ext>
            </a:extLst>
          </p:cNvPr>
          <p:cNvSpPr>
            <a:spLocks xmlns:a="http://schemas.openxmlformats.org/drawingml/2006/main" noGrp="1"/>
          </p:cNvSpPr>
          <p:nvPr/>
        </p:nvSpPr>
        <p:spPr>
          <a:xfrm xmlns:a="http://schemas.openxmlformats.org/drawingml/2006/main">
            <a:off x="8020050" y="2286000"/>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Score for 3.5 hours a day?</a:t>
            </a:r>
          </a:p>
        </p:txBody>
      </p:sp>
      <p:sp>
        <p:nvSpPr>
          <p:cNvPr id="7" name="">
            <a:extLst xmlns:a="http://schemas.openxmlformats.org/drawingml/2006/main">
              <a:ext uri="{FF2B5EF4-FFF2-40B4-BE49-F238E27FC236}">
                <a16:creationId xmlns:a16="http://schemas.microsoft.com/office/drawing/2014/main" id="{0A1D711A-1D59-47D5-B1C2-9FFD9B7EC15A}"/>
              </a:ext>
            </a:extLst>
          </p:cNvPr>
          <p:cNvSpPr>
            <a:spLocks xmlns:a="http://schemas.openxmlformats.org/drawingml/2006/main" noGrp="1"/>
          </p:cNvSpPr>
          <p:nvPr/>
        </p:nvSpPr>
        <p:spPr>
          <a:xfrm xmlns:a="http://schemas.openxmlformats.org/drawingml/2006/main">
            <a:off x="8020050" y="33909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先畫直線，再估計</a:t>
            </a:r>
          </a:p>
        </p:txBody>
      </p:sp>
      <p:sp>
        <p:nvSpPr>
          <p:cNvPr id="8" name="">
            <a:extLst xmlns:a="http://schemas.openxmlformats.org/drawingml/2006/main">
              <a:ext uri="{FF2B5EF4-FFF2-40B4-BE49-F238E27FC236}">
                <a16:creationId xmlns:a16="http://schemas.microsoft.com/office/drawing/2014/main" id="{A8262DF9-6BBF-4981-BCC1-7B38FF546E18}"/>
              </a:ext>
            </a:extLst>
          </p:cNvPr>
          <p:cNvSpPr>
            <a:spLocks xmlns:a="http://schemas.openxmlformats.org/drawingml/2006/main" noGrp="1"/>
          </p:cNvSpPr>
          <p:nvPr/>
        </p:nvSpPr>
        <p:spPr>
          <a:xfrm xmlns:a="http://schemas.openxmlformats.org/drawingml/2006/main">
            <a:off x="8020050" y="38576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Draw your line, then estimate</a:t>
            </a:r>
          </a:p>
        </p:txBody>
      </p:sp>
      <p:sp>
        <p:nvSpPr>
          <p:cNvPr id="9" name="">
            <a:extLst xmlns:a="http://schemas.openxmlformats.org/drawingml/2006/main">
              <a:ext uri="{FF2B5EF4-FFF2-40B4-BE49-F238E27FC236}">
                <a16:creationId xmlns:a16="http://schemas.microsoft.com/office/drawing/2014/main" id="{AF57AAAD-F41D-48C4-A37C-BDDF2F52E58B}"/>
              </a:ext>
            </a:extLst>
          </p:cNvPr>
          <p:cNvSpPr>
            <a:spLocks xmlns:a="http://schemas.openxmlformats.org/drawingml/2006/main" noGrp="1"/>
          </p:cNvSpPr>
          <p:nvPr/>
        </p:nvSpPr>
        <p:spPr>
          <a:xfrm xmlns:a="http://schemas.openxmlformats.org/drawingml/2006/main">
            <a:off x="8020050" y="481965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3C43"/>
                </a:solidFill>
                <a:latin typeface="Heiti TC"/>
                <a:ea typeface="Heiti TC"/>
                <a:cs typeface="Heiti TC"/>
              </a:defRPr>
            </a:pPr>
            <a:r>
              <a:rPr sz="2100" b="0">
                <a:solidFill>
                  <a:srgbClr val="173C43"/>
                </a:solidFill>
                <a:latin typeface="Heiti TC"/>
                <a:ea typeface="Heiti TC"/>
                <a:cs typeface="Heiti TC"/>
              </a:rPr>
              <a:t>10 小時的預測可信嗎？</a:t>
            </a:r>
          </a:p>
        </p:txBody>
      </p:sp>
      <p:sp>
        <p:nvSpPr>
          <p:cNvPr id="10" name="">
            <a:extLst xmlns:a="http://schemas.openxmlformats.org/drawingml/2006/main">
              <a:ext uri="{FF2B5EF4-FFF2-40B4-BE49-F238E27FC236}">
                <a16:creationId xmlns:a16="http://schemas.microsoft.com/office/drawing/2014/main" id="{CFC929E6-E84B-4CFE-A44B-1BAB7F8BCABC}"/>
              </a:ext>
            </a:extLst>
          </p:cNvPr>
          <p:cNvSpPr>
            <a:spLocks xmlns:a="http://schemas.openxmlformats.org/drawingml/2006/main" noGrp="1"/>
          </p:cNvSpPr>
          <p:nvPr/>
        </p:nvSpPr>
        <p:spPr>
          <a:xfrm xmlns:a="http://schemas.openxmlformats.org/drawingml/2006/main">
            <a:off x="8020050" y="528637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How reliable is a prediction for 10 hours?</a:t>
            </a:r>
          </a:p>
        </p:txBody>
      </p:sp>
      <p:sp>
        <p:nvSpPr>
          <p:cNvPr id="11" name="">
            <a:extLst xmlns:a="http://schemas.openxmlformats.org/drawingml/2006/main">
              <a:ext uri="{FF2B5EF4-FFF2-40B4-BE49-F238E27FC236}">
                <a16:creationId xmlns:a16="http://schemas.microsoft.com/office/drawing/2014/main" id="{A2D69B9D-0595-4AAA-AFEB-E79FF880EE3F}"/>
              </a:ext>
            </a:extLst>
          </p:cNvPr>
          <p:cNvSpPr>
            <a:spLocks xmlns:a="http://schemas.openxmlformats.org/drawingml/2006/main" noGrp="1"/>
          </p:cNvSpPr>
          <p:nvPr/>
        </p:nvSpPr>
        <p:spPr>
          <a:xfrm xmlns:a="http://schemas.openxmlformats.org/drawingml/2006/main">
            <a:off x="609600" y="6191250"/>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Heiti TC"/>
                <a:ea typeface="Heiti TC"/>
                <a:cs typeface="Heiti TC"/>
              </a:defRPr>
            </a:pPr>
            <a:r>
              <a:rPr sz="1350" b="0">
                <a:solidFill>
                  <a:srgbClr val="526B70"/>
                </a:solidFill>
                <a:latin typeface="Heiti TC"/>
                <a:ea typeface="Heiti TC"/>
                <a:cs typeface="Heiti TC"/>
              </a:rPr>
              <a:t>不同學生的模擬數據 / Simulated data for different students</a:t>
            </a:r>
          </a:p>
        </p:txBody>
      </p:sp>
    </p:spTree>
    <p:extLst>
      <p:ext uri="{BB962C8B-B14F-4D97-AF65-F5344CB8AC3E}">
        <p14:creationId xmlns:p14="http://schemas.microsoft.com/office/powerpoint/2010/main" val="651977194"/>
      </p:ext>
    </p:extLst>
  </p:cSld>
</p:sld>
</file>

<file path=ppt/slides/slide9.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4CA3DA0-0AB8-4C20-894E-CB8ACF3FDD5F}"/>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預測結果與模型的限制</a:t>
            </a:r>
          </a:p>
        </p:txBody>
      </p:sp>
      <p:sp>
        <p:nvSpPr>
          <p:cNvPr id="2" name="">
            <a:extLst xmlns:a="http://schemas.openxmlformats.org/drawingml/2006/main">
              <a:ext uri="{FF2B5EF4-FFF2-40B4-BE49-F238E27FC236}">
                <a16:creationId xmlns:a16="http://schemas.microsoft.com/office/drawing/2014/main" id="{F1F425B4-B1B6-43BF-B2C2-0FE7A094373E}"/>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Prediction results and limits of the model</a:t>
            </a:r>
          </a:p>
        </p:txBody>
      </p:sp>
      <p:sp>
        <p:nvSpPr>
          <p:cNvPr id="3" name="">
            <a:extLst xmlns:a="http://schemas.openxmlformats.org/drawingml/2006/main">
              <a:ext uri="{FF2B5EF4-FFF2-40B4-BE49-F238E27FC236}">
                <a16:creationId xmlns:a16="http://schemas.microsoft.com/office/drawing/2014/main" id="{7E31F2CB-3208-4CAB-B2D4-CD47C3034365}"/>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9</a:t>
            </a:r>
          </a:p>
        </p:txBody>
      </p:sp>
      <p:sp>
        <p:nvSpPr>
          <p:cNvPr id="4" name="">
            <a:extLst xmlns:a="http://schemas.openxmlformats.org/drawingml/2006/main">
              <a:ext uri="{FF2B5EF4-FFF2-40B4-BE49-F238E27FC236}">
                <a16:creationId xmlns:a16="http://schemas.microsoft.com/office/drawing/2014/main" id="{D533A1DA-B729-4A76-ADCF-561AFEE81438}"/>
              </a:ext>
            </a:extLst>
          </p:cNvPr>
          <p:cNvSpPr>
            <a:spLocks xmlns:a="http://schemas.openxmlformats.org/drawingml/2006/main" noGrp="1"/>
          </p:cNvSpPr>
          <p:nvPr/>
        </p:nvSpPr>
        <p:spPr>
          <a:xfrm xmlns:a="http://schemas.openxmlformats.org/drawingml/2006/main">
            <a:off x="609600" y="1657350"/>
            <a:ext cx="1047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086C61"/>
                </a:solidFill>
                <a:latin typeface="Arial"/>
                <a:ea typeface="Arial"/>
                <a:cs typeface="Arial"/>
              </a:defRPr>
            </a:pPr>
            <a:r>
              <a:rPr sz="4350" b="1">
                <a:solidFill>
                  <a:srgbClr val="086C61"/>
                </a:solidFill>
                <a:latin typeface="Arial"/>
                <a:ea typeface="Arial"/>
                <a:cs typeface="Arial"/>
              </a:rPr>
              <a:t>y = 2x + 50</a:t>
            </a:r>
          </a:p>
        </p:txBody>
      </p:sp>
      <p:sp>
        <p:nvSpPr>
          <p:cNvPr id="5" name="">
            <a:extLst xmlns:a="http://schemas.openxmlformats.org/drawingml/2006/main">
              <a:ext uri="{FF2B5EF4-FFF2-40B4-BE49-F238E27FC236}">
                <a16:creationId xmlns:a16="http://schemas.microsoft.com/office/drawing/2014/main" id="{32C3DB2E-CEA0-42C8-8F16-F000C677E385}"/>
              </a:ext>
            </a:extLst>
          </p:cNvPr>
          <p:cNvSpPr>
            <a:spLocks xmlns:a="http://schemas.openxmlformats.org/drawingml/2006/main" noGrp="1"/>
          </p:cNvSpPr>
          <p:nvPr/>
        </p:nvSpPr>
        <p:spPr>
          <a:xfrm xmlns:a="http://schemas.openxmlformats.org/drawingml/2006/main">
            <a:off x="609600" y="2743200"/>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3C43"/>
                </a:solidFill>
                <a:latin typeface="Heiti TC"/>
                <a:ea typeface="Heiti TC"/>
                <a:cs typeface="Heiti TC"/>
              </a:defRPr>
            </a:pPr>
            <a:r>
              <a:rPr sz="2025" b="0">
                <a:solidFill>
                  <a:srgbClr val="173C43"/>
                </a:solidFill>
                <a:latin typeface="Heiti TC"/>
                <a:ea typeface="Heiti TC"/>
                <a:cs typeface="Heiti TC"/>
              </a:rPr>
              <a:t>m = 2：模型中每小時約多 2 分</a:t>
            </a:r>
          </a:p>
        </p:txBody>
      </p:sp>
      <p:sp>
        <p:nvSpPr>
          <p:cNvPr id="6" name="">
            <a:extLst xmlns:a="http://schemas.openxmlformats.org/drawingml/2006/main">
              <a:ext uri="{FF2B5EF4-FFF2-40B4-BE49-F238E27FC236}">
                <a16:creationId xmlns:a16="http://schemas.microsoft.com/office/drawing/2014/main" id="{3C20D341-4874-4483-87B8-FF506CB515D7}"/>
              </a:ext>
            </a:extLst>
          </p:cNvPr>
          <p:cNvSpPr>
            <a:spLocks xmlns:a="http://schemas.openxmlformats.org/drawingml/2006/main" noGrp="1"/>
          </p:cNvSpPr>
          <p:nvPr/>
        </p:nvSpPr>
        <p:spPr>
          <a:xfrm xmlns:a="http://schemas.openxmlformats.org/drawingml/2006/main">
            <a:off x="609600" y="3209925"/>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m = 2: about 2 more marks per extra hour</a:t>
            </a:r>
          </a:p>
        </p:txBody>
      </p:sp>
      <p:sp>
        <p:nvSpPr>
          <p:cNvPr id="7" name="">
            <a:extLst xmlns:a="http://schemas.openxmlformats.org/drawingml/2006/main">
              <a:ext uri="{FF2B5EF4-FFF2-40B4-BE49-F238E27FC236}">
                <a16:creationId xmlns:a16="http://schemas.microsoft.com/office/drawing/2014/main" id="{3F801363-A6FC-408E-81C0-9E781EEA3E3E}"/>
              </a:ext>
            </a:extLst>
          </p:cNvPr>
          <p:cNvSpPr>
            <a:spLocks xmlns:a="http://schemas.openxmlformats.org/drawingml/2006/main" noGrp="1"/>
          </p:cNvSpPr>
          <p:nvPr/>
        </p:nvSpPr>
        <p:spPr>
          <a:xfrm xmlns:a="http://schemas.openxmlformats.org/drawingml/2006/main">
            <a:off x="6381750" y="2743200"/>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3C43"/>
                </a:solidFill>
                <a:latin typeface="Heiti TC"/>
                <a:ea typeface="Heiti TC"/>
                <a:cs typeface="Heiti TC"/>
              </a:defRPr>
            </a:pPr>
            <a:r>
              <a:rPr sz="2025" b="0">
                <a:solidFill>
                  <a:srgbClr val="173C43"/>
                </a:solidFill>
                <a:latin typeface="Heiti TC"/>
                <a:ea typeface="Heiti TC"/>
                <a:cs typeface="Heiti TC"/>
              </a:rPr>
              <a:t>c = 50：0 小時時估計的成績</a:t>
            </a:r>
          </a:p>
        </p:txBody>
      </p:sp>
      <p:sp>
        <p:nvSpPr>
          <p:cNvPr id="8" name="">
            <a:extLst xmlns:a="http://schemas.openxmlformats.org/drawingml/2006/main">
              <a:ext uri="{FF2B5EF4-FFF2-40B4-BE49-F238E27FC236}">
                <a16:creationId xmlns:a16="http://schemas.microsoft.com/office/drawing/2014/main" id="{A4E8B400-2D01-419B-90C2-E61D8F9DCB65}"/>
              </a:ext>
            </a:extLst>
          </p:cNvPr>
          <p:cNvSpPr>
            <a:spLocks xmlns:a="http://schemas.openxmlformats.org/drawingml/2006/main" noGrp="1"/>
          </p:cNvSpPr>
          <p:nvPr/>
        </p:nvSpPr>
        <p:spPr>
          <a:xfrm xmlns:a="http://schemas.openxmlformats.org/drawingml/2006/main">
            <a:off x="6381750" y="3209925"/>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c = 50: estimated score at 0 hours</a:t>
            </a:r>
          </a:p>
        </p:txBody>
      </p:sp>
      <p:sp>
        <p:nvSpPr>
          <p:cNvPr id="9" name="">
            <a:extLst xmlns:a="http://schemas.openxmlformats.org/drawingml/2006/main">
              <a:ext uri="{FF2B5EF4-FFF2-40B4-BE49-F238E27FC236}">
                <a16:creationId xmlns:a16="http://schemas.microsoft.com/office/drawing/2014/main" id="{8AB9928E-161E-4ECB-AF9B-14A602AAB5C1}"/>
              </a:ext>
            </a:extLst>
          </p:cNvPr>
          <p:cNvSpPr>
            <a:spLocks xmlns:a="http://schemas.openxmlformats.org/drawingml/2006/main" noGrp="1"/>
          </p:cNvSpPr>
          <p:nvPr/>
        </p:nvSpPr>
        <p:spPr>
          <a:xfrm xmlns:a="http://schemas.openxmlformats.org/drawingml/2006/main">
            <a:off x="609600" y="3952875"/>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3.5 小時：約 57 分</a:t>
            </a:r>
          </a:p>
        </p:txBody>
      </p:sp>
      <p:sp>
        <p:nvSpPr>
          <p:cNvPr id="10" name="">
            <a:extLst xmlns:a="http://schemas.openxmlformats.org/drawingml/2006/main">
              <a:ext uri="{FF2B5EF4-FFF2-40B4-BE49-F238E27FC236}">
                <a16:creationId xmlns:a16="http://schemas.microsoft.com/office/drawing/2014/main" id="{BDF9EB15-F4CF-4A0E-9199-03D2F20615D8}"/>
              </a:ext>
            </a:extLst>
          </p:cNvPr>
          <p:cNvSpPr>
            <a:spLocks xmlns:a="http://schemas.openxmlformats.org/drawingml/2006/main" noGrp="1"/>
          </p:cNvSpPr>
          <p:nvPr/>
        </p:nvSpPr>
        <p:spPr>
          <a:xfrm xmlns:a="http://schemas.openxmlformats.org/drawingml/2006/main">
            <a:off x="609600" y="4419600"/>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3.5 hours: about 57 marks</a:t>
            </a:r>
          </a:p>
        </p:txBody>
      </p:sp>
      <p:sp>
        <p:nvSpPr>
          <p:cNvPr id="11" name="">
            <a:extLst xmlns:a="http://schemas.openxmlformats.org/drawingml/2006/main">
              <a:ext uri="{FF2B5EF4-FFF2-40B4-BE49-F238E27FC236}">
                <a16:creationId xmlns:a16="http://schemas.microsoft.com/office/drawing/2014/main" id="{AB530495-445B-4D96-8619-FD319876366B}"/>
              </a:ext>
            </a:extLst>
          </p:cNvPr>
          <p:cNvSpPr>
            <a:spLocks xmlns:a="http://schemas.openxmlformats.org/drawingml/2006/main" noGrp="1"/>
          </p:cNvSpPr>
          <p:nvPr/>
        </p:nvSpPr>
        <p:spPr>
          <a:xfrm xmlns:a="http://schemas.openxmlformats.org/drawingml/2006/main">
            <a:off x="6381750" y="3952875"/>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10 小時：約 70 分</a:t>
            </a:r>
          </a:p>
        </p:txBody>
      </p:sp>
      <p:sp>
        <p:nvSpPr>
          <p:cNvPr id="12" name="">
            <a:extLst xmlns:a="http://schemas.openxmlformats.org/drawingml/2006/main">
              <a:ext uri="{FF2B5EF4-FFF2-40B4-BE49-F238E27FC236}">
                <a16:creationId xmlns:a16="http://schemas.microsoft.com/office/drawing/2014/main" id="{4F2D89CE-A2B4-4D33-84D2-9B6C4B8B612A}"/>
              </a:ext>
            </a:extLst>
          </p:cNvPr>
          <p:cNvSpPr>
            <a:spLocks xmlns:a="http://schemas.openxmlformats.org/drawingml/2006/main" noGrp="1"/>
          </p:cNvSpPr>
          <p:nvPr/>
        </p:nvSpPr>
        <p:spPr>
          <a:xfrm xmlns:a="http://schemas.openxmlformats.org/drawingml/2006/main">
            <a:off x="6381750" y="4419600"/>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10 hours: about 70 marks</a:t>
            </a:r>
          </a:p>
        </p:txBody>
      </p:sp>
      <p:sp>
        <p:nvSpPr>
          <p:cNvPr id="13" name="">
            <a:extLst xmlns:a="http://schemas.openxmlformats.org/drawingml/2006/main">
              <a:ext uri="{FF2B5EF4-FFF2-40B4-BE49-F238E27FC236}">
                <a16:creationId xmlns:a16="http://schemas.microsoft.com/office/drawing/2014/main" id="{CE10EDA2-02C3-46F2-BCA7-323BC18C4610}"/>
              </a:ext>
            </a:extLst>
          </p:cNvPr>
          <p:cNvSpPr>
            <a:spLocks xmlns:a="http://schemas.openxmlformats.org/drawingml/2006/main" noGrp="1"/>
          </p:cNvSpPr>
          <p:nvPr/>
        </p:nvSpPr>
        <p:spPr>
          <a:xfrm xmlns:a="http://schemas.openxmlformats.org/drawingml/2006/main">
            <a:off x="609600" y="5162550"/>
            <a:ext cx="1076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3C43"/>
                </a:solidFill>
                <a:latin typeface="Heiti TC"/>
                <a:ea typeface="Heiti TC"/>
                <a:cs typeface="Heiti TC"/>
              </a:defRPr>
            </a:pPr>
            <a:r>
              <a:rPr sz="1950" b="0">
                <a:solidFill>
                  <a:srgbClr val="173C43"/>
                </a:solidFill>
                <a:latin typeface="Heiti TC"/>
                <a:ea typeface="Heiti TC"/>
                <a:cs typeface="Heiti TC"/>
              </a:rPr>
              <a:t>10 超出觀察範圍，可能較不可靠。趨勢不保證個別結果。</a:t>
            </a:r>
          </a:p>
        </p:txBody>
      </p:sp>
      <p:sp>
        <p:nvSpPr>
          <p:cNvPr id="14" name="">
            <a:extLst xmlns:a="http://schemas.openxmlformats.org/drawingml/2006/main">
              <a:ext uri="{FF2B5EF4-FFF2-40B4-BE49-F238E27FC236}">
                <a16:creationId xmlns:a16="http://schemas.microsoft.com/office/drawing/2014/main" id="{E40AFA05-865F-4C9D-A46A-228C271CEF62}"/>
              </a:ext>
            </a:extLst>
          </p:cNvPr>
          <p:cNvSpPr>
            <a:spLocks xmlns:a="http://schemas.openxmlformats.org/drawingml/2006/main" noGrp="1"/>
          </p:cNvSpPr>
          <p:nvPr/>
        </p:nvSpPr>
        <p:spPr>
          <a:xfrm xmlns:a="http://schemas.openxmlformats.org/drawingml/2006/main">
            <a:off x="609600" y="5629275"/>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10 is outside the observed range. The trend does not guarantee an individual result.</a:t>
            </a:r>
          </a:p>
        </p:txBody>
      </p:sp>
    </p:spTree>
    <p:extLst>
      <p:ext uri="{BB962C8B-B14F-4D97-AF65-F5344CB8AC3E}">
        <p14:creationId xmlns:p14="http://schemas.microsoft.com/office/powerpoint/2010/main" val="1655985118"/>
      </p:ext>
    </p:extLst>
  </p:cSld>
</p:sld>
</file>

<file path=ppt/slides/slide10.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2996034-6E87-4A92-980D-D429D9BE7741}"/>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你的預測與觀察</a:t>
            </a:r>
          </a:p>
        </p:txBody>
      </p:sp>
      <p:sp>
        <p:nvSpPr>
          <p:cNvPr id="2" name="">
            <a:extLst xmlns:a="http://schemas.openxmlformats.org/drawingml/2006/main">
              <a:ext uri="{FF2B5EF4-FFF2-40B4-BE49-F238E27FC236}">
                <a16:creationId xmlns:a16="http://schemas.microsoft.com/office/drawing/2014/main" id="{E7E86C5B-48A0-4C63-857B-8C6016F741F5}"/>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Your prediction and observation</a:t>
            </a:r>
          </a:p>
        </p:txBody>
      </p:sp>
      <p:sp>
        <p:nvSpPr>
          <p:cNvPr id="3" name="">
            <a:extLst xmlns:a="http://schemas.openxmlformats.org/drawingml/2006/main">
              <a:ext uri="{FF2B5EF4-FFF2-40B4-BE49-F238E27FC236}">
                <a16:creationId xmlns:a16="http://schemas.microsoft.com/office/drawing/2014/main" id="{61FFC652-1DD2-4426-B9A9-8722389E8576}"/>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3D404ADD-F5B9-4E4C-8C1F-E4B019DD2B1C}"/>
              </a:ext>
            </a:extLst>
          </p:cNvPr>
          <p:cNvSpPr>
            <a:spLocks xmlns:a="http://schemas.openxmlformats.org/drawingml/2006/main" noGrp="1"/>
          </p:cNvSpPr>
          <p:nvPr/>
        </p:nvSpPr>
        <p:spPr>
          <a:xfrm xmlns:a="http://schemas.openxmlformats.org/drawingml/2006/main">
            <a:off x="609600" y="176212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你的估計與網頁的預測接近嗎？</a:t>
            </a:r>
          </a:p>
        </p:txBody>
      </p:sp>
      <p:sp>
        <p:nvSpPr>
          <p:cNvPr id="5" name="">
            <a:extLst xmlns:a="http://schemas.openxmlformats.org/drawingml/2006/main">
              <a:ext uri="{FF2B5EF4-FFF2-40B4-BE49-F238E27FC236}">
                <a16:creationId xmlns:a16="http://schemas.microsoft.com/office/drawing/2014/main" id="{8A8690FC-1806-4FB4-9154-CADC0AC16765}"/>
              </a:ext>
            </a:extLst>
          </p:cNvPr>
          <p:cNvSpPr>
            <a:spLocks xmlns:a="http://schemas.openxmlformats.org/drawingml/2006/main" noGrp="1"/>
          </p:cNvSpPr>
          <p:nvPr/>
        </p:nvSpPr>
        <p:spPr>
          <a:xfrm xmlns:a="http://schemas.openxmlformats.org/drawingml/2006/main">
            <a:off x="609600" y="2228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Was your estimate close to the page’s prediction?</a:t>
            </a:r>
          </a:p>
        </p:txBody>
      </p:sp>
      <p:sp>
        <p:nvSpPr>
          <p:cNvPr id="6" name="">
            <a:extLst xmlns:a="http://schemas.openxmlformats.org/drawingml/2006/main">
              <a:ext uri="{FF2B5EF4-FFF2-40B4-BE49-F238E27FC236}">
                <a16:creationId xmlns:a16="http://schemas.microsoft.com/office/drawing/2014/main" id="{CD6A190E-3374-4EC6-895F-5EA0FC2773B3}"/>
              </a:ext>
            </a:extLst>
          </p:cNvPr>
          <p:cNvSpPr>
            <a:spLocks xmlns:a="http://schemas.openxmlformats.org/drawingml/2006/main" noGrp="1"/>
          </p:cNvSpPr>
          <p:nvPr/>
        </p:nvSpPr>
        <p:spPr>
          <a:xfrm xmlns:a="http://schemas.openxmlformats.org/drawingml/2006/main">
            <a:off x="609600" y="309562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你畫的直線與網頁的直線有甚麼分別？</a:t>
            </a:r>
          </a:p>
        </p:txBody>
      </p:sp>
      <p:sp>
        <p:nvSpPr>
          <p:cNvPr id="7" name="">
            <a:extLst xmlns:a="http://schemas.openxmlformats.org/drawingml/2006/main">
              <a:ext uri="{FF2B5EF4-FFF2-40B4-BE49-F238E27FC236}">
                <a16:creationId xmlns:a16="http://schemas.microsoft.com/office/drawing/2014/main" id="{EEDB9BF3-8760-4993-804A-2A115DB43883}"/>
              </a:ext>
            </a:extLst>
          </p:cNvPr>
          <p:cNvSpPr>
            <a:spLocks xmlns:a="http://schemas.openxmlformats.org/drawingml/2006/main" noGrp="1"/>
          </p:cNvSpPr>
          <p:nvPr/>
        </p:nvSpPr>
        <p:spPr>
          <a:xfrm xmlns:a="http://schemas.openxmlformats.org/drawingml/2006/main">
            <a:off x="609600" y="35623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How does your own line compare with the line on the page?</a:t>
            </a:r>
          </a:p>
        </p:txBody>
      </p:sp>
      <p:sp>
        <p:nvSpPr>
          <p:cNvPr id="8" name="">
            <a:extLst xmlns:a="http://schemas.openxmlformats.org/drawingml/2006/main">
              <a:ext uri="{FF2B5EF4-FFF2-40B4-BE49-F238E27FC236}">
                <a16:creationId xmlns:a16="http://schemas.microsoft.com/office/drawing/2014/main" id="{0864FC08-762C-4452-BB39-1E9AEF436EB7}"/>
              </a:ext>
            </a:extLst>
          </p:cNvPr>
          <p:cNvSpPr>
            <a:spLocks xmlns:a="http://schemas.openxmlformats.org/drawingml/2006/main" noGrp="1"/>
          </p:cNvSpPr>
          <p:nvPr/>
        </p:nvSpPr>
        <p:spPr>
          <a:xfrm xmlns:a="http://schemas.openxmlformats.org/drawingml/2006/main">
            <a:off x="609600" y="442912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你會較信賴哪個預測？為甚麼？</a:t>
            </a:r>
          </a:p>
        </p:txBody>
      </p:sp>
      <p:sp>
        <p:nvSpPr>
          <p:cNvPr id="9" name="">
            <a:extLst xmlns:a="http://schemas.openxmlformats.org/drawingml/2006/main">
              <a:ext uri="{FF2B5EF4-FFF2-40B4-BE49-F238E27FC236}">
                <a16:creationId xmlns:a16="http://schemas.microsoft.com/office/drawing/2014/main" id="{22B05EFB-B38B-4851-97C4-264A4914485A}"/>
              </a:ext>
            </a:extLst>
          </p:cNvPr>
          <p:cNvSpPr>
            <a:spLocks xmlns:a="http://schemas.openxmlformats.org/drawingml/2006/main" noGrp="1"/>
          </p:cNvSpPr>
          <p:nvPr/>
        </p:nvSpPr>
        <p:spPr>
          <a:xfrm xmlns:a="http://schemas.openxmlformats.org/drawingml/2006/main">
            <a:off x="609600" y="4895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Which prediction would you trust more? Why?</a:t>
            </a:r>
          </a:p>
        </p:txBody>
      </p:sp>
      <p:sp>
        <p:nvSpPr>
          <p:cNvPr id="10" name="">
            <a:extLst xmlns:a="http://schemas.openxmlformats.org/drawingml/2006/main">
              <a:ext uri="{FF2B5EF4-FFF2-40B4-BE49-F238E27FC236}">
                <a16:creationId xmlns:a16="http://schemas.microsoft.com/office/drawing/2014/main" id="{D3558A86-051B-4B28-B8FA-9C5F58C1CE10}"/>
              </a:ext>
            </a:extLst>
          </p:cNvPr>
          <p:cNvSpPr>
            <a:spLocks xmlns:a="http://schemas.openxmlformats.org/drawingml/2006/main" noGrp="1"/>
          </p:cNvSpPr>
          <p:nvPr/>
        </p:nvSpPr>
        <p:spPr>
          <a:xfrm xmlns:a="http://schemas.openxmlformats.org/drawingml/2006/main">
            <a:off x="609600" y="5838825"/>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086C61"/>
                </a:solidFill>
                <a:latin typeface="Heiti TC"/>
                <a:ea typeface="Heiti TC"/>
                <a:cs typeface="Heiti TC"/>
              </a:defRPr>
            </a:pPr>
            <a:r>
              <a:rPr sz="1725" b="0">
                <a:solidFill>
                  <a:srgbClr val="086C61"/>
                </a:solidFill>
                <a:latin typeface="Heiti TC"/>
                <a:ea typeface="Heiti TC"/>
                <a:cs typeface="Heiti TC"/>
              </a:rPr>
              <a:t>工作紙最後一節 / Final section of the worksheet</a:t>
            </a:r>
          </a:p>
        </p:txBody>
      </p:sp>
    </p:spTree>
    <p:extLst>
      <p:ext uri="{BB962C8B-B14F-4D97-AF65-F5344CB8AC3E}">
        <p14:creationId xmlns:p14="http://schemas.microsoft.com/office/powerpoint/2010/main" val="137690039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2026-10-05T03:44:07.3570000Z</dcterms:created>
  <dcterms:modified xsi:type="dcterms:W3CDTF">2026-10-05T03:44:07.3570000Z</dcterms:modified>
</coreProperties>
</file>