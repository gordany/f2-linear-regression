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8.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e53b349fa704444" /><Relationship Type="http://schemas.openxmlformats.org/officeDocument/2006/relationships/extended-properties" Target="/docProps/app.xml" Id="R5d773d12bbc74437" /><Relationship Type="http://schemas.openxmlformats.org/officeDocument/2006/relationships/officeDocument" Target="/ppt/presentation.xml" Id="Ra1acc47d16594cc7" /></Relationships>
</file>

<file path=ppt/presentation.xml><?xml version="1.0" encoding="utf-8"?>
<p:presentation xmlns:p="http://schemas.openxmlformats.org/presentationml/2006/main">
  <p:sldMasterIdLst>
    <p:sldMasterId xmlns:r="http://schemas.openxmlformats.org/officeDocument/2006/relationships" id="2147483648" r:id="Rd4942d0f4c974a87"/>
  </p:sldMasterIdLst>
  <p:notesMasterIdLst>
    <p:notesMasterId xmlns:r="http://schemas.openxmlformats.org/officeDocument/2006/relationships" r:id="Rf08cb87359924918"/>
  </p:notesMasterIdLst>
  <p:sldIdLst>
    <p:sldId xmlns:r="http://schemas.openxmlformats.org/officeDocument/2006/relationships" id="256" r:id="R9cdbae44b19b4525"/>
    <p:sldId xmlns:r="http://schemas.openxmlformats.org/officeDocument/2006/relationships" id="257" r:id="R76d1fb241c644356"/>
    <p:sldId xmlns:r="http://schemas.openxmlformats.org/officeDocument/2006/relationships" id="258" r:id="Rfcefa56cb3ab40f2"/>
    <p:sldId xmlns:r="http://schemas.openxmlformats.org/officeDocument/2006/relationships" id="259" r:id="Rbd5f05a04d8d48d6"/>
    <p:sldId xmlns:r="http://schemas.openxmlformats.org/officeDocument/2006/relationships" id="260" r:id="R80e49bfccffa462e"/>
    <p:sldId xmlns:r="http://schemas.openxmlformats.org/officeDocument/2006/relationships" id="261" r:id="R117f843f2da24639"/>
    <p:sldId xmlns:r="http://schemas.openxmlformats.org/officeDocument/2006/relationships" id="262" r:id="R6e21e9e45b32432f"/>
    <p:sldId xmlns:r="http://schemas.openxmlformats.org/officeDocument/2006/relationships" id="263" r:id="R5757ae864a1745fb"/>
    <p:sldId xmlns:r="http://schemas.openxmlformats.org/officeDocument/2006/relationships" id="264" r:id="R3e89ff359f614de0"/>
    <p:sldId xmlns:r="http://schemas.openxmlformats.org/officeDocument/2006/relationships" id="265" r:id="Re1ed38ce6ef84b4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460f0d5aa5c4389" /><Relationship Type="http://schemas.openxmlformats.org/officeDocument/2006/relationships/slideMaster" Target="/ppt/slideMasters/slideMaster1.xml" Id="Rd4942d0f4c974a87" /><Relationship Type="http://schemas.openxmlformats.org/officeDocument/2006/relationships/notesMaster" Target="/ppt/notesMasters/notesMaster1.xml" Id="Rf08cb87359924918" /><Relationship Type="http://schemas.openxmlformats.org/officeDocument/2006/relationships/presProps" Target="/ppt/presProps.xml" Id="Rc41d38329b6a44aa" /><Relationship Type="http://schemas.openxmlformats.org/officeDocument/2006/relationships/tableStyles" Target="/ppt/tableStyles.xml" Id="Rcbacfed8a74644f5" /><Relationship Type="http://schemas.openxmlformats.org/officeDocument/2006/relationships/slide" Target="/ppt/slides/slide1.xml" Id="R9cdbae44b19b4525" /><Relationship Type="http://schemas.openxmlformats.org/officeDocument/2006/relationships/slide" Target="/ppt/slides/slide2.xml" Id="R76d1fb241c644356" /><Relationship Type="http://schemas.openxmlformats.org/officeDocument/2006/relationships/slide" Target="/ppt/slides/slide3.xml" Id="Rfcefa56cb3ab40f2" /><Relationship Type="http://schemas.openxmlformats.org/officeDocument/2006/relationships/slide" Target="/ppt/slides/slide4.xml" Id="Rbd5f05a04d8d48d6" /><Relationship Type="http://schemas.openxmlformats.org/officeDocument/2006/relationships/slide" Target="/ppt/slides/slide5.xml" Id="R80e49bfccffa462e" /><Relationship Type="http://schemas.openxmlformats.org/officeDocument/2006/relationships/slide" Target="/ppt/slides/slide6.xml" Id="R117f843f2da24639" /><Relationship Type="http://schemas.openxmlformats.org/officeDocument/2006/relationships/slide" Target="/ppt/slides/slide7.xml" Id="R6e21e9e45b32432f" /><Relationship Type="http://schemas.openxmlformats.org/officeDocument/2006/relationships/slide" Target="/ppt/slides/slide8.xml" Id="R5757ae864a1745fb" /><Relationship Type="http://schemas.openxmlformats.org/officeDocument/2006/relationships/slide" Target="/ppt/slides/slide9.xml" Id="R3e89ff359f614de0" /><Relationship Type="http://schemas.openxmlformats.org/officeDocument/2006/relationships/slide" Target="/ppt/slides/slide10.xml" Id="Re1ed38ce6ef84b4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26ed37bb3343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fffbf31a7204550" /><Relationship Type="http://schemas.openxmlformats.org/officeDocument/2006/relationships/notesMaster" Target="/ppt/notesMasters/notesMaster1.xml" Id="R8b813ad72d024d9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9f07f77bfe4ecb" /><Relationship Type="http://schemas.openxmlformats.org/officeDocument/2006/relationships/notesMaster" Target="/ppt/notesMasters/notesMaster1.xml" Id="Rcf296f96a6eb4e7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e883dca51c546d0" /><Relationship Type="http://schemas.openxmlformats.org/officeDocument/2006/relationships/notesMaster" Target="/ppt/notesMasters/notesMaster1.xml" Id="R735f00cb847b49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d4493022b14250" /><Relationship Type="http://schemas.openxmlformats.org/officeDocument/2006/relationships/notesMaster" Target="/ppt/notesMasters/notesMaster1.xml" Id="R061a852ad53b4b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cf830c68ec44e3" /><Relationship Type="http://schemas.openxmlformats.org/officeDocument/2006/relationships/notesMaster" Target="/ppt/notesMasters/notesMaster1.xml" Id="R0e0c4b8394824b50"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f88db1f0804b8d" /><Relationship Type="http://schemas.openxmlformats.org/officeDocument/2006/relationships/notesMaster" Target="/ppt/notesMasters/notesMaster1.xml" Id="R014590f79a4c4e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989e6fc5c77c4028" /><Relationship Type="http://schemas.openxmlformats.org/officeDocument/2006/relationships/notesMaster" Target="/ppt/notesMasters/notesMaster1.xml" Id="R47ba8ff8ecdf41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5fc024cb9bb4854" /><Relationship Type="http://schemas.openxmlformats.org/officeDocument/2006/relationships/notesMaster" Target="/ppt/notesMasters/notesMaster1.xml" Id="Rd89e6041359c4f7f" /></Relationships>
</file>

<file path=ppt/notesSlides/_rels/notesSlide9.xml.rels>&#65279;<?xml version="1.0" encoding="utf-8"?><Relationships xmlns="http://schemas.openxmlformats.org/package/2006/relationships"><Relationship Type="http://schemas.openxmlformats.org/officeDocument/2006/relationships/slide" Target="/ppt/slides/slide9.xml" Id="R5ec220510a0c4bad" /><Relationship Type="http://schemas.openxmlformats.org/officeDocument/2006/relationships/notesMaster" Target="/ppt/notesMasters/notesMaster1.xml" Id="R7e60efc2515d440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52a0761189748b0" /><Relationship Type="http://schemas.openxmlformats.org/officeDocument/2006/relationships/notesMaster" Target="/ppt/notesMasters/notesMaster1.xml" Id="R633464f8a15f41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45 seconds. Start with the equation. Ask students which part describes the starting amount and which part describes the change. No proof 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Explain the water tank scenario. At time zero it already holds 5 litres. Point to the intercept and ask for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75 seconds. Each minute adds 2 litres. Show the points (1,7) and (2,9). Increase x by 1, y by 2. Units of m are litres per minute.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Students describe each trend before reading the labels. These are illustrative lines, not preset dataset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1. This is simulated delivery data, with separate observations. Ask whether all points lie on one line and what trend students notice. Do not give the dataset trend in the dropdown.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Step 1. Explain that the line summarises the whole dataset. It need not pass through each point. The app calculates it automatically. Do not teach the least-squares algorithm.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2. Students keep their selected dataset and click or tap the graph. Ask them to predict first, compare m and c, and use Undo or Reset between experiments. No coordinate-entry controls appear on the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3. Each dot represents simulated observations from a different student. Students estimate the score for 3.5 hours per day and record it before checking the page. Axes are fixed at 0–24 hours and 0–100 marks. A trend does not prove that more study guarantees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written predictions. The fitted line is y=2x+50. m is about 2 marks per extra study hour in this model. c is the estimated score at zero hours. 3.5 hours is within the observed 0–6-hour range. 10 hours is outside. At 24 hours the model gives 98 marks, but this remains far outside the observed range and cannot guarantee a result. Discuss how other factors influence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5 minutes. Students complete the last worksheet section. Ask pairs to share one observation. Review initial value and rate of change without proof or rigorous mathematics.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513018fffdf44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5a3747129e24bed" /><Relationship Type="http://schemas.openxmlformats.org/officeDocument/2006/relationships/slideLayout" Target="/ppt/slideLayouts/slideLayout1.xml" Id="R9f7779e98b1a46b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f7779e98b1a46b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3fb50adf2b3412b" /><Relationship Type="http://schemas.openxmlformats.org/officeDocument/2006/relationships/notesSlide" Target="/ppt/notesSlides/notesSlide1.xml" Id="Rdbac07f55cb44c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81e6fb0cdb4bca" /><Relationship Type="http://schemas.openxmlformats.org/officeDocument/2006/relationships/chart" Target="/ppt/slides/charts/chart1.xml" Id="R37ceb5f49c104b76" /><Relationship Type="http://schemas.openxmlformats.org/officeDocument/2006/relationships/notesSlide" Target="/ppt/notesSlides/notesSlide2.xml" Id="R73624058d84d44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fdbb0cc8cdb45d4" /><Relationship Type="http://schemas.openxmlformats.org/officeDocument/2006/relationships/chart" Target="/ppt/slides/charts/chart2.xml" Id="R1a69f635333746d9" /><Relationship Type="http://schemas.openxmlformats.org/officeDocument/2006/relationships/notesSlide" Target="/ppt/notesSlides/notesSlide3.xml" Id="Rde6aded486834a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d3243d6fc748e7" /><Relationship Type="http://schemas.openxmlformats.org/officeDocument/2006/relationships/chart" Target="/ppt/slides/charts/chart3.xml" Id="Rba1b6b0ada254076" /><Relationship Type="http://schemas.openxmlformats.org/officeDocument/2006/relationships/chart" Target="/ppt/slides/charts/chart4.xml" Id="Rce54a3b770a94dfa" /><Relationship Type="http://schemas.openxmlformats.org/officeDocument/2006/relationships/chart" Target="/ppt/slides/charts/chart5.xml" Id="R3c1be84effc64bb8" /><Relationship Type="http://schemas.openxmlformats.org/officeDocument/2006/relationships/notesSlide" Target="/ppt/notesSlides/notesSlide4.xml" Id="Rcefcf95221384a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4eb727f9bec470f" /><Relationship Type="http://schemas.openxmlformats.org/officeDocument/2006/relationships/chart" Target="/ppt/slides/charts/chart6.xml" Id="Rdfa5f142fa994233" /><Relationship Type="http://schemas.openxmlformats.org/officeDocument/2006/relationships/notesSlide" Target="/ppt/notesSlides/notesSlide5.xml" Id="Rbdc48acacf8c468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44368de623d47e7" /><Relationship Type="http://schemas.openxmlformats.org/officeDocument/2006/relationships/chart" Target="/ppt/slides/charts/chart7.xml" Id="Re37d6a3b5b31485d" /><Relationship Type="http://schemas.openxmlformats.org/officeDocument/2006/relationships/notesSlide" Target="/ppt/notesSlides/notesSlide6.xml" Id="R4cc7076e88894e1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92a07e2933d4dab" /><Relationship Type="http://schemas.openxmlformats.org/officeDocument/2006/relationships/notesSlide" Target="/ppt/notesSlides/notesSlide7.xml" Id="R30d59c7fa7a6439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d62aab0d1db41d8" /><Relationship Type="http://schemas.openxmlformats.org/officeDocument/2006/relationships/chart" Target="/ppt/slides/charts/chart8.xml" Id="R21a1f1b88a6843b5" /><Relationship Type="http://schemas.openxmlformats.org/officeDocument/2006/relationships/notesSlide" Target="/ppt/notesSlides/notesSlide8.xml" Id="R5d6a1357c987414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d5322daf9364fd4" /><Relationship Type="http://schemas.openxmlformats.org/officeDocument/2006/relationships/notesSlide" Target="/ppt/notesSlides/notesSlide9.xml" Id="R0cb3b754ed0d49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415bc52eacc41cb" /><Relationship Type="http://schemas.openxmlformats.org/officeDocument/2006/relationships/notesSlide" Target="/ppt/notesSlides/notesSlide10.xml" Id="Rc51dbb5e1d6a48a4" /></Relationships>
</file>

<file path=ppt/slides/charts/chart1.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5</c:v>
              </c:pt>
            </c:numLit>
          </c:xVal>
          <c:yVal>
            <c:numLit>
              <c:formatCode>0</c:formatCode>
              <c:ptCount val="2"/>
              <c:pt idx="0">
                <c:v>5</c:v>
              </c:pt>
              <c:pt idx="1">
                <c:v>15</c:v>
              </c:pt>
            </c:numLit>
          </c:yVal>
        </c:ser>
        <c:ser>
          <c:idx val="1"/>
          <c:order val="1"/>
          <c:tx>
            <c:v>初始值 / Initial value</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
              <c:pt idx="0">
                <c:v>0</c:v>
              </c:pt>
            </c:numLit>
          </c:xVal>
          <c:yVal>
            <c:numLit>
              <c:formatCode>0</c:formatCode>
              <c:ptCount val="1"/>
              <c:pt idx="0">
                <c:v>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2.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6"/>
              <c:pt idx="0">
                <c:v>0</c:v>
              </c:pt>
              <c:pt idx="1">
                <c:v>1</c:v>
              </c:pt>
              <c:pt idx="2">
                <c:v>2</c:v>
              </c:pt>
              <c:pt idx="3">
                <c:v>3</c:v>
              </c:pt>
              <c:pt idx="4">
                <c:v>4</c:v>
              </c:pt>
              <c:pt idx="5">
                <c:v>5</c:v>
              </c:pt>
            </c:numLit>
          </c:xVal>
          <c:yVal>
            <c:numLit>
              <c:formatCode>0</c:formatCode>
              <c:ptCount val="6"/>
              <c:pt idx="0">
                <c:v>5</c:v>
              </c:pt>
              <c:pt idx="1">
                <c:v>7</c:v>
              </c:pt>
              <c:pt idx="2">
                <c:v>9</c:v>
              </c:pt>
              <c:pt idx="3">
                <c:v>11</c:v>
              </c:pt>
              <c:pt idx="4">
                <c:v>13</c:v>
              </c:pt>
              <c:pt idx="5">
                <c:v>15</c:v>
              </c:pt>
            </c:numLit>
          </c:yVal>
        </c:ser>
        <c:ser>
          <c:idx val="1"/>
          <c:order val="1"/>
          <c:tx>
            <c:v>觀察 / Values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2"/>
              <c:pt idx="0">
                <c:v>1</c:v>
              </c:pt>
              <c:pt idx="1">
                <c:v>2</c:v>
              </c:pt>
            </c:numLit>
          </c:xVal>
          <c:yVal>
            <c:numLit>
              <c:formatCode>0</c:formatCode>
              <c:ptCount val="2"/>
              <c:pt idx="0">
                <c:v>7</c:v>
              </c:pt>
              <c:pt idx="1">
                <c:v>9</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3.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2</c:v>
              </c:pt>
              <c:pt idx="1">
                <c:v>10</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4.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10</c:v>
              </c:pt>
              <c:pt idx="1">
                <c:v>2</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5.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6</c:v>
              </c:pt>
              <c:pt idx="1">
                <c:v>6</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6.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7.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最佳擬合 / Best fit</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9.9090909091</c:v>
              </c:pt>
              <c:pt idx="1">
                <c:v>41.7272727273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8.xml><?xml version="1.0" encoding="utf-8"?>
<c:chartSpace xmlns:c="http://schemas.openxmlformats.org/drawingml/2006/chart">
  <c:lang val="en-US"/>
  <c:chart>
    <c:plotArea>
      <c:scatterChart>
        <c:scatterStyle val="lineMarker"/>
        <c:ser>
          <c:idx val="0"/>
          <c:order val="0"/>
          <c:tx>
            <c:v>模擬學生 / Simulated students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ser>
          <c:idx val="1"/>
          <c:order val="1"/>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24</c:v>
              </c:pt>
            </c:numLit>
          </c:xVal>
          <c:yVal>
            <c:numLit>
              <c:formatCode>0</c:formatCode>
              <c:ptCount val="2"/>
              <c:pt idx="0">
                <c:v>50</c:v>
              </c:pt>
              <c:pt idx="1">
                <c:v>98</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考試成績 / 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每天溫習時間 / 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E934F9-657C-4C1F-93DD-E73102B52DAC}"/>
              </a:ext>
            </a:extLst>
          </p:cNvPr>
          <p:cNvSpPr>
            <a:spLocks xmlns:a="http://schemas.openxmlformats.org/drawingml/2006/main" noGrp="1"/>
          </p:cNvSpPr>
          <p:nvPr/>
        </p:nvSpPr>
        <p:spPr>
          <a:xfrm xmlns:a="http://schemas.openxmlformats.org/drawingml/2006/main">
            <a:off x="609600" y="552450"/>
            <a:ext cx="10953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086C61"/>
                </a:solidFill>
                <a:latin typeface="Arial"/>
                <a:ea typeface="Arial"/>
                <a:cs typeface="Arial"/>
              </a:defRPr>
            </a:pPr>
            <a:r>
              <a:rPr sz="8700" b="1">
                <a:solidFill>
                  <a:srgbClr val="086C61"/>
                </a:solidFill>
                <a:latin typeface="Arial"/>
                <a:ea typeface="Arial"/>
                <a:cs typeface="Arial"/>
              </a:rPr>
              <a:t>y = mx + c</a:t>
            </a:r>
          </a:p>
        </p:txBody>
      </p:sp>
      <p:sp>
        <p:nvSpPr>
          <p:cNvPr id="2" name="">
            <a:extLst xmlns:a="http://schemas.openxmlformats.org/drawingml/2006/main">
              <a:ext uri="{FF2B5EF4-FFF2-40B4-BE49-F238E27FC236}">
                <a16:creationId xmlns:a16="http://schemas.microsoft.com/office/drawing/2014/main" id="{2DBDC221-675F-4247-A29E-907F4A2564ED}"/>
              </a:ext>
            </a:extLst>
          </p:cNvPr>
          <p:cNvSpPr>
            <a:spLocks xmlns:a="http://schemas.openxmlformats.org/drawingml/2006/main" noGrp="1"/>
          </p:cNvSpPr>
          <p:nvPr/>
        </p:nvSpPr>
        <p:spPr>
          <a:xfrm xmlns:a="http://schemas.openxmlformats.org/drawingml/2006/main">
            <a:off x="609600"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m：變化率</a:t>
            </a:r>
          </a:p>
        </p:txBody>
      </p:sp>
      <p:sp>
        <p:nvSpPr>
          <p:cNvPr id="3" name="">
            <a:extLst xmlns:a="http://schemas.openxmlformats.org/drawingml/2006/main">
              <a:ext uri="{FF2B5EF4-FFF2-40B4-BE49-F238E27FC236}">
                <a16:creationId xmlns:a16="http://schemas.microsoft.com/office/drawing/2014/main" id="{03F8928A-2D14-4F7D-A877-175CC14103B3}"/>
              </a:ext>
            </a:extLst>
          </p:cNvPr>
          <p:cNvSpPr>
            <a:spLocks xmlns:a="http://schemas.openxmlformats.org/drawingml/2006/main" noGrp="1"/>
          </p:cNvSpPr>
          <p:nvPr/>
        </p:nvSpPr>
        <p:spPr>
          <a:xfrm xmlns:a="http://schemas.openxmlformats.org/drawingml/2006/main">
            <a:off x="609600"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m: rate of change</a:t>
            </a:r>
          </a:p>
        </p:txBody>
      </p:sp>
      <p:sp>
        <p:nvSpPr>
          <p:cNvPr id="4" name="">
            <a:extLst xmlns:a="http://schemas.openxmlformats.org/drawingml/2006/main">
              <a:ext uri="{FF2B5EF4-FFF2-40B4-BE49-F238E27FC236}">
                <a16:creationId xmlns:a16="http://schemas.microsoft.com/office/drawing/2014/main" id="{72E7F11E-A19B-46AA-AF73-6DBC9CE95131}"/>
              </a:ext>
            </a:extLst>
          </p:cNvPr>
          <p:cNvSpPr>
            <a:spLocks xmlns:a="http://schemas.openxmlformats.org/drawingml/2006/main" noGrp="1"/>
          </p:cNvSpPr>
          <p:nvPr/>
        </p:nvSpPr>
        <p:spPr>
          <a:xfrm xmlns:a="http://schemas.openxmlformats.org/drawingml/2006/main">
            <a:off x="6334125"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c：初始值</a:t>
            </a:r>
          </a:p>
        </p:txBody>
      </p:sp>
      <p:sp>
        <p:nvSpPr>
          <p:cNvPr id="5" name="">
            <a:extLst xmlns:a="http://schemas.openxmlformats.org/drawingml/2006/main">
              <a:ext uri="{FF2B5EF4-FFF2-40B4-BE49-F238E27FC236}">
                <a16:creationId xmlns:a16="http://schemas.microsoft.com/office/drawing/2014/main" id="{BD58C7D1-3981-45BD-BB70-8BB9DEC49A7C}"/>
              </a:ext>
            </a:extLst>
          </p:cNvPr>
          <p:cNvSpPr>
            <a:spLocks xmlns:a="http://schemas.openxmlformats.org/drawingml/2006/main" noGrp="1"/>
          </p:cNvSpPr>
          <p:nvPr/>
        </p:nvSpPr>
        <p:spPr>
          <a:xfrm xmlns:a="http://schemas.openxmlformats.org/drawingml/2006/main">
            <a:off x="6334125"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c: initial value</a:t>
            </a:r>
          </a:p>
        </p:txBody>
      </p:sp>
      <p:sp>
        <p:nvSpPr>
          <p:cNvPr id="6" name="">
            <a:extLst xmlns:a="http://schemas.openxmlformats.org/drawingml/2006/main">
              <a:ext uri="{FF2B5EF4-FFF2-40B4-BE49-F238E27FC236}">
                <a16:creationId xmlns:a16="http://schemas.microsoft.com/office/drawing/2014/main" id="{4A595CF4-8016-4F4C-8F3F-905E30A2D60D}"/>
              </a:ext>
            </a:extLst>
          </p:cNvPr>
          <p:cNvSpPr>
            <a:spLocks xmlns:a="http://schemas.openxmlformats.org/drawingml/2006/main" noGrp="1"/>
          </p:cNvSpPr>
          <p:nvPr/>
        </p:nvSpPr>
        <p:spPr>
          <a:xfrm xmlns:a="http://schemas.openxmlformats.org/drawingml/2006/main">
            <a:off x="609600"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 每增加 1，y 改變多少？</a:t>
            </a:r>
          </a:p>
        </p:txBody>
      </p:sp>
      <p:sp>
        <p:nvSpPr>
          <p:cNvPr id="7" name="">
            <a:extLst xmlns:a="http://schemas.openxmlformats.org/drawingml/2006/main">
              <a:ext uri="{FF2B5EF4-FFF2-40B4-BE49-F238E27FC236}">
                <a16:creationId xmlns:a16="http://schemas.microsoft.com/office/drawing/2014/main" id="{CE08725A-85D3-4C9C-AAF6-9C00D5C314E6}"/>
              </a:ext>
            </a:extLst>
          </p:cNvPr>
          <p:cNvSpPr>
            <a:spLocks xmlns:a="http://schemas.openxmlformats.org/drawingml/2006/main" noGrp="1"/>
          </p:cNvSpPr>
          <p:nvPr/>
        </p:nvSpPr>
        <p:spPr>
          <a:xfrm xmlns:a="http://schemas.openxmlformats.org/drawingml/2006/main">
            <a:off x="609600"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much does y change for each extra 1 in x?</a:t>
            </a:r>
          </a:p>
        </p:txBody>
      </p:sp>
      <p:sp>
        <p:nvSpPr>
          <p:cNvPr id="8" name="">
            <a:extLst xmlns:a="http://schemas.openxmlformats.org/drawingml/2006/main">
              <a:ext uri="{FF2B5EF4-FFF2-40B4-BE49-F238E27FC236}">
                <a16:creationId xmlns:a16="http://schemas.microsoft.com/office/drawing/2014/main" id="{DE216E70-A202-4D24-8BDD-32CC2FF51969}"/>
              </a:ext>
            </a:extLst>
          </p:cNvPr>
          <p:cNvSpPr>
            <a:spLocks xmlns:a="http://schemas.openxmlformats.org/drawingml/2006/main" noGrp="1"/>
          </p:cNvSpPr>
          <p:nvPr/>
        </p:nvSpPr>
        <p:spPr>
          <a:xfrm xmlns:a="http://schemas.openxmlformats.org/drawingml/2006/main">
            <a:off x="6334125"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當 x = 0 時，y 是多少？</a:t>
            </a:r>
          </a:p>
        </p:txBody>
      </p:sp>
      <p:sp>
        <p:nvSpPr>
          <p:cNvPr id="9" name="">
            <a:extLst xmlns:a="http://schemas.openxmlformats.org/drawingml/2006/main">
              <a:ext uri="{FF2B5EF4-FFF2-40B4-BE49-F238E27FC236}">
                <a16:creationId xmlns:a16="http://schemas.microsoft.com/office/drawing/2014/main" id="{C214F267-D08A-4C22-BB27-68F616F86BC6}"/>
              </a:ext>
            </a:extLst>
          </p:cNvPr>
          <p:cNvSpPr>
            <a:spLocks xmlns:a="http://schemas.openxmlformats.org/drawingml/2006/main" noGrp="1"/>
          </p:cNvSpPr>
          <p:nvPr/>
        </p:nvSpPr>
        <p:spPr>
          <a:xfrm xmlns:a="http://schemas.openxmlformats.org/drawingml/2006/main">
            <a:off x="6334125"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is y when x = 0?</a:t>
            </a:r>
          </a:p>
        </p:txBody>
      </p:sp>
      <p:sp>
        <p:nvSpPr>
          <p:cNvPr id="10" name="">
            <a:extLst xmlns:a="http://schemas.openxmlformats.org/drawingml/2006/main">
              <a:ext uri="{FF2B5EF4-FFF2-40B4-BE49-F238E27FC236}">
                <a16:creationId xmlns:a16="http://schemas.microsoft.com/office/drawing/2014/main" id="{51D05EC2-4127-4797-9288-C6D86DA3B328}"/>
              </a:ext>
            </a:extLst>
          </p:cNvPr>
          <p:cNvSpPr>
            <a:spLocks xmlns:a="http://schemas.openxmlformats.org/drawingml/2006/main" noGrp="1"/>
          </p:cNvSpPr>
          <p:nvPr/>
        </p:nvSpPr>
        <p:spPr>
          <a:xfrm xmlns:a="http://schemas.openxmlformats.org/drawingml/2006/main">
            <a:off x="609600" y="52482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一條直線描述 x 與 y 的關係</a:t>
            </a:r>
          </a:p>
        </p:txBody>
      </p:sp>
      <p:sp>
        <p:nvSpPr>
          <p:cNvPr id="11" name="">
            <a:extLst xmlns:a="http://schemas.openxmlformats.org/drawingml/2006/main">
              <a:ext uri="{FF2B5EF4-FFF2-40B4-BE49-F238E27FC236}">
                <a16:creationId xmlns:a16="http://schemas.microsoft.com/office/drawing/2014/main" id="{D572F2DB-D615-41ED-98F2-4F089592E008}"/>
              </a:ext>
            </a:extLst>
          </p:cNvPr>
          <p:cNvSpPr>
            <a:spLocks xmlns:a="http://schemas.openxmlformats.org/drawingml/2006/main" noGrp="1"/>
          </p:cNvSpPr>
          <p:nvPr/>
        </p:nvSpPr>
        <p:spPr>
          <a:xfrm xmlns:a="http://schemas.openxmlformats.org/drawingml/2006/main">
            <a:off x="609600" y="57150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straight line describes the relationship between x and y</a:t>
            </a:r>
          </a:p>
        </p:txBody>
      </p:sp>
      <p:sp>
        <p:nvSpPr>
          <p:cNvPr id="12" name="">
            <a:extLst xmlns:a="http://schemas.openxmlformats.org/drawingml/2006/main">
              <a:ext uri="{FF2B5EF4-FFF2-40B4-BE49-F238E27FC236}">
                <a16:creationId xmlns:a16="http://schemas.microsoft.com/office/drawing/2014/main" id="{96C5B384-6176-4EFF-B01B-1313AA613492}"/>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a:t>
            </a:r>
          </a:p>
        </p:txBody>
      </p:sp>
    </p:spTree>
    <p:extLst>
      <p:ext uri="{BB962C8B-B14F-4D97-AF65-F5344CB8AC3E}">
        <p14:creationId xmlns:p14="http://schemas.microsoft.com/office/powerpoint/2010/main" val="550628515"/>
      </p:ext>
    </p:extLst>
  </p:cSld>
</p:sld>
</file>

<file path=ppt/slides/slide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A62C264-96BF-444F-892F-97CFBC4054F3}"/>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c：初始值</a:t>
            </a:r>
          </a:p>
        </p:txBody>
      </p:sp>
      <p:sp>
        <p:nvSpPr>
          <p:cNvPr id="2" name="">
            <a:extLst xmlns:a="http://schemas.openxmlformats.org/drawingml/2006/main">
              <a:ext uri="{FF2B5EF4-FFF2-40B4-BE49-F238E27FC236}">
                <a16:creationId xmlns:a16="http://schemas.microsoft.com/office/drawing/2014/main" id="{114987BC-631C-4815-AEFD-86BB5D83E84F}"/>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c: the initial value</a:t>
            </a:r>
          </a:p>
        </p:txBody>
      </p:sp>
      <p:sp>
        <p:nvSpPr>
          <p:cNvPr id="3" name="">
            <a:extLst xmlns:a="http://schemas.openxmlformats.org/drawingml/2006/main">
              <a:ext uri="{FF2B5EF4-FFF2-40B4-BE49-F238E27FC236}">
                <a16:creationId xmlns:a16="http://schemas.microsoft.com/office/drawing/2014/main" id="{FC580F22-9058-41CE-8CB4-1F36B0D8815F}"/>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5C0232D3-146B-466E-B3DC-790604095414}"/>
              </a:ext>
            </a:extLst>
          </p:cNvPr>
          <p:cNvSpPr>
            <a:spLocks xmlns:a="http://schemas.openxmlformats.org/drawingml/2006/main" noGrp="1"/>
          </p:cNvSpPr>
          <p:nvPr/>
        </p:nvSpPr>
        <p:spPr>
          <a:xfrm xmlns:a="http://schemas.openxmlformats.org/drawingml/2006/main">
            <a:off x="609600" y="16573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水箱原有 5 公升水</a:t>
            </a:r>
          </a:p>
        </p:txBody>
      </p:sp>
      <p:sp>
        <p:nvSpPr>
          <p:cNvPr id="5" name="">
            <a:extLst xmlns:a="http://schemas.openxmlformats.org/drawingml/2006/main">
              <a:ext uri="{FF2B5EF4-FFF2-40B4-BE49-F238E27FC236}">
                <a16:creationId xmlns:a16="http://schemas.microsoft.com/office/drawing/2014/main" id="{F0A6CF7C-B636-4C0A-9D7F-A19A1E0BFFC7}"/>
              </a:ext>
            </a:extLst>
          </p:cNvPr>
          <p:cNvSpPr>
            <a:spLocks xmlns:a="http://schemas.openxmlformats.org/drawingml/2006/main" noGrp="1"/>
          </p:cNvSpPr>
          <p:nvPr/>
        </p:nvSpPr>
        <p:spPr>
          <a:xfrm xmlns:a="http://schemas.openxmlformats.org/drawingml/2006/main">
            <a:off x="609600" y="21240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tank starts with 5 litres of water</a:t>
            </a:r>
          </a:p>
        </p:txBody>
      </p:sp>
      <p:sp>
        <p:nvSpPr>
          <p:cNvPr id="6" name="">
            <a:extLst xmlns:a="http://schemas.openxmlformats.org/drawingml/2006/main">
              <a:ext uri="{FF2B5EF4-FFF2-40B4-BE49-F238E27FC236}">
                <a16:creationId xmlns:a16="http://schemas.microsoft.com/office/drawing/2014/main" id="{E1DA19AE-1366-43F8-9D7A-0EACF26CA115}"/>
              </a:ext>
            </a:extLst>
          </p:cNvPr>
          <p:cNvSpPr>
            <a:spLocks xmlns:a="http://schemas.openxmlformats.org/drawingml/2006/main" noGrp="1"/>
          </p:cNvSpPr>
          <p:nvPr/>
        </p:nvSpPr>
        <p:spPr>
          <a:xfrm xmlns:a="http://schemas.openxmlformats.org/drawingml/2006/main">
            <a:off x="609600" y="27622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x：時間（分鐘）</a:t>
            </a:r>
          </a:p>
        </p:txBody>
      </p:sp>
      <p:sp>
        <p:nvSpPr>
          <p:cNvPr id="7" name="">
            <a:extLst xmlns:a="http://schemas.openxmlformats.org/drawingml/2006/main">
              <a:ext uri="{FF2B5EF4-FFF2-40B4-BE49-F238E27FC236}">
                <a16:creationId xmlns:a16="http://schemas.microsoft.com/office/drawing/2014/main" id="{BC5B56E1-BF26-49AC-97DB-CAD4EAF0E79C}"/>
              </a:ext>
            </a:extLst>
          </p:cNvPr>
          <p:cNvSpPr>
            <a:spLocks xmlns:a="http://schemas.openxmlformats.org/drawingml/2006/main" noGrp="1"/>
          </p:cNvSpPr>
          <p:nvPr/>
        </p:nvSpPr>
        <p:spPr>
          <a:xfrm xmlns:a="http://schemas.openxmlformats.org/drawingml/2006/main">
            <a:off x="609600" y="32289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x: time in minutes</a:t>
            </a:r>
          </a:p>
        </p:txBody>
      </p:sp>
      <p:sp>
        <p:nvSpPr>
          <p:cNvPr id="8" name="">
            <a:extLst xmlns:a="http://schemas.openxmlformats.org/drawingml/2006/main">
              <a:ext uri="{FF2B5EF4-FFF2-40B4-BE49-F238E27FC236}">
                <a16:creationId xmlns:a16="http://schemas.microsoft.com/office/drawing/2014/main" id="{FF40B637-2B4B-4DB7-B72F-323BBED02F2B}"/>
              </a:ext>
            </a:extLst>
          </p:cNvPr>
          <p:cNvSpPr>
            <a:spLocks xmlns:a="http://schemas.openxmlformats.org/drawingml/2006/main" noGrp="1"/>
          </p:cNvSpPr>
          <p:nvPr/>
        </p:nvSpPr>
        <p:spPr>
          <a:xfrm xmlns:a="http://schemas.openxmlformats.org/drawingml/2006/main">
            <a:off x="609600" y="37909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y：水量（公升）</a:t>
            </a:r>
          </a:p>
        </p:txBody>
      </p:sp>
      <p:sp>
        <p:nvSpPr>
          <p:cNvPr id="9" name="">
            <a:extLst xmlns:a="http://schemas.openxmlformats.org/drawingml/2006/main">
              <a:ext uri="{FF2B5EF4-FFF2-40B4-BE49-F238E27FC236}">
                <a16:creationId xmlns:a16="http://schemas.microsoft.com/office/drawing/2014/main" id="{6918C0E1-9F7B-4959-ABE6-13DFFEAFB704}"/>
              </a:ext>
            </a:extLst>
          </p:cNvPr>
          <p:cNvSpPr>
            <a:spLocks xmlns:a="http://schemas.openxmlformats.org/drawingml/2006/main" noGrp="1"/>
          </p:cNvSpPr>
          <p:nvPr/>
        </p:nvSpPr>
        <p:spPr>
          <a:xfrm xmlns:a="http://schemas.openxmlformats.org/drawingml/2006/main">
            <a:off x="609600" y="42576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amount of water in litres</a:t>
            </a:r>
          </a:p>
        </p:txBody>
      </p:sp>
      <p:sp>
        <p:nvSpPr>
          <p:cNvPr id="10" name="">
            <a:extLst xmlns:a="http://schemas.openxmlformats.org/drawingml/2006/main">
              <a:ext uri="{FF2B5EF4-FFF2-40B4-BE49-F238E27FC236}">
                <a16:creationId xmlns:a16="http://schemas.microsoft.com/office/drawing/2014/main" id="{85E30C8B-9143-4470-8ACD-CED0DD60BACB}"/>
              </a:ext>
            </a:extLst>
          </p:cNvPr>
          <p:cNvSpPr>
            <a:spLocks xmlns:a="http://schemas.openxmlformats.org/drawingml/2006/main" noGrp="1"/>
          </p:cNvSpPr>
          <p:nvPr/>
        </p:nvSpPr>
        <p:spPr>
          <a:xfrm xmlns:a="http://schemas.openxmlformats.org/drawingml/2006/main">
            <a:off x="609600" y="50482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86C61"/>
                </a:solidFill>
                <a:latin typeface="Arial"/>
                <a:ea typeface="Arial"/>
                <a:cs typeface="Arial"/>
              </a:defRPr>
            </a:pPr>
            <a:r>
              <a:rPr sz="3300" b="1">
                <a:solidFill>
                  <a:srgbClr val="086C61"/>
                </a:solidFill>
                <a:latin typeface="Arial"/>
                <a:ea typeface="Arial"/>
                <a:cs typeface="Arial"/>
              </a:rPr>
              <a:t>x = 0, y = 5</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37ceb5f49c104b76"/>
          </a:graphicData>
        </a:graphic>
      </p:graphicFrame>
    </p:spTree>
    <p:extLst>
      <p:ext uri="{BB962C8B-B14F-4D97-AF65-F5344CB8AC3E}">
        <p14:creationId xmlns:p14="http://schemas.microsoft.com/office/powerpoint/2010/main" val="1338848109"/>
      </p:ext>
    </p:extLst>
  </p:cSld>
</p:sld>
</file>

<file path=ppt/slides/slide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3A8DEED-BD12-4C9A-8745-F7B640625638}"/>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m：每增加 1 單位的變化</a:t>
            </a:r>
          </a:p>
        </p:txBody>
      </p:sp>
      <p:sp>
        <p:nvSpPr>
          <p:cNvPr id="2" name="">
            <a:extLst xmlns:a="http://schemas.openxmlformats.org/drawingml/2006/main">
              <a:ext uri="{FF2B5EF4-FFF2-40B4-BE49-F238E27FC236}">
                <a16:creationId xmlns:a16="http://schemas.microsoft.com/office/drawing/2014/main" id="{C025F403-E545-4914-BA45-A2A4A08FB5BC}"/>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m: the change for each extra unit</a:t>
            </a:r>
          </a:p>
        </p:txBody>
      </p:sp>
      <p:sp>
        <p:nvSpPr>
          <p:cNvPr id="3" name="">
            <a:extLst xmlns:a="http://schemas.openxmlformats.org/drawingml/2006/main">
              <a:ext uri="{FF2B5EF4-FFF2-40B4-BE49-F238E27FC236}">
                <a16:creationId xmlns:a16="http://schemas.microsoft.com/office/drawing/2014/main" id="{77D1DC8C-80C6-4639-A913-E792D04FF421}"/>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A2358405-3FBA-4F6B-BC89-4D3368CB1C94}"/>
              </a:ext>
            </a:extLst>
          </p:cNvPr>
          <p:cNvSpPr>
            <a:spLocks xmlns:a="http://schemas.openxmlformats.org/drawingml/2006/main" noGrp="1"/>
          </p:cNvSpPr>
          <p:nvPr/>
        </p:nvSpPr>
        <p:spPr>
          <a:xfrm xmlns:a="http://schemas.openxmlformats.org/drawingml/2006/main">
            <a:off x="609600" y="1647825"/>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每分鐘加入 2 公升水</a:t>
            </a:r>
          </a:p>
        </p:txBody>
      </p:sp>
      <p:sp>
        <p:nvSpPr>
          <p:cNvPr id="5" name="">
            <a:extLst xmlns:a="http://schemas.openxmlformats.org/drawingml/2006/main">
              <a:ext uri="{FF2B5EF4-FFF2-40B4-BE49-F238E27FC236}">
                <a16:creationId xmlns:a16="http://schemas.microsoft.com/office/drawing/2014/main" id="{62CD501F-A748-4B34-9A8E-E34BE76B98CD}"/>
              </a:ext>
            </a:extLst>
          </p:cNvPr>
          <p:cNvSpPr>
            <a:spLocks xmlns:a="http://schemas.openxmlformats.org/drawingml/2006/main" noGrp="1"/>
          </p:cNvSpPr>
          <p:nvPr/>
        </p:nvSpPr>
        <p:spPr>
          <a:xfrm xmlns:a="http://schemas.openxmlformats.org/drawingml/2006/main">
            <a:off x="609600" y="21145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We add 2 litres each minute</a:t>
            </a:r>
          </a:p>
        </p:txBody>
      </p:sp>
      <p:sp>
        <p:nvSpPr>
          <p:cNvPr id="6" name="">
            <a:extLst xmlns:a="http://schemas.openxmlformats.org/drawingml/2006/main">
              <a:ext uri="{FF2B5EF4-FFF2-40B4-BE49-F238E27FC236}">
                <a16:creationId xmlns:a16="http://schemas.microsoft.com/office/drawing/2014/main" id="{039BD591-5AF6-41CC-8BA8-63EBA0FFD545}"/>
              </a:ext>
            </a:extLst>
          </p:cNvPr>
          <p:cNvSpPr>
            <a:spLocks xmlns:a="http://schemas.openxmlformats.org/drawingml/2006/main" noGrp="1"/>
          </p:cNvSpPr>
          <p:nvPr/>
        </p:nvSpPr>
        <p:spPr>
          <a:xfrm xmlns:a="http://schemas.openxmlformats.org/drawingml/2006/main">
            <a:off x="609600" y="277177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086C61"/>
                </a:solidFill>
                <a:latin typeface="Arial"/>
                <a:ea typeface="Arial"/>
                <a:cs typeface="Arial"/>
              </a:defRPr>
            </a:pPr>
            <a:r>
              <a:rPr sz="3900" b="1">
                <a:solidFill>
                  <a:srgbClr val="086C61"/>
                </a:solidFill>
                <a:latin typeface="Arial"/>
                <a:ea typeface="Arial"/>
                <a:cs typeface="Arial"/>
              </a:rPr>
              <a:t>y = 2x + 5</a:t>
            </a:r>
          </a:p>
        </p:txBody>
      </p:sp>
      <p:sp>
        <p:nvSpPr>
          <p:cNvPr id="7" name="">
            <a:extLst xmlns:a="http://schemas.openxmlformats.org/drawingml/2006/main">
              <a:ext uri="{FF2B5EF4-FFF2-40B4-BE49-F238E27FC236}">
                <a16:creationId xmlns:a16="http://schemas.microsoft.com/office/drawing/2014/main" id="{2A721B98-7ECB-4503-AD38-6AC2E89BC33D}"/>
              </a:ext>
            </a:extLst>
          </p:cNvPr>
          <p:cNvSpPr>
            <a:spLocks xmlns:a="http://schemas.openxmlformats.org/drawingml/2006/main" noGrp="1"/>
          </p:cNvSpPr>
          <p:nvPr/>
        </p:nvSpPr>
        <p:spPr>
          <a:xfrm xmlns:a="http://schemas.openxmlformats.org/drawingml/2006/main">
            <a:off x="609600" y="36766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x 增加 1，y 增加 2</a:t>
            </a:r>
          </a:p>
        </p:txBody>
      </p:sp>
      <p:sp>
        <p:nvSpPr>
          <p:cNvPr id="8" name="">
            <a:extLst xmlns:a="http://schemas.openxmlformats.org/drawingml/2006/main">
              <a:ext uri="{FF2B5EF4-FFF2-40B4-BE49-F238E27FC236}">
                <a16:creationId xmlns:a16="http://schemas.microsoft.com/office/drawing/2014/main" id="{65BAEF5F-CC52-4C98-9B50-F7658228EFF5}"/>
              </a:ext>
            </a:extLst>
          </p:cNvPr>
          <p:cNvSpPr>
            <a:spLocks xmlns:a="http://schemas.openxmlformats.org/drawingml/2006/main" noGrp="1"/>
          </p:cNvSpPr>
          <p:nvPr/>
        </p:nvSpPr>
        <p:spPr>
          <a:xfrm xmlns:a="http://schemas.openxmlformats.org/drawingml/2006/main">
            <a:off x="609600" y="41433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When x increases by 1, y increases by 2</a:t>
            </a:r>
          </a:p>
        </p:txBody>
      </p:sp>
      <p:sp>
        <p:nvSpPr>
          <p:cNvPr id="9" name="">
            <a:extLst xmlns:a="http://schemas.openxmlformats.org/drawingml/2006/main">
              <a:ext uri="{FF2B5EF4-FFF2-40B4-BE49-F238E27FC236}">
                <a16:creationId xmlns:a16="http://schemas.microsoft.com/office/drawing/2014/main" id="{07CFE872-A7E2-4836-851F-86448F32B4FF}"/>
              </a:ext>
            </a:extLst>
          </p:cNvPr>
          <p:cNvSpPr>
            <a:spLocks xmlns:a="http://schemas.openxmlformats.org/drawingml/2006/main" noGrp="1"/>
          </p:cNvSpPr>
          <p:nvPr/>
        </p:nvSpPr>
        <p:spPr>
          <a:xfrm xmlns:a="http://schemas.openxmlformats.org/drawingml/2006/main">
            <a:off x="609600" y="47434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m = 2 公升／分鐘</a:t>
            </a:r>
          </a:p>
        </p:txBody>
      </p:sp>
      <p:sp>
        <p:nvSpPr>
          <p:cNvPr id="10" name="">
            <a:extLst xmlns:a="http://schemas.openxmlformats.org/drawingml/2006/main">
              <a:ext uri="{FF2B5EF4-FFF2-40B4-BE49-F238E27FC236}">
                <a16:creationId xmlns:a16="http://schemas.microsoft.com/office/drawing/2014/main" id="{40471AAE-E2FC-4854-8585-AAD4C2E5E2E1}"/>
              </a:ext>
            </a:extLst>
          </p:cNvPr>
          <p:cNvSpPr>
            <a:spLocks xmlns:a="http://schemas.openxmlformats.org/drawingml/2006/main" noGrp="1"/>
          </p:cNvSpPr>
          <p:nvPr/>
        </p:nvSpPr>
        <p:spPr>
          <a:xfrm xmlns:a="http://schemas.openxmlformats.org/drawingml/2006/main">
            <a:off x="609600" y="52101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 = 2 litres per minute</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1a69f635333746d9"/>
          </a:graphicData>
        </a:graphic>
      </p:graphicFrame>
    </p:spTree>
    <p:extLst>
      <p:ext uri="{BB962C8B-B14F-4D97-AF65-F5344CB8AC3E}">
        <p14:creationId xmlns:p14="http://schemas.microsoft.com/office/powerpoint/2010/main" val="1309713473"/>
      </p:ext>
    </p:extLst>
  </p:cSld>
</p:sld>
</file>

<file path=ppt/slides/slide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AA00A01-01BB-4829-A1AB-B18B33FB007B}"/>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 的正負與趨勢</a:t>
            </a:r>
          </a:p>
        </p:txBody>
      </p:sp>
      <p:sp>
        <p:nvSpPr>
          <p:cNvPr id="2" name="">
            <a:extLst xmlns:a="http://schemas.openxmlformats.org/drawingml/2006/main">
              <a:ext uri="{FF2B5EF4-FFF2-40B4-BE49-F238E27FC236}">
                <a16:creationId xmlns:a16="http://schemas.microsoft.com/office/drawing/2014/main" id="{DCC5465B-B220-4565-8EA4-D6709802153A}"/>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The sign of m and the trend</a:t>
            </a:r>
          </a:p>
        </p:txBody>
      </p:sp>
      <p:sp>
        <p:nvSpPr>
          <p:cNvPr id="3" name="">
            <a:extLst xmlns:a="http://schemas.openxmlformats.org/drawingml/2006/main">
              <a:ext uri="{FF2B5EF4-FFF2-40B4-BE49-F238E27FC236}">
                <a16:creationId xmlns:a16="http://schemas.microsoft.com/office/drawing/2014/main" id="{661E1955-CBE0-4F0A-BF75-110CAE92A6CC}"/>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802CCF00-D97A-42A6-B763-009F83BCB6D5}"/>
              </a:ext>
            </a:extLst>
          </p:cNvPr>
          <p:cNvSpPr>
            <a:spLocks xmlns:a="http://schemas.openxmlformats.org/drawingml/2006/main" noGrp="1"/>
          </p:cNvSpPr>
          <p:nvPr/>
        </p:nvSpPr>
        <p:spPr>
          <a:xfrm xmlns:a="http://schemas.openxmlformats.org/drawingml/2006/main">
            <a:off x="71437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&gt; 0</a:t>
            </a:r>
          </a:p>
        </p:txBody>
      </p:sp>
      <p:graphicFrame>
        <p:nvGraphicFramePr>
          <p:cNvPr id="20" name="Chart"/>
          <p:cNvGraphicFramePr/>
          <p:nvPr/>
        </p:nvGraphicFramePr>
        <p:xfrm>
          <a:off xmlns:a="http://schemas.openxmlformats.org/drawingml/2006/main" x="47625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ba1b6b0ada254076"/>
          </a:graphicData>
        </a:graphic>
      </p:graphicFrame>
      <p:sp>
        <p:nvSpPr>
          <p:cNvPr id="6" name="">
            <a:extLst xmlns:a="http://schemas.openxmlformats.org/drawingml/2006/main">
              <a:ext uri="{FF2B5EF4-FFF2-40B4-BE49-F238E27FC236}">
                <a16:creationId xmlns:a16="http://schemas.microsoft.com/office/drawing/2014/main" id="{8B1A41CA-3497-40EB-BFE5-729A17CDF9D5}"/>
              </a:ext>
            </a:extLst>
          </p:cNvPr>
          <p:cNvSpPr>
            <a:spLocks xmlns:a="http://schemas.openxmlformats.org/drawingml/2006/main" noGrp="1"/>
          </p:cNvSpPr>
          <p:nvPr/>
        </p:nvSpPr>
        <p:spPr>
          <a:xfrm xmlns:a="http://schemas.openxmlformats.org/drawingml/2006/main">
            <a:off x="66675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隨 x 增加</a:t>
            </a:r>
          </a:p>
        </p:txBody>
      </p:sp>
      <p:sp>
        <p:nvSpPr>
          <p:cNvPr id="7" name="">
            <a:extLst xmlns:a="http://schemas.openxmlformats.org/drawingml/2006/main">
              <a:ext uri="{FF2B5EF4-FFF2-40B4-BE49-F238E27FC236}">
                <a16:creationId xmlns:a16="http://schemas.microsoft.com/office/drawing/2014/main" id="{3BC524F4-1BE3-4EF0-904C-17DECEFFCFEF}"/>
              </a:ext>
            </a:extLst>
          </p:cNvPr>
          <p:cNvSpPr>
            <a:spLocks xmlns:a="http://schemas.openxmlformats.org/drawingml/2006/main" noGrp="1"/>
          </p:cNvSpPr>
          <p:nvPr/>
        </p:nvSpPr>
        <p:spPr>
          <a:xfrm xmlns:a="http://schemas.openxmlformats.org/drawingml/2006/main">
            <a:off x="66675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increases as x increases</a:t>
            </a:r>
          </a:p>
        </p:txBody>
      </p:sp>
      <p:sp>
        <p:nvSpPr>
          <p:cNvPr id="8" name="">
            <a:extLst xmlns:a="http://schemas.openxmlformats.org/drawingml/2006/main">
              <a:ext uri="{FF2B5EF4-FFF2-40B4-BE49-F238E27FC236}">
                <a16:creationId xmlns:a16="http://schemas.microsoft.com/office/drawing/2014/main" id="{64F535BE-4C01-4C9C-BEE9-A822DE1331AB}"/>
              </a:ext>
            </a:extLst>
          </p:cNvPr>
          <p:cNvSpPr>
            <a:spLocks xmlns:a="http://schemas.openxmlformats.org/drawingml/2006/main" noGrp="1"/>
          </p:cNvSpPr>
          <p:nvPr/>
        </p:nvSpPr>
        <p:spPr>
          <a:xfrm xmlns:a="http://schemas.openxmlformats.org/drawingml/2006/main">
            <a:off x="4572000"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&lt; 0</a:t>
            </a:r>
          </a:p>
        </p:txBody>
      </p:sp>
      <p:graphicFrame>
        <p:nvGraphicFramePr>
          <p:cNvPr id="24" name="Chart"/>
          <p:cNvGraphicFramePr/>
          <p:nvPr/>
        </p:nvGraphicFramePr>
        <p:xfrm>
          <a:off xmlns:a="http://schemas.openxmlformats.org/drawingml/2006/main" x="4333875"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ce54a3b770a94dfa"/>
          </a:graphicData>
        </a:graphic>
      </p:graphicFrame>
      <p:sp>
        <p:nvSpPr>
          <p:cNvPr id="10" name="">
            <a:extLst xmlns:a="http://schemas.openxmlformats.org/drawingml/2006/main">
              <a:ext uri="{FF2B5EF4-FFF2-40B4-BE49-F238E27FC236}">
                <a16:creationId xmlns:a16="http://schemas.microsoft.com/office/drawing/2014/main" id="{CFC993D7-4513-4B2B-BAA5-78F21B0BCAF5}"/>
              </a:ext>
            </a:extLst>
          </p:cNvPr>
          <p:cNvSpPr>
            <a:spLocks xmlns:a="http://schemas.openxmlformats.org/drawingml/2006/main" noGrp="1"/>
          </p:cNvSpPr>
          <p:nvPr/>
        </p:nvSpPr>
        <p:spPr>
          <a:xfrm xmlns:a="http://schemas.openxmlformats.org/drawingml/2006/main">
            <a:off x="4524375"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隨 x 減少</a:t>
            </a:r>
          </a:p>
        </p:txBody>
      </p:sp>
      <p:sp>
        <p:nvSpPr>
          <p:cNvPr id="11" name="">
            <a:extLst xmlns:a="http://schemas.openxmlformats.org/drawingml/2006/main">
              <a:ext uri="{FF2B5EF4-FFF2-40B4-BE49-F238E27FC236}">
                <a16:creationId xmlns:a16="http://schemas.microsoft.com/office/drawing/2014/main" id="{397478C6-FE63-434A-A36A-0694948005F7}"/>
              </a:ext>
            </a:extLst>
          </p:cNvPr>
          <p:cNvSpPr>
            <a:spLocks xmlns:a="http://schemas.openxmlformats.org/drawingml/2006/main" noGrp="1"/>
          </p:cNvSpPr>
          <p:nvPr/>
        </p:nvSpPr>
        <p:spPr>
          <a:xfrm xmlns:a="http://schemas.openxmlformats.org/drawingml/2006/main">
            <a:off x="4524375"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decreases as x increases</a:t>
            </a:r>
          </a:p>
        </p:txBody>
      </p:sp>
      <p:sp>
        <p:nvSpPr>
          <p:cNvPr id="12" name="">
            <a:extLst xmlns:a="http://schemas.openxmlformats.org/drawingml/2006/main">
              <a:ext uri="{FF2B5EF4-FFF2-40B4-BE49-F238E27FC236}">
                <a16:creationId xmlns:a16="http://schemas.microsoft.com/office/drawing/2014/main" id="{4367C293-1732-43BA-B7FA-08893BEA8E7B}"/>
              </a:ext>
            </a:extLst>
          </p:cNvPr>
          <p:cNvSpPr>
            <a:spLocks xmlns:a="http://schemas.openxmlformats.org/drawingml/2006/main" noGrp="1"/>
          </p:cNvSpPr>
          <p:nvPr/>
        </p:nvSpPr>
        <p:spPr>
          <a:xfrm xmlns:a="http://schemas.openxmlformats.org/drawingml/2006/main">
            <a:off x="842962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 0</a:t>
            </a:r>
          </a:p>
        </p:txBody>
      </p:sp>
      <p:graphicFrame>
        <p:nvGraphicFramePr>
          <p:cNvPr id="28" name="Chart"/>
          <p:cNvGraphicFramePr/>
          <p:nvPr/>
        </p:nvGraphicFramePr>
        <p:xfrm>
          <a:off xmlns:a="http://schemas.openxmlformats.org/drawingml/2006/main" x="819150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3c1be84effc64bb8"/>
          </a:graphicData>
        </a:graphic>
      </p:graphicFrame>
      <p:sp>
        <p:nvSpPr>
          <p:cNvPr id="14" name="">
            <a:extLst xmlns:a="http://schemas.openxmlformats.org/drawingml/2006/main">
              <a:ext uri="{FF2B5EF4-FFF2-40B4-BE49-F238E27FC236}">
                <a16:creationId xmlns:a16="http://schemas.microsoft.com/office/drawing/2014/main" id="{E0A0C67E-867C-4C40-B52B-F9B9B5A0F2AA}"/>
              </a:ext>
            </a:extLst>
          </p:cNvPr>
          <p:cNvSpPr>
            <a:spLocks xmlns:a="http://schemas.openxmlformats.org/drawingml/2006/main" noGrp="1"/>
          </p:cNvSpPr>
          <p:nvPr/>
        </p:nvSpPr>
        <p:spPr>
          <a:xfrm xmlns:a="http://schemas.openxmlformats.org/drawingml/2006/main">
            <a:off x="838200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保持不變</a:t>
            </a:r>
          </a:p>
        </p:txBody>
      </p:sp>
      <p:sp>
        <p:nvSpPr>
          <p:cNvPr id="15" name="">
            <a:extLst xmlns:a="http://schemas.openxmlformats.org/drawingml/2006/main">
              <a:ext uri="{FF2B5EF4-FFF2-40B4-BE49-F238E27FC236}">
                <a16:creationId xmlns:a16="http://schemas.microsoft.com/office/drawing/2014/main" id="{C4E4A3B4-0329-42A8-A90C-7B0E46943853}"/>
              </a:ext>
            </a:extLst>
          </p:cNvPr>
          <p:cNvSpPr>
            <a:spLocks xmlns:a="http://schemas.openxmlformats.org/drawingml/2006/main" noGrp="1"/>
          </p:cNvSpPr>
          <p:nvPr/>
        </p:nvSpPr>
        <p:spPr>
          <a:xfrm xmlns:a="http://schemas.openxmlformats.org/drawingml/2006/main">
            <a:off x="838200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stays the same</a:t>
            </a:r>
          </a:p>
        </p:txBody>
      </p:sp>
    </p:spTree>
    <p:extLst>
      <p:ext uri="{BB962C8B-B14F-4D97-AF65-F5344CB8AC3E}">
        <p14:creationId xmlns:p14="http://schemas.microsoft.com/office/powerpoint/2010/main" val="311173158"/>
      </p:ext>
    </p:extLst>
  </p:cSld>
</p:sld>
</file>

<file path=ppt/slides/slide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D10444A-FCDC-4490-9E45-4D02A59F77FF}"/>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真實情境的數據會有差異</a:t>
            </a:r>
          </a:p>
        </p:txBody>
      </p:sp>
      <p:sp>
        <p:nvSpPr>
          <p:cNvPr id="2" name="">
            <a:extLst xmlns:a="http://schemas.openxmlformats.org/drawingml/2006/main">
              <a:ext uri="{FF2B5EF4-FFF2-40B4-BE49-F238E27FC236}">
                <a16:creationId xmlns:a16="http://schemas.microsoft.com/office/drawing/2014/main" id="{5EEF78F9-D106-42D9-93E4-065C870AF465}"/>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Data in real situations varies</a:t>
            </a:r>
          </a:p>
        </p:txBody>
      </p:sp>
      <p:sp>
        <p:nvSpPr>
          <p:cNvPr id="3" name="">
            <a:extLst xmlns:a="http://schemas.openxmlformats.org/drawingml/2006/main">
              <a:ext uri="{FF2B5EF4-FFF2-40B4-BE49-F238E27FC236}">
                <a16:creationId xmlns:a16="http://schemas.microsoft.com/office/drawing/2014/main" id="{8DAE67E9-8816-4CA8-9F51-7CD25383106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5</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dfa5f142fa994233"/>
          </a:graphicData>
        </a:graphic>
      </p:graphicFrame>
      <p:sp>
        <p:nvSpPr>
          <p:cNvPr id="5" name="">
            <a:extLst xmlns:a="http://schemas.openxmlformats.org/drawingml/2006/main">
              <a:ext uri="{FF2B5EF4-FFF2-40B4-BE49-F238E27FC236}">
                <a16:creationId xmlns:a16="http://schemas.microsoft.com/office/drawing/2014/main" id="{7EBF0986-7C0F-4062-A581-38068E7BB87F}"/>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每個點是一個觀察</a:t>
            </a:r>
          </a:p>
        </p:txBody>
      </p:sp>
      <p:sp>
        <p:nvSpPr>
          <p:cNvPr id="6" name="">
            <a:extLst xmlns:a="http://schemas.openxmlformats.org/drawingml/2006/main">
              <a:ext uri="{FF2B5EF4-FFF2-40B4-BE49-F238E27FC236}">
                <a16:creationId xmlns:a16="http://schemas.microsoft.com/office/drawing/2014/main" id="{F08832E8-BB97-464D-8CBC-084758FDA159}"/>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Each dot is an observation</a:t>
            </a:r>
          </a:p>
        </p:txBody>
      </p:sp>
      <p:sp>
        <p:nvSpPr>
          <p:cNvPr id="7" name="">
            <a:extLst xmlns:a="http://schemas.openxmlformats.org/drawingml/2006/main">
              <a:ext uri="{FF2B5EF4-FFF2-40B4-BE49-F238E27FC236}">
                <a16:creationId xmlns:a16="http://schemas.microsoft.com/office/drawing/2014/main" id="{D3A20DA5-4F7A-4CA2-BD13-30D8431DA87B}"/>
              </a:ext>
            </a:extLst>
          </p:cNvPr>
          <p:cNvSpPr>
            <a:spLocks xmlns:a="http://schemas.openxmlformats.org/drawingml/2006/main" noGrp="1"/>
          </p:cNvSpPr>
          <p:nvPr/>
        </p:nvSpPr>
        <p:spPr>
          <a:xfrm xmlns:a="http://schemas.openxmlformats.org/drawingml/2006/main">
            <a:off x="8020050" y="31051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各點是否在同一直線上？</a:t>
            </a:r>
          </a:p>
        </p:txBody>
      </p:sp>
      <p:sp>
        <p:nvSpPr>
          <p:cNvPr id="8" name="">
            <a:extLst xmlns:a="http://schemas.openxmlformats.org/drawingml/2006/main">
              <a:ext uri="{FF2B5EF4-FFF2-40B4-BE49-F238E27FC236}">
                <a16:creationId xmlns:a16="http://schemas.microsoft.com/office/drawing/2014/main" id="{3462A3D3-D76E-4CE3-B2B9-C14F9DA7B8F6}"/>
              </a:ext>
            </a:extLst>
          </p:cNvPr>
          <p:cNvSpPr>
            <a:spLocks xmlns:a="http://schemas.openxmlformats.org/drawingml/2006/main" noGrp="1"/>
          </p:cNvSpPr>
          <p:nvPr/>
        </p:nvSpPr>
        <p:spPr>
          <a:xfrm xmlns:a="http://schemas.openxmlformats.org/drawingml/2006/main">
            <a:off x="8020050" y="35718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Do all the dots lie on one line?</a:t>
            </a:r>
          </a:p>
        </p:txBody>
      </p:sp>
      <p:sp>
        <p:nvSpPr>
          <p:cNvPr id="9" name="">
            <a:extLst xmlns:a="http://schemas.openxmlformats.org/drawingml/2006/main">
              <a:ext uri="{FF2B5EF4-FFF2-40B4-BE49-F238E27FC236}">
                <a16:creationId xmlns:a16="http://schemas.microsoft.com/office/drawing/2014/main" id="{BB74431D-2E7D-45FC-875E-9FCC23A13D98}"/>
              </a:ext>
            </a:extLst>
          </p:cNvPr>
          <p:cNvSpPr>
            <a:spLocks xmlns:a="http://schemas.openxmlformats.org/drawingml/2006/main" noGrp="1"/>
          </p:cNvSpPr>
          <p:nvPr/>
        </p:nvSpPr>
        <p:spPr>
          <a:xfrm xmlns:a="http://schemas.openxmlformats.org/drawingml/2006/main">
            <a:off x="8020050" y="44196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你看到甚麼趨勢？</a:t>
            </a:r>
          </a:p>
        </p:txBody>
      </p:sp>
      <p:sp>
        <p:nvSpPr>
          <p:cNvPr id="10" name="">
            <a:extLst xmlns:a="http://schemas.openxmlformats.org/drawingml/2006/main">
              <a:ext uri="{FF2B5EF4-FFF2-40B4-BE49-F238E27FC236}">
                <a16:creationId xmlns:a16="http://schemas.microsoft.com/office/drawing/2014/main" id="{46F60C17-5AA2-49B7-A6A5-600E14C9E470}"/>
              </a:ext>
            </a:extLst>
          </p:cNvPr>
          <p:cNvSpPr>
            <a:spLocks xmlns:a="http://schemas.openxmlformats.org/drawingml/2006/main" noGrp="1"/>
          </p:cNvSpPr>
          <p:nvPr/>
        </p:nvSpPr>
        <p:spPr>
          <a:xfrm xmlns:a="http://schemas.openxmlformats.org/drawingml/2006/main">
            <a:off x="8020050" y="48863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trend do you notice?</a:t>
            </a:r>
          </a:p>
        </p:txBody>
      </p:sp>
      <p:sp>
        <p:nvSpPr>
          <p:cNvPr id="11" name="">
            <a:extLst xmlns:a="http://schemas.openxmlformats.org/drawingml/2006/main">
              <a:ext uri="{FF2B5EF4-FFF2-40B4-BE49-F238E27FC236}">
                <a16:creationId xmlns:a16="http://schemas.microsoft.com/office/drawing/2014/main" id="{74657DF4-DE1F-465B-BF64-97E25D329F6E}"/>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1928617563"/>
      </p:ext>
    </p:extLst>
  </p:cSld>
</p:sld>
</file>

<file path=ppt/slides/slide6.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9CB534B-B04E-4C3A-8CE1-EAF6D298660E}"/>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線性回歸與最佳擬合直線</a:t>
            </a:r>
          </a:p>
        </p:txBody>
      </p:sp>
      <p:sp>
        <p:nvSpPr>
          <p:cNvPr id="2" name="">
            <a:extLst xmlns:a="http://schemas.openxmlformats.org/drawingml/2006/main">
              <a:ext uri="{FF2B5EF4-FFF2-40B4-BE49-F238E27FC236}">
                <a16:creationId xmlns:a16="http://schemas.microsoft.com/office/drawing/2014/main" id="{2039C4E4-D058-4F3E-B985-30FF2C385E0D}"/>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Linear regression and the best-fit line</a:t>
            </a:r>
          </a:p>
        </p:txBody>
      </p:sp>
      <p:sp>
        <p:nvSpPr>
          <p:cNvPr id="3" name="">
            <a:extLst xmlns:a="http://schemas.openxmlformats.org/drawingml/2006/main">
              <a:ext uri="{FF2B5EF4-FFF2-40B4-BE49-F238E27FC236}">
                <a16:creationId xmlns:a16="http://schemas.microsoft.com/office/drawing/2014/main" id="{EC522A75-81C8-4284-BFA8-4253945E9A8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6</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e37d6a3b5b31485d"/>
          </a:graphicData>
        </a:graphic>
      </p:graphicFrame>
      <p:sp>
        <p:nvSpPr>
          <p:cNvPr id="5" name="">
            <a:extLst xmlns:a="http://schemas.openxmlformats.org/drawingml/2006/main">
              <a:ext uri="{FF2B5EF4-FFF2-40B4-BE49-F238E27FC236}">
                <a16:creationId xmlns:a16="http://schemas.microsoft.com/office/drawing/2014/main" id="{F23B7E77-5D6F-47CF-AAA6-ECB89B916FFF}"/>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用一條直線概括整體趨勢</a:t>
            </a:r>
          </a:p>
        </p:txBody>
      </p:sp>
      <p:sp>
        <p:nvSpPr>
          <p:cNvPr id="6" name="">
            <a:extLst xmlns:a="http://schemas.openxmlformats.org/drawingml/2006/main">
              <a:ext uri="{FF2B5EF4-FFF2-40B4-BE49-F238E27FC236}">
                <a16:creationId xmlns:a16="http://schemas.microsoft.com/office/drawing/2014/main" id="{60E0167C-C886-4177-B9E8-784E31C6A382}"/>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One line summarises the overall trend</a:t>
            </a:r>
          </a:p>
        </p:txBody>
      </p:sp>
      <p:sp>
        <p:nvSpPr>
          <p:cNvPr id="7" name="">
            <a:extLst xmlns:a="http://schemas.openxmlformats.org/drawingml/2006/main">
              <a:ext uri="{FF2B5EF4-FFF2-40B4-BE49-F238E27FC236}">
                <a16:creationId xmlns:a16="http://schemas.microsoft.com/office/drawing/2014/main" id="{FB300BD5-2618-4F72-ADCF-CF950685B097}"/>
              </a:ext>
            </a:extLst>
          </p:cNvPr>
          <p:cNvSpPr>
            <a:spLocks xmlns:a="http://schemas.openxmlformats.org/drawingml/2006/main" noGrp="1"/>
          </p:cNvSpPr>
          <p:nvPr/>
        </p:nvSpPr>
        <p:spPr>
          <a:xfrm xmlns:a="http://schemas.openxmlformats.org/drawingml/2006/main">
            <a:off x="8020050" y="32385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它不必通過每一個點</a:t>
            </a:r>
          </a:p>
        </p:txBody>
      </p:sp>
      <p:sp>
        <p:nvSpPr>
          <p:cNvPr id="8" name="">
            <a:extLst xmlns:a="http://schemas.openxmlformats.org/drawingml/2006/main">
              <a:ext uri="{FF2B5EF4-FFF2-40B4-BE49-F238E27FC236}">
                <a16:creationId xmlns:a16="http://schemas.microsoft.com/office/drawing/2014/main" id="{58C6CC3D-F150-4B05-B98E-884D0BB091F9}"/>
              </a:ext>
            </a:extLst>
          </p:cNvPr>
          <p:cNvSpPr>
            <a:spLocks xmlns:a="http://schemas.openxmlformats.org/drawingml/2006/main" noGrp="1"/>
          </p:cNvSpPr>
          <p:nvPr/>
        </p:nvSpPr>
        <p:spPr>
          <a:xfrm xmlns:a="http://schemas.openxmlformats.org/drawingml/2006/main">
            <a:off x="8020050" y="37052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It need not pass through every dot</a:t>
            </a:r>
          </a:p>
        </p:txBody>
      </p:sp>
      <p:sp>
        <p:nvSpPr>
          <p:cNvPr id="9" name="">
            <a:extLst xmlns:a="http://schemas.openxmlformats.org/drawingml/2006/main">
              <a:ext uri="{FF2B5EF4-FFF2-40B4-BE49-F238E27FC236}">
                <a16:creationId xmlns:a16="http://schemas.microsoft.com/office/drawing/2014/main" id="{3A7434D4-FAB2-4531-ABDF-1698020366B1}"/>
              </a:ext>
            </a:extLst>
          </p:cNvPr>
          <p:cNvSpPr>
            <a:spLocks xmlns:a="http://schemas.openxmlformats.org/drawingml/2006/main" noGrp="1"/>
          </p:cNvSpPr>
          <p:nvPr/>
        </p:nvSpPr>
        <p:spPr>
          <a:xfrm xmlns:a="http://schemas.openxmlformats.org/drawingml/2006/main">
            <a:off x="8020050" y="46005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網頁會自動更新直線</a:t>
            </a:r>
          </a:p>
        </p:txBody>
      </p:sp>
      <p:sp>
        <p:nvSpPr>
          <p:cNvPr id="10" name="">
            <a:extLst xmlns:a="http://schemas.openxmlformats.org/drawingml/2006/main">
              <a:ext uri="{FF2B5EF4-FFF2-40B4-BE49-F238E27FC236}">
                <a16:creationId xmlns:a16="http://schemas.microsoft.com/office/drawing/2014/main" id="{7ACC8045-5496-463C-9771-0FF24E8BBE98}"/>
              </a:ext>
            </a:extLst>
          </p:cNvPr>
          <p:cNvSpPr>
            <a:spLocks xmlns:a="http://schemas.openxmlformats.org/drawingml/2006/main" noGrp="1"/>
          </p:cNvSpPr>
          <p:nvPr/>
        </p:nvSpPr>
        <p:spPr>
          <a:xfrm xmlns:a="http://schemas.openxmlformats.org/drawingml/2006/main">
            <a:off x="8020050" y="50673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page updates the line automatically</a:t>
            </a:r>
          </a:p>
        </p:txBody>
      </p:sp>
      <p:sp>
        <p:nvSpPr>
          <p:cNvPr id="11" name="">
            <a:extLst xmlns:a="http://schemas.openxmlformats.org/drawingml/2006/main">
              <a:ext uri="{FF2B5EF4-FFF2-40B4-BE49-F238E27FC236}">
                <a16:creationId xmlns:a16="http://schemas.microsoft.com/office/drawing/2014/main" id="{650D2CB8-DCD5-4766-A5CA-3F13902918C0}"/>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925143214"/>
      </p:ext>
    </p:extLst>
  </p:cSld>
</p:sld>
</file>

<file path=ppt/slides/slide7.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99939C6-976C-4A06-B8CE-665C990443CC}"/>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加入新點，觀察直線</a:t>
            </a:r>
          </a:p>
        </p:txBody>
      </p:sp>
      <p:sp>
        <p:nvSpPr>
          <p:cNvPr id="2" name="">
            <a:extLst xmlns:a="http://schemas.openxmlformats.org/drawingml/2006/main">
              <a:ext uri="{FF2B5EF4-FFF2-40B4-BE49-F238E27FC236}">
                <a16:creationId xmlns:a16="http://schemas.microsoft.com/office/drawing/2014/main" id="{A1E91328-0CCA-4531-B19A-D146F9FE46F2}"/>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Add points and observe the line</a:t>
            </a:r>
          </a:p>
        </p:txBody>
      </p:sp>
      <p:sp>
        <p:nvSpPr>
          <p:cNvPr id="3" name="">
            <a:extLst xmlns:a="http://schemas.openxmlformats.org/drawingml/2006/main">
              <a:ext uri="{FF2B5EF4-FFF2-40B4-BE49-F238E27FC236}">
                <a16:creationId xmlns:a16="http://schemas.microsoft.com/office/drawing/2014/main" id="{FFE5467F-A551-4803-9CDE-18E447549B96}"/>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A8691F85-6EE9-4E10-BCBC-144DC48D932C}"/>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在圖上點一下，加入一個數據點</a:t>
            </a:r>
          </a:p>
        </p:txBody>
      </p:sp>
      <p:sp>
        <p:nvSpPr>
          <p:cNvPr id="5" name="">
            <a:extLst xmlns:a="http://schemas.openxmlformats.org/drawingml/2006/main">
              <a:ext uri="{FF2B5EF4-FFF2-40B4-BE49-F238E27FC236}">
                <a16:creationId xmlns:a16="http://schemas.microsoft.com/office/drawing/2014/main" id="{45C2439B-E3D5-4A0A-BD94-26C40AA8AE69}"/>
              </a:ext>
            </a:extLst>
          </p:cNvPr>
          <p:cNvSpPr>
            <a:spLocks xmlns:a="http://schemas.openxmlformats.org/drawingml/2006/main" noGrp="1"/>
          </p:cNvSpPr>
          <p:nvPr/>
        </p:nvSpPr>
        <p:spPr>
          <a:xfrm xmlns:a="http://schemas.openxmlformats.org/drawingml/2006/main">
            <a:off x="609600" y="21812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Click or tap the graph to add a data point</a:t>
            </a:r>
          </a:p>
        </p:txBody>
      </p:sp>
      <p:sp>
        <p:nvSpPr>
          <p:cNvPr id="6" name="">
            <a:extLst xmlns:a="http://schemas.openxmlformats.org/drawingml/2006/main">
              <a:ext uri="{FF2B5EF4-FFF2-40B4-BE49-F238E27FC236}">
                <a16:creationId xmlns:a16="http://schemas.microsoft.com/office/drawing/2014/main" id="{8E6207BE-9F7E-4561-842F-6BBEE06F0966}"/>
              </a:ext>
            </a:extLst>
          </p:cNvPr>
          <p:cNvSpPr>
            <a:spLocks xmlns:a="http://schemas.openxmlformats.org/drawingml/2006/main" noGrp="1"/>
          </p:cNvSpPr>
          <p:nvPr/>
        </p:nvSpPr>
        <p:spPr>
          <a:xfrm xmlns:a="http://schemas.openxmlformats.org/drawingml/2006/main">
            <a:off x="609600" y="29527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比較加入點前後的 m 和 c</a:t>
            </a:r>
          </a:p>
        </p:txBody>
      </p:sp>
      <p:sp>
        <p:nvSpPr>
          <p:cNvPr id="7" name="">
            <a:extLst xmlns:a="http://schemas.openxmlformats.org/drawingml/2006/main">
              <a:ext uri="{FF2B5EF4-FFF2-40B4-BE49-F238E27FC236}">
                <a16:creationId xmlns:a16="http://schemas.microsoft.com/office/drawing/2014/main" id="{A015BF3B-F485-4E40-AA5E-50E2E129BE29}"/>
              </a:ext>
            </a:extLst>
          </p:cNvPr>
          <p:cNvSpPr>
            <a:spLocks xmlns:a="http://schemas.openxmlformats.org/drawingml/2006/main" noGrp="1"/>
          </p:cNvSpPr>
          <p:nvPr/>
        </p:nvSpPr>
        <p:spPr>
          <a:xfrm xmlns:a="http://schemas.openxmlformats.org/drawingml/2006/main">
            <a:off x="609600" y="34194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Compare m and c before and after adding the point</a:t>
            </a:r>
          </a:p>
        </p:txBody>
      </p:sp>
      <p:sp>
        <p:nvSpPr>
          <p:cNvPr id="8" name="">
            <a:extLst xmlns:a="http://schemas.openxmlformats.org/drawingml/2006/main">
              <a:ext uri="{FF2B5EF4-FFF2-40B4-BE49-F238E27FC236}">
                <a16:creationId xmlns:a16="http://schemas.microsoft.com/office/drawing/2014/main" id="{70B1AF5B-FB9A-45A1-917E-AD8C91EC51E5}"/>
              </a:ext>
            </a:extLst>
          </p:cNvPr>
          <p:cNvSpPr>
            <a:spLocks xmlns:a="http://schemas.openxmlformats.org/drawingml/2006/main" noGrp="1"/>
          </p:cNvSpPr>
          <p:nvPr/>
        </p:nvSpPr>
        <p:spPr>
          <a:xfrm xmlns:a="http://schemas.openxmlformats.org/drawingml/2006/main">
            <a:off x="609600" y="41910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試一個遠離其他點的新點</a:t>
            </a:r>
          </a:p>
        </p:txBody>
      </p:sp>
      <p:sp>
        <p:nvSpPr>
          <p:cNvPr id="9" name="">
            <a:extLst xmlns:a="http://schemas.openxmlformats.org/drawingml/2006/main">
              <a:ext uri="{FF2B5EF4-FFF2-40B4-BE49-F238E27FC236}">
                <a16:creationId xmlns:a16="http://schemas.microsoft.com/office/drawing/2014/main" id="{055A1E31-DF30-45F6-B041-A7D035DE03DD}"/>
              </a:ext>
            </a:extLst>
          </p:cNvPr>
          <p:cNvSpPr>
            <a:spLocks xmlns:a="http://schemas.openxmlformats.org/drawingml/2006/main" noGrp="1"/>
          </p:cNvSpPr>
          <p:nvPr/>
        </p:nvSpPr>
        <p:spPr>
          <a:xfrm xmlns:a="http://schemas.openxmlformats.org/drawingml/2006/main">
            <a:off x="609600" y="46577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Try a point far from the other dots</a:t>
            </a:r>
          </a:p>
        </p:txBody>
      </p:sp>
      <p:sp>
        <p:nvSpPr>
          <p:cNvPr id="10" name="">
            <a:extLst xmlns:a="http://schemas.openxmlformats.org/drawingml/2006/main">
              <a:ext uri="{FF2B5EF4-FFF2-40B4-BE49-F238E27FC236}">
                <a16:creationId xmlns:a16="http://schemas.microsoft.com/office/drawing/2014/main" id="{E31F10DE-C9A2-48CF-88D0-3530E83C9136}"/>
              </a:ext>
            </a:extLst>
          </p:cNvPr>
          <p:cNvSpPr>
            <a:spLocks xmlns:a="http://schemas.openxmlformats.org/drawingml/2006/main" noGrp="1"/>
          </p:cNvSpPr>
          <p:nvPr/>
        </p:nvSpPr>
        <p:spPr>
          <a:xfrm xmlns:a="http://schemas.openxmlformats.org/drawingml/2006/main">
            <a:off x="609600" y="536257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先預測，再觀察。把結果寫在工作紙上。</a:t>
            </a:r>
          </a:p>
        </p:txBody>
      </p:sp>
      <p:sp>
        <p:nvSpPr>
          <p:cNvPr id="11" name="">
            <a:extLst xmlns:a="http://schemas.openxmlformats.org/drawingml/2006/main">
              <a:ext uri="{FF2B5EF4-FFF2-40B4-BE49-F238E27FC236}">
                <a16:creationId xmlns:a16="http://schemas.microsoft.com/office/drawing/2014/main" id="{2D792161-6C08-49B1-91DD-369FC13504DC}"/>
              </a:ext>
            </a:extLst>
          </p:cNvPr>
          <p:cNvSpPr>
            <a:spLocks xmlns:a="http://schemas.openxmlformats.org/drawingml/2006/main" noGrp="1"/>
          </p:cNvSpPr>
          <p:nvPr/>
        </p:nvSpPr>
        <p:spPr>
          <a:xfrm xmlns:a="http://schemas.openxmlformats.org/drawingml/2006/main">
            <a:off x="609600" y="58293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Predict first, then observe. Record the result on your worksheet.</a:t>
            </a:r>
          </a:p>
        </p:txBody>
      </p:sp>
    </p:spTree>
    <p:extLst>
      <p:ext uri="{BB962C8B-B14F-4D97-AF65-F5344CB8AC3E}">
        <p14:creationId xmlns:p14="http://schemas.microsoft.com/office/powerpoint/2010/main" val="2102989168"/>
      </p:ext>
    </p:extLst>
  </p:cSld>
</p:sld>
</file>

<file path=ppt/slides/slide8.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8342080-21FB-43A9-8A1F-74A2D608A3F5}"/>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每天溫習時間與考試成績</a:t>
            </a:r>
          </a:p>
        </p:txBody>
      </p:sp>
      <p:sp>
        <p:nvSpPr>
          <p:cNvPr id="2" name="">
            <a:extLst xmlns:a="http://schemas.openxmlformats.org/drawingml/2006/main">
              <a:ext uri="{FF2B5EF4-FFF2-40B4-BE49-F238E27FC236}">
                <a16:creationId xmlns:a16="http://schemas.microsoft.com/office/drawing/2014/main" id="{7D9BEAE6-BBC5-4819-8000-EDC45149B177}"/>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Daily study time and exam score</a:t>
            </a:r>
          </a:p>
        </p:txBody>
      </p:sp>
      <p:sp>
        <p:nvSpPr>
          <p:cNvPr id="3" name="">
            <a:extLst xmlns:a="http://schemas.openxmlformats.org/drawingml/2006/main">
              <a:ext uri="{FF2B5EF4-FFF2-40B4-BE49-F238E27FC236}">
                <a16:creationId xmlns:a16="http://schemas.microsoft.com/office/drawing/2014/main" id="{C22A5DB5-B7FD-4025-9EDB-E4F3544EAEEC}"/>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8</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21a1f1b88a6843b5"/>
          </a:graphicData>
        </a:graphic>
      </p:graphicFrame>
      <p:sp>
        <p:nvSpPr>
          <p:cNvPr id="5" name="">
            <a:extLst xmlns:a="http://schemas.openxmlformats.org/drawingml/2006/main">
              <a:ext uri="{FF2B5EF4-FFF2-40B4-BE49-F238E27FC236}">
                <a16:creationId xmlns:a16="http://schemas.microsoft.com/office/drawing/2014/main" id="{5F4C934A-EAC4-4364-9386-ADB095732954}"/>
              </a:ext>
            </a:extLst>
          </p:cNvPr>
          <p:cNvSpPr>
            <a:spLocks xmlns:a="http://schemas.openxmlformats.org/drawingml/2006/main" noGrp="1"/>
          </p:cNvSpPr>
          <p:nvPr/>
        </p:nvSpPr>
        <p:spPr>
          <a:xfrm xmlns:a="http://schemas.openxmlformats.org/drawingml/2006/main">
            <a:off x="8020050" y="18192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3.5 小時的預測成績？</a:t>
            </a:r>
          </a:p>
        </p:txBody>
      </p:sp>
      <p:sp>
        <p:nvSpPr>
          <p:cNvPr id="6" name="">
            <a:extLst xmlns:a="http://schemas.openxmlformats.org/drawingml/2006/main">
              <a:ext uri="{FF2B5EF4-FFF2-40B4-BE49-F238E27FC236}">
                <a16:creationId xmlns:a16="http://schemas.microsoft.com/office/drawing/2014/main" id="{E09EC24C-1D60-4F65-9F84-73D376F8DC98}"/>
              </a:ext>
            </a:extLst>
          </p:cNvPr>
          <p:cNvSpPr>
            <a:spLocks xmlns:a="http://schemas.openxmlformats.org/drawingml/2006/main" noGrp="1"/>
          </p:cNvSpPr>
          <p:nvPr/>
        </p:nvSpPr>
        <p:spPr>
          <a:xfrm xmlns:a="http://schemas.openxmlformats.org/drawingml/2006/main">
            <a:off x="8020050" y="22860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Score for 3.5 hours a day?</a:t>
            </a:r>
          </a:p>
        </p:txBody>
      </p:sp>
      <p:sp>
        <p:nvSpPr>
          <p:cNvPr id="7" name="">
            <a:extLst xmlns:a="http://schemas.openxmlformats.org/drawingml/2006/main">
              <a:ext uri="{FF2B5EF4-FFF2-40B4-BE49-F238E27FC236}">
                <a16:creationId xmlns:a16="http://schemas.microsoft.com/office/drawing/2014/main" id="{0D8C0AF0-54B0-44F3-A8F7-CBF64DD3EDC9}"/>
              </a:ext>
            </a:extLst>
          </p:cNvPr>
          <p:cNvSpPr>
            <a:spLocks xmlns:a="http://schemas.openxmlformats.org/drawingml/2006/main" noGrp="1"/>
          </p:cNvSpPr>
          <p:nvPr/>
        </p:nvSpPr>
        <p:spPr>
          <a:xfrm xmlns:a="http://schemas.openxmlformats.org/drawingml/2006/main">
            <a:off x="8020050" y="33909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先估計，再檢查網頁</a:t>
            </a:r>
          </a:p>
        </p:txBody>
      </p:sp>
      <p:sp>
        <p:nvSpPr>
          <p:cNvPr id="8" name="">
            <a:extLst xmlns:a="http://schemas.openxmlformats.org/drawingml/2006/main">
              <a:ext uri="{FF2B5EF4-FFF2-40B4-BE49-F238E27FC236}">
                <a16:creationId xmlns:a16="http://schemas.microsoft.com/office/drawing/2014/main" id="{CAD22AD1-1F71-48F3-8473-0C6000D11DCC}"/>
              </a:ext>
            </a:extLst>
          </p:cNvPr>
          <p:cNvSpPr>
            <a:spLocks xmlns:a="http://schemas.openxmlformats.org/drawingml/2006/main" noGrp="1"/>
          </p:cNvSpPr>
          <p:nvPr/>
        </p:nvSpPr>
        <p:spPr>
          <a:xfrm xmlns:a="http://schemas.openxmlformats.org/drawingml/2006/main">
            <a:off x="8020050" y="38576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Estimate first, then check the page</a:t>
            </a:r>
          </a:p>
        </p:txBody>
      </p:sp>
      <p:sp>
        <p:nvSpPr>
          <p:cNvPr id="9" name="">
            <a:extLst xmlns:a="http://schemas.openxmlformats.org/drawingml/2006/main">
              <a:ext uri="{FF2B5EF4-FFF2-40B4-BE49-F238E27FC236}">
                <a16:creationId xmlns:a16="http://schemas.microsoft.com/office/drawing/2014/main" id="{26CA0E76-B698-4722-8C21-41ABC9ADBFEF}"/>
              </a:ext>
            </a:extLst>
          </p:cNvPr>
          <p:cNvSpPr>
            <a:spLocks xmlns:a="http://schemas.openxmlformats.org/drawingml/2006/main" noGrp="1"/>
          </p:cNvSpPr>
          <p:nvPr/>
        </p:nvSpPr>
        <p:spPr>
          <a:xfrm xmlns:a="http://schemas.openxmlformats.org/drawingml/2006/main">
            <a:off x="8020050" y="48196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10 小時的預測可信嗎？</a:t>
            </a:r>
          </a:p>
        </p:txBody>
      </p:sp>
      <p:sp>
        <p:nvSpPr>
          <p:cNvPr id="10" name="">
            <a:extLst xmlns:a="http://schemas.openxmlformats.org/drawingml/2006/main">
              <a:ext uri="{FF2B5EF4-FFF2-40B4-BE49-F238E27FC236}">
                <a16:creationId xmlns:a16="http://schemas.microsoft.com/office/drawing/2014/main" id="{D091F5C5-9138-45AF-B3D0-03DFDF19B829}"/>
              </a:ext>
            </a:extLst>
          </p:cNvPr>
          <p:cNvSpPr>
            <a:spLocks xmlns:a="http://schemas.openxmlformats.org/drawingml/2006/main" noGrp="1"/>
          </p:cNvSpPr>
          <p:nvPr/>
        </p:nvSpPr>
        <p:spPr>
          <a:xfrm xmlns:a="http://schemas.openxmlformats.org/drawingml/2006/main">
            <a:off x="8020050" y="52863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reliable is a prediction for 10 hours?</a:t>
            </a:r>
          </a:p>
        </p:txBody>
      </p:sp>
      <p:sp>
        <p:nvSpPr>
          <p:cNvPr id="11" name="">
            <a:extLst xmlns:a="http://schemas.openxmlformats.org/drawingml/2006/main">
              <a:ext uri="{FF2B5EF4-FFF2-40B4-BE49-F238E27FC236}">
                <a16:creationId xmlns:a16="http://schemas.microsoft.com/office/drawing/2014/main" id="{A8F22401-AD61-4293-A1AF-731B7861115B}"/>
              </a:ext>
            </a:extLst>
          </p:cNvPr>
          <p:cNvSpPr>
            <a:spLocks xmlns:a="http://schemas.openxmlformats.org/drawingml/2006/main" noGrp="1"/>
          </p:cNvSpPr>
          <p:nvPr/>
        </p:nvSpPr>
        <p:spPr>
          <a:xfrm xmlns:a="http://schemas.openxmlformats.org/drawingml/2006/main">
            <a:off x="609600" y="6191250"/>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不同學生的模擬數據 / Simulated data for different students</a:t>
            </a:r>
          </a:p>
        </p:txBody>
      </p:sp>
    </p:spTree>
    <p:extLst>
      <p:ext uri="{BB962C8B-B14F-4D97-AF65-F5344CB8AC3E}">
        <p14:creationId xmlns:p14="http://schemas.microsoft.com/office/powerpoint/2010/main" val="788462280"/>
      </p:ext>
    </p:extLst>
  </p:cSld>
</p:sld>
</file>

<file path=ppt/slides/slide9.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EAC87F3-17A3-4262-9139-25574F8740D5}"/>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預測結果與模型的限制</a:t>
            </a:r>
          </a:p>
        </p:txBody>
      </p:sp>
      <p:sp>
        <p:nvSpPr>
          <p:cNvPr id="2" name="">
            <a:extLst xmlns:a="http://schemas.openxmlformats.org/drawingml/2006/main">
              <a:ext uri="{FF2B5EF4-FFF2-40B4-BE49-F238E27FC236}">
                <a16:creationId xmlns:a16="http://schemas.microsoft.com/office/drawing/2014/main" id="{EC32A996-F461-467C-A6F9-EDE92BD6DC8E}"/>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Prediction results and limits of the model</a:t>
            </a:r>
          </a:p>
        </p:txBody>
      </p:sp>
      <p:sp>
        <p:nvSpPr>
          <p:cNvPr id="3" name="">
            <a:extLst xmlns:a="http://schemas.openxmlformats.org/drawingml/2006/main">
              <a:ext uri="{FF2B5EF4-FFF2-40B4-BE49-F238E27FC236}">
                <a16:creationId xmlns:a16="http://schemas.microsoft.com/office/drawing/2014/main" id="{829C64E5-4611-4FA7-A7E4-4B5B7FCE8E40}"/>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D10E744C-606C-4AD8-8CBA-C0DEF5CE21E1}"/>
              </a:ext>
            </a:extLst>
          </p:cNvPr>
          <p:cNvSpPr>
            <a:spLocks xmlns:a="http://schemas.openxmlformats.org/drawingml/2006/main" noGrp="1"/>
          </p:cNvSpPr>
          <p:nvPr/>
        </p:nvSpPr>
        <p:spPr>
          <a:xfrm xmlns:a="http://schemas.openxmlformats.org/drawingml/2006/main">
            <a:off x="609600" y="16573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086C61"/>
                </a:solidFill>
                <a:latin typeface="Arial"/>
                <a:ea typeface="Arial"/>
                <a:cs typeface="Arial"/>
              </a:defRPr>
            </a:pPr>
            <a:r>
              <a:rPr sz="4350" b="1">
                <a:solidFill>
                  <a:srgbClr val="086C61"/>
                </a:solidFill>
                <a:latin typeface="Arial"/>
                <a:ea typeface="Arial"/>
                <a:cs typeface="Arial"/>
              </a:rPr>
              <a:t>y = 2x + 50</a:t>
            </a:r>
          </a:p>
        </p:txBody>
      </p:sp>
      <p:sp>
        <p:nvSpPr>
          <p:cNvPr id="5" name="">
            <a:extLst xmlns:a="http://schemas.openxmlformats.org/drawingml/2006/main">
              <a:ext uri="{FF2B5EF4-FFF2-40B4-BE49-F238E27FC236}">
                <a16:creationId xmlns:a16="http://schemas.microsoft.com/office/drawing/2014/main" id="{92D368E6-2882-498C-A42F-C339875D4070}"/>
              </a:ext>
            </a:extLst>
          </p:cNvPr>
          <p:cNvSpPr>
            <a:spLocks xmlns:a="http://schemas.openxmlformats.org/drawingml/2006/main" noGrp="1"/>
          </p:cNvSpPr>
          <p:nvPr/>
        </p:nvSpPr>
        <p:spPr>
          <a:xfrm xmlns:a="http://schemas.openxmlformats.org/drawingml/2006/main">
            <a:off x="60960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m = 2：模型中每小時約多 2 分</a:t>
            </a:r>
          </a:p>
        </p:txBody>
      </p:sp>
      <p:sp>
        <p:nvSpPr>
          <p:cNvPr id="6" name="">
            <a:extLst xmlns:a="http://schemas.openxmlformats.org/drawingml/2006/main">
              <a:ext uri="{FF2B5EF4-FFF2-40B4-BE49-F238E27FC236}">
                <a16:creationId xmlns:a16="http://schemas.microsoft.com/office/drawing/2014/main" id="{FCE77090-F89A-44D0-8EA8-A5C95401D16A}"/>
              </a:ext>
            </a:extLst>
          </p:cNvPr>
          <p:cNvSpPr>
            <a:spLocks xmlns:a="http://schemas.openxmlformats.org/drawingml/2006/main" noGrp="1"/>
          </p:cNvSpPr>
          <p:nvPr/>
        </p:nvSpPr>
        <p:spPr>
          <a:xfrm xmlns:a="http://schemas.openxmlformats.org/drawingml/2006/main">
            <a:off x="60960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 = 2: about 2 more marks per extra hour</a:t>
            </a:r>
          </a:p>
        </p:txBody>
      </p:sp>
      <p:sp>
        <p:nvSpPr>
          <p:cNvPr id="7" name="">
            <a:extLst xmlns:a="http://schemas.openxmlformats.org/drawingml/2006/main">
              <a:ext uri="{FF2B5EF4-FFF2-40B4-BE49-F238E27FC236}">
                <a16:creationId xmlns:a16="http://schemas.microsoft.com/office/drawing/2014/main" id="{6884F604-4620-484D-9A6C-D395BE784B65}"/>
              </a:ext>
            </a:extLst>
          </p:cNvPr>
          <p:cNvSpPr>
            <a:spLocks xmlns:a="http://schemas.openxmlformats.org/drawingml/2006/main" noGrp="1"/>
          </p:cNvSpPr>
          <p:nvPr/>
        </p:nvSpPr>
        <p:spPr>
          <a:xfrm xmlns:a="http://schemas.openxmlformats.org/drawingml/2006/main">
            <a:off x="638175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c = 50：0 小時時估計的成績</a:t>
            </a:r>
          </a:p>
        </p:txBody>
      </p:sp>
      <p:sp>
        <p:nvSpPr>
          <p:cNvPr id="8" name="">
            <a:extLst xmlns:a="http://schemas.openxmlformats.org/drawingml/2006/main">
              <a:ext uri="{FF2B5EF4-FFF2-40B4-BE49-F238E27FC236}">
                <a16:creationId xmlns:a16="http://schemas.microsoft.com/office/drawing/2014/main" id="{E8D4BB63-C1C4-42C3-A555-9055BBE5EB2B}"/>
              </a:ext>
            </a:extLst>
          </p:cNvPr>
          <p:cNvSpPr>
            <a:spLocks xmlns:a="http://schemas.openxmlformats.org/drawingml/2006/main" noGrp="1"/>
          </p:cNvSpPr>
          <p:nvPr/>
        </p:nvSpPr>
        <p:spPr>
          <a:xfrm xmlns:a="http://schemas.openxmlformats.org/drawingml/2006/main">
            <a:off x="638175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c = 50: estimated score at 0 hours</a:t>
            </a:r>
          </a:p>
        </p:txBody>
      </p:sp>
      <p:sp>
        <p:nvSpPr>
          <p:cNvPr id="9" name="">
            <a:extLst xmlns:a="http://schemas.openxmlformats.org/drawingml/2006/main">
              <a:ext uri="{FF2B5EF4-FFF2-40B4-BE49-F238E27FC236}">
                <a16:creationId xmlns:a16="http://schemas.microsoft.com/office/drawing/2014/main" id="{F60ED57F-3969-4A7F-AF86-1AAC6C86DB68}"/>
              </a:ext>
            </a:extLst>
          </p:cNvPr>
          <p:cNvSpPr>
            <a:spLocks xmlns:a="http://schemas.openxmlformats.org/drawingml/2006/main" noGrp="1"/>
          </p:cNvSpPr>
          <p:nvPr/>
        </p:nvSpPr>
        <p:spPr>
          <a:xfrm xmlns:a="http://schemas.openxmlformats.org/drawingml/2006/main">
            <a:off x="60960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3.5 小時：約 57 分</a:t>
            </a:r>
          </a:p>
        </p:txBody>
      </p:sp>
      <p:sp>
        <p:nvSpPr>
          <p:cNvPr id="10" name="">
            <a:extLst xmlns:a="http://schemas.openxmlformats.org/drawingml/2006/main">
              <a:ext uri="{FF2B5EF4-FFF2-40B4-BE49-F238E27FC236}">
                <a16:creationId xmlns:a16="http://schemas.microsoft.com/office/drawing/2014/main" id="{99CC448C-A01C-4A27-B434-BBFAF8DF3880}"/>
              </a:ext>
            </a:extLst>
          </p:cNvPr>
          <p:cNvSpPr>
            <a:spLocks xmlns:a="http://schemas.openxmlformats.org/drawingml/2006/main" noGrp="1"/>
          </p:cNvSpPr>
          <p:nvPr/>
        </p:nvSpPr>
        <p:spPr>
          <a:xfrm xmlns:a="http://schemas.openxmlformats.org/drawingml/2006/main">
            <a:off x="60960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3.5 hours: about 57 marks</a:t>
            </a:r>
          </a:p>
        </p:txBody>
      </p:sp>
      <p:sp>
        <p:nvSpPr>
          <p:cNvPr id="11" name="">
            <a:extLst xmlns:a="http://schemas.openxmlformats.org/drawingml/2006/main">
              <a:ext uri="{FF2B5EF4-FFF2-40B4-BE49-F238E27FC236}">
                <a16:creationId xmlns:a16="http://schemas.microsoft.com/office/drawing/2014/main" id="{21CA48EA-F921-4D0B-9E4C-5F55BC7230BC}"/>
              </a:ext>
            </a:extLst>
          </p:cNvPr>
          <p:cNvSpPr>
            <a:spLocks xmlns:a="http://schemas.openxmlformats.org/drawingml/2006/main" noGrp="1"/>
          </p:cNvSpPr>
          <p:nvPr/>
        </p:nvSpPr>
        <p:spPr>
          <a:xfrm xmlns:a="http://schemas.openxmlformats.org/drawingml/2006/main">
            <a:off x="638175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10 小時：約 70 分</a:t>
            </a:r>
          </a:p>
        </p:txBody>
      </p:sp>
      <p:sp>
        <p:nvSpPr>
          <p:cNvPr id="12" name="">
            <a:extLst xmlns:a="http://schemas.openxmlformats.org/drawingml/2006/main">
              <a:ext uri="{FF2B5EF4-FFF2-40B4-BE49-F238E27FC236}">
                <a16:creationId xmlns:a16="http://schemas.microsoft.com/office/drawing/2014/main" id="{4EAF6218-D012-4B1E-B65E-637C2BBD9849}"/>
              </a:ext>
            </a:extLst>
          </p:cNvPr>
          <p:cNvSpPr>
            <a:spLocks xmlns:a="http://schemas.openxmlformats.org/drawingml/2006/main" noGrp="1"/>
          </p:cNvSpPr>
          <p:nvPr/>
        </p:nvSpPr>
        <p:spPr>
          <a:xfrm xmlns:a="http://schemas.openxmlformats.org/drawingml/2006/main">
            <a:off x="638175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hours: about 70 marks</a:t>
            </a:r>
          </a:p>
        </p:txBody>
      </p:sp>
      <p:sp>
        <p:nvSpPr>
          <p:cNvPr id="13" name="">
            <a:extLst xmlns:a="http://schemas.openxmlformats.org/drawingml/2006/main">
              <a:ext uri="{FF2B5EF4-FFF2-40B4-BE49-F238E27FC236}">
                <a16:creationId xmlns:a16="http://schemas.microsoft.com/office/drawing/2014/main" id="{7801DF10-1C05-4565-B505-8E5FD391D854}"/>
              </a:ext>
            </a:extLst>
          </p:cNvPr>
          <p:cNvSpPr>
            <a:spLocks xmlns:a="http://schemas.openxmlformats.org/drawingml/2006/main" noGrp="1"/>
          </p:cNvSpPr>
          <p:nvPr/>
        </p:nvSpPr>
        <p:spPr>
          <a:xfrm xmlns:a="http://schemas.openxmlformats.org/drawingml/2006/main">
            <a:off x="609600" y="51625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C43"/>
                </a:solidFill>
                <a:latin typeface="Heiti TC"/>
                <a:ea typeface="Heiti TC"/>
                <a:cs typeface="Heiti TC"/>
              </a:defRPr>
            </a:pPr>
            <a:r>
              <a:rPr sz="1950" b="0">
                <a:solidFill>
                  <a:srgbClr val="173C43"/>
                </a:solidFill>
                <a:latin typeface="Heiti TC"/>
                <a:ea typeface="Heiti TC"/>
                <a:cs typeface="Heiti TC"/>
              </a:rPr>
              <a:t>10 超出觀察範圍，可能較不可靠。趨勢不保證個別結果。</a:t>
            </a:r>
          </a:p>
        </p:txBody>
      </p:sp>
      <p:sp>
        <p:nvSpPr>
          <p:cNvPr id="14" name="">
            <a:extLst xmlns:a="http://schemas.openxmlformats.org/drawingml/2006/main">
              <a:ext uri="{FF2B5EF4-FFF2-40B4-BE49-F238E27FC236}">
                <a16:creationId xmlns:a16="http://schemas.microsoft.com/office/drawing/2014/main" id="{EED38E19-6F88-49C3-966F-A216BAE232F5}"/>
              </a:ext>
            </a:extLst>
          </p:cNvPr>
          <p:cNvSpPr>
            <a:spLocks xmlns:a="http://schemas.openxmlformats.org/drawingml/2006/main" noGrp="1"/>
          </p:cNvSpPr>
          <p:nvPr/>
        </p:nvSpPr>
        <p:spPr>
          <a:xfrm xmlns:a="http://schemas.openxmlformats.org/drawingml/2006/main">
            <a:off x="609600" y="56292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is outside the observed range. The trend does not guarantee an individual result.</a:t>
            </a:r>
          </a:p>
        </p:txBody>
      </p:sp>
    </p:spTree>
    <p:extLst>
      <p:ext uri="{BB962C8B-B14F-4D97-AF65-F5344CB8AC3E}">
        <p14:creationId xmlns:p14="http://schemas.microsoft.com/office/powerpoint/2010/main" val="1855809145"/>
      </p:ext>
    </p:extLst>
  </p:cSld>
</p:sld>
</file>

<file path=ppt/slides/slide10.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FF15A6-6782-4C06-AD37-B92DAEEFFAD0}"/>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你的預測與觀察</a:t>
            </a:r>
          </a:p>
        </p:txBody>
      </p:sp>
      <p:sp>
        <p:nvSpPr>
          <p:cNvPr id="2" name="">
            <a:extLst xmlns:a="http://schemas.openxmlformats.org/drawingml/2006/main">
              <a:ext uri="{FF2B5EF4-FFF2-40B4-BE49-F238E27FC236}">
                <a16:creationId xmlns:a16="http://schemas.microsoft.com/office/drawing/2014/main" id="{CC2705E1-0F61-423B-B6D4-F2FC1C01FDEE}"/>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Your prediction and observation</a:t>
            </a:r>
          </a:p>
        </p:txBody>
      </p:sp>
      <p:sp>
        <p:nvSpPr>
          <p:cNvPr id="3" name="">
            <a:extLst xmlns:a="http://schemas.openxmlformats.org/drawingml/2006/main">
              <a:ext uri="{FF2B5EF4-FFF2-40B4-BE49-F238E27FC236}">
                <a16:creationId xmlns:a16="http://schemas.microsoft.com/office/drawing/2014/main" id="{F31B8BD1-F98A-4FDC-94E5-2817122A2BA1}"/>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5595922B-0BB6-4E93-B204-CACC835061CF}"/>
              </a:ext>
            </a:extLst>
          </p:cNvPr>
          <p:cNvSpPr>
            <a:spLocks xmlns:a="http://schemas.openxmlformats.org/drawingml/2006/main" noGrp="1"/>
          </p:cNvSpPr>
          <p:nvPr/>
        </p:nvSpPr>
        <p:spPr>
          <a:xfrm xmlns:a="http://schemas.openxmlformats.org/drawingml/2006/main">
            <a:off x="609600" y="1762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你的估計與網頁的預測接近嗎？</a:t>
            </a:r>
          </a:p>
        </p:txBody>
      </p:sp>
      <p:sp>
        <p:nvSpPr>
          <p:cNvPr id="5" name="">
            <a:extLst xmlns:a="http://schemas.openxmlformats.org/drawingml/2006/main">
              <a:ext uri="{FF2B5EF4-FFF2-40B4-BE49-F238E27FC236}">
                <a16:creationId xmlns:a16="http://schemas.microsoft.com/office/drawing/2014/main" id="{323FEAF1-D787-4ADA-8148-DDBA65DCD0D5}"/>
              </a:ext>
            </a:extLst>
          </p:cNvPr>
          <p:cNvSpPr>
            <a:spLocks xmlns:a="http://schemas.openxmlformats.org/drawingml/2006/main" noGrp="1"/>
          </p:cNvSpPr>
          <p:nvPr/>
        </p:nvSpPr>
        <p:spPr>
          <a:xfrm xmlns:a="http://schemas.openxmlformats.org/drawingml/2006/main">
            <a:off x="609600" y="2228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Was your estimate close to the page’s prediction?</a:t>
            </a:r>
          </a:p>
        </p:txBody>
      </p:sp>
      <p:sp>
        <p:nvSpPr>
          <p:cNvPr id="6" name="">
            <a:extLst xmlns:a="http://schemas.openxmlformats.org/drawingml/2006/main">
              <a:ext uri="{FF2B5EF4-FFF2-40B4-BE49-F238E27FC236}">
                <a16:creationId xmlns:a16="http://schemas.microsoft.com/office/drawing/2014/main" id="{6B0A6FF9-D8F3-40E2-8444-6C5F454E3190}"/>
              </a:ext>
            </a:extLst>
          </p:cNvPr>
          <p:cNvSpPr>
            <a:spLocks xmlns:a="http://schemas.openxmlformats.org/drawingml/2006/main" noGrp="1"/>
          </p:cNvSpPr>
          <p:nvPr/>
        </p:nvSpPr>
        <p:spPr>
          <a:xfrm xmlns:a="http://schemas.openxmlformats.org/drawingml/2006/main">
            <a:off x="609600" y="30956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加入新點後，m 和 c 有甚麼改變？</a:t>
            </a:r>
          </a:p>
        </p:txBody>
      </p:sp>
      <p:sp>
        <p:nvSpPr>
          <p:cNvPr id="7" name="">
            <a:extLst xmlns:a="http://schemas.openxmlformats.org/drawingml/2006/main">
              <a:ext uri="{FF2B5EF4-FFF2-40B4-BE49-F238E27FC236}">
                <a16:creationId xmlns:a16="http://schemas.microsoft.com/office/drawing/2014/main" id="{7339E20A-67B1-47EA-9BC3-DFF7B2169108}"/>
              </a:ext>
            </a:extLst>
          </p:cNvPr>
          <p:cNvSpPr>
            <a:spLocks xmlns:a="http://schemas.openxmlformats.org/drawingml/2006/main" noGrp="1"/>
          </p:cNvSpPr>
          <p:nvPr/>
        </p:nvSpPr>
        <p:spPr>
          <a:xfrm xmlns:a="http://schemas.openxmlformats.org/drawingml/2006/main">
            <a:off x="609600" y="3562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How did m and c change after you added a point?</a:t>
            </a:r>
          </a:p>
        </p:txBody>
      </p:sp>
      <p:sp>
        <p:nvSpPr>
          <p:cNvPr id="8" name="">
            <a:extLst xmlns:a="http://schemas.openxmlformats.org/drawingml/2006/main">
              <a:ext uri="{FF2B5EF4-FFF2-40B4-BE49-F238E27FC236}">
                <a16:creationId xmlns:a16="http://schemas.microsoft.com/office/drawing/2014/main" id="{63D7F877-13A1-4609-A33A-603100BBD0CA}"/>
              </a:ext>
            </a:extLst>
          </p:cNvPr>
          <p:cNvSpPr>
            <a:spLocks xmlns:a="http://schemas.openxmlformats.org/drawingml/2006/main" noGrp="1"/>
          </p:cNvSpPr>
          <p:nvPr/>
        </p:nvSpPr>
        <p:spPr>
          <a:xfrm xmlns:a="http://schemas.openxmlformats.org/drawingml/2006/main">
            <a:off x="609600" y="4429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你會較信賴哪個預測？為甚麼？</a:t>
            </a:r>
          </a:p>
        </p:txBody>
      </p:sp>
      <p:sp>
        <p:nvSpPr>
          <p:cNvPr id="9" name="">
            <a:extLst xmlns:a="http://schemas.openxmlformats.org/drawingml/2006/main">
              <a:ext uri="{FF2B5EF4-FFF2-40B4-BE49-F238E27FC236}">
                <a16:creationId xmlns:a16="http://schemas.microsoft.com/office/drawing/2014/main" id="{0C6201D8-79AC-4D35-A30D-4F152DE3C7A7}"/>
              </a:ext>
            </a:extLst>
          </p:cNvPr>
          <p:cNvSpPr>
            <a:spLocks xmlns:a="http://schemas.openxmlformats.org/drawingml/2006/main" noGrp="1"/>
          </p:cNvSpPr>
          <p:nvPr/>
        </p:nvSpPr>
        <p:spPr>
          <a:xfrm xmlns:a="http://schemas.openxmlformats.org/drawingml/2006/main">
            <a:off x="609600" y="4895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Which prediction would you trust more? Why?</a:t>
            </a:r>
          </a:p>
        </p:txBody>
      </p:sp>
      <p:sp>
        <p:nvSpPr>
          <p:cNvPr id="10" name="">
            <a:extLst xmlns:a="http://schemas.openxmlformats.org/drawingml/2006/main">
              <a:ext uri="{FF2B5EF4-FFF2-40B4-BE49-F238E27FC236}">
                <a16:creationId xmlns:a16="http://schemas.microsoft.com/office/drawing/2014/main" id="{2639638D-016D-4E89-B887-0791CE4181B6}"/>
              </a:ext>
            </a:extLst>
          </p:cNvPr>
          <p:cNvSpPr>
            <a:spLocks xmlns:a="http://schemas.openxmlformats.org/drawingml/2006/main" noGrp="1"/>
          </p:cNvSpPr>
          <p:nvPr/>
        </p:nvSpPr>
        <p:spPr>
          <a:xfrm xmlns:a="http://schemas.openxmlformats.org/drawingml/2006/main">
            <a:off x="609600" y="5838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86C61"/>
                </a:solidFill>
                <a:latin typeface="Heiti TC"/>
                <a:ea typeface="Heiti TC"/>
                <a:cs typeface="Heiti TC"/>
              </a:defRPr>
            </a:pPr>
            <a:r>
              <a:rPr sz="1725" b="0">
                <a:solidFill>
                  <a:srgbClr val="086C61"/>
                </a:solidFill>
                <a:latin typeface="Heiti TC"/>
                <a:ea typeface="Heiti TC"/>
                <a:cs typeface="Heiti TC"/>
              </a:rPr>
              <a:t>工作紙最後一節 / Final section of the worksheet</a:t>
            </a:r>
          </a:p>
        </p:txBody>
      </p:sp>
    </p:spTree>
    <p:extLst>
      <p:ext uri="{BB962C8B-B14F-4D97-AF65-F5344CB8AC3E}">
        <p14:creationId xmlns:p14="http://schemas.microsoft.com/office/powerpoint/2010/main" val="15533701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2026-10-05T03:41:32.1150000Z</dcterms:created>
  <dcterms:modified xsi:type="dcterms:W3CDTF">2026-10-05T03:41:32.1150000Z</dcterms:modified>
</coreProperties>
</file>