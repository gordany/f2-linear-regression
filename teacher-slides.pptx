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2.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6.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7.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8.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a74c744e5ff427c" /><Relationship Type="http://schemas.openxmlformats.org/officeDocument/2006/relationships/extended-properties" Target="/docProps/app.xml" Id="R56868f5244e84e27" /><Relationship Type="http://schemas.openxmlformats.org/officeDocument/2006/relationships/officeDocument" Target="/ppt/presentation.xml" Id="Rf29a5bf026db4aac" /></Relationships>
</file>

<file path=ppt/presentation.xml><?xml version="1.0" encoding="utf-8"?>
<p:presentation xmlns:p="http://schemas.openxmlformats.org/presentationml/2006/main">
  <p:sldMasterIdLst>
    <p:sldMasterId xmlns:r="http://schemas.openxmlformats.org/officeDocument/2006/relationships" id="2147483648" r:id="R345bc7fda9774395"/>
  </p:sldMasterIdLst>
  <p:notesMasterIdLst>
    <p:notesMasterId xmlns:r="http://schemas.openxmlformats.org/officeDocument/2006/relationships" r:id="Ra68363e850854760"/>
  </p:notesMasterIdLst>
  <p:sldIdLst>
    <p:sldId xmlns:r="http://schemas.openxmlformats.org/officeDocument/2006/relationships" id="256" r:id="Ra57b540e49d24c80"/>
    <p:sldId xmlns:r="http://schemas.openxmlformats.org/officeDocument/2006/relationships" id="257" r:id="R635c43cf1fae4f47"/>
    <p:sldId xmlns:r="http://schemas.openxmlformats.org/officeDocument/2006/relationships" id="258" r:id="Radec4cad9c5d4804"/>
    <p:sldId xmlns:r="http://schemas.openxmlformats.org/officeDocument/2006/relationships" id="259" r:id="R280f9cf4ef754caf"/>
    <p:sldId xmlns:r="http://schemas.openxmlformats.org/officeDocument/2006/relationships" id="260" r:id="Rdfd13d3316d84334"/>
    <p:sldId xmlns:r="http://schemas.openxmlformats.org/officeDocument/2006/relationships" id="261" r:id="Rd5a384a06311437d"/>
    <p:sldId xmlns:r="http://schemas.openxmlformats.org/officeDocument/2006/relationships" id="262" r:id="Rbd8d78b75aad4589"/>
    <p:sldId xmlns:r="http://schemas.openxmlformats.org/officeDocument/2006/relationships" id="263" r:id="Rec3b51cdf0c947d8"/>
    <p:sldId xmlns:r="http://schemas.openxmlformats.org/officeDocument/2006/relationships" id="264" r:id="Rb42a5096b30f4cb0"/>
    <p:sldId xmlns:r="http://schemas.openxmlformats.org/officeDocument/2006/relationships" id="265" r:id="R0725482784e04e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5d233a48f6b4689" /><Relationship Type="http://schemas.openxmlformats.org/officeDocument/2006/relationships/slideMaster" Target="/ppt/slideMasters/slideMaster1.xml" Id="R345bc7fda9774395" /><Relationship Type="http://schemas.openxmlformats.org/officeDocument/2006/relationships/notesMaster" Target="/ppt/notesMasters/notesMaster1.xml" Id="Ra68363e850854760" /><Relationship Type="http://schemas.openxmlformats.org/officeDocument/2006/relationships/presProps" Target="/ppt/presProps.xml" Id="R17023dfb9b5e4870" /><Relationship Type="http://schemas.openxmlformats.org/officeDocument/2006/relationships/tableStyles" Target="/ppt/tableStyles.xml" Id="R3113f012cbd44640" /><Relationship Type="http://schemas.openxmlformats.org/officeDocument/2006/relationships/slide" Target="/ppt/slides/slide1.xml" Id="Ra57b540e49d24c80" /><Relationship Type="http://schemas.openxmlformats.org/officeDocument/2006/relationships/slide" Target="/ppt/slides/slide2.xml" Id="R635c43cf1fae4f47" /><Relationship Type="http://schemas.openxmlformats.org/officeDocument/2006/relationships/slide" Target="/ppt/slides/slide3.xml" Id="Radec4cad9c5d4804" /><Relationship Type="http://schemas.openxmlformats.org/officeDocument/2006/relationships/slide" Target="/ppt/slides/slide4.xml" Id="R280f9cf4ef754caf" /><Relationship Type="http://schemas.openxmlformats.org/officeDocument/2006/relationships/slide" Target="/ppt/slides/slide5.xml" Id="Rdfd13d3316d84334" /><Relationship Type="http://schemas.openxmlformats.org/officeDocument/2006/relationships/slide" Target="/ppt/slides/slide6.xml" Id="Rd5a384a06311437d" /><Relationship Type="http://schemas.openxmlformats.org/officeDocument/2006/relationships/slide" Target="/ppt/slides/slide7.xml" Id="Rbd8d78b75aad4589" /><Relationship Type="http://schemas.openxmlformats.org/officeDocument/2006/relationships/slide" Target="/ppt/slides/slide8.xml" Id="Rec3b51cdf0c947d8" /><Relationship Type="http://schemas.openxmlformats.org/officeDocument/2006/relationships/slide" Target="/ppt/slides/slide9.xml" Id="Rb42a5096b30f4cb0" /><Relationship Type="http://schemas.openxmlformats.org/officeDocument/2006/relationships/slide" Target="/ppt/slides/slide10.xml" Id="R0725482784e04e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59f28490cf448e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fb810fb4fd470e" /><Relationship Type="http://schemas.openxmlformats.org/officeDocument/2006/relationships/notesMaster" Target="/ppt/notesMasters/notesMaster1.xml" Id="R3076625894e24f8a" /></Relationships>
</file>

<file path=ppt/notesSlides/_rels/notesSlide2.xml.rels>&#65279;<?xml version="1.0" encoding="utf-8"?><Relationships xmlns="http://schemas.openxmlformats.org/package/2006/relationships"><Relationship Type="http://schemas.openxmlformats.org/officeDocument/2006/relationships/slide" Target="/ppt/slides/slide2.xml" Id="R27e97bfc5cde40fa" /><Relationship Type="http://schemas.openxmlformats.org/officeDocument/2006/relationships/notesMaster" Target="/ppt/notesMasters/notesMaster1.xml" Id="R5c8c48cc343e4100" /></Relationships>
</file>

<file path=ppt/notesSlides/_rels/notesSlide3.xml.rels>&#65279;<?xml version="1.0" encoding="utf-8"?><Relationships xmlns="http://schemas.openxmlformats.org/package/2006/relationships"><Relationship Type="http://schemas.openxmlformats.org/officeDocument/2006/relationships/slide" Target="/ppt/slides/slide3.xml" Id="R3159fb347e3644a2" /><Relationship Type="http://schemas.openxmlformats.org/officeDocument/2006/relationships/notesMaster" Target="/ppt/notesMasters/notesMaster1.xml" Id="R98a5f38b694e4c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1a233c4c0534f74" /><Relationship Type="http://schemas.openxmlformats.org/officeDocument/2006/relationships/notesMaster" Target="/ppt/notesMasters/notesMaster1.xml" Id="R4e714cc2060f47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a4b780e9e96347b0" /><Relationship Type="http://schemas.openxmlformats.org/officeDocument/2006/relationships/notesMaster" Target="/ppt/notesMasters/notesMaster1.xml" Id="R673f7206ae0249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34b317e3b61f411e" /><Relationship Type="http://schemas.openxmlformats.org/officeDocument/2006/relationships/notesMaster" Target="/ppt/notesMasters/notesMaster1.xml" Id="Rde1cf1dfdd4f4b9b" /></Relationships>
</file>

<file path=ppt/notesSlides/_rels/notesSlide7.xml.rels>&#65279;<?xml version="1.0" encoding="utf-8"?><Relationships xmlns="http://schemas.openxmlformats.org/package/2006/relationships"><Relationship Type="http://schemas.openxmlformats.org/officeDocument/2006/relationships/slide" Target="/ppt/slides/slide7.xml" Id="Rb7275e1e555d42b1" /><Relationship Type="http://schemas.openxmlformats.org/officeDocument/2006/relationships/notesMaster" Target="/ppt/notesMasters/notesMaster1.xml" Id="R3d1dce5e94dd4f1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d7eab6bfc584596" /><Relationship Type="http://schemas.openxmlformats.org/officeDocument/2006/relationships/notesMaster" Target="/ppt/notesMasters/notesMaster1.xml" Id="R541a73d8a3534f13" /></Relationships>
</file>

<file path=ppt/notesSlides/_rels/notesSlide9.xml.rels>&#65279;<?xml version="1.0" encoding="utf-8"?><Relationships xmlns="http://schemas.openxmlformats.org/package/2006/relationships"><Relationship Type="http://schemas.openxmlformats.org/officeDocument/2006/relationships/slide" Target="/ppt/slides/slide9.xml" Id="R249bf0f2d22444cc" /><Relationship Type="http://schemas.openxmlformats.org/officeDocument/2006/relationships/notesMaster" Target="/ppt/notesMasters/notesMaster1.xml" Id="R794c9a2ad305454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247ea0c44d14d3f" /><Relationship Type="http://schemas.openxmlformats.org/officeDocument/2006/relationships/notesMaster" Target="/ppt/notesMasters/notesMaster1.xml" Id="R1ac6cfc49cba44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45 seconds. Start with the equation. Ask students which part describes the starting amount and which part describes the change. No proof or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60 seconds. Explain the water tank scenario. At time zero it already holds 5 litres. Point to the intercept and ask for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75 seconds. Each minute adds 2 litres. Show the points (1,7) and (2,9). Increase x by 1, y by 2. Units of m are litres per minute.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60 seconds. Students describe each trend before reading the labels. These are illustrative lines, not preset dataset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1. This is simulated delivery data, with separate observations. Ask whether all points lie on one line and what trend students notice. Do not give the dataset trend in the dropdown.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Step 1. Explain that the line summarises the whole dataset. It need not pass through each point. The app calculates it automatically. Do not teach the least-squares algorithm.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2. Students keep their selected dataset and click or tap the graph. Ask them to predict first, compare m and c, and use Undo or Reset between experiments. No coordinate-entry controls appear on the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3. Each dot represents simulated observations from a different student. Students estimate the score for 3.5 hours per day and record it before checking the page. Axes are fixed at 0–24 hours and 0–100 marks. A trend does not prove that more study guarantees a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written predictions. The fitted line is y=2x+50. m is about 2 marks per extra study hour in this model. c is the estimated score at zero hours. 3.5 hours is within the observed 0–6-hour range. 10 hours is outside. At 24 hours the model gives 98 marks, but this remains far outside the observed range and cannot guarantee a result. Discuss how other factors influence scores.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5 minutes. Students complete the last worksheet section. Ask pairs to share one observation. Review initial value and rate of change without proof or rigorous mathematics.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c36e19d46554a9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fcdfc798e34398" /><Relationship Type="http://schemas.openxmlformats.org/officeDocument/2006/relationships/slideLayout" Target="/ppt/slideLayouts/slideLayout1.xml" Id="Rc3a5b03d59e0429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3a5b03d59e0429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87549496a6e4a2c" /><Relationship Type="http://schemas.openxmlformats.org/officeDocument/2006/relationships/notesSlide" Target="/ppt/notesSlides/notesSlide1.xml" Id="R31b742d2beed4ef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b30d488c81e4098" /><Relationship Type="http://schemas.openxmlformats.org/officeDocument/2006/relationships/chart" Target="/ppt/slides/charts/chart1.xml" Id="R5d14749742a04fbc" /><Relationship Type="http://schemas.openxmlformats.org/officeDocument/2006/relationships/notesSlide" Target="/ppt/notesSlides/notesSlide2.xml" Id="R2562596d74dc419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3c8f61c46bd473d" /><Relationship Type="http://schemas.openxmlformats.org/officeDocument/2006/relationships/chart" Target="/ppt/slides/charts/chart2.xml" Id="R2e0f8a61df914296" /><Relationship Type="http://schemas.openxmlformats.org/officeDocument/2006/relationships/notesSlide" Target="/ppt/notesSlides/notesSlide3.xml" Id="R4abdfd99b44a455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f013a31f56b459f" /><Relationship Type="http://schemas.openxmlformats.org/officeDocument/2006/relationships/chart" Target="/ppt/slides/charts/chart3.xml" Id="R78f84691b7764b91" /><Relationship Type="http://schemas.openxmlformats.org/officeDocument/2006/relationships/chart" Target="/ppt/slides/charts/chart4.xml" Id="Rbae6ccb3b4624575" /><Relationship Type="http://schemas.openxmlformats.org/officeDocument/2006/relationships/chart" Target="/ppt/slides/charts/chart5.xml" Id="Rf06a2c4f8c644812" /><Relationship Type="http://schemas.openxmlformats.org/officeDocument/2006/relationships/notesSlide" Target="/ppt/notesSlides/notesSlide4.xml" Id="R9c741423b4564b4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df3fdad54ee424f" /><Relationship Type="http://schemas.openxmlformats.org/officeDocument/2006/relationships/chart" Target="/ppt/slides/charts/chart6.xml" Id="R52a0bdaba48545bd" /><Relationship Type="http://schemas.openxmlformats.org/officeDocument/2006/relationships/notesSlide" Target="/ppt/notesSlides/notesSlide5.xml" Id="R0fa2d812f2244c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352016c285d4b75" /><Relationship Type="http://schemas.openxmlformats.org/officeDocument/2006/relationships/chart" Target="/ppt/slides/charts/chart7.xml" Id="Rdf97942adbdc40c1" /><Relationship Type="http://schemas.openxmlformats.org/officeDocument/2006/relationships/notesSlide" Target="/ppt/notesSlides/notesSlide6.xml" Id="Rca52f380ddda418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d39a07d763c48e0" /><Relationship Type="http://schemas.openxmlformats.org/officeDocument/2006/relationships/notesSlide" Target="/ppt/notesSlides/notesSlide7.xml" Id="R42e97133385c48c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cf8cbcd02144d69" /><Relationship Type="http://schemas.openxmlformats.org/officeDocument/2006/relationships/chart" Target="/ppt/slides/charts/chart8.xml" Id="Rc415e283d68e4231" /><Relationship Type="http://schemas.openxmlformats.org/officeDocument/2006/relationships/notesSlide" Target="/ppt/notesSlides/notesSlide8.xml" Id="Rfbd1a04f2d7a403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8e77ec69b184a4a" /><Relationship Type="http://schemas.openxmlformats.org/officeDocument/2006/relationships/notesSlide" Target="/ppt/notesSlides/notesSlide9.xml" Id="R2595460abd0e4a3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bed6b69961b4b06" /><Relationship Type="http://schemas.openxmlformats.org/officeDocument/2006/relationships/notesSlide" Target="/ppt/notesSlides/notesSlide10.xml" Id="R274db94b25684b1a" /></Relationships>
</file>

<file path=ppt/slides/charts/chart1.xml><?xml version="1.0" encoding="utf-8"?>
<c:chartSpace xmlns:c="http://schemas.openxmlformats.org/drawingml/2006/chart">
  <c:lang val="en-US"/>
  <c:chart>
    <c:plotArea>
      <c:scatterChart>
        <c:scatterStyle val="lineMarker"/>
        <c:ser>
          <c:idx val="0"/>
          <c:order val="0"/>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5</c:v>
              </c:pt>
            </c:numLit>
          </c:xVal>
          <c:yVal>
            <c:numLit>
              <c:formatCode>0</c:formatCode>
              <c:ptCount val="2"/>
              <c:pt idx="0">
                <c:v>5</c:v>
              </c:pt>
              <c:pt idx="1">
                <c:v>15</c:v>
              </c:pt>
            </c:numLit>
          </c:yVal>
        </c:ser>
        <c:ser>
          <c:idx val="1"/>
          <c:order val="1"/>
          <c:tx>
            <c:v>初始值 / Initial value</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
              <c:pt idx="0">
                <c:v>0</c:v>
              </c:pt>
            </c:numLit>
          </c:xVal>
          <c:yVal>
            <c:numLit>
              <c:formatCode>0</c:formatCode>
              <c:ptCount val="1"/>
              <c:pt idx="0">
                <c:v>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 (L)</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5"/>
      </c:valAx>
      <c:valAx>
        <c:axId val="48650112"/>
        <c:scaling>
          <c:orientation val="minMax"/>
          <c:max val="5"/>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 (min)</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1"/>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2.xml><?xml version="1.0" encoding="utf-8"?>
<c:chartSpace xmlns:c="http://schemas.openxmlformats.org/drawingml/2006/chart">
  <c:lang val="en-US"/>
  <c:chart>
    <c:plotArea>
      <c:scatterChart>
        <c:scatterStyle val="lineMarker"/>
        <c:ser>
          <c:idx val="0"/>
          <c:order val="0"/>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6"/>
              <c:pt idx="0">
                <c:v>0</c:v>
              </c:pt>
              <c:pt idx="1">
                <c:v>1</c:v>
              </c:pt>
              <c:pt idx="2">
                <c:v>2</c:v>
              </c:pt>
              <c:pt idx="3">
                <c:v>3</c:v>
              </c:pt>
              <c:pt idx="4">
                <c:v>4</c:v>
              </c:pt>
              <c:pt idx="5">
                <c:v>5</c:v>
              </c:pt>
            </c:numLit>
          </c:xVal>
          <c:yVal>
            <c:numLit>
              <c:formatCode>0</c:formatCode>
              <c:ptCount val="6"/>
              <c:pt idx="0">
                <c:v>5</c:v>
              </c:pt>
              <c:pt idx="1">
                <c:v>7</c:v>
              </c:pt>
              <c:pt idx="2">
                <c:v>9</c:v>
              </c:pt>
              <c:pt idx="3">
                <c:v>11</c:v>
              </c:pt>
              <c:pt idx="4">
                <c:v>13</c:v>
              </c:pt>
              <c:pt idx="5">
                <c:v>15</c:v>
              </c:pt>
            </c:numLit>
          </c:yVal>
        </c:ser>
        <c:ser>
          <c:idx val="1"/>
          <c:order val="1"/>
          <c:tx>
            <c:v>觀察 / Values</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2"/>
              <c:pt idx="0">
                <c:v>1</c:v>
              </c:pt>
              <c:pt idx="1">
                <c:v>2</c:v>
              </c:pt>
            </c:numLit>
          </c:xVal>
          <c:yVal>
            <c:numLit>
              <c:formatCode>0</c:formatCode>
              <c:ptCount val="2"/>
              <c:pt idx="0">
                <c:v>7</c:v>
              </c:pt>
              <c:pt idx="1">
                <c:v>9</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 (L)</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5"/>
      </c:valAx>
      <c:valAx>
        <c:axId val="48650112"/>
        <c:scaling>
          <c:orientation val="minMax"/>
          <c:max val="5"/>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 (min)</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1"/>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3.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2</c:v>
              </c:pt>
              <c:pt idx="1">
                <c:v>10</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4.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10</c:v>
              </c:pt>
              <c:pt idx="1">
                <c:v>2</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5.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6</c:v>
              </c:pt>
              <c:pt idx="1">
                <c:v>6</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6.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收費 / Fee (HK$)</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距離 / Distance (km)</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7.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ser>
          <c:idx val="1"/>
          <c:order val="1"/>
          <c:tx>
            <c:v>最佳擬合 / Best fit</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10</c:v>
              </c:pt>
            </c:numLit>
          </c:xVal>
          <c:yVal>
            <c:numLit>
              <c:formatCode>0</c:formatCode>
              <c:ptCount val="2"/>
              <c:pt idx="0">
                <c:v>9.9090909091</c:v>
              </c:pt>
              <c:pt idx="1">
                <c:v>41.7272727273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收費 / Fee (HK$)</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距離 / Distance (km)</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8.xml><?xml version="1.0" encoding="utf-8"?>
<c:chartSpace xmlns:c="http://schemas.openxmlformats.org/drawingml/2006/chart">
  <c:lang val="en-US"/>
  <c:chart>
    <c:plotArea>
      <c:scatterChart>
        <c:scatterStyle val="lineMarker"/>
        <c:ser>
          <c:idx val="0"/>
          <c:order val="0"/>
          <c:tx>
            <c:v>模擬學生 / Simulated students</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7"/>
              <c:pt idx="0">
                <c:v>0</c:v>
              </c:pt>
              <c:pt idx="1">
                <c:v>1</c:v>
              </c:pt>
              <c:pt idx="2">
                <c:v>2</c:v>
              </c:pt>
              <c:pt idx="3">
                <c:v>3</c:v>
              </c:pt>
              <c:pt idx="4">
                <c:v>4</c:v>
              </c:pt>
              <c:pt idx="5">
                <c:v>5</c:v>
              </c:pt>
              <c:pt idx="6">
                <c:v>6</c:v>
              </c:pt>
            </c:numLit>
          </c:xVal>
          <c:yVal>
            <c:numLit>
              <c:formatCode>0</c:formatCode>
              <c:ptCount val="7"/>
              <c:pt idx="0">
                <c:v>53</c:v>
              </c:pt>
              <c:pt idx="1">
                <c:v>46</c:v>
              </c:pt>
              <c:pt idx="2">
                <c:v>59</c:v>
              </c:pt>
              <c:pt idx="3">
                <c:v>52</c:v>
              </c:pt>
              <c:pt idx="4">
                <c:v>63</c:v>
              </c:pt>
              <c:pt idx="5">
                <c:v>54</c:v>
              </c:pt>
              <c:pt idx="6">
                <c:v>65</c:v>
              </c:pt>
            </c:numLit>
          </c:yVal>
        </c:ser>
        <c:ser>
          <c:idx val="1"/>
          <c:order val="1"/>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24</c:v>
              </c:pt>
            </c:numLit>
          </c:xVal>
          <c:yVal>
            <c:numLit>
              <c:formatCode>0</c:formatCode>
              <c:ptCount val="2"/>
              <c:pt idx="0">
                <c:v>50</c:v>
              </c:pt>
              <c:pt idx="1">
                <c:v>98</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考試成績 / Exam score</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20"/>
      </c:valAx>
      <c:valAx>
        <c:axId val="48650112"/>
        <c:scaling>
          <c:orientation val="minMax"/>
          <c:max val="2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每天溫習時間 / Daily study time (h)</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6"/>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slide1.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9DA5AE9-1306-4369-BA5A-835F54851820}"/>
              </a:ext>
            </a:extLst>
          </p:cNvPr>
          <p:cNvSpPr>
            <a:spLocks xmlns:a="http://schemas.openxmlformats.org/drawingml/2006/main" noGrp="1"/>
          </p:cNvSpPr>
          <p:nvPr/>
        </p:nvSpPr>
        <p:spPr>
          <a:xfrm xmlns:a="http://schemas.openxmlformats.org/drawingml/2006/main">
            <a:off x="609600" y="552450"/>
            <a:ext cx="10953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700" b="1">
                <a:solidFill>
                  <a:srgbClr val="086C61"/>
                </a:solidFill>
                <a:latin typeface="Arial"/>
                <a:ea typeface="Arial"/>
                <a:cs typeface="Arial"/>
              </a:defRPr>
            </a:pPr>
            <a:r>
              <a:rPr sz="8700" b="1">
                <a:solidFill>
                  <a:srgbClr val="086C61"/>
                </a:solidFill>
                <a:latin typeface="Arial"/>
                <a:ea typeface="Arial"/>
                <a:cs typeface="Arial"/>
              </a:rPr>
              <a:t>y = mx + c</a:t>
            </a:r>
          </a:p>
        </p:txBody>
      </p:sp>
      <p:sp>
        <p:nvSpPr>
          <p:cNvPr id="2" name="">
            <a:extLst xmlns:a="http://schemas.openxmlformats.org/drawingml/2006/main">
              <a:ext uri="{FF2B5EF4-FFF2-40B4-BE49-F238E27FC236}">
                <a16:creationId xmlns:a16="http://schemas.microsoft.com/office/drawing/2014/main" id="{B0F33200-4CC0-4CD0-BEAC-4458B1360E24}"/>
              </a:ext>
            </a:extLst>
          </p:cNvPr>
          <p:cNvSpPr>
            <a:spLocks xmlns:a="http://schemas.openxmlformats.org/drawingml/2006/main" noGrp="1"/>
          </p:cNvSpPr>
          <p:nvPr/>
        </p:nvSpPr>
        <p:spPr>
          <a:xfrm xmlns:a="http://schemas.openxmlformats.org/drawingml/2006/main">
            <a:off x="609600" y="22764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m：變化率</a:t>
            </a:r>
          </a:p>
        </p:txBody>
      </p:sp>
      <p:sp>
        <p:nvSpPr>
          <p:cNvPr id="3" name="">
            <a:extLst xmlns:a="http://schemas.openxmlformats.org/drawingml/2006/main">
              <a:ext uri="{FF2B5EF4-FFF2-40B4-BE49-F238E27FC236}">
                <a16:creationId xmlns:a16="http://schemas.microsoft.com/office/drawing/2014/main" id="{0C537609-C2F3-4239-8FC5-4F04F4CBFF11}"/>
              </a:ext>
            </a:extLst>
          </p:cNvPr>
          <p:cNvSpPr>
            <a:spLocks xmlns:a="http://schemas.openxmlformats.org/drawingml/2006/main" noGrp="1"/>
          </p:cNvSpPr>
          <p:nvPr/>
        </p:nvSpPr>
        <p:spPr>
          <a:xfrm xmlns:a="http://schemas.openxmlformats.org/drawingml/2006/main">
            <a:off x="609600" y="27432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m: rate of change</a:t>
            </a:r>
          </a:p>
        </p:txBody>
      </p:sp>
      <p:sp>
        <p:nvSpPr>
          <p:cNvPr id="4" name="">
            <a:extLst xmlns:a="http://schemas.openxmlformats.org/drawingml/2006/main">
              <a:ext uri="{FF2B5EF4-FFF2-40B4-BE49-F238E27FC236}">
                <a16:creationId xmlns:a16="http://schemas.microsoft.com/office/drawing/2014/main" id="{D4A85D9B-4557-4A4D-9BE6-682ED2C6B5E8}"/>
              </a:ext>
            </a:extLst>
          </p:cNvPr>
          <p:cNvSpPr>
            <a:spLocks xmlns:a="http://schemas.openxmlformats.org/drawingml/2006/main" noGrp="1"/>
          </p:cNvSpPr>
          <p:nvPr/>
        </p:nvSpPr>
        <p:spPr>
          <a:xfrm xmlns:a="http://schemas.openxmlformats.org/drawingml/2006/main">
            <a:off x="6334125" y="22764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c：初始值</a:t>
            </a:r>
          </a:p>
        </p:txBody>
      </p:sp>
      <p:sp>
        <p:nvSpPr>
          <p:cNvPr id="5" name="">
            <a:extLst xmlns:a="http://schemas.openxmlformats.org/drawingml/2006/main">
              <a:ext uri="{FF2B5EF4-FFF2-40B4-BE49-F238E27FC236}">
                <a16:creationId xmlns:a16="http://schemas.microsoft.com/office/drawing/2014/main" id="{7B178B21-51C1-4BF3-AF28-09D23BAA6BD2}"/>
              </a:ext>
            </a:extLst>
          </p:cNvPr>
          <p:cNvSpPr>
            <a:spLocks xmlns:a="http://schemas.openxmlformats.org/drawingml/2006/main" noGrp="1"/>
          </p:cNvSpPr>
          <p:nvPr/>
        </p:nvSpPr>
        <p:spPr>
          <a:xfrm xmlns:a="http://schemas.openxmlformats.org/drawingml/2006/main">
            <a:off x="6334125" y="27432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c: initial value</a:t>
            </a:r>
          </a:p>
        </p:txBody>
      </p:sp>
      <p:sp>
        <p:nvSpPr>
          <p:cNvPr id="6" name="">
            <a:extLst xmlns:a="http://schemas.openxmlformats.org/drawingml/2006/main">
              <a:ext uri="{FF2B5EF4-FFF2-40B4-BE49-F238E27FC236}">
                <a16:creationId xmlns:a16="http://schemas.microsoft.com/office/drawing/2014/main" id="{ECBB9D60-3C6B-4ACC-A3A8-8CD46467808C}"/>
              </a:ext>
            </a:extLst>
          </p:cNvPr>
          <p:cNvSpPr>
            <a:spLocks xmlns:a="http://schemas.openxmlformats.org/drawingml/2006/main" noGrp="1"/>
          </p:cNvSpPr>
          <p:nvPr/>
        </p:nvSpPr>
        <p:spPr>
          <a:xfrm xmlns:a="http://schemas.openxmlformats.org/drawingml/2006/main">
            <a:off x="609600" y="34956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x 每增加 1，y 改變多少？</a:t>
            </a:r>
          </a:p>
        </p:txBody>
      </p:sp>
      <p:sp>
        <p:nvSpPr>
          <p:cNvPr id="7" name="">
            <a:extLst xmlns:a="http://schemas.openxmlformats.org/drawingml/2006/main">
              <a:ext uri="{FF2B5EF4-FFF2-40B4-BE49-F238E27FC236}">
                <a16:creationId xmlns:a16="http://schemas.microsoft.com/office/drawing/2014/main" id="{6F42236A-E0C2-426B-93AC-495ECFAC23C6}"/>
              </a:ext>
            </a:extLst>
          </p:cNvPr>
          <p:cNvSpPr>
            <a:spLocks xmlns:a="http://schemas.openxmlformats.org/drawingml/2006/main" noGrp="1"/>
          </p:cNvSpPr>
          <p:nvPr/>
        </p:nvSpPr>
        <p:spPr>
          <a:xfrm xmlns:a="http://schemas.openxmlformats.org/drawingml/2006/main">
            <a:off x="609600" y="39624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much does y change for each extra 1 in x?</a:t>
            </a:r>
          </a:p>
        </p:txBody>
      </p:sp>
      <p:sp>
        <p:nvSpPr>
          <p:cNvPr id="8" name="">
            <a:extLst xmlns:a="http://schemas.openxmlformats.org/drawingml/2006/main">
              <a:ext uri="{FF2B5EF4-FFF2-40B4-BE49-F238E27FC236}">
                <a16:creationId xmlns:a16="http://schemas.microsoft.com/office/drawing/2014/main" id="{CECE8457-8F79-46CF-9747-EE2A4983D441}"/>
              </a:ext>
            </a:extLst>
          </p:cNvPr>
          <p:cNvSpPr>
            <a:spLocks xmlns:a="http://schemas.openxmlformats.org/drawingml/2006/main" noGrp="1"/>
          </p:cNvSpPr>
          <p:nvPr/>
        </p:nvSpPr>
        <p:spPr>
          <a:xfrm xmlns:a="http://schemas.openxmlformats.org/drawingml/2006/main">
            <a:off x="6334125" y="34956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當 x = 0 時，y 是多少？</a:t>
            </a:r>
          </a:p>
        </p:txBody>
      </p:sp>
      <p:sp>
        <p:nvSpPr>
          <p:cNvPr id="9" name="">
            <a:extLst xmlns:a="http://schemas.openxmlformats.org/drawingml/2006/main">
              <a:ext uri="{FF2B5EF4-FFF2-40B4-BE49-F238E27FC236}">
                <a16:creationId xmlns:a16="http://schemas.microsoft.com/office/drawing/2014/main" id="{872DBA53-20FC-4D38-8178-8A7641C16AAC}"/>
              </a:ext>
            </a:extLst>
          </p:cNvPr>
          <p:cNvSpPr>
            <a:spLocks xmlns:a="http://schemas.openxmlformats.org/drawingml/2006/main" noGrp="1"/>
          </p:cNvSpPr>
          <p:nvPr/>
        </p:nvSpPr>
        <p:spPr>
          <a:xfrm xmlns:a="http://schemas.openxmlformats.org/drawingml/2006/main">
            <a:off x="6334125" y="39624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What is y when x = 0?</a:t>
            </a:r>
          </a:p>
        </p:txBody>
      </p:sp>
      <p:sp>
        <p:nvSpPr>
          <p:cNvPr id="10" name="">
            <a:extLst xmlns:a="http://schemas.openxmlformats.org/drawingml/2006/main">
              <a:ext uri="{FF2B5EF4-FFF2-40B4-BE49-F238E27FC236}">
                <a16:creationId xmlns:a16="http://schemas.microsoft.com/office/drawing/2014/main" id="{C4C4D311-5FCE-4DCB-AB89-A4DD22CC9B89}"/>
              </a:ext>
            </a:extLst>
          </p:cNvPr>
          <p:cNvSpPr>
            <a:spLocks xmlns:a="http://schemas.openxmlformats.org/drawingml/2006/main" noGrp="1"/>
          </p:cNvSpPr>
          <p:nvPr/>
        </p:nvSpPr>
        <p:spPr>
          <a:xfrm xmlns:a="http://schemas.openxmlformats.org/drawingml/2006/main">
            <a:off x="609600" y="52482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一條直線描述 x 與 y 的關係</a:t>
            </a:r>
          </a:p>
        </p:txBody>
      </p:sp>
      <p:sp>
        <p:nvSpPr>
          <p:cNvPr id="11" name="">
            <a:extLst xmlns:a="http://schemas.openxmlformats.org/drawingml/2006/main">
              <a:ext uri="{FF2B5EF4-FFF2-40B4-BE49-F238E27FC236}">
                <a16:creationId xmlns:a16="http://schemas.microsoft.com/office/drawing/2014/main" id="{F8CAC5A2-CCB5-4482-944B-5A5EF26D230A}"/>
              </a:ext>
            </a:extLst>
          </p:cNvPr>
          <p:cNvSpPr>
            <a:spLocks xmlns:a="http://schemas.openxmlformats.org/drawingml/2006/main" noGrp="1"/>
          </p:cNvSpPr>
          <p:nvPr/>
        </p:nvSpPr>
        <p:spPr>
          <a:xfrm xmlns:a="http://schemas.openxmlformats.org/drawingml/2006/main">
            <a:off x="609600" y="57150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 straight line describes the relationship between x and y</a:t>
            </a:r>
          </a:p>
        </p:txBody>
      </p:sp>
      <p:sp>
        <p:nvSpPr>
          <p:cNvPr id="12" name="">
            <a:extLst xmlns:a="http://schemas.openxmlformats.org/drawingml/2006/main">
              <a:ext uri="{FF2B5EF4-FFF2-40B4-BE49-F238E27FC236}">
                <a16:creationId xmlns:a16="http://schemas.microsoft.com/office/drawing/2014/main" id="{5A48BA69-DADA-486A-AD37-C9C220A8386F}"/>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a:t>
            </a:r>
          </a:p>
        </p:txBody>
      </p:sp>
    </p:spTree>
    <p:extLst>
      <p:ext uri="{BB962C8B-B14F-4D97-AF65-F5344CB8AC3E}">
        <p14:creationId xmlns:p14="http://schemas.microsoft.com/office/powerpoint/2010/main" val="1898609954"/>
      </p:ext>
    </p:extLst>
  </p:cSld>
</p:sld>
</file>

<file path=ppt/slides/slide2.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FE248AE-EACF-4AEE-B4AC-4A98F9F2942D}"/>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c：初始值</a:t>
            </a:r>
          </a:p>
        </p:txBody>
      </p:sp>
      <p:sp>
        <p:nvSpPr>
          <p:cNvPr id="2" name="">
            <a:extLst xmlns:a="http://schemas.openxmlformats.org/drawingml/2006/main">
              <a:ext uri="{FF2B5EF4-FFF2-40B4-BE49-F238E27FC236}">
                <a16:creationId xmlns:a16="http://schemas.microsoft.com/office/drawing/2014/main" id="{B37C468B-6176-4264-B357-701C2B71203F}"/>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c: the initial value</a:t>
            </a:r>
          </a:p>
        </p:txBody>
      </p:sp>
      <p:sp>
        <p:nvSpPr>
          <p:cNvPr id="3" name="">
            <a:extLst xmlns:a="http://schemas.openxmlformats.org/drawingml/2006/main">
              <a:ext uri="{FF2B5EF4-FFF2-40B4-BE49-F238E27FC236}">
                <a16:creationId xmlns:a16="http://schemas.microsoft.com/office/drawing/2014/main" id="{DCD8F2D0-F200-4E74-BA97-395FD8194899}"/>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AADB7EA6-9956-40FF-8D60-C79B97135CAF}"/>
              </a:ext>
            </a:extLst>
          </p:cNvPr>
          <p:cNvSpPr>
            <a:spLocks xmlns:a="http://schemas.openxmlformats.org/drawingml/2006/main" noGrp="1"/>
          </p:cNvSpPr>
          <p:nvPr/>
        </p:nvSpPr>
        <p:spPr>
          <a:xfrm xmlns:a="http://schemas.openxmlformats.org/drawingml/2006/main">
            <a:off x="609600" y="16573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水箱原有 5 公升水</a:t>
            </a:r>
          </a:p>
        </p:txBody>
      </p:sp>
      <p:sp>
        <p:nvSpPr>
          <p:cNvPr id="5" name="">
            <a:extLst xmlns:a="http://schemas.openxmlformats.org/drawingml/2006/main">
              <a:ext uri="{FF2B5EF4-FFF2-40B4-BE49-F238E27FC236}">
                <a16:creationId xmlns:a16="http://schemas.microsoft.com/office/drawing/2014/main" id="{6DECB924-B2DA-4933-A15A-0D7AD0F4BA34}"/>
              </a:ext>
            </a:extLst>
          </p:cNvPr>
          <p:cNvSpPr>
            <a:spLocks xmlns:a="http://schemas.openxmlformats.org/drawingml/2006/main" noGrp="1"/>
          </p:cNvSpPr>
          <p:nvPr/>
        </p:nvSpPr>
        <p:spPr>
          <a:xfrm xmlns:a="http://schemas.openxmlformats.org/drawingml/2006/main">
            <a:off x="609600" y="21240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 tank starts with 5 litres of water</a:t>
            </a:r>
          </a:p>
        </p:txBody>
      </p:sp>
      <p:sp>
        <p:nvSpPr>
          <p:cNvPr id="6" name="">
            <a:extLst xmlns:a="http://schemas.openxmlformats.org/drawingml/2006/main">
              <a:ext uri="{FF2B5EF4-FFF2-40B4-BE49-F238E27FC236}">
                <a16:creationId xmlns:a16="http://schemas.microsoft.com/office/drawing/2014/main" id="{82AB3CFC-3DB8-4405-8761-1F0F266BE39F}"/>
              </a:ext>
            </a:extLst>
          </p:cNvPr>
          <p:cNvSpPr>
            <a:spLocks xmlns:a="http://schemas.openxmlformats.org/drawingml/2006/main" noGrp="1"/>
          </p:cNvSpPr>
          <p:nvPr/>
        </p:nvSpPr>
        <p:spPr>
          <a:xfrm xmlns:a="http://schemas.openxmlformats.org/drawingml/2006/main">
            <a:off x="609600" y="27622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x：時間（分鐘）</a:t>
            </a:r>
          </a:p>
        </p:txBody>
      </p:sp>
      <p:sp>
        <p:nvSpPr>
          <p:cNvPr id="7" name="">
            <a:extLst xmlns:a="http://schemas.openxmlformats.org/drawingml/2006/main">
              <a:ext uri="{FF2B5EF4-FFF2-40B4-BE49-F238E27FC236}">
                <a16:creationId xmlns:a16="http://schemas.microsoft.com/office/drawing/2014/main" id="{367233E1-AFEC-4B14-AC86-5ED30F1D56B8}"/>
              </a:ext>
            </a:extLst>
          </p:cNvPr>
          <p:cNvSpPr>
            <a:spLocks xmlns:a="http://schemas.openxmlformats.org/drawingml/2006/main" noGrp="1"/>
          </p:cNvSpPr>
          <p:nvPr/>
        </p:nvSpPr>
        <p:spPr>
          <a:xfrm xmlns:a="http://schemas.openxmlformats.org/drawingml/2006/main">
            <a:off x="609600" y="32289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x: time in minutes</a:t>
            </a:r>
          </a:p>
        </p:txBody>
      </p:sp>
      <p:sp>
        <p:nvSpPr>
          <p:cNvPr id="8" name="">
            <a:extLst xmlns:a="http://schemas.openxmlformats.org/drawingml/2006/main">
              <a:ext uri="{FF2B5EF4-FFF2-40B4-BE49-F238E27FC236}">
                <a16:creationId xmlns:a16="http://schemas.microsoft.com/office/drawing/2014/main" id="{A7FBC031-2F89-4109-980F-1A9BF19E985E}"/>
              </a:ext>
            </a:extLst>
          </p:cNvPr>
          <p:cNvSpPr>
            <a:spLocks xmlns:a="http://schemas.openxmlformats.org/drawingml/2006/main" noGrp="1"/>
          </p:cNvSpPr>
          <p:nvPr/>
        </p:nvSpPr>
        <p:spPr>
          <a:xfrm xmlns:a="http://schemas.openxmlformats.org/drawingml/2006/main">
            <a:off x="609600" y="37909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y：水量（公升）</a:t>
            </a:r>
          </a:p>
        </p:txBody>
      </p:sp>
      <p:sp>
        <p:nvSpPr>
          <p:cNvPr id="9" name="">
            <a:extLst xmlns:a="http://schemas.openxmlformats.org/drawingml/2006/main">
              <a:ext uri="{FF2B5EF4-FFF2-40B4-BE49-F238E27FC236}">
                <a16:creationId xmlns:a16="http://schemas.microsoft.com/office/drawing/2014/main" id="{86A21B45-DA2B-4A05-8512-C4665902C5BE}"/>
              </a:ext>
            </a:extLst>
          </p:cNvPr>
          <p:cNvSpPr>
            <a:spLocks xmlns:a="http://schemas.openxmlformats.org/drawingml/2006/main" noGrp="1"/>
          </p:cNvSpPr>
          <p:nvPr/>
        </p:nvSpPr>
        <p:spPr>
          <a:xfrm xmlns:a="http://schemas.openxmlformats.org/drawingml/2006/main">
            <a:off x="609600" y="42576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amount of water in litres</a:t>
            </a:r>
          </a:p>
        </p:txBody>
      </p:sp>
      <p:sp>
        <p:nvSpPr>
          <p:cNvPr id="10" name="">
            <a:extLst xmlns:a="http://schemas.openxmlformats.org/drawingml/2006/main">
              <a:ext uri="{FF2B5EF4-FFF2-40B4-BE49-F238E27FC236}">
                <a16:creationId xmlns:a16="http://schemas.microsoft.com/office/drawing/2014/main" id="{3307EB67-A0DB-4CB4-96BD-8AE17BE9C995}"/>
              </a:ext>
            </a:extLst>
          </p:cNvPr>
          <p:cNvSpPr>
            <a:spLocks xmlns:a="http://schemas.openxmlformats.org/drawingml/2006/main" noGrp="1"/>
          </p:cNvSpPr>
          <p:nvPr/>
        </p:nvSpPr>
        <p:spPr>
          <a:xfrm xmlns:a="http://schemas.openxmlformats.org/drawingml/2006/main">
            <a:off x="609600" y="5048250"/>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086C61"/>
                </a:solidFill>
                <a:latin typeface="Arial"/>
                <a:ea typeface="Arial"/>
                <a:cs typeface="Arial"/>
              </a:defRPr>
            </a:pPr>
            <a:r>
              <a:rPr sz="3300" b="1">
                <a:solidFill>
                  <a:srgbClr val="086C61"/>
                </a:solidFill>
                <a:latin typeface="Arial"/>
                <a:ea typeface="Arial"/>
                <a:cs typeface="Arial"/>
              </a:rPr>
              <a:t>x = 0, y = 5</a:t>
            </a:r>
          </a:p>
        </p:txBody>
      </p:sp>
      <p:graphicFrame>
        <p:nvGraphicFramePr>
          <p:cNvPr id="22" name="Chart"/>
          <p:cNvGraphicFramePr/>
          <p:nvPr/>
        </p:nvGraphicFramePr>
        <p:xfrm>
          <a:off xmlns:a="http://schemas.openxmlformats.org/drawingml/2006/main" x="5810250" y="1590675"/>
          <a:ext xmlns:a="http://schemas.openxmlformats.org/drawingml/2006/main" cx="5810250" cy="4381500"/>
        </p:xfrm>
        <a:graphic xmlns:a="http://schemas.openxmlformats.org/drawingml/2006/main">
          <a:graphicData uri="http://schemas.openxmlformats.org/drawingml/2006/chart">
            <c:chart xmlns:r="http://schemas.openxmlformats.org/officeDocument/2006/relationships" xmlns:c="http://schemas.openxmlformats.org/drawingml/2006/chart" r:id="R5d14749742a04fbc"/>
          </a:graphicData>
        </a:graphic>
      </p:graphicFrame>
    </p:spTree>
    <p:extLst>
      <p:ext uri="{BB962C8B-B14F-4D97-AF65-F5344CB8AC3E}">
        <p14:creationId xmlns:p14="http://schemas.microsoft.com/office/powerpoint/2010/main" val="423376332"/>
      </p:ext>
    </p:extLst>
  </p:cSld>
</p:sld>
</file>

<file path=ppt/slides/slide3.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73C3BB7-D3DE-4E9A-BB44-B9199796EBE0}"/>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m：每增加 1 單位的變化</a:t>
            </a:r>
          </a:p>
        </p:txBody>
      </p:sp>
      <p:sp>
        <p:nvSpPr>
          <p:cNvPr id="2" name="">
            <a:extLst xmlns:a="http://schemas.openxmlformats.org/drawingml/2006/main">
              <a:ext uri="{FF2B5EF4-FFF2-40B4-BE49-F238E27FC236}">
                <a16:creationId xmlns:a16="http://schemas.microsoft.com/office/drawing/2014/main" id="{73F5AD7A-5170-4C69-9648-FC9BC1552003}"/>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m: the change for each extra unit</a:t>
            </a:r>
          </a:p>
        </p:txBody>
      </p:sp>
      <p:sp>
        <p:nvSpPr>
          <p:cNvPr id="3" name="">
            <a:extLst xmlns:a="http://schemas.openxmlformats.org/drawingml/2006/main">
              <a:ext uri="{FF2B5EF4-FFF2-40B4-BE49-F238E27FC236}">
                <a16:creationId xmlns:a16="http://schemas.microsoft.com/office/drawing/2014/main" id="{56AE9BE7-8B7D-4D4A-AC03-5D3EB3D1D296}"/>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2E9F90CB-54C4-4CDD-B594-58E018ACD99F}"/>
              </a:ext>
            </a:extLst>
          </p:cNvPr>
          <p:cNvSpPr>
            <a:spLocks xmlns:a="http://schemas.openxmlformats.org/drawingml/2006/main" noGrp="1"/>
          </p:cNvSpPr>
          <p:nvPr/>
        </p:nvSpPr>
        <p:spPr>
          <a:xfrm xmlns:a="http://schemas.openxmlformats.org/drawingml/2006/main">
            <a:off x="609600" y="1647825"/>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每分鐘加入 2 公升水</a:t>
            </a:r>
          </a:p>
        </p:txBody>
      </p:sp>
      <p:sp>
        <p:nvSpPr>
          <p:cNvPr id="5" name="">
            <a:extLst xmlns:a="http://schemas.openxmlformats.org/drawingml/2006/main">
              <a:ext uri="{FF2B5EF4-FFF2-40B4-BE49-F238E27FC236}">
                <a16:creationId xmlns:a16="http://schemas.microsoft.com/office/drawing/2014/main" id="{44EF82F6-CD3A-4AB0-BDFA-DAD859503E2F}"/>
              </a:ext>
            </a:extLst>
          </p:cNvPr>
          <p:cNvSpPr>
            <a:spLocks xmlns:a="http://schemas.openxmlformats.org/drawingml/2006/main" noGrp="1"/>
          </p:cNvSpPr>
          <p:nvPr/>
        </p:nvSpPr>
        <p:spPr>
          <a:xfrm xmlns:a="http://schemas.openxmlformats.org/drawingml/2006/main">
            <a:off x="609600" y="21145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We add 2 litres each minute</a:t>
            </a:r>
          </a:p>
        </p:txBody>
      </p:sp>
      <p:sp>
        <p:nvSpPr>
          <p:cNvPr id="6" name="">
            <a:extLst xmlns:a="http://schemas.openxmlformats.org/drawingml/2006/main">
              <a:ext uri="{FF2B5EF4-FFF2-40B4-BE49-F238E27FC236}">
                <a16:creationId xmlns:a16="http://schemas.microsoft.com/office/drawing/2014/main" id="{BA78CCF8-323B-41B2-8ADD-16E43720D6A8}"/>
              </a:ext>
            </a:extLst>
          </p:cNvPr>
          <p:cNvSpPr>
            <a:spLocks xmlns:a="http://schemas.openxmlformats.org/drawingml/2006/main" noGrp="1"/>
          </p:cNvSpPr>
          <p:nvPr/>
        </p:nvSpPr>
        <p:spPr>
          <a:xfrm xmlns:a="http://schemas.openxmlformats.org/drawingml/2006/main">
            <a:off x="609600" y="2771775"/>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086C61"/>
                </a:solidFill>
                <a:latin typeface="Arial"/>
                <a:ea typeface="Arial"/>
                <a:cs typeface="Arial"/>
              </a:defRPr>
            </a:pPr>
            <a:r>
              <a:rPr sz="3900" b="1">
                <a:solidFill>
                  <a:srgbClr val="086C61"/>
                </a:solidFill>
                <a:latin typeface="Arial"/>
                <a:ea typeface="Arial"/>
                <a:cs typeface="Arial"/>
              </a:rPr>
              <a:t>y = 2x + 5</a:t>
            </a:r>
          </a:p>
        </p:txBody>
      </p:sp>
      <p:sp>
        <p:nvSpPr>
          <p:cNvPr id="7" name="">
            <a:extLst xmlns:a="http://schemas.openxmlformats.org/drawingml/2006/main">
              <a:ext uri="{FF2B5EF4-FFF2-40B4-BE49-F238E27FC236}">
                <a16:creationId xmlns:a16="http://schemas.microsoft.com/office/drawing/2014/main" id="{5D83F286-450A-4252-ADE4-12BF82B1F937}"/>
              </a:ext>
            </a:extLst>
          </p:cNvPr>
          <p:cNvSpPr>
            <a:spLocks xmlns:a="http://schemas.openxmlformats.org/drawingml/2006/main" noGrp="1"/>
          </p:cNvSpPr>
          <p:nvPr/>
        </p:nvSpPr>
        <p:spPr>
          <a:xfrm xmlns:a="http://schemas.openxmlformats.org/drawingml/2006/main">
            <a:off x="609600" y="36766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x 增加 1，y 增加 2</a:t>
            </a:r>
          </a:p>
        </p:txBody>
      </p:sp>
      <p:sp>
        <p:nvSpPr>
          <p:cNvPr id="8" name="">
            <a:extLst xmlns:a="http://schemas.openxmlformats.org/drawingml/2006/main">
              <a:ext uri="{FF2B5EF4-FFF2-40B4-BE49-F238E27FC236}">
                <a16:creationId xmlns:a16="http://schemas.microsoft.com/office/drawing/2014/main" id="{DA0B3B4D-6DAE-4CF7-A3A6-790FBC69EB64}"/>
              </a:ext>
            </a:extLst>
          </p:cNvPr>
          <p:cNvSpPr>
            <a:spLocks xmlns:a="http://schemas.openxmlformats.org/drawingml/2006/main" noGrp="1"/>
          </p:cNvSpPr>
          <p:nvPr/>
        </p:nvSpPr>
        <p:spPr>
          <a:xfrm xmlns:a="http://schemas.openxmlformats.org/drawingml/2006/main">
            <a:off x="609600" y="41433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When x increases by 1, y increases by 2</a:t>
            </a:r>
          </a:p>
        </p:txBody>
      </p:sp>
      <p:sp>
        <p:nvSpPr>
          <p:cNvPr id="9" name="">
            <a:extLst xmlns:a="http://schemas.openxmlformats.org/drawingml/2006/main">
              <a:ext uri="{FF2B5EF4-FFF2-40B4-BE49-F238E27FC236}">
                <a16:creationId xmlns:a16="http://schemas.microsoft.com/office/drawing/2014/main" id="{72E0B0F5-1DAE-4BA1-AE7E-6745CF64B8E9}"/>
              </a:ext>
            </a:extLst>
          </p:cNvPr>
          <p:cNvSpPr>
            <a:spLocks xmlns:a="http://schemas.openxmlformats.org/drawingml/2006/main" noGrp="1"/>
          </p:cNvSpPr>
          <p:nvPr/>
        </p:nvSpPr>
        <p:spPr>
          <a:xfrm xmlns:a="http://schemas.openxmlformats.org/drawingml/2006/main">
            <a:off x="609600" y="47434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m = 2 公升／分鐘</a:t>
            </a:r>
          </a:p>
        </p:txBody>
      </p:sp>
      <p:sp>
        <p:nvSpPr>
          <p:cNvPr id="10" name="">
            <a:extLst xmlns:a="http://schemas.openxmlformats.org/drawingml/2006/main">
              <a:ext uri="{FF2B5EF4-FFF2-40B4-BE49-F238E27FC236}">
                <a16:creationId xmlns:a16="http://schemas.microsoft.com/office/drawing/2014/main" id="{B71EB740-F9F0-4B36-A7AA-45BF838685E7}"/>
              </a:ext>
            </a:extLst>
          </p:cNvPr>
          <p:cNvSpPr>
            <a:spLocks xmlns:a="http://schemas.openxmlformats.org/drawingml/2006/main" noGrp="1"/>
          </p:cNvSpPr>
          <p:nvPr/>
        </p:nvSpPr>
        <p:spPr>
          <a:xfrm xmlns:a="http://schemas.openxmlformats.org/drawingml/2006/main">
            <a:off x="609600" y="52101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m = 2 litres per minute</a:t>
            </a:r>
          </a:p>
        </p:txBody>
      </p:sp>
      <p:graphicFrame>
        <p:nvGraphicFramePr>
          <p:cNvPr id="22" name="Chart"/>
          <p:cNvGraphicFramePr/>
          <p:nvPr/>
        </p:nvGraphicFramePr>
        <p:xfrm>
          <a:off xmlns:a="http://schemas.openxmlformats.org/drawingml/2006/main" x="5810250" y="1590675"/>
          <a:ext xmlns:a="http://schemas.openxmlformats.org/drawingml/2006/main" cx="5810250" cy="4381500"/>
        </p:xfrm>
        <a:graphic xmlns:a="http://schemas.openxmlformats.org/drawingml/2006/main">
          <a:graphicData uri="http://schemas.openxmlformats.org/drawingml/2006/chart">
            <c:chart xmlns:r="http://schemas.openxmlformats.org/officeDocument/2006/relationships" xmlns:c="http://schemas.openxmlformats.org/drawingml/2006/chart" r:id="R2e0f8a61df914296"/>
          </a:graphicData>
        </a:graphic>
      </p:graphicFrame>
    </p:spTree>
    <p:extLst>
      <p:ext uri="{BB962C8B-B14F-4D97-AF65-F5344CB8AC3E}">
        <p14:creationId xmlns:p14="http://schemas.microsoft.com/office/powerpoint/2010/main" val="1362397809"/>
      </p:ext>
    </p:extLst>
  </p:cSld>
</p:sld>
</file>

<file path=ppt/slides/slide4.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2A4AD52-7D3F-42C4-86EA-366DC14EF2BF}"/>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m 的正負與趨勢</a:t>
            </a:r>
          </a:p>
        </p:txBody>
      </p:sp>
      <p:sp>
        <p:nvSpPr>
          <p:cNvPr id="2" name="">
            <a:extLst xmlns:a="http://schemas.openxmlformats.org/drawingml/2006/main">
              <a:ext uri="{FF2B5EF4-FFF2-40B4-BE49-F238E27FC236}">
                <a16:creationId xmlns:a16="http://schemas.microsoft.com/office/drawing/2014/main" id="{5FEEDEEF-0738-4484-97E0-60A0C2807617}"/>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The sign of m and the trend</a:t>
            </a:r>
          </a:p>
        </p:txBody>
      </p:sp>
      <p:sp>
        <p:nvSpPr>
          <p:cNvPr id="3" name="">
            <a:extLst xmlns:a="http://schemas.openxmlformats.org/drawingml/2006/main">
              <a:ext uri="{FF2B5EF4-FFF2-40B4-BE49-F238E27FC236}">
                <a16:creationId xmlns:a16="http://schemas.microsoft.com/office/drawing/2014/main" id="{811A728C-1FB6-4BFE-8E12-CE1E1B0C2BD7}"/>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B65EF667-B9E1-4E83-9AEE-1A42845AA050}"/>
              </a:ext>
            </a:extLst>
          </p:cNvPr>
          <p:cNvSpPr>
            <a:spLocks xmlns:a="http://schemas.openxmlformats.org/drawingml/2006/main" noGrp="1"/>
          </p:cNvSpPr>
          <p:nvPr/>
        </p:nvSpPr>
        <p:spPr>
          <a:xfrm xmlns:a="http://schemas.openxmlformats.org/drawingml/2006/main">
            <a:off x="714375"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&gt; 0</a:t>
            </a:r>
          </a:p>
        </p:txBody>
      </p:sp>
      <p:graphicFrame>
        <p:nvGraphicFramePr>
          <p:cNvPr id="20" name="Chart"/>
          <p:cNvGraphicFramePr/>
          <p:nvPr/>
        </p:nvGraphicFramePr>
        <p:xfrm>
          <a:off xmlns:a="http://schemas.openxmlformats.org/drawingml/2006/main" x="476250"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78f84691b7764b91"/>
          </a:graphicData>
        </a:graphic>
      </p:graphicFrame>
      <p:sp>
        <p:nvSpPr>
          <p:cNvPr id="6" name="">
            <a:extLst xmlns:a="http://schemas.openxmlformats.org/drawingml/2006/main">
              <a:ext uri="{FF2B5EF4-FFF2-40B4-BE49-F238E27FC236}">
                <a16:creationId xmlns:a16="http://schemas.microsoft.com/office/drawing/2014/main" id="{E78EB316-73CF-4AD0-9516-B74AB2500FAC}"/>
              </a:ext>
            </a:extLst>
          </p:cNvPr>
          <p:cNvSpPr>
            <a:spLocks xmlns:a="http://schemas.openxmlformats.org/drawingml/2006/main" noGrp="1"/>
          </p:cNvSpPr>
          <p:nvPr/>
        </p:nvSpPr>
        <p:spPr>
          <a:xfrm xmlns:a="http://schemas.openxmlformats.org/drawingml/2006/main">
            <a:off x="666750"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y 隨 x 增加</a:t>
            </a:r>
          </a:p>
        </p:txBody>
      </p:sp>
      <p:sp>
        <p:nvSpPr>
          <p:cNvPr id="7" name="">
            <a:extLst xmlns:a="http://schemas.openxmlformats.org/drawingml/2006/main">
              <a:ext uri="{FF2B5EF4-FFF2-40B4-BE49-F238E27FC236}">
                <a16:creationId xmlns:a16="http://schemas.microsoft.com/office/drawing/2014/main" id="{7DACA6AC-6C53-4BA3-B69C-A0418AD34CEB}"/>
              </a:ext>
            </a:extLst>
          </p:cNvPr>
          <p:cNvSpPr>
            <a:spLocks xmlns:a="http://schemas.openxmlformats.org/drawingml/2006/main" noGrp="1"/>
          </p:cNvSpPr>
          <p:nvPr/>
        </p:nvSpPr>
        <p:spPr>
          <a:xfrm xmlns:a="http://schemas.openxmlformats.org/drawingml/2006/main">
            <a:off x="666750"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increases as x increases</a:t>
            </a:r>
          </a:p>
        </p:txBody>
      </p:sp>
      <p:sp>
        <p:nvSpPr>
          <p:cNvPr id="8" name="">
            <a:extLst xmlns:a="http://schemas.openxmlformats.org/drawingml/2006/main">
              <a:ext uri="{FF2B5EF4-FFF2-40B4-BE49-F238E27FC236}">
                <a16:creationId xmlns:a16="http://schemas.microsoft.com/office/drawing/2014/main" id="{95B25C2C-3AA6-4AC8-BD32-69A676B2904A}"/>
              </a:ext>
            </a:extLst>
          </p:cNvPr>
          <p:cNvSpPr>
            <a:spLocks xmlns:a="http://schemas.openxmlformats.org/drawingml/2006/main" noGrp="1"/>
          </p:cNvSpPr>
          <p:nvPr/>
        </p:nvSpPr>
        <p:spPr>
          <a:xfrm xmlns:a="http://schemas.openxmlformats.org/drawingml/2006/main">
            <a:off x="4572000"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&lt; 0</a:t>
            </a:r>
          </a:p>
        </p:txBody>
      </p:sp>
      <p:graphicFrame>
        <p:nvGraphicFramePr>
          <p:cNvPr id="24" name="Chart"/>
          <p:cNvGraphicFramePr/>
          <p:nvPr/>
        </p:nvGraphicFramePr>
        <p:xfrm>
          <a:off xmlns:a="http://schemas.openxmlformats.org/drawingml/2006/main" x="4333875"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bae6ccb3b4624575"/>
          </a:graphicData>
        </a:graphic>
      </p:graphicFrame>
      <p:sp>
        <p:nvSpPr>
          <p:cNvPr id="10" name="">
            <a:extLst xmlns:a="http://schemas.openxmlformats.org/drawingml/2006/main">
              <a:ext uri="{FF2B5EF4-FFF2-40B4-BE49-F238E27FC236}">
                <a16:creationId xmlns:a16="http://schemas.microsoft.com/office/drawing/2014/main" id="{E0FFBA5A-62A1-4119-9846-B78F724D7688}"/>
              </a:ext>
            </a:extLst>
          </p:cNvPr>
          <p:cNvSpPr>
            <a:spLocks xmlns:a="http://schemas.openxmlformats.org/drawingml/2006/main" noGrp="1"/>
          </p:cNvSpPr>
          <p:nvPr/>
        </p:nvSpPr>
        <p:spPr>
          <a:xfrm xmlns:a="http://schemas.openxmlformats.org/drawingml/2006/main">
            <a:off x="4524375"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y 隨 x 減少</a:t>
            </a:r>
          </a:p>
        </p:txBody>
      </p:sp>
      <p:sp>
        <p:nvSpPr>
          <p:cNvPr id="11" name="">
            <a:extLst xmlns:a="http://schemas.openxmlformats.org/drawingml/2006/main">
              <a:ext uri="{FF2B5EF4-FFF2-40B4-BE49-F238E27FC236}">
                <a16:creationId xmlns:a16="http://schemas.microsoft.com/office/drawing/2014/main" id="{F1D70BA3-E006-4750-A92B-6DA9BC181E0B}"/>
              </a:ext>
            </a:extLst>
          </p:cNvPr>
          <p:cNvSpPr>
            <a:spLocks xmlns:a="http://schemas.openxmlformats.org/drawingml/2006/main" noGrp="1"/>
          </p:cNvSpPr>
          <p:nvPr/>
        </p:nvSpPr>
        <p:spPr>
          <a:xfrm xmlns:a="http://schemas.openxmlformats.org/drawingml/2006/main">
            <a:off x="4524375"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decreases as x increases</a:t>
            </a:r>
          </a:p>
        </p:txBody>
      </p:sp>
      <p:sp>
        <p:nvSpPr>
          <p:cNvPr id="12" name="">
            <a:extLst xmlns:a="http://schemas.openxmlformats.org/drawingml/2006/main">
              <a:ext uri="{FF2B5EF4-FFF2-40B4-BE49-F238E27FC236}">
                <a16:creationId xmlns:a16="http://schemas.microsoft.com/office/drawing/2014/main" id="{A21ADEB7-AC12-4E14-B8B2-6AFAE8B23663}"/>
              </a:ext>
            </a:extLst>
          </p:cNvPr>
          <p:cNvSpPr>
            <a:spLocks xmlns:a="http://schemas.openxmlformats.org/drawingml/2006/main" noGrp="1"/>
          </p:cNvSpPr>
          <p:nvPr/>
        </p:nvSpPr>
        <p:spPr>
          <a:xfrm xmlns:a="http://schemas.openxmlformats.org/drawingml/2006/main">
            <a:off x="8429625"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 0</a:t>
            </a:r>
          </a:p>
        </p:txBody>
      </p:sp>
      <p:graphicFrame>
        <p:nvGraphicFramePr>
          <p:cNvPr id="28" name="Chart"/>
          <p:cNvGraphicFramePr/>
          <p:nvPr/>
        </p:nvGraphicFramePr>
        <p:xfrm>
          <a:off xmlns:a="http://schemas.openxmlformats.org/drawingml/2006/main" x="8191500"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f06a2c4f8c644812"/>
          </a:graphicData>
        </a:graphic>
      </p:graphicFrame>
      <p:sp>
        <p:nvSpPr>
          <p:cNvPr id="14" name="">
            <a:extLst xmlns:a="http://schemas.openxmlformats.org/drawingml/2006/main">
              <a:ext uri="{FF2B5EF4-FFF2-40B4-BE49-F238E27FC236}">
                <a16:creationId xmlns:a16="http://schemas.microsoft.com/office/drawing/2014/main" id="{F3CA492C-95D1-44C7-A7DE-EA6019FBC463}"/>
              </a:ext>
            </a:extLst>
          </p:cNvPr>
          <p:cNvSpPr>
            <a:spLocks xmlns:a="http://schemas.openxmlformats.org/drawingml/2006/main" noGrp="1"/>
          </p:cNvSpPr>
          <p:nvPr/>
        </p:nvSpPr>
        <p:spPr>
          <a:xfrm xmlns:a="http://schemas.openxmlformats.org/drawingml/2006/main">
            <a:off x="8382000"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y 保持不變</a:t>
            </a:r>
          </a:p>
        </p:txBody>
      </p:sp>
      <p:sp>
        <p:nvSpPr>
          <p:cNvPr id="15" name="">
            <a:extLst xmlns:a="http://schemas.openxmlformats.org/drawingml/2006/main">
              <a:ext uri="{FF2B5EF4-FFF2-40B4-BE49-F238E27FC236}">
                <a16:creationId xmlns:a16="http://schemas.microsoft.com/office/drawing/2014/main" id="{5FD6F093-CE41-4088-8FC8-4A133B0FCF78}"/>
              </a:ext>
            </a:extLst>
          </p:cNvPr>
          <p:cNvSpPr>
            <a:spLocks xmlns:a="http://schemas.openxmlformats.org/drawingml/2006/main" noGrp="1"/>
          </p:cNvSpPr>
          <p:nvPr/>
        </p:nvSpPr>
        <p:spPr>
          <a:xfrm xmlns:a="http://schemas.openxmlformats.org/drawingml/2006/main">
            <a:off x="8382000"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stays the same</a:t>
            </a:r>
          </a:p>
        </p:txBody>
      </p:sp>
    </p:spTree>
    <p:extLst>
      <p:ext uri="{BB962C8B-B14F-4D97-AF65-F5344CB8AC3E}">
        <p14:creationId xmlns:p14="http://schemas.microsoft.com/office/powerpoint/2010/main" val="386402493"/>
      </p:ext>
    </p:extLst>
  </p:cSld>
</p:sld>
</file>

<file path=ppt/slides/slide5.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435968F-5EC4-4417-A744-7AB4FE56E4D4}"/>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真實情境的數據會有差異</a:t>
            </a:r>
          </a:p>
        </p:txBody>
      </p:sp>
      <p:sp>
        <p:nvSpPr>
          <p:cNvPr id="2" name="">
            <a:extLst xmlns:a="http://schemas.openxmlformats.org/drawingml/2006/main">
              <a:ext uri="{FF2B5EF4-FFF2-40B4-BE49-F238E27FC236}">
                <a16:creationId xmlns:a16="http://schemas.microsoft.com/office/drawing/2014/main" id="{2A448978-4B9B-41D3-9EBF-EE801592FF64}"/>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Data in real situations varies</a:t>
            </a:r>
          </a:p>
        </p:txBody>
      </p:sp>
      <p:sp>
        <p:nvSpPr>
          <p:cNvPr id="3" name="">
            <a:extLst xmlns:a="http://schemas.openxmlformats.org/drawingml/2006/main">
              <a:ext uri="{FF2B5EF4-FFF2-40B4-BE49-F238E27FC236}">
                <a16:creationId xmlns:a16="http://schemas.microsoft.com/office/drawing/2014/main" id="{BF1C97B5-134A-4AB9-A9C1-10A294E33991}"/>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5</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52a0bdaba48545bd"/>
          </a:graphicData>
        </a:graphic>
      </p:graphicFrame>
      <p:sp>
        <p:nvSpPr>
          <p:cNvPr id="5" name="">
            <a:extLst xmlns:a="http://schemas.openxmlformats.org/drawingml/2006/main">
              <a:ext uri="{FF2B5EF4-FFF2-40B4-BE49-F238E27FC236}">
                <a16:creationId xmlns:a16="http://schemas.microsoft.com/office/drawing/2014/main" id="{9875074C-79D6-4C8B-B12D-3284120ECC12}"/>
              </a:ext>
            </a:extLst>
          </p:cNvPr>
          <p:cNvSpPr>
            <a:spLocks xmlns:a="http://schemas.openxmlformats.org/drawingml/2006/main" noGrp="1"/>
          </p:cNvSpPr>
          <p:nvPr/>
        </p:nvSpPr>
        <p:spPr>
          <a:xfrm xmlns:a="http://schemas.openxmlformats.org/drawingml/2006/main">
            <a:off x="8020050" y="18288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每個點是一個觀察</a:t>
            </a:r>
          </a:p>
        </p:txBody>
      </p:sp>
      <p:sp>
        <p:nvSpPr>
          <p:cNvPr id="6" name="">
            <a:extLst xmlns:a="http://schemas.openxmlformats.org/drawingml/2006/main">
              <a:ext uri="{FF2B5EF4-FFF2-40B4-BE49-F238E27FC236}">
                <a16:creationId xmlns:a16="http://schemas.microsoft.com/office/drawing/2014/main" id="{24E882D4-5EA2-490C-969A-ADEE3EA1E884}"/>
              </a:ext>
            </a:extLst>
          </p:cNvPr>
          <p:cNvSpPr>
            <a:spLocks xmlns:a="http://schemas.openxmlformats.org/drawingml/2006/main" noGrp="1"/>
          </p:cNvSpPr>
          <p:nvPr/>
        </p:nvSpPr>
        <p:spPr>
          <a:xfrm xmlns:a="http://schemas.openxmlformats.org/drawingml/2006/main">
            <a:off x="8020050" y="22955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Each dot is an observation</a:t>
            </a:r>
          </a:p>
        </p:txBody>
      </p:sp>
      <p:sp>
        <p:nvSpPr>
          <p:cNvPr id="7" name="">
            <a:extLst xmlns:a="http://schemas.openxmlformats.org/drawingml/2006/main">
              <a:ext uri="{FF2B5EF4-FFF2-40B4-BE49-F238E27FC236}">
                <a16:creationId xmlns:a16="http://schemas.microsoft.com/office/drawing/2014/main" id="{7B164F82-D417-4163-9FD7-44595E9DDB02}"/>
              </a:ext>
            </a:extLst>
          </p:cNvPr>
          <p:cNvSpPr>
            <a:spLocks xmlns:a="http://schemas.openxmlformats.org/drawingml/2006/main" noGrp="1"/>
          </p:cNvSpPr>
          <p:nvPr/>
        </p:nvSpPr>
        <p:spPr>
          <a:xfrm xmlns:a="http://schemas.openxmlformats.org/drawingml/2006/main">
            <a:off x="8020050" y="310515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各點是否在同一直線上？</a:t>
            </a:r>
          </a:p>
        </p:txBody>
      </p:sp>
      <p:sp>
        <p:nvSpPr>
          <p:cNvPr id="8" name="">
            <a:extLst xmlns:a="http://schemas.openxmlformats.org/drawingml/2006/main">
              <a:ext uri="{FF2B5EF4-FFF2-40B4-BE49-F238E27FC236}">
                <a16:creationId xmlns:a16="http://schemas.microsoft.com/office/drawing/2014/main" id="{C4107FD5-1CD8-4FBF-814C-55CE43A432FC}"/>
              </a:ext>
            </a:extLst>
          </p:cNvPr>
          <p:cNvSpPr>
            <a:spLocks xmlns:a="http://schemas.openxmlformats.org/drawingml/2006/main" noGrp="1"/>
          </p:cNvSpPr>
          <p:nvPr/>
        </p:nvSpPr>
        <p:spPr>
          <a:xfrm xmlns:a="http://schemas.openxmlformats.org/drawingml/2006/main">
            <a:off x="8020050" y="357187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Do all the dots lie on one line?</a:t>
            </a:r>
          </a:p>
        </p:txBody>
      </p:sp>
      <p:sp>
        <p:nvSpPr>
          <p:cNvPr id="9" name="">
            <a:extLst xmlns:a="http://schemas.openxmlformats.org/drawingml/2006/main">
              <a:ext uri="{FF2B5EF4-FFF2-40B4-BE49-F238E27FC236}">
                <a16:creationId xmlns:a16="http://schemas.microsoft.com/office/drawing/2014/main" id="{6933E046-86F6-4B03-90E6-E5D208DD7C13}"/>
              </a:ext>
            </a:extLst>
          </p:cNvPr>
          <p:cNvSpPr>
            <a:spLocks xmlns:a="http://schemas.openxmlformats.org/drawingml/2006/main" noGrp="1"/>
          </p:cNvSpPr>
          <p:nvPr/>
        </p:nvSpPr>
        <p:spPr>
          <a:xfrm xmlns:a="http://schemas.openxmlformats.org/drawingml/2006/main">
            <a:off x="8020050" y="44196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你看到甚麼趨勢？</a:t>
            </a:r>
          </a:p>
        </p:txBody>
      </p:sp>
      <p:sp>
        <p:nvSpPr>
          <p:cNvPr id="10" name="">
            <a:extLst xmlns:a="http://schemas.openxmlformats.org/drawingml/2006/main">
              <a:ext uri="{FF2B5EF4-FFF2-40B4-BE49-F238E27FC236}">
                <a16:creationId xmlns:a16="http://schemas.microsoft.com/office/drawing/2014/main" id="{656E242B-F794-4936-B540-214CFFA6A787}"/>
              </a:ext>
            </a:extLst>
          </p:cNvPr>
          <p:cNvSpPr>
            <a:spLocks xmlns:a="http://schemas.openxmlformats.org/drawingml/2006/main" noGrp="1"/>
          </p:cNvSpPr>
          <p:nvPr/>
        </p:nvSpPr>
        <p:spPr>
          <a:xfrm xmlns:a="http://schemas.openxmlformats.org/drawingml/2006/main">
            <a:off x="8020050" y="48863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What trend do you notice?</a:t>
            </a:r>
          </a:p>
        </p:txBody>
      </p:sp>
      <p:sp>
        <p:nvSpPr>
          <p:cNvPr id="11" name="">
            <a:extLst xmlns:a="http://schemas.openxmlformats.org/drawingml/2006/main">
              <a:ext uri="{FF2B5EF4-FFF2-40B4-BE49-F238E27FC236}">
                <a16:creationId xmlns:a16="http://schemas.microsoft.com/office/drawing/2014/main" id="{C80D1403-F6DA-45FB-9BF0-6DE9ABBDFD0B}"/>
              </a:ext>
            </a:extLst>
          </p:cNvPr>
          <p:cNvSpPr>
            <a:spLocks xmlns:a="http://schemas.openxmlformats.org/drawingml/2006/main" noGrp="1"/>
          </p:cNvSpPr>
          <p:nvPr/>
        </p:nvSpPr>
        <p:spPr>
          <a:xfrm xmlns:a="http://schemas.openxmlformats.org/drawingml/2006/main">
            <a:off x="609600" y="61912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教學模擬數據 / Simulated classroom data</a:t>
            </a:r>
          </a:p>
        </p:txBody>
      </p:sp>
    </p:spTree>
    <p:extLst>
      <p:ext uri="{BB962C8B-B14F-4D97-AF65-F5344CB8AC3E}">
        <p14:creationId xmlns:p14="http://schemas.microsoft.com/office/powerpoint/2010/main" val="486428853"/>
      </p:ext>
    </p:extLst>
  </p:cSld>
</p:sld>
</file>

<file path=ppt/slides/slide6.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6A3D470-4AA2-4710-8FA0-DCB12CACB345}"/>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線性回歸與最佳擬合直線</a:t>
            </a:r>
          </a:p>
        </p:txBody>
      </p:sp>
      <p:sp>
        <p:nvSpPr>
          <p:cNvPr id="2" name="">
            <a:extLst xmlns:a="http://schemas.openxmlformats.org/drawingml/2006/main">
              <a:ext uri="{FF2B5EF4-FFF2-40B4-BE49-F238E27FC236}">
                <a16:creationId xmlns:a16="http://schemas.microsoft.com/office/drawing/2014/main" id="{96A6A305-5647-4FA2-9F33-B0D79360E50A}"/>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Linear regression and the best-fit line</a:t>
            </a:r>
          </a:p>
        </p:txBody>
      </p:sp>
      <p:sp>
        <p:nvSpPr>
          <p:cNvPr id="3" name="">
            <a:extLst xmlns:a="http://schemas.openxmlformats.org/drawingml/2006/main">
              <a:ext uri="{FF2B5EF4-FFF2-40B4-BE49-F238E27FC236}">
                <a16:creationId xmlns:a16="http://schemas.microsoft.com/office/drawing/2014/main" id="{D8997151-F3DC-4F23-8BA6-88FB4FF64708}"/>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6</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df97942adbdc40c1"/>
          </a:graphicData>
        </a:graphic>
      </p:graphicFrame>
      <p:sp>
        <p:nvSpPr>
          <p:cNvPr id="5" name="">
            <a:extLst xmlns:a="http://schemas.openxmlformats.org/drawingml/2006/main">
              <a:ext uri="{FF2B5EF4-FFF2-40B4-BE49-F238E27FC236}">
                <a16:creationId xmlns:a16="http://schemas.microsoft.com/office/drawing/2014/main" id="{ED6809C4-D1DE-40B6-A24E-EF1B8213BDB1}"/>
              </a:ext>
            </a:extLst>
          </p:cNvPr>
          <p:cNvSpPr>
            <a:spLocks xmlns:a="http://schemas.openxmlformats.org/drawingml/2006/main" noGrp="1"/>
          </p:cNvSpPr>
          <p:nvPr/>
        </p:nvSpPr>
        <p:spPr>
          <a:xfrm xmlns:a="http://schemas.openxmlformats.org/drawingml/2006/main">
            <a:off x="8020050" y="18288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用一條直線概括整體趨勢</a:t>
            </a:r>
          </a:p>
        </p:txBody>
      </p:sp>
      <p:sp>
        <p:nvSpPr>
          <p:cNvPr id="6" name="">
            <a:extLst xmlns:a="http://schemas.openxmlformats.org/drawingml/2006/main">
              <a:ext uri="{FF2B5EF4-FFF2-40B4-BE49-F238E27FC236}">
                <a16:creationId xmlns:a16="http://schemas.microsoft.com/office/drawing/2014/main" id="{82410CBB-660F-4272-A8FB-BAD9AA97B54D}"/>
              </a:ext>
            </a:extLst>
          </p:cNvPr>
          <p:cNvSpPr>
            <a:spLocks xmlns:a="http://schemas.openxmlformats.org/drawingml/2006/main" noGrp="1"/>
          </p:cNvSpPr>
          <p:nvPr/>
        </p:nvSpPr>
        <p:spPr>
          <a:xfrm xmlns:a="http://schemas.openxmlformats.org/drawingml/2006/main">
            <a:off x="8020050" y="22955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One line summarises the overall trend</a:t>
            </a:r>
          </a:p>
        </p:txBody>
      </p:sp>
      <p:sp>
        <p:nvSpPr>
          <p:cNvPr id="7" name="">
            <a:extLst xmlns:a="http://schemas.openxmlformats.org/drawingml/2006/main">
              <a:ext uri="{FF2B5EF4-FFF2-40B4-BE49-F238E27FC236}">
                <a16:creationId xmlns:a16="http://schemas.microsoft.com/office/drawing/2014/main" id="{DFE89C11-BD90-49D0-AD68-331ECE819CC5}"/>
              </a:ext>
            </a:extLst>
          </p:cNvPr>
          <p:cNvSpPr>
            <a:spLocks xmlns:a="http://schemas.openxmlformats.org/drawingml/2006/main" noGrp="1"/>
          </p:cNvSpPr>
          <p:nvPr/>
        </p:nvSpPr>
        <p:spPr>
          <a:xfrm xmlns:a="http://schemas.openxmlformats.org/drawingml/2006/main">
            <a:off x="8020050" y="32385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它不必通過每一個點</a:t>
            </a:r>
          </a:p>
        </p:txBody>
      </p:sp>
      <p:sp>
        <p:nvSpPr>
          <p:cNvPr id="8" name="">
            <a:extLst xmlns:a="http://schemas.openxmlformats.org/drawingml/2006/main">
              <a:ext uri="{FF2B5EF4-FFF2-40B4-BE49-F238E27FC236}">
                <a16:creationId xmlns:a16="http://schemas.microsoft.com/office/drawing/2014/main" id="{772635BA-E3E6-4F3D-8C1F-E8BA876951F9}"/>
              </a:ext>
            </a:extLst>
          </p:cNvPr>
          <p:cNvSpPr>
            <a:spLocks xmlns:a="http://schemas.openxmlformats.org/drawingml/2006/main" noGrp="1"/>
          </p:cNvSpPr>
          <p:nvPr/>
        </p:nvSpPr>
        <p:spPr>
          <a:xfrm xmlns:a="http://schemas.openxmlformats.org/drawingml/2006/main">
            <a:off x="8020050" y="37052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It need not pass through every dot</a:t>
            </a:r>
          </a:p>
        </p:txBody>
      </p:sp>
      <p:sp>
        <p:nvSpPr>
          <p:cNvPr id="9" name="">
            <a:extLst xmlns:a="http://schemas.openxmlformats.org/drawingml/2006/main">
              <a:ext uri="{FF2B5EF4-FFF2-40B4-BE49-F238E27FC236}">
                <a16:creationId xmlns:a16="http://schemas.microsoft.com/office/drawing/2014/main" id="{9A52C3D3-655E-43E0-80CD-D073C723F0FF}"/>
              </a:ext>
            </a:extLst>
          </p:cNvPr>
          <p:cNvSpPr>
            <a:spLocks xmlns:a="http://schemas.openxmlformats.org/drawingml/2006/main" noGrp="1"/>
          </p:cNvSpPr>
          <p:nvPr/>
        </p:nvSpPr>
        <p:spPr>
          <a:xfrm xmlns:a="http://schemas.openxmlformats.org/drawingml/2006/main">
            <a:off x="8020050" y="4600575"/>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網頁會自動更新直線</a:t>
            </a:r>
          </a:p>
        </p:txBody>
      </p:sp>
      <p:sp>
        <p:nvSpPr>
          <p:cNvPr id="10" name="">
            <a:extLst xmlns:a="http://schemas.openxmlformats.org/drawingml/2006/main">
              <a:ext uri="{FF2B5EF4-FFF2-40B4-BE49-F238E27FC236}">
                <a16:creationId xmlns:a16="http://schemas.microsoft.com/office/drawing/2014/main" id="{B2C1B0CF-211A-4099-8830-884086EAE3EC}"/>
              </a:ext>
            </a:extLst>
          </p:cNvPr>
          <p:cNvSpPr>
            <a:spLocks xmlns:a="http://schemas.openxmlformats.org/drawingml/2006/main" noGrp="1"/>
          </p:cNvSpPr>
          <p:nvPr/>
        </p:nvSpPr>
        <p:spPr>
          <a:xfrm xmlns:a="http://schemas.openxmlformats.org/drawingml/2006/main">
            <a:off x="8020050" y="5067300"/>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page updates the line automatically</a:t>
            </a:r>
          </a:p>
        </p:txBody>
      </p:sp>
      <p:sp>
        <p:nvSpPr>
          <p:cNvPr id="11" name="">
            <a:extLst xmlns:a="http://schemas.openxmlformats.org/drawingml/2006/main">
              <a:ext uri="{FF2B5EF4-FFF2-40B4-BE49-F238E27FC236}">
                <a16:creationId xmlns:a16="http://schemas.microsoft.com/office/drawing/2014/main" id="{1B188DC8-4A9A-493C-B477-9937848B94AC}"/>
              </a:ext>
            </a:extLst>
          </p:cNvPr>
          <p:cNvSpPr>
            <a:spLocks xmlns:a="http://schemas.openxmlformats.org/drawingml/2006/main" noGrp="1"/>
          </p:cNvSpPr>
          <p:nvPr/>
        </p:nvSpPr>
        <p:spPr>
          <a:xfrm xmlns:a="http://schemas.openxmlformats.org/drawingml/2006/main">
            <a:off x="609600" y="61912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教學模擬數據 / Simulated classroom data</a:t>
            </a:r>
          </a:p>
        </p:txBody>
      </p:sp>
    </p:spTree>
    <p:extLst>
      <p:ext uri="{BB962C8B-B14F-4D97-AF65-F5344CB8AC3E}">
        <p14:creationId xmlns:p14="http://schemas.microsoft.com/office/powerpoint/2010/main" val="813713526"/>
      </p:ext>
    </p:extLst>
  </p:cSld>
</p:sld>
</file>

<file path=ppt/slides/slide7.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A213240-B3E3-46BE-AB49-782966FD6009}"/>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加入新點，觀察直線</a:t>
            </a:r>
          </a:p>
        </p:txBody>
      </p:sp>
      <p:sp>
        <p:nvSpPr>
          <p:cNvPr id="2" name="">
            <a:extLst xmlns:a="http://schemas.openxmlformats.org/drawingml/2006/main">
              <a:ext uri="{FF2B5EF4-FFF2-40B4-BE49-F238E27FC236}">
                <a16:creationId xmlns:a16="http://schemas.microsoft.com/office/drawing/2014/main" id="{6E1E075D-9D5D-4324-AF04-2A8454D2BFF0}"/>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Add points and observe the line</a:t>
            </a:r>
          </a:p>
        </p:txBody>
      </p:sp>
      <p:sp>
        <p:nvSpPr>
          <p:cNvPr id="3" name="">
            <a:extLst xmlns:a="http://schemas.openxmlformats.org/drawingml/2006/main">
              <a:ext uri="{FF2B5EF4-FFF2-40B4-BE49-F238E27FC236}">
                <a16:creationId xmlns:a16="http://schemas.microsoft.com/office/drawing/2014/main" id="{AB2D07DB-EDB5-427D-BD2C-424D512C5783}"/>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7</a:t>
            </a:r>
          </a:p>
        </p:txBody>
      </p:sp>
      <p:sp>
        <p:nvSpPr>
          <p:cNvPr id="4" name="">
            <a:extLst xmlns:a="http://schemas.openxmlformats.org/drawingml/2006/main">
              <a:ext uri="{FF2B5EF4-FFF2-40B4-BE49-F238E27FC236}">
                <a16:creationId xmlns:a16="http://schemas.microsoft.com/office/drawing/2014/main" id="{916708B5-BC48-4113-B89A-2886BF86FB3A}"/>
              </a:ext>
            </a:extLst>
          </p:cNvPr>
          <p:cNvSpPr>
            <a:spLocks xmlns:a="http://schemas.openxmlformats.org/drawingml/2006/main" noGrp="1"/>
          </p:cNvSpPr>
          <p:nvPr/>
        </p:nvSpPr>
        <p:spPr>
          <a:xfrm xmlns:a="http://schemas.openxmlformats.org/drawingml/2006/main">
            <a:off x="609600" y="17145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在圖上點一下，加入一個數據點</a:t>
            </a:r>
          </a:p>
        </p:txBody>
      </p:sp>
      <p:sp>
        <p:nvSpPr>
          <p:cNvPr id="5" name="">
            <a:extLst xmlns:a="http://schemas.openxmlformats.org/drawingml/2006/main">
              <a:ext uri="{FF2B5EF4-FFF2-40B4-BE49-F238E27FC236}">
                <a16:creationId xmlns:a16="http://schemas.microsoft.com/office/drawing/2014/main" id="{276B84E5-99BE-42E0-BC20-53E17563EFBD}"/>
              </a:ext>
            </a:extLst>
          </p:cNvPr>
          <p:cNvSpPr>
            <a:spLocks xmlns:a="http://schemas.openxmlformats.org/drawingml/2006/main" noGrp="1"/>
          </p:cNvSpPr>
          <p:nvPr/>
        </p:nvSpPr>
        <p:spPr>
          <a:xfrm xmlns:a="http://schemas.openxmlformats.org/drawingml/2006/main">
            <a:off x="609600" y="21812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Click or tap the graph to add a data point</a:t>
            </a:r>
          </a:p>
        </p:txBody>
      </p:sp>
      <p:sp>
        <p:nvSpPr>
          <p:cNvPr id="6" name="">
            <a:extLst xmlns:a="http://schemas.openxmlformats.org/drawingml/2006/main">
              <a:ext uri="{FF2B5EF4-FFF2-40B4-BE49-F238E27FC236}">
                <a16:creationId xmlns:a16="http://schemas.microsoft.com/office/drawing/2014/main" id="{734E5A2F-EE94-4499-894F-4EA536558D9E}"/>
              </a:ext>
            </a:extLst>
          </p:cNvPr>
          <p:cNvSpPr>
            <a:spLocks xmlns:a="http://schemas.openxmlformats.org/drawingml/2006/main" noGrp="1"/>
          </p:cNvSpPr>
          <p:nvPr/>
        </p:nvSpPr>
        <p:spPr>
          <a:xfrm xmlns:a="http://schemas.openxmlformats.org/drawingml/2006/main">
            <a:off x="609600" y="295275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比較加入點前後的 m 和 c</a:t>
            </a:r>
          </a:p>
        </p:txBody>
      </p:sp>
      <p:sp>
        <p:nvSpPr>
          <p:cNvPr id="7" name="">
            <a:extLst xmlns:a="http://schemas.openxmlformats.org/drawingml/2006/main">
              <a:ext uri="{FF2B5EF4-FFF2-40B4-BE49-F238E27FC236}">
                <a16:creationId xmlns:a16="http://schemas.microsoft.com/office/drawing/2014/main" id="{955C764B-1679-400B-A6A9-C201C4292CF4}"/>
              </a:ext>
            </a:extLst>
          </p:cNvPr>
          <p:cNvSpPr>
            <a:spLocks xmlns:a="http://schemas.openxmlformats.org/drawingml/2006/main" noGrp="1"/>
          </p:cNvSpPr>
          <p:nvPr/>
        </p:nvSpPr>
        <p:spPr>
          <a:xfrm xmlns:a="http://schemas.openxmlformats.org/drawingml/2006/main">
            <a:off x="609600" y="341947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Compare m and c before and after adding the point</a:t>
            </a:r>
          </a:p>
        </p:txBody>
      </p:sp>
      <p:sp>
        <p:nvSpPr>
          <p:cNvPr id="8" name="">
            <a:extLst xmlns:a="http://schemas.openxmlformats.org/drawingml/2006/main">
              <a:ext uri="{FF2B5EF4-FFF2-40B4-BE49-F238E27FC236}">
                <a16:creationId xmlns:a16="http://schemas.microsoft.com/office/drawing/2014/main" id="{7A7DF0DE-2157-43D3-BEBE-330B77F60D78}"/>
              </a:ext>
            </a:extLst>
          </p:cNvPr>
          <p:cNvSpPr>
            <a:spLocks xmlns:a="http://schemas.openxmlformats.org/drawingml/2006/main" noGrp="1"/>
          </p:cNvSpPr>
          <p:nvPr/>
        </p:nvSpPr>
        <p:spPr>
          <a:xfrm xmlns:a="http://schemas.openxmlformats.org/drawingml/2006/main">
            <a:off x="609600" y="41910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試一個遠離其他點的新點</a:t>
            </a:r>
          </a:p>
        </p:txBody>
      </p:sp>
      <p:sp>
        <p:nvSpPr>
          <p:cNvPr id="9" name="">
            <a:extLst xmlns:a="http://schemas.openxmlformats.org/drawingml/2006/main">
              <a:ext uri="{FF2B5EF4-FFF2-40B4-BE49-F238E27FC236}">
                <a16:creationId xmlns:a16="http://schemas.microsoft.com/office/drawing/2014/main" id="{253107F8-CDD2-40A9-8B74-6F9D7CFEC2FC}"/>
              </a:ext>
            </a:extLst>
          </p:cNvPr>
          <p:cNvSpPr>
            <a:spLocks xmlns:a="http://schemas.openxmlformats.org/drawingml/2006/main" noGrp="1"/>
          </p:cNvSpPr>
          <p:nvPr/>
        </p:nvSpPr>
        <p:spPr>
          <a:xfrm xmlns:a="http://schemas.openxmlformats.org/drawingml/2006/main">
            <a:off x="609600" y="46577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Try a point far from the other dots</a:t>
            </a:r>
          </a:p>
        </p:txBody>
      </p:sp>
      <p:sp>
        <p:nvSpPr>
          <p:cNvPr id="10" name="">
            <a:extLst xmlns:a="http://schemas.openxmlformats.org/drawingml/2006/main">
              <a:ext uri="{FF2B5EF4-FFF2-40B4-BE49-F238E27FC236}">
                <a16:creationId xmlns:a16="http://schemas.microsoft.com/office/drawing/2014/main" id="{4C1E4176-5CF9-4E56-BB12-C9F814197A20}"/>
              </a:ext>
            </a:extLst>
          </p:cNvPr>
          <p:cNvSpPr>
            <a:spLocks xmlns:a="http://schemas.openxmlformats.org/drawingml/2006/main" noGrp="1"/>
          </p:cNvSpPr>
          <p:nvPr/>
        </p:nvSpPr>
        <p:spPr>
          <a:xfrm xmlns:a="http://schemas.openxmlformats.org/drawingml/2006/main">
            <a:off x="609600" y="5362575"/>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先預測，再觀察。把結果寫在工作紙上。</a:t>
            </a:r>
          </a:p>
        </p:txBody>
      </p:sp>
      <p:sp>
        <p:nvSpPr>
          <p:cNvPr id="11" name="">
            <a:extLst xmlns:a="http://schemas.openxmlformats.org/drawingml/2006/main">
              <a:ext uri="{FF2B5EF4-FFF2-40B4-BE49-F238E27FC236}">
                <a16:creationId xmlns:a16="http://schemas.microsoft.com/office/drawing/2014/main" id="{7D480393-D3C8-4A02-AB32-048C19118A26}"/>
              </a:ext>
            </a:extLst>
          </p:cNvPr>
          <p:cNvSpPr>
            <a:spLocks xmlns:a="http://schemas.openxmlformats.org/drawingml/2006/main" noGrp="1"/>
          </p:cNvSpPr>
          <p:nvPr/>
        </p:nvSpPr>
        <p:spPr>
          <a:xfrm xmlns:a="http://schemas.openxmlformats.org/drawingml/2006/main">
            <a:off x="609600" y="58293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Predict first, then observe. Record the result on your worksheet.</a:t>
            </a:r>
          </a:p>
        </p:txBody>
      </p:sp>
    </p:spTree>
    <p:extLst>
      <p:ext uri="{BB962C8B-B14F-4D97-AF65-F5344CB8AC3E}">
        <p14:creationId xmlns:p14="http://schemas.microsoft.com/office/powerpoint/2010/main" val="729210637"/>
      </p:ext>
    </p:extLst>
  </p:cSld>
</p:sld>
</file>

<file path=ppt/slides/slide8.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628DE86-91AE-43A5-85F6-11E6629E8B89}"/>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每天溫習時間與考試成績</a:t>
            </a:r>
          </a:p>
        </p:txBody>
      </p:sp>
      <p:sp>
        <p:nvSpPr>
          <p:cNvPr id="2" name="">
            <a:extLst xmlns:a="http://schemas.openxmlformats.org/drawingml/2006/main">
              <a:ext uri="{FF2B5EF4-FFF2-40B4-BE49-F238E27FC236}">
                <a16:creationId xmlns:a16="http://schemas.microsoft.com/office/drawing/2014/main" id="{8F26F9D5-659B-4A19-9FEF-258E5D5E763E}"/>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Daily study time and exam score</a:t>
            </a:r>
          </a:p>
        </p:txBody>
      </p:sp>
      <p:sp>
        <p:nvSpPr>
          <p:cNvPr id="3" name="">
            <a:extLst xmlns:a="http://schemas.openxmlformats.org/drawingml/2006/main">
              <a:ext uri="{FF2B5EF4-FFF2-40B4-BE49-F238E27FC236}">
                <a16:creationId xmlns:a16="http://schemas.microsoft.com/office/drawing/2014/main" id="{405FE0F5-C070-43A8-97F1-4092CE7318B8}"/>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8</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c415e283d68e4231"/>
          </a:graphicData>
        </a:graphic>
      </p:graphicFrame>
      <p:sp>
        <p:nvSpPr>
          <p:cNvPr id="5" name="">
            <a:extLst xmlns:a="http://schemas.openxmlformats.org/drawingml/2006/main">
              <a:ext uri="{FF2B5EF4-FFF2-40B4-BE49-F238E27FC236}">
                <a16:creationId xmlns:a16="http://schemas.microsoft.com/office/drawing/2014/main" id="{A7716CB1-156D-4A2B-9123-B864EFE964B8}"/>
              </a:ext>
            </a:extLst>
          </p:cNvPr>
          <p:cNvSpPr>
            <a:spLocks xmlns:a="http://schemas.openxmlformats.org/drawingml/2006/main" noGrp="1"/>
          </p:cNvSpPr>
          <p:nvPr/>
        </p:nvSpPr>
        <p:spPr>
          <a:xfrm xmlns:a="http://schemas.openxmlformats.org/drawingml/2006/main">
            <a:off x="8020050" y="1819275"/>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每天 3.5 小時，約得多少分？</a:t>
            </a:r>
          </a:p>
        </p:txBody>
      </p:sp>
      <p:sp>
        <p:nvSpPr>
          <p:cNvPr id="6" name="">
            <a:extLst xmlns:a="http://schemas.openxmlformats.org/drawingml/2006/main">
              <a:ext uri="{FF2B5EF4-FFF2-40B4-BE49-F238E27FC236}">
                <a16:creationId xmlns:a16="http://schemas.microsoft.com/office/drawing/2014/main" id="{04D32596-6C08-4CA1-A122-01061292C972}"/>
              </a:ext>
            </a:extLst>
          </p:cNvPr>
          <p:cNvSpPr>
            <a:spLocks xmlns:a="http://schemas.openxmlformats.org/drawingml/2006/main" noGrp="1"/>
          </p:cNvSpPr>
          <p:nvPr/>
        </p:nvSpPr>
        <p:spPr>
          <a:xfrm xmlns:a="http://schemas.openxmlformats.org/drawingml/2006/main">
            <a:off x="8020050" y="2286000"/>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About what score for 3.5 hours a day?</a:t>
            </a:r>
          </a:p>
        </p:txBody>
      </p:sp>
      <p:sp>
        <p:nvSpPr>
          <p:cNvPr id="7" name="">
            <a:extLst xmlns:a="http://schemas.openxmlformats.org/drawingml/2006/main">
              <a:ext uri="{FF2B5EF4-FFF2-40B4-BE49-F238E27FC236}">
                <a16:creationId xmlns:a16="http://schemas.microsoft.com/office/drawing/2014/main" id="{74F9C04D-64D1-475E-B365-F72F056960BA}"/>
              </a:ext>
            </a:extLst>
          </p:cNvPr>
          <p:cNvSpPr>
            <a:spLocks xmlns:a="http://schemas.openxmlformats.org/drawingml/2006/main" noGrp="1"/>
          </p:cNvSpPr>
          <p:nvPr/>
        </p:nvSpPr>
        <p:spPr>
          <a:xfrm xmlns:a="http://schemas.openxmlformats.org/drawingml/2006/main">
            <a:off x="8020050" y="33909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先估計，再檢查網頁</a:t>
            </a:r>
          </a:p>
        </p:txBody>
      </p:sp>
      <p:sp>
        <p:nvSpPr>
          <p:cNvPr id="8" name="">
            <a:extLst xmlns:a="http://schemas.openxmlformats.org/drawingml/2006/main">
              <a:ext uri="{FF2B5EF4-FFF2-40B4-BE49-F238E27FC236}">
                <a16:creationId xmlns:a16="http://schemas.microsoft.com/office/drawing/2014/main" id="{F9F85428-197A-48EC-9C9B-8C48329BA773}"/>
              </a:ext>
            </a:extLst>
          </p:cNvPr>
          <p:cNvSpPr>
            <a:spLocks xmlns:a="http://schemas.openxmlformats.org/drawingml/2006/main" noGrp="1"/>
          </p:cNvSpPr>
          <p:nvPr/>
        </p:nvSpPr>
        <p:spPr>
          <a:xfrm xmlns:a="http://schemas.openxmlformats.org/drawingml/2006/main">
            <a:off x="8020050" y="38576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Estimate first, then check the page</a:t>
            </a:r>
          </a:p>
        </p:txBody>
      </p:sp>
      <p:sp>
        <p:nvSpPr>
          <p:cNvPr id="9" name="">
            <a:extLst xmlns:a="http://schemas.openxmlformats.org/drawingml/2006/main">
              <a:ext uri="{FF2B5EF4-FFF2-40B4-BE49-F238E27FC236}">
                <a16:creationId xmlns:a16="http://schemas.microsoft.com/office/drawing/2014/main" id="{888C94A4-510D-4A81-84DA-5715045B0C2D}"/>
              </a:ext>
            </a:extLst>
          </p:cNvPr>
          <p:cNvSpPr>
            <a:spLocks xmlns:a="http://schemas.openxmlformats.org/drawingml/2006/main" noGrp="1"/>
          </p:cNvSpPr>
          <p:nvPr/>
        </p:nvSpPr>
        <p:spPr>
          <a:xfrm xmlns:a="http://schemas.openxmlformats.org/drawingml/2006/main">
            <a:off x="8020050" y="481965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10 小時的預測可信嗎？</a:t>
            </a:r>
          </a:p>
        </p:txBody>
      </p:sp>
      <p:sp>
        <p:nvSpPr>
          <p:cNvPr id="10" name="">
            <a:extLst xmlns:a="http://schemas.openxmlformats.org/drawingml/2006/main">
              <a:ext uri="{FF2B5EF4-FFF2-40B4-BE49-F238E27FC236}">
                <a16:creationId xmlns:a16="http://schemas.microsoft.com/office/drawing/2014/main" id="{FC72290C-892E-4A33-93E3-DDFDD6802902}"/>
              </a:ext>
            </a:extLst>
          </p:cNvPr>
          <p:cNvSpPr>
            <a:spLocks xmlns:a="http://schemas.openxmlformats.org/drawingml/2006/main" noGrp="1"/>
          </p:cNvSpPr>
          <p:nvPr/>
        </p:nvSpPr>
        <p:spPr>
          <a:xfrm xmlns:a="http://schemas.openxmlformats.org/drawingml/2006/main">
            <a:off x="8020050" y="528637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reliable is a prediction for 10 hours?</a:t>
            </a:r>
          </a:p>
        </p:txBody>
      </p:sp>
      <p:sp>
        <p:nvSpPr>
          <p:cNvPr id="11" name="">
            <a:extLst xmlns:a="http://schemas.openxmlformats.org/drawingml/2006/main">
              <a:ext uri="{FF2B5EF4-FFF2-40B4-BE49-F238E27FC236}">
                <a16:creationId xmlns:a16="http://schemas.microsoft.com/office/drawing/2014/main" id="{FA23A155-0D5C-4850-A78C-468D2C483A34}"/>
              </a:ext>
            </a:extLst>
          </p:cNvPr>
          <p:cNvSpPr>
            <a:spLocks xmlns:a="http://schemas.openxmlformats.org/drawingml/2006/main" noGrp="1"/>
          </p:cNvSpPr>
          <p:nvPr/>
        </p:nvSpPr>
        <p:spPr>
          <a:xfrm xmlns:a="http://schemas.openxmlformats.org/drawingml/2006/main">
            <a:off x="609600" y="6191250"/>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不同學生的模擬數據 / Simulated data for different students</a:t>
            </a:r>
          </a:p>
        </p:txBody>
      </p:sp>
    </p:spTree>
    <p:extLst>
      <p:ext uri="{BB962C8B-B14F-4D97-AF65-F5344CB8AC3E}">
        <p14:creationId xmlns:p14="http://schemas.microsoft.com/office/powerpoint/2010/main" val="1033701196"/>
      </p:ext>
    </p:extLst>
  </p:cSld>
</p:sld>
</file>

<file path=ppt/slides/slide9.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36ADC5B-D198-4BD7-B0A9-B13E41EE23DF}"/>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預測結果與模型的限制</a:t>
            </a:r>
          </a:p>
        </p:txBody>
      </p:sp>
      <p:sp>
        <p:nvSpPr>
          <p:cNvPr id="2" name="">
            <a:extLst xmlns:a="http://schemas.openxmlformats.org/drawingml/2006/main">
              <a:ext uri="{FF2B5EF4-FFF2-40B4-BE49-F238E27FC236}">
                <a16:creationId xmlns:a16="http://schemas.microsoft.com/office/drawing/2014/main" id="{EC180893-B93C-4A2A-AD5F-A6BDF70ED71D}"/>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Prediction results and limits of the model</a:t>
            </a:r>
          </a:p>
        </p:txBody>
      </p:sp>
      <p:sp>
        <p:nvSpPr>
          <p:cNvPr id="3" name="">
            <a:extLst xmlns:a="http://schemas.openxmlformats.org/drawingml/2006/main">
              <a:ext uri="{FF2B5EF4-FFF2-40B4-BE49-F238E27FC236}">
                <a16:creationId xmlns:a16="http://schemas.microsoft.com/office/drawing/2014/main" id="{1378A81C-528E-41C5-9645-7DCD12472330}"/>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43A69288-6F4D-4753-BC41-D77945469299}"/>
              </a:ext>
            </a:extLst>
          </p:cNvPr>
          <p:cNvSpPr>
            <a:spLocks xmlns:a="http://schemas.openxmlformats.org/drawingml/2006/main" noGrp="1"/>
          </p:cNvSpPr>
          <p:nvPr/>
        </p:nvSpPr>
        <p:spPr>
          <a:xfrm xmlns:a="http://schemas.openxmlformats.org/drawingml/2006/main">
            <a:off x="609600" y="16573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086C61"/>
                </a:solidFill>
                <a:latin typeface="Arial"/>
                <a:ea typeface="Arial"/>
                <a:cs typeface="Arial"/>
              </a:defRPr>
            </a:pPr>
            <a:r>
              <a:rPr sz="4350" b="1">
                <a:solidFill>
                  <a:srgbClr val="086C61"/>
                </a:solidFill>
                <a:latin typeface="Arial"/>
                <a:ea typeface="Arial"/>
                <a:cs typeface="Arial"/>
              </a:rPr>
              <a:t>y = 2x + 50</a:t>
            </a:r>
          </a:p>
        </p:txBody>
      </p:sp>
      <p:sp>
        <p:nvSpPr>
          <p:cNvPr id="5" name="">
            <a:extLst xmlns:a="http://schemas.openxmlformats.org/drawingml/2006/main">
              <a:ext uri="{FF2B5EF4-FFF2-40B4-BE49-F238E27FC236}">
                <a16:creationId xmlns:a16="http://schemas.microsoft.com/office/drawing/2014/main" id="{A1E45746-8567-4677-A457-98642FB7CF30}"/>
              </a:ext>
            </a:extLst>
          </p:cNvPr>
          <p:cNvSpPr>
            <a:spLocks xmlns:a="http://schemas.openxmlformats.org/drawingml/2006/main" noGrp="1"/>
          </p:cNvSpPr>
          <p:nvPr/>
        </p:nvSpPr>
        <p:spPr>
          <a:xfrm xmlns:a="http://schemas.openxmlformats.org/drawingml/2006/main">
            <a:off x="609600" y="2743200"/>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m = 2：模型中每小時約多 2 分</a:t>
            </a:r>
          </a:p>
        </p:txBody>
      </p:sp>
      <p:sp>
        <p:nvSpPr>
          <p:cNvPr id="6" name="">
            <a:extLst xmlns:a="http://schemas.openxmlformats.org/drawingml/2006/main">
              <a:ext uri="{FF2B5EF4-FFF2-40B4-BE49-F238E27FC236}">
                <a16:creationId xmlns:a16="http://schemas.microsoft.com/office/drawing/2014/main" id="{B479947D-44C8-40B7-AF36-19F4D773FD4A}"/>
              </a:ext>
            </a:extLst>
          </p:cNvPr>
          <p:cNvSpPr>
            <a:spLocks xmlns:a="http://schemas.openxmlformats.org/drawingml/2006/main" noGrp="1"/>
          </p:cNvSpPr>
          <p:nvPr/>
        </p:nvSpPr>
        <p:spPr>
          <a:xfrm xmlns:a="http://schemas.openxmlformats.org/drawingml/2006/main">
            <a:off x="609600" y="3209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m = 2: about 2 more marks per extra hour</a:t>
            </a:r>
          </a:p>
        </p:txBody>
      </p:sp>
      <p:sp>
        <p:nvSpPr>
          <p:cNvPr id="7" name="">
            <a:extLst xmlns:a="http://schemas.openxmlformats.org/drawingml/2006/main">
              <a:ext uri="{FF2B5EF4-FFF2-40B4-BE49-F238E27FC236}">
                <a16:creationId xmlns:a16="http://schemas.microsoft.com/office/drawing/2014/main" id="{4B75E1C9-5A9E-42CF-9703-34D8B975ACAC}"/>
              </a:ext>
            </a:extLst>
          </p:cNvPr>
          <p:cNvSpPr>
            <a:spLocks xmlns:a="http://schemas.openxmlformats.org/drawingml/2006/main" noGrp="1"/>
          </p:cNvSpPr>
          <p:nvPr/>
        </p:nvSpPr>
        <p:spPr>
          <a:xfrm xmlns:a="http://schemas.openxmlformats.org/drawingml/2006/main">
            <a:off x="6381750" y="2743200"/>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c = 50：0 小時時估計的成績</a:t>
            </a:r>
          </a:p>
        </p:txBody>
      </p:sp>
      <p:sp>
        <p:nvSpPr>
          <p:cNvPr id="8" name="">
            <a:extLst xmlns:a="http://schemas.openxmlformats.org/drawingml/2006/main">
              <a:ext uri="{FF2B5EF4-FFF2-40B4-BE49-F238E27FC236}">
                <a16:creationId xmlns:a16="http://schemas.microsoft.com/office/drawing/2014/main" id="{4BCE816D-10CD-4963-91FF-944EA280C19A}"/>
              </a:ext>
            </a:extLst>
          </p:cNvPr>
          <p:cNvSpPr>
            <a:spLocks xmlns:a="http://schemas.openxmlformats.org/drawingml/2006/main" noGrp="1"/>
          </p:cNvSpPr>
          <p:nvPr/>
        </p:nvSpPr>
        <p:spPr>
          <a:xfrm xmlns:a="http://schemas.openxmlformats.org/drawingml/2006/main">
            <a:off x="6381750" y="3209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c = 50: estimated score at 0 hours</a:t>
            </a:r>
          </a:p>
        </p:txBody>
      </p:sp>
      <p:sp>
        <p:nvSpPr>
          <p:cNvPr id="9" name="">
            <a:extLst xmlns:a="http://schemas.openxmlformats.org/drawingml/2006/main">
              <a:ext uri="{FF2B5EF4-FFF2-40B4-BE49-F238E27FC236}">
                <a16:creationId xmlns:a16="http://schemas.microsoft.com/office/drawing/2014/main" id="{56B394EF-CAA9-4EFF-85E5-D8BC7EE051E4}"/>
              </a:ext>
            </a:extLst>
          </p:cNvPr>
          <p:cNvSpPr>
            <a:spLocks xmlns:a="http://schemas.openxmlformats.org/drawingml/2006/main" noGrp="1"/>
          </p:cNvSpPr>
          <p:nvPr/>
        </p:nvSpPr>
        <p:spPr>
          <a:xfrm xmlns:a="http://schemas.openxmlformats.org/drawingml/2006/main">
            <a:off x="609600" y="39528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3.5 小時：約 57 分</a:t>
            </a:r>
          </a:p>
        </p:txBody>
      </p:sp>
      <p:sp>
        <p:nvSpPr>
          <p:cNvPr id="10" name="">
            <a:extLst xmlns:a="http://schemas.openxmlformats.org/drawingml/2006/main">
              <a:ext uri="{FF2B5EF4-FFF2-40B4-BE49-F238E27FC236}">
                <a16:creationId xmlns:a16="http://schemas.microsoft.com/office/drawing/2014/main" id="{1692F209-438E-4A6D-B27F-FF388A1ACB4C}"/>
              </a:ext>
            </a:extLst>
          </p:cNvPr>
          <p:cNvSpPr>
            <a:spLocks xmlns:a="http://schemas.openxmlformats.org/drawingml/2006/main" noGrp="1"/>
          </p:cNvSpPr>
          <p:nvPr/>
        </p:nvSpPr>
        <p:spPr>
          <a:xfrm xmlns:a="http://schemas.openxmlformats.org/drawingml/2006/main">
            <a:off x="609600" y="44196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3.5 hours: about 57 marks</a:t>
            </a:r>
          </a:p>
        </p:txBody>
      </p:sp>
      <p:sp>
        <p:nvSpPr>
          <p:cNvPr id="11" name="">
            <a:extLst xmlns:a="http://schemas.openxmlformats.org/drawingml/2006/main">
              <a:ext uri="{FF2B5EF4-FFF2-40B4-BE49-F238E27FC236}">
                <a16:creationId xmlns:a16="http://schemas.microsoft.com/office/drawing/2014/main" id="{81CF90FA-1079-46EE-80A8-EBBA93AB1FEF}"/>
              </a:ext>
            </a:extLst>
          </p:cNvPr>
          <p:cNvSpPr>
            <a:spLocks xmlns:a="http://schemas.openxmlformats.org/drawingml/2006/main" noGrp="1"/>
          </p:cNvSpPr>
          <p:nvPr/>
        </p:nvSpPr>
        <p:spPr>
          <a:xfrm xmlns:a="http://schemas.openxmlformats.org/drawingml/2006/main">
            <a:off x="6381750" y="39528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10 小時：約 70 分</a:t>
            </a:r>
          </a:p>
        </p:txBody>
      </p:sp>
      <p:sp>
        <p:nvSpPr>
          <p:cNvPr id="12" name="">
            <a:extLst xmlns:a="http://schemas.openxmlformats.org/drawingml/2006/main">
              <a:ext uri="{FF2B5EF4-FFF2-40B4-BE49-F238E27FC236}">
                <a16:creationId xmlns:a16="http://schemas.microsoft.com/office/drawing/2014/main" id="{385F1C61-D90C-425B-AA4E-5D5D238173B8}"/>
              </a:ext>
            </a:extLst>
          </p:cNvPr>
          <p:cNvSpPr>
            <a:spLocks xmlns:a="http://schemas.openxmlformats.org/drawingml/2006/main" noGrp="1"/>
          </p:cNvSpPr>
          <p:nvPr/>
        </p:nvSpPr>
        <p:spPr>
          <a:xfrm xmlns:a="http://schemas.openxmlformats.org/drawingml/2006/main">
            <a:off x="6381750" y="44196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10 hours: about 70 marks</a:t>
            </a:r>
          </a:p>
        </p:txBody>
      </p:sp>
      <p:sp>
        <p:nvSpPr>
          <p:cNvPr id="13" name="">
            <a:extLst xmlns:a="http://schemas.openxmlformats.org/drawingml/2006/main">
              <a:ext uri="{FF2B5EF4-FFF2-40B4-BE49-F238E27FC236}">
                <a16:creationId xmlns:a16="http://schemas.microsoft.com/office/drawing/2014/main" id="{849843D8-DC30-4FD3-9669-312A5481ABC5}"/>
              </a:ext>
            </a:extLst>
          </p:cNvPr>
          <p:cNvSpPr>
            <a:spLocks xmlns:a="http://schemas.openxmlformats.org/drawingml/2006/main" noGrp="1"/>
          </p:cNvSpPr>
          <p:nvPr/>
        </p:nvSpPr>
        <p:spPr>
          <a:xfrm xmlns:a="http://schemas.openxmlformats.org/drawingml/2006/main">
            <a:off x="609600" y="516255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3C43"/>
                </a:solidFill>
                <a:latin typeface="Heiti TC"/>
                <a:ea typeface="Heiti TC"/>
                <a:cs typeface="Heiti TC"/>
              </a:defRPr>
            </a:pPr>
            <a:r>
              <a:rPr sz="1950" b="0">
                <a:solidFill>
                  <a:srgbClr val="173C43"/>
                </a:solidFill>
                <a:latin typeface="Heiti TC"/>
                <a:ea typeface="Heiti TC"/>
                <a:cs typeface="Heiti TC"/>
              </a:rPr>
              <a:t>10 超出觀察範圍，可能較不可靠。趨勢不保證個別結果。</a:t>
            </a:r>
          </a:p>
        </p:txBody>
      </p:sp>
      <p:sp>
        <p:nvSpPr>
          <p:cNvPr id="14" name="">
            <a:extLst xmlns:a="http://schemas.openxmlformats.org/drawingml/2006/main">
              <a:ext uri="{FF2B5EF4-FFF2-40B4-BE49-F238E27FC236}">
                <a16:creationId xmlns:a16="http://schemas.microsoft.com/office/drawing/2014/main" id="{15797FF8-4837-4787-AEF1-5E073D4E3918}"/>
              </a:ext>
            </a:extLst>
          </p:cNvPr>
          <p:cNvSpPr>
            <a:spLocks xmlns:a="http://schemas.openxmlformats.org/drawingml/2006/main" noGrp="1"/>
          </p:cNvSpPr>
          <p:nvPr/>
        </p:nvSpPr>
        <p:spPr>
          <a:xfrm xmlns:a="http://schemas.openxmlformats.org/drawingml/2006/main">
            <a:off x="609600" y="56292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10 is outside the observed range. The trend does not guarantee an individual result.</a:t>
            </a:r>
          </a:p>
        </p:txBody>
      </p:sp>
    </p:spTree>
    <p:extLst>
      <p:ext uri="{BB962C8B-B14F-4D97-AF65-F5344CB8AC3E}">
        <p14:creationId xmlns:p14="http://schemas.microsoft.com/office/powerpoint/2010/main" val="1794675191"/>
      </p:ext>
    </p:extLst>
  </p:cSld>
</p:sld>
</file>

<file path=ppt/slides/slide10.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720CBE-4F3C-4DAD-BD94-F8B82B08A25F}"/>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你的預測與觀察</a:t>
            </a:r>
          </a:p>
        </p:txBody>
      </p:sp>
      <p:sp>
        <p:nvSpPr>
          <p:cNvPr id="2" name="">
            <a:extLst xmlns:a="http://schemas.openxmlformats.org/drawingml/2006/main">
              <a:ext uri="{FF2B5EF4-FFF2-40B4-BE49-F238E27FC236}">
                <a16:creationId xmlns:a16="http://schemas.microsoft.com/office/drawing/2014/main" id="{A26449D4-C8D5-4DE9-BA22-2E2B83EAA211}"/>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Your prediction and observation</a:t>
            </a:r>
          </a:p>
        </p:txBody>
      </p:sp>
      <p:sp>
        <p:nvSpPr>
          <p:cNvPr id="3" name="">
            <a:extLst xmlns:a="http://schemas.openxmlformats.org/drawingml/2006/main">
              <a:ext uri="{FF2B5EF4-FFF2-40B4-BE49-F238E27FC236}">
                <a16:creationId xmlns:a16="http://schemas.microsoft.com/office/drawing/2014/main" id="{A1F41E85-2920-428A-AB50-A505C59FC95A}"/>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8F6591FC-AF0D-4696-924D-92FA4FA46350}"/>
              </a:ext>
            </a:extLst>
          </p:cNvPr>
          <p:cNvSpPr>
            <a:spLocks xmlns:a="http://schemas.openxmlformats.org/drawingml/2006/main" noGrp="1"/>
          </p:cNvSpPr>
          <p:nvPr/>
        </p:nvSpPr>
        <p:spPr>
          <a:xfrm xmlns:a="http://schemas.openxmlformats.org/drawingml/2006/main">
            <a:off x="609600" y="17621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你的估計與網頁的預測接近嗎？</a:t>
            </a:r>
          </a:p>
        </p:txBody>
      </p:sp>
      <p:sp>
        <p:nvSpPr>
          <p:cNvPr id="5" name="">
            <a:extLst xmlns:a="http://schemas.openxmlformats.org/drawingml/2006/main">
              <a:ext uri="{FF2B5EF4-FFF2-40B4-BE49-F238E27FC236}">
                <a16:creationId xmlns:a16="http://schemas.microsoft.com/office/drawing/2014/main" id="{0BCB142B-8199-4E77-97C3-280BAAC00861}"/>
              </a:ext>
            </a:extLst>
          </p:cNvPr>
          <p:cNvSpPr>
            <a:spLocks xmlns:a="http://schemas.openxmlformats.org/drawingml/2006/main" noGrp="1"/>
          </p:cNvSpPr>
          <p:nvPr/>
        </p:nvSpPr>
        <p:spPr>
          <a:xfrm xmlns:a="http://schemas.openxmlformats.org/drawingml/2006/main">
            <a:off x="609600" y="2228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Was your estimate close to the page’s prediction?</a:t>
            </a:r>
          </a:p>
        </p:txBody>
      </p:sp>
      <p:sp>
        <p:nvSpPr>
          <p:cNvPr id="6" name="">
            <a:extLst xmlns:a="http://schemas.openxmlformats.org/drawingml/2006/main">
              <a:ext uri="{FF2B5EF4-FFF2-40B4-BE49-F238E27FC236}">
                <a16:creationId xmlns:a16="http://schemas.microsoft.com/office/drawing/2014/main" id="{31D5FFC6-EBD6-4F82-AEEA-43D8067A28D4}"/>
              </a:ext>
            </a:extLst>
          </p:cNvPr>
          <p:cNvSpPr>
            <a:spLocks xmlns:a="http://schemas.openxmlformats.org/drawingml/2006/main" noGrp="1"/>
          </p:cNvSpPr>
          <p:nvPr/>
        </p:nvSpPr>
        <p:spPr>
          <a:xfrm xmlns:a="http://schemas.openxmlformats.org/drawingml/2006/main">
            <a:off x="609600" y="30956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加入新點後，m 和 c 有甚麼改變？</a:t>
            </a:r>
          </a:p>
        </p:txBody>
      </p:sp>
      <p:sp>
        <p:nvSpPr>
          <p:cNvPr id="7" name="">
            <a:extLst xmlns:a="http://schemas.openxmlformats.org/drawingml/2006/main">
              <a:ext uri="{FF2B5EF4-FFF2-40B4-BE49-F238E27FC236}">
                <a16:creationId xmlns:a16="http://schemas.microsoft.com/office/drawing/2014/main" id="{BF445499-4C3C-491C-8B4F-841483122FE9}"/>
              </a:ext>
            </a:extLst>
          </p:cNvPr>
          <p:cNvSpPr>
            <a:spLocks xmlns:a="http://schemas.openxmlformats.org/drawingml/2006/main" noGrp="1"/>
          </p:cNvSpPr>
          <p:nvPr/>
        </p:nvSpPr>
        <p:spPr>
          <a:xfrm xmlns:a="http://schemas.openxmlformats.org/drawingml/2006/main">
            <a:off x="609600" y="3562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How did m and c change after you added a point?</a:t>
            </a:r>
          </a:p>
        </p:txBody>
      </p:sp>
      <p:sp>
        <p:nvSpPr>
          <p:cNvPr id="8" name="">
            <a:extLst xmlns:a="http://schemas.openxmlformats.org/drawingml/2006/main">
              <a:ext uri="{FF2B5EF4-FFF2-40B4-BE49-F238E27FC236}">
                <a16:creationId xmlns:a16="http://schemas.microsoft.com/office/drawing/2014/main" id="{4D20F10B-22FF-413F-A190-6E7C50ED73DF}"/>
              </a:ext>
            </a:extLst>
          </p:cNvPr>
          <p:cNvSpPr>
            <a:spLocks xmlns:a="http://schemas.openxmlformats.org/drawingml/2006/main" noGrp="1"/>
          </p:cNvSpPr>
          <p:nvPr/>
        </p:nvSpPr>
        <p:spPr>
          <a:xfrm xmlns:a="http://schemas.openxmlformats.org/drawingml/2006/main">
            <a:off x="609600" y="44291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你會較信賴哪個預測？為甚麼？</a:t>
            </a:r>
          </a:p>
        </p:txBody>
      </p:sp>
      <p:sp>
        <p:nvSpPr>
          <p:cNvPr id="9" name="">
            <a:extLst xmlns:a="http://schemas.openxmlformats.org/drawingml/2006/main">
              <a:ext uri="{FF2B5EF4-FFF2-40B4-BE49-F238E27FC236}">
                <a16:creationId xmlns:a16="http://schemas.microsoft.com/office/drawing/2014/main" id="{170AC07D-BCFE-4B0F-9A91-CAF8DDE62D65}"/>
              </a:ext>
            </a:extLst>
          </p:cNvPr>
          <p:cNvSpPr>
            <a:spLocks xmlns:a="http://schemas.openxmlformats.org/drawingml/2006/main" noGrp="1"/>
          </p:cNvSpPr>
          <p:nvPr/>
        </p:nvSpPr>
        <p:spPr>
          <a:xfrm xmlns:a="http://schemas.openxmlformats.org/drawingml/2006/main">
            <a:off x="609600" y="4895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Which prediction would you trust more? Why?</a:t>
            </a:r>
          </a:p>
        </p:txBody>
      </p:sp>
      <p:sp>
        <p:nvSpPr>
          <p:cNvPr id="10" name="">
            <a:extLst xmlns:a="http://schemas.openxmlformats.org/drawingml/2006/main">
              <a:ext uri="{FF2B5EF4-FFF2-40B4-BE49-F238E27FC236}">
                <a16:creationId xmlns:a16="http://schemas.microsoft.com/office/drawing/2014/main" id="{2248BD1D-676E-48FB-A580-B42CA6B03CD4}"/>
              </a:ext>
            </a:extLst>
          </p:cNvPr>
          <p:cNvSpPr>
            <a:spLocks xmlns:a="http://schemas.openxmlformats.org/drawingml/2006/main" noGrp="1"/>
          </p:cNvSpPr>
          <p:nvPr/>
        </p:nvSpPr>
        <p:spPr>
          <a:xfrm xmlns:a="http://schemas.openxmlformats.org/drawingml/2006/main">
            <a:off x="609600" y="58388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086C61"/>
                </a:solidFill>
                <a:latin typeface="Heiti TC"/>
                <a:ea typeface="Heiti TC"/>
                <a:cs typeface="Heiti TC"/>
              </a:defRPr>
            </a:pPr>
            <a:r>
              <a:rPr sz="1725" b="0">
                <a:solidFill>
                  <a:srgbClr val="086C61"/>
                </a:solidFill>
                <a:latin typeface="Heiti TC"/>
                <a:ea typeface="Heiti TC"/>
                <a:cs typeface="Heiti TC"/>
              </a:rPr>
              <a:t>工作紙最後一節 / Final section of the worksheet</a:t>
            </a:r>
          </a:p>
        </p:txBody>
      </p:sp>
    </p:spTree>
    <p:extLst>
      <p:ext uri="{BB962C8B-B14F-4D97-AF65-F5344CB8AC3E}">
        <p14:creationId xmlns:p14="http://schemas.microsoft.com/office/powerpoint/2010/main" val="14496294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2026-10-05T03:39:09.6470000Z</dcterms:created>
  <dcterms:modified xsi:type="dcterms:W3CDTF">2026-10-05T03:39:09.6480000Z</dcterms:modified>
</coreProperties>
</file>