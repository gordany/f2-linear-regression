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835ccce9b840bb" /><Relationship Type="http://schemas.openxmlformats.org/officeDocument/2006/relationships/extended-properties" Target="/docProps/app.xml" Id="Rb53fb24620544b7c" /><Relationship Type="http://schemas.openxmlformats.org/officeDocument/2006/relationships/officeDocument" Target="/ppt/presentation.xml" Id="R410d99e3f5d348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f78708689c45d6"/>
  </p:sldMasterIdLst>
  <p:notesMasterIdLst>
    <p:notesMasterId xmlns:r="http://schemas.openxmlformats.org/officeDocument/2006/relationships" r:id="Rb26249ba71f142fc"/>
  </p:notesMasterIdLst>
  <p:sldIdLst>
    <p:sldId xmlns:r="http://schemas.openxmlformats.org/officeDocument/2006/relationships" id="256" r:id="R33d92ae6c49a4975"/>
    <p:sldId xmlns:r="http://schemas.openxmlformats.org/officeDocument/2006/relationships" id="257" r:id="Rf9d22dc1b7eb4228"/>
    <p:sldId xmlns:r="http://schemas.openxmlformats.org/officeDocument/2006/relationships" id="258" r:id="R37b1676c188f4630"/>
    <p:sldId xmlns:r="http://schemas.openxmlformats.org/officeDocument/2006/relationships" id="259" r:id="Rc76415c92c184a6f"/>
    <p:sldId xmlns:r="http://schemas.openxmlformats.org/officeDocument/2006/relationships" id="260" r:id="Rac2ecc3f55204a08"/>
    <p:sldId xmlns:r="http://schemas.openxmlformats.org/officeDocument/2006/relationships" id="261" r:id="Rc87340ac42f54904"/>
    <p:sldId xmlns:r="http://schemas.openxmlformats.org/officeDocument/2006/relationships" id="262" r:id="R443059c9b5374d7a"/>
    <p:sldId xmlns:r="http://schemas.openxmlformats.org/officeDocument/2006/relationships" id="263" r:id="Rad916c281e524747"/>
    <p:sldId xmlns:r="http://schemas.openxmlformats.org/officeDocument/2006/relationships" id="264" r:id="R7e3e20db77094e95"/>
    <p:sldId xmlns:r="http://schemas.openxmlformats.org/officeDocument/2006/relationships" id="265" r:id="R1dac2c8546d842a6"/>
    <p:sldId xmlns:r="http://schemas.openxmlformats.org/officeDocument/2006/relationships" id="266" r:id="R9fc4e5b4ad7d4c25"/>
    <p:sldId xmlns:r="http://schemas.openxmlformats.org/officeDocument/2006/relationships" id="267" r:id="Rba25109f9f6c492b"/>
    <p:sldId xmlns:r="http://schemas.openxmlformats.org/officeDocument/2006/relationships" id="268" r:id="Rcd03eb230a194fd9"/>
    <p:sldId xmlns:r="http://schemas.openxmlformats.org/officeDocument/2006/relationships" id="269" r:id="R7696bc19ddda449b"/>
    <p:sldId xmlns:r="http://schemas.openxmlformats.org/officeDocument/2006/relationships" id="270" r:id="R5a452f86f661455e"/>
    <p:sldId xmlns:r="http://schemas.openxmlformats.org/officeDocument/2006/relationships" id="271" r:id="Rc69f08de105e44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5f399959084b58" /><Relationship Type="http://schemas.openxmlformats.org/officeDocument/2006/relationships/slideMaster" Target="/ppt/slideMasters/slideMaster1.xml" Id="Re5f78708689c45d6" /><Relationship Type="http://schemas.openxmlformats.org/officeDocument/2006/relationships/notesMaster" Target="/ppt/notesMasters/notesMaster1.xml" Id="Rb26249ba71f142fc" /><Relationship Type="http://schemas.openxmlformats.org/officeDocument/2006/relationships/presProps" Target="/ppt/presProps.xml" Id="R8e99900353264d11" /><Relationship Type="http://schemas.openxmlformats.org/officeDocument/2006/relationships/tableStyles" Target="/ppt/tableStyles.xml" Id="Rc0e7e4e0ceb54672" /><Relationship Type="http://schemas.openxmlformats.org/officeDocument/2006/relationships/slide" Target="/ppt/slides/slide1.xml" Id="R33d92ae6c49a4975" /><Relationship Type="http://schemas.openxmlformats.org/officeDocument/2006/relationships/slide" Target="/ppt/slides/slide2.xml" Id="Rf9d22dc1b7eb4228" /><Relationship Type="http://schemas.openxmlformats.org/officeDocument/2006/relationships/slide" Target="/ppt/slides/slide3.xml" Id="R37b1676c188f4630" /><Relationship Type="http://schemas.openxmlformats.org/officeDocument/2006/relationships/slide" Target="/ppt/slides/slide4.xml" Id="Rc76415c92c184a6f" /><Relationship Type="http://schemas.openxmlformats.org/officeDocument/2006/relationships/slide" Target="/ppt/slides/slide5.xml" Id="Rac2ecc3f55204a08" /><Relationship Type="http://schemas.openxmlformats.org/officeDocument/2006/relationships/slide" Target="/ppt/slides/slide6.xml" Id="Rc87340ac42f54904" /><Relationship Type="http://schemas.openxmlformats.org/officeDocument/2006/relationships/slide" Target="/ppt/slides/slide7.xml" Id="R443059c9b5374d7a" /><Relationship Type="http://schemas.openxmlformats.org/officeDocument/2006/relationships/slide" Target="/ppt/slides/slide8.xml" Id="Rad916c281e524747" /><Relationship Type="http://schemas.openxmlformats.org/officeDocument/2006/relationships/slide" Target="/ppt/slides/slide9.xml" Id="R7e3e20db77094e95" /><Relationship Type="http://schemas.openxmlformats.org/officeDocument/2006/relationships/slide" Target="/ppt/slides/slide10.xml" Id="R1dac2c8546d842a6" /><Relationship Type="http://schemas.openxmlformats.org/officeDocument/2006/relationships/slide" Target="/ppt/slides/slide11.xml" Id="R9fc4e5b4ad7d4c25" /><Relationship Type="http://schemas.openxmlformats.org/officeDocument/2006/relationships/slide" Target="/ppt/slides/slide12.xml" Id="Rba25109f9f6c492b" /><Relationship Type="http://schemas.openxmlformats.org/officeDocument/2006/relationships/slide" Target="/ppt/slides/slide13.xml" Id="Rcd03eb230a194fd9" /><Relationship Type="http://schemas.openxmlformats.org/officeDocument/2006/relationships/slide" Target="/ppt/slides/slide14.xml" Id="R7696bc19ddda449b" /><Relationship Type="http://schemas.openxmlformats.org/officeDocument/2006/relationships/slide" Target="/ppt/slides/slide15.xml" Id="R5a452f86f661455e" /><Relationship Type="http://schemas.openxmlformats.org/officeDocument/2006/relationships/slide" Target="/ppt/slides/slide16.xml" Id="Rc69f08de105e44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68c2a585cf40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b07616319e4f15" /><Relationship Type="http://schemas.openxmlformats.org/officeDocument/2006/relationships/notesMaster" Target="/ppt/notesMasters/notesMaster1.xml" Id="Ra246cda27e884a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40afa05035404f" /><Relationship Type="http://schemas.openxmlformats.org/officeDocument/2006/relationships/notesMaster" Target="/ppt/notesMasters/notesMaster1.xml" Id="R0cf225527806470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aa5c84c6534e96" /><Relationship Type="http://schemas.openxmlformats.org/officeDocument/2006/relationships/notesMaster" Target="/ppt/notesMasters/notesMaster1.xml" Id="R229695eb01634b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cd9ca9bee84417" /><Relationship Type="http://schemas.openxmlformats.org/officeDocument/2006/relationships/notesMaster" Target="/ppt/notesMasters/notesMaster1.xml" Id="Rf417b54dbadb4b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cbe547932f4802" /><Relationship Type="http://schemas.openxmlformats.org/officeDocument/2006/relationships/notesMaster" Target="/ppt/notesMasters/notesMaster1.xml" Id="R798917c59cfe40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b61a7c7dc144fc" /><Relationship Type="http://schemas.openxmlformats.org/officeDocument/2006/relationships/notesMaster" Target="/ppt/notesMasters/notesMaster1.xml" Id="R2acafe23a1b44a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e7bffc0a524b9e" /><Relationship Type="http://schemas.openxmlformats.org/officeDocument/2006/relationships/notesMaster" Target="/ppt/notesMasters/notesMaster1.xml" Id="R1292036aa44046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793aead60c45b8" /><Relationship Type="http://schemas.openxmlformats.org/officeDocument/2006/relationships/notesMaster" Target="/ppt/notesMasters/notesMaster1.xml" Id="R57e043d39f4d4c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1959203b0c4f63" /><Relationship Type="http://schemas.openxmlformats.org/officeDocument/2006/relationships/notesMaster" Target="/ppt/notesMasters/notesMaster1.xml" Id="R6a236cc260c146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3523a132dd4f1e" /><Relationship Type="http://schemas.openxmlformats.org/officeDocument/2006/relationships/notesMaster" Target="/ppt/notesMasters/notesMaster1.xml" Id="Rf7bf498d8b0146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af6c767a664a83" /><Relationship Type="http://schemas.openxmlformats.org/officeDocument/2006/relationships/notesMaster" Target="/ppt/notesMasters/notesMaster1.xml" Id="R86e25f8ae6cd41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a8c51e1e9b4954" /><Relationship Type="http://schemas.openxmlformats.org/officeDocument/2006/relationships/notesMaster" Target="/ppt/notesMasters/notesMaster1.xml" Id="R1171111e76b04c9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0f813241574d4c" /><Relationship Type="http://schemas.openxmlformats.org/officeDocument/2006/relationships/notesMaster" Target="/ppt/notesMasters/notesMaster1.xml" Id="Rb030ff854ef94e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2839142100b4dad" /><Relationship Type="http://schemas.openxmlformats.org/officeDocument/2006/relationships/notesMaster" Target="/ppt/notesMasters/notesMaster1.xml" Id="R0c9611c9a7ee4ef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6a326fcdf474e76" /><Relationship Type="http://schemas.openxmlformats.org/officeDocument/2006/relationships/notesMaster" Target="/ppt/notesMasters/notesMaster1.xml" Id="R9e0db00f711e4f4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03487a25451466a" /><Relationship Type="http://schemas.openxmlformats.org/officeDocument/2006/relationships/notesMaster" Target="/ppt/notesMasters/notesMaster1.xml" Id="R0f428b2dc78544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Workshop 2, 60 minutes:10 setup;15 exploration;15 score model/R²;15 comparisons;5 reflection. Brief introductions in this order: Python/Jupyter, cloud/Colab, then sklearn.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Sources:https://www.python.org/doc/essays/blurb/ and https://jupyter.org/. Brief introduction, about1 minute. Python is a programming language, Jupyter Notebook a format/interface combining prose, code and outputs. Colab is a hosted notebook service, not a separate programming language. Demonstrate one cell, no installation lecture.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Brief introduction, about1 minute. Cloud computing uses remote computers accessed via internet. In Colab the browser displays the notebook and results while a remote runtime executes code. Avoid infrastructure, GPUs or networking detail. Use approved accounts and classroom access. Source:https://research.google.com/colaboratory/faq.html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Source:https://scikit-learn.org/stable/modules/generated/sklearn.linear_model.LinearRegression.html. Brief introduction, about1 minute. A library is reusable code. scikit-learn is the library; sklearn is the name used in imports. LinearRegression is one provided modelling tool. fit fits a line; predict estimates a new output. No algorithm, installation, API syntax or table of other algorithms.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Guided setup, about4 minutes. Save a copy. There are five independently runnable code cells: Section1, Section2 and three Section3 examples. Run in order. A comment line begins with #; a # inside a quoted colour is part of a string. Do not require beginners to explain code lines.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Activity, about10 minutes including discussion. Run Section1. Complete worksheetSection1. Overall fees increase; exceptions include2km29 vs3km27. Prompt students to support a claim with two records. Do not ask for coefficients or a fit.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Section2, about2 minutes. Simulated study times/scores. Students describe trend orally before running fit. Data observed0–6hours; possibleaxes0–24/0–100. No extra worksheet estimate question.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Recall Workshop1, about1 minute. y=mx+c. m is estimated marks per extra daily study hour; c estimated marks at zero hours. They describe the line; neither measures reliability. The orange line is fitted overobserved0–6hours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Activity, about5 minutes. Run all ofSection2. Copy n,m,c,R² and4.5hprediction onto WS table. Purple point59marks. Focus teaching on R² next; n7,m2,c50 descriptive reference only. Outputs are not guarantees of real exam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introducing numeric R², about1 minute. Same axes and21dots. ShowBleft,A right. Ask which looks closer to its trendline. Learners describe tight vs spread-out dots. Do not announce R² until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Brief conceptual explanation, about2 minutes. R² is shareofvariationexplained vsconstantmeanbaseline; do not show formula or derive. For these fitted least-squares models withintercept ontheir training data0–1. Near1morevariationexplained; near0little. HigherR²describesbetterfit here, not guaranteed predictionaccuracy. Source:https://scikit-learn.org/stable/modules/generated/sklearn.metrics/r2_score.html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About1 minute. R²study reference computedfromexactnotebook. Students alreadycopiedtable. Explain0.418accountsforabout42%variation in this tiny simulated sample, not42%correctanswers. n,m,cbriefreference only; noextendedmetrics,pvalues,adjustedR² ormanualmath.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Activity, about10minutes. EachofA/B/C isoneindependentcodecell outputsgraph+summarytable. Identicalaxes0–10/0–100,21dots each. CopyR²3dp rankeachownvariationexplained. Keepstrong/weak/random identitieshiddenuntil learnersfinish. No3.5h oroldnewpointactivity.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Revealonlyaftercompletion, about2minutes. B0.977strong,A0.218weak,C0.027random. RankingB&gt;A&gt;C. No universalstrong/weakthresholds implied. Chance correlationsmayproduce nonzeroR², so do notcallrandomzero. A fittedline always existsbutdoesnotalwayssummariseusefully.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Discussion, about2minutes. Goodtrainingfit notsameasnewpredictionreliability. Validateonnewunseendata, sufficientrepresentativesample, avoidcausalclaims. PointtoWSlastquestion. GeneralnegativeR²canoccuronnewdata, teacherknows; do notcomplicatebeginnerlesson.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Final discussion. Invite one pair per takeaway. Teacher transition only: next workshop predicts a class rather than a number. Explain that R² is specific to this regression task, not a universal AI score. No extra slide or worksheet question. Few observations limit confidence; an association does not establish cause. Rehearse classroom Colab access before class.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27f334cf1b45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6134f3e9814ac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dae6d637e64d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8271df783d40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6abeea2dd74b2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49241f03f949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2595561-DF2B-41BE-A61C-3F39D5C21D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CBCE4F2-F01F-4AF9-B61D-F15AD75A2D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5C691F6-9DB5-4F97-B655-C6E9E39C1F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BCEDA5-EA3E-43BC-AED0-0FFB7B632F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EE3BCF-1C84-4344-8D41-575DFD6D9E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8518AC7-6F6E-48B5-8375-9795D63DB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BF3BBA-79C8-4EEC-B5A8-83256F8F27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845BC24-54E1-42AE-8727-44690BA2C47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BA98C5A-8B1F-4B7B-B66B-AFAEE26366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C3B41B-53B8-4D70-85BB-E8CF3F57DF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a82887d46f4926" /><Relationship Type="http://schemas.openxmlformats.org/officeDocument/2006/relationships/slideLayout" Target="/ppt/slideLayouts/slideLayout1.xml" Id="Rb812df659f1d4424" /><Relationship Type="http://schemas.openxmlformats.org/officeDocument/2006/relationships/slideLayout" Target="/ppt/slideLayouts/slideLayout2.xml" Id="Rec614fb0798f4429" /><Relationship Type="http://schemas.openxmlformats.org/officeDocument/2006/relationships/slideLayout" Target="/ppt/slideLayouts/slideLayout3.xml" Id="Raff620927a6f4a90" /><Relationship Type="http://schemas.openxmlformats.org/officeDocument/2006/relationships/slideLayout" Target="/ppt/slideLayouts/slideLayout4.xml" Id="Re62b8e56adac4138" /><Relationship Type="http://schemas.openxmlformats.org/officeDocument/2006/relationships/slideLayout" Target="/ppt/slideLayouts/slideLayout5.xml" Id="R6c24f1b86926449a" /><Relationship Type="http://schemas.openxmlformats.org/officeDocument/2006/relationships/slideLayout" Target="/ppt/slideLayouts/slideLayout6.xml" Id="Rc37cdc6e96934c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12df659f1d4424"/>
    <p:sldLayoutId xmlns:r="http://schemas.openxmlformats.org/officeDocument/2006/relationships" id="2147483650" r:id="Rec614fb0798f4429"/>
    <p:sldLayoutId xmlns:r="http://schemas.openxmlformats.org/officeDocument/2006/relationships" id="2147483651" r:id="Raff620927a6f4a90"/>
    <p:sldLayoutId xmlns:r="http://schemas.openxmlformats.org/officeDocument/2006/relationships" id="2147483652" r:id="Re62b8e56adac4138"/>
    <p:sldLayoutId xmlns:r="http://schemas.openxmlformats.org/officeDocument/2006/relationships" id="2147483653" r:id="R6c24f1b86926449a"/>
    <p:sldLayoutId xmlns:r="http://schemas.openxmlformats.org/officeDocument/2006/relationships" id="2147483654" r:id="Rc37cdc6e96934c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a872d30f04b74" /><Relationship Type="http://schemas.openxmlformats.org/officeDocument/2006/relationships/notesSlide" Target="/ppt/notesSlides/notesSlide1.xml" Id="Rf5159934b4a248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48af0f190d4c88" /><Relationship Type="http://schemas.openxmlformats.org/officeDocument/2006/relationships/notesSlide" Target="/ppt/notesSlides/notesSlide2.xml" Id="R93ba4f96bd4249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4df1099a6c451e" /><Relationship Type="http://schemas.openxmlformats.org/officeDocument/2006/relationships/notesSlide" Target="/ppt/notesSlides/notesSlide3.xml" Id="Rc272e652188345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fdf42dfc7b4790" /><Relationship Type="http://schemas.openxmlformats.org/officeDocument/2006/relationships/notesSlide" Target="/ppt/notesSlides/notesSlide4.xml" Id="R33aaf7982eb64595" 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59a566e39154690"/><Relationship Type="http://schemas.openxmlformats.org/officeDocument/2006/relationships/notesSlide" Target="/ppt/notesSlides/notesSlide5.xml" Id="Ra825d032f7b64e6f"/><Relationship Id="rIdColabShortLink" Type="http://schemas.openxmlformats.org/officeDocument/2006/relationships/hyperlink" Target="https://tinyurl.com/26jdbxfb" TargetMode="External"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5acb926e2d4586" /><Relationship Type="http://schemas.openxmlformats.org/officeDocument/2006/relationships/chart" Target="/ppt/slides/charts/chart1.xml" Id="R0c7acf0b0e414184" /><Relationship Type="http://schemas.openxmlformats.org/officeDocument/2006/relationships/notesSlide" Target="/ppt/notesSlides/notesSlide6.xml" Id="Ra39705f87c2240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13d5335653446a" /><Relationship Type="http://schemas.openxmlformats.org/officeDocument/2006/relationships/chart" Target="/ppt/slides/charts/chart2.xml" Id="Rde553efa15dd41ad" /><Relationship Type="http://schemas.openxmlformats.org/officeDocument/2006/relationships/notesSlide" Target="/ppt/notesSlides/notesSlide7.xml" Id="R4b5d86a0c79e4d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43fc6e84e8465f" /><Relationship Type="http://schemas.openxmlformats.org/officeDocument/2006/relationships/chart" Target="/ppt/slides/charts/chart3.xml" Id="R489c6a31090148ce" /><Relationship Type="http://schemas.openxmlformats.org/officeDocument/2006/relationships/notesSlide" Target="/ppt/notesSlides/notesSlide8.xml" Id="Rf917f31c940145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b1afd8ea4b4ae4" /><Relationship Type="http://schemas.openxmlformats.org/officeDocument/2006/relationships/chart" Target="/ppt/slides/charts/chart4.xml" Id="Rc87af662bb7041b5" /><Relationship Type="http://schemas.openxmlformats.org/officeDocument/2006/relationships/notesSlide" Target="/ppt/notesSlides/notesSlide9.xml" Id="R17009864ee6b49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323116d04c404a" /><Relationship Type="http://schemas.openxmlformats.org/officeDocument/2006/relationships/chart" Target="/ppt/slides/charts/chart5.xml" Id="R5140d2a8d5bc4953" /><Relationship Type="http://schemas.openxmlformats.org/officeDocument/2006/relationships/chart" Target="/ppt/slides/charts/chart6.xml" Id="R594b7f2683dc4833" /><Relationship Type="http://schemas.openxmlformats.org/officeDocument/2006/relationships/notesSlide" Target="/ppt/notesSlides/notesSlide10.xml" Id="R6cd636270ad643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1b5107efff48b4" /><Relationship Type="http://schemas.openxmlformats.org/officeDocument/2006/relationships/notesSlide" Target="/ppt/notesSlides/notesSlide11.xml" Id="R9b4cbb5b803f44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4ac21061804f82" /><Relationship Type="http://schemas.openxmlformats.org/officeDocument/2006/relationships/notesSlide" Target="/ppt/notesSlides/notesSlide12.xml" Id="Ra7339e3c2efd4f2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55dd4014834340" /><Relationship Type="http://schemas.openxmlformats.org/officeDocument/2006/relationships/chart" Target="/ppt/slides/charts/chart7.xml" Id="R0180689a078e457d" /><Relationship Type="http://schemas.openxmlformats.org/officeDocument/2006/relationships/chart" Target="/ppt/slides/charts/chart8.xml" Id="R4944742eb7fb448d" /><Relationship Type="http://schemas.openxmlformats.org/officeDocument/2006/relationships/chart" Target="/ppt/slides/charts/chart9.xml" Id="R1302f8b3b3d34731" /><Relationship Type="http://schemas.openxmlformats.org/officeDocument/2006/relationships/notesSlide" Target="/ppt/notesSlides/notesSlide13.xml" Id="R7e981ac53a4b48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1196a50a154f8a" /><Relationship Type="http://schemas.openxmlformats.org/officeDocument/2006/relationships/chart" Target="/ppt/slides/charts/chart10.xml" Id="R1c709dcae4f34d13" /><Relationship Type="http://schemas.openxmlformats.org/officeDocument/2006/relationships/chart" Target="/ppt/slides/charts/chart11.xml" Id="R680edba37eda484e" /><Relationship Type="http://schemas.openxmlformats.org/officeDocument/2006/relationships/chart" Target="/ppt/slides/charts/chart12.xml" Id="R9fca906b88454aac" /><Relationship Type="http://schemas.openxmlformats.org/officeDocument/2006/relationships/notesSlide" Target="/ppt/notesSlides/notesSlide14.xml" Id="R7a3c7d14878642c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aa1182700f47a0" /><Relationship Type="http://schemas.openxmlformats.org/officeDocument/2006/relationships/notesSlide" Target="/ppt/notesSlides/notesSlide15.xml" Id="R19ade602a2a646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67bb01ab4047e7" /><Relationship Type="http://schemas.openxmlformats.org/officeDocument/2006/relationships/notesSlide" Target="/ppt/notesSlides/notesSlide16.xml" Id="Rb5d04118dbe444e4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8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</c:numLit>
          </c:xVal>
          <c:yVal>
            <c:numLit>
              <c:formatCode>0</c:formatCode>
              <c:ptCount val="8"/>
              <c:pt idx="0">
                <c:v>24</c:v>
              </c:pt>
              <c:pt idx="1">
                <c:v>29</c:v>
              </c:pt>
              <c:pt idx="2">
                <c:v>27</c:v>
              </c:pt>
              <c:pt idx="3">
                <c:v>38</c:v>
              </c:pt>
              <c:pt idx="4">
                <c:v>35</c:v>
              </c:pt>
              <c:pt idx="5">
                <c:v>44</c:v>
              </c:pt>
              <c:pt idx="6">
                <c:v>42</c:v>
              </c:pt>
              <c:pt idx="7">
                <c:v>51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Fee (HK$)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9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Distance (km)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3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7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</c:numLit>
          </c:xVal>
          <c:yVal>
            <c:numLit>
              <c:formatCode>0</c:formatCode>
              <c:ptCount val="7"/>
              <c:pt idx="0">
                <c:v>53</c:v>
              </c:pt>
              <c:pt idx="1">
                <c:v>46</c:v>
              </c:pt>
              <c:pt idx="2">
                <c:v>59</c:v>
              </c:pt>
              <c:pt idx="3">
                <c:v>52</c:v>
              </c:pt>
              <c:pt idx="4">
                <c:v>63</c:v>
              </c:pt>
              <c:pt idx="5">
                <c:v>54</c:v>
              </c:pt>
              <c:pt idx="6">
                <c:v>65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Exam score (marks)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24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Study time (hours/day)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6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7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</c:numLit>
          </c:xVal>
          <c:yVal>
            <c:numLit>
              <c:formatCode>0</c:formatCode>
              <c:ptCount val="7"/>
              <c:pt idx="0">
                <c:v>53</c:v>
              </c:pt>
              <c:pt idx="1">
                <c:v>46</c:v>
              </c:pt>
              <c:pt idx="2">
                <c:v>59</c:v>
              </c:pt>
              <c:pt idx="3">
                <c:v>52</c:v>
              </c:pt>
              <c:pt idx="4">
                <c:v>63</c:v>
              </c:pt>
              <c:pt idx="5">
                <c:v>54</c:v>
              </c:pt>
              <c:pt idx="6">
                <c:v>65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6</c:v>
              </c:pt>
            </c:numLit>
          </c:xVal>
          <c:yVal>
            <c:numLit>
              <c:formatCode>0</c:formatCode>
              <c:ptCount val="2"/>
              <c:pt idx="0">
                <c:v>50</c:v>
              </c:pt>
              <c:pt idx="1">
                <c:v>62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Exam score (marks)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24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Study time (hours/day)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6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4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7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</c:numLit>
          </c:xVal>
          <c:yVal>
            <c:numLit>
              <c:formatCode>0</c:formatCode>
              <c:ptCount val="7"/>
              <c:pt idx="0">
                <c:v>53</c:v>
              </c:pt>
              <c:pt idx="1">
                <c:v>46</c:v>
              </c:pt>
              <c:pt idx="2">
                <c:v>59</c:v>
              </c:pt>
              <c:pt idx="3">
                <c:v>52</c:v>
              </c:pt>
              <c:pt idx="4">
                <c:v>63</c:v>
              </c:pt>
              <c:pt idx="5">
                <c:v>54</c:v>
              </c:pt>
              <c:pt idx="6">
                <c:v>65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6</c:v>
              </c:pt>
            </c:numLit>
          </c:xVal>
          <c:yVal>
            <c:numLit>
              <c:formatCode>0</c:formatCode>
              <c:ptCount val="2"/>
              <c:pt idx="0">
                <c:v>50</c:v>
              </c:pt>
              <c:pt idx="1">
                <c:v>62</c:v>
              </c:pt>
            </c:numLit>
          </c:yVal>
        </c:ser>
        <c:ser>
          <c:idx val="2"/>
          <c:order val="2"/>
          <c:tx>
            <c:v>Prediction</c:v>
          </c:tx>
          <c:spPr>
            <a:solidFill xmlns:a="http://schemas.openxmlformats.org/drawingml/2006/main">
              <a:srgbClr val="6B51A3"/>
            </a:solidFill>
            <a:ln xmlns:a="http://schemas.openxmlformats.org/drawingml/2006/main" w="0">
              <a:noFill/>
            </a:ln>
          </c:spPr>
          <c:marker>
            <c:symbol val="diamond"/>
            <c:size val="13"/>
          </c:marker>
          <c:xVal>
            <c:numLit>
              <c:formatCode>General</c:formatCode>
              <c:ptCount val="1"/>
              <c:pt idx="0">
                <c:v>4.5</c:v>
              </c:pt>
            </c:numLit>
          </c:xVal>
          <c:yVal>
            <c:numLit>
              <c:formatCode>0</c:formatCode>
              <c:ptCount val="1"/>
              <c:pt idx="0">
                <c:v>59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Exam score (marks)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24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Study time (hours/day)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6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19.97951966040343</c:v>
              </c:pt>
              <c:pt idx="1">
                <c:v>26.138429876914707</c:v>
              </c:pt>
              <c:pt idx="2">
                <c:v>28.22476526386545</c:v>
              </c:pt>
              <c:pt idx="3">
                <c:v>31.17186962494997</c:v>
              </c:pt>
              <c:pt idx="4">
                <c:v>36.85632867000223</c:v>
              </c:pt>
              <c:pt idx="5">
                <c:v>31.383325572061015</c:v>
              </c:pt>
              <c:pt idx="6">
                <c:v>36.11913358677088</c:v>
              </c:pt>
              <c:pt idx="7">
                <c:v>37.038010365184626</c:v>
              </c:pt>
              <c:pt idx="8">
                <c:v>43.67674247615591</c:v>
              </c:pt>
              <c:pt idx="9">
                <c:v>49.99629096595107</c:v>
              </c:pt>
              <c:pt idx="10">
                <c:v>49.93415634118886</c:v>
              </c:pt>
              <c:pt idx="11">
                <c:v>54.487640199392665</c:v>
              </c:pt>
              <c:pt idx="12">
                <c:v>50.267694007470055</c:v>
              </c:pt>
              <c:pt idx="13">
                <c:v>59.44119249763498</c:v>
              </c:pt>
              <c:pt idx="14">
                <c:v>59.27917024622211</c:v>
              </c:pt>
              <c:pt idx="15">
                <c:v>70.32616816173842</c:v>
              </c:pt>
              <c:pt idx="16">
                <c:v>70.66054722937638</c:v>
              </c:pt>
              <c:pt idx="17">
                <c:v>73.8480484497741</c:v>
              </c:pt>
              <c:pt idx="18">
                <c:v>73.8264351124971</c:v>
              </c:pt>
              <c:pt idx="19">
                <c:v>78.83858682284028</c:v>
              </c:pt>
              <c:pt idx="20">
                <c:v>81.9736704861635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20.34454103408355</c:v>
              </c:pt>
              <c:pt idx="1">
                <c:v>80.9380995008267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42.64674734510946</c:v>
              </c:pt>
              <c:pt idx="1">
                <c:v>33.681521819269534</c:v>
              </c:pt>
              <c:pt idx="2">
                <c:v>36.21711039251349</c:v>
              </c:pt>
              <c:pt idx="3">
                <c:v>8.819456643042024</c:v>
              </c:pt>
              <c:pt idx="4">
                <c:v>69.19590335809264</c:v>
              </c:pt>
              <c:pt idx="5">
                <c:v>61.0183222085212</c:v>
              </c:pt>
              <c:pt idx="6">
                <c:v>41.44408028385046</c:v>
              </c:pt>
              <c:pt idx="7">
                <c:v>57.83329221418726</c:v>
              </c:pt>
              <c:pt idx="8">
                <c:v>51.93694937716709</c:v>
              </c:pt>
              <c:pt idx="9">
                <c:v>41.24648029006327</c:v>
              </c:pt>
              <c:pt idx="10">
                <c:v>63.6859443157645</c:v>
              </c:pt>
              <c:pt idx="11">
                <c:v>46.652208346771864</c:v>
              </c:pt>
              <c:pt idx="12">
                <c:v>47.396465343188524</c:v>
              </c:pt>
              <c:pt idx="13">
                <c:v>41.909945424975426</c:v>
              </c:pt>
              <c:pt idx="14">
                <c:v>60.369412997371974</c:v>
              </c:pt>
              <c:pt idx="15">
                <c:v>53.611227275956566</c:v>
              </c:pt>
              <c:pt idx="16">
                <c:v>63.63404199550554</c:v>
              </c:pt>
              <c:pt idx="17">
                <c:v>48.499400201811085</c:v>
              </c:pt>
              <c:pt idx="18">
                <c:v>59.775589859566175</c:v>
              </c:pt>
              <c:pt idx="19">
                <c:v>46.50816339198293</c:v>
              </c:pt>
              <c:pt idx="20">
                <c:v>71.780509613182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39.15986045159048</c:v>
              </c:pt>
              <c:pt idx="1">
                <c:v>60.63659409106599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7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42.64674734510946</c:v>
              </c:pt>
              <c:pt idx="1">
                <c:v>33.681521819269534</c:v>
              </c:pt>
              <c:pt idx="2">
                <c:v>36.21711039251349</c:v>
              </c:pt>
              <c:pt idx="3">
                <c:v>8.819456643042024</c:v>
              </c:pt>
              <c:pt idx="4">
                <c:v>69.19590335809264</c:v>
              </c:pt>
              <c:pt idx="5">
                <c:v>61.0183222085212</c:v>
              </c:pt>
              <c:pt idx="6">
                <c:v>41.44408028385046</c:v>
              </c:pt>
              <c:pt idx="7">
                <c:v>57.83329221418726</c:v>
              </c:pt>
              <c:pt idx="8">
                <c:v>51.93694937716709</c:v>
              </c:pt>
              <c:pt idx="9">
                <c:v>41.24648029006327</c:v>
              </c:pt>
              <c:pt idx="10">
                <c:v>63.6859443157645</c:v>
              </c:pt>
              <c:pt idx="11">
                <c:v>46.652208346771864</c:v>
              </c:pt>
              <c:pt idx="12">
                <c:v>47.396465343188524</c:v>
              </c:pt>
              <c:pt idx="13">
                <c:v>41.909945424975426</c:v>
              </c:pt>
              <c:pt idx="14">
                <c:v>60.369412997371974</c:v>
              </c:pt>
              <c:pt idx="15">
                <c:v>53.611227275956566</c:v>
              </c:pt>
              <c:pt idx="16">
                <c:v>63.63404199550554</c:v>
              </c:pt>
              <c:pt idx="17">
                <c:v>48.499400201811085</c:v>
              </c:pt>
              <c:pt idx="18">
                <c:v>59.775589859566175</c:v>
              </c:pt>
              <c:pt idx="19">
                <c:v>46.50816339198293</c:v>
              </c:pt>
              <c:pt idx="20">
                <c:v>71.780509613182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39.15986045159048</c:v>
              </c:pt>
              <c:pt idx="1">
                <c:v>60.63659409106599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8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19.97951966040343</c:v>
              </c:pt>
              <c:pt idx="1">
                <c:v>26.138429876914707</c:v>
              </c:pt>
              <c:pt idx="2">
                <c:v>28.22476526386545</c:v>
              </c:pt>
              <c:pt idx="3">
                <c:v>31.17186962494997</c:v>
              </c:pt>
              <c:pt idx="4">
                <c:v>36.85632867000223</c:v>
              </c:pt>
              <c:pt idx="5">
                <c:v>31.383325572061015</c:v>
              </c:pt>
              <c:pt idx="6">
                <c:v>36.11913358677088</c:v>
              </c:pt>
              <c:pt idx="7">
                <c:v>37.038010365184626</c:v>
              </c:pt>
              <c:pt idx="8">
                <c:v>43.67674247615591</c:v>
              </c:pt>
              <c:pt idx="9">
                <c:v>49.99629096595107</c:v>
              </c:pt>
              <c:pt idx="10">
                <c:v>49.93415634118886</c:v>
              </c:pt>
              <c:pt idx="11">
                <c:v>54.487640199392665</c:v>
              </c:pt>
              <c:pt idx="12">
                <c:v>50.267694007470055</c:v>
              </c:pt>
              <c:pt idx="13">
                <c:v>59.44119249763498</c:v>
              </c:pt>
              <c:pt idx="14">
                <c:v>59.27917024622211</c:v>
              </c:pt>
              <c:pt idx="15">
                <c:v>70.32616816173842</c:v>
              </c:pt>
              <c:pt idx="16">
                <c:v>70.66054722937638</c:v>
              </c:pt>
              <c:pt idx="17">
                <c:v>73.8480484497741</c:v>
              </c:pt>
              <c:pt idx="18">
                <c:v>73.8264351124971</c:v>
              </c:pt>
              <c:pt idx="19">
                <c:v>78.83858682284028</c:v>
              </c:pt>
              <c:pt idx="20">
                <c:v>81.9736704861635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20.34454103408355</c:v>
              </c:pt>
              <c:pt idx="1">
                <c:v>80.9380995008267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9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65.81889731814283</c:v>
              </c:pt>
              <c:pt idx="1">
                <c:v>35.10514177779453</c:v>
              </c:pt>
              <c:pt idx="2">
                <c:v>19.695767908930186</c:v>
              </c:pt>
              <c:pt idx="3">
                <c:v>35.88732172913021</c:v>
              </c:pt>
              <c:pt idx="4">
                <c:v>84.4969492300507</c:v>
              </c:pt>
              <c:pt idx="5">
                <c:v>73.17338506126326</c:v>
              </c:pt>
              <c:pt idx="6">
                <c:v>10.801529916825343</c:v>
              </c:pt>
              <c:pt idx="7">
                <c:v>25.914657374918015</c:v>
              </c:pt>
              <c:pt idx="8">
                <c:v>33.449095474898904</c:v>
              </c:pt>
              <c:pt idx="9">
                <c:v>85.47325693040412</c:v>
              </c:pt>
              <c:pt idx="10">
                <c:v>42.27496442010207</c:v>
              </c:pt>
              <c:pt idx="11">
                <c:v>24.545287725445544</c:v>
              </c:pt>
              <c:pt idx="12">
                <c:v>78.83103298756095</c:v>
              </c:pt>
              <c:pt idx="13">
                <c:v>82.56561175002899</c:v>
              </c:pt>
              <c:pt idx="14">
                <c:v>34.139838034854044</c:v>
              </c:pt>
              <c:pt idx="15">
                <c:v>38.415848339118554</c:v>
              </c:pt>
              <c:pt idx="16">
                <c:v>70.2841900932714</c:v>
              </c:pt>
              <c:pt idx="17">
                <c:v>31.467369062031032</c:v>
              </c:pt>
              <c:pt idx="18">
                <c:v>73.15379229449564</c:v>
              </c:pt>
              <c:pt idx="19">
                <c:v>46.0671915476656</c:v>
              </c:pt>
              <c:pt idx="20">
                <c:v>61.765384967429775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43.80872212952</c:v>
              </c:pt>
              <c:pt idx="1">
                <c:v>56.50808872232396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10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42.64674734510946</c:v>
              </c:pt>
              <c:pt idx="1">
                <c:v>33.681521819269534</c:v>
              </c:pt>
              <c:pt idx="2">
                <c:v>36.21711039251349</c:v>
              </c:pt>
              <c:pt idx="3">
                <c:v>8.819456643042024</c:v>
              </c:pt>
              <c:pt idx="4">
                <c:v>69.19590335809264</c:v>
              </c:pt>
              <c:pt idx="5">
                <c:v>61.0183222085212</c:v>
              </c:pt>
              <c:pt idx="6">
                <c:v>41.44408028385046</c:v>
              </c:pt>
              <c:pt idx="7">
                <c:v>57.83329221418726</c:v>
              </c:pt>
              <c:pt idx="8">
                <c:v>51.93694937716709</c:v>
              </c:pt>
              <c:pt idx="9">
                <c:v>41.24648029006327</c:v>
              </c:pt>
              <c:pt idx="10">
                <c:v>63.6859443157645</c:v>
              </c:pt>
              <c:pt idx="11">
                <c:v>46.652208346771864</c:v>
              </c:pt>
              <c:pt idx="12">
                <c:v>47.396465343188524</c:v>
              </c:pt>
              <c:pt idx="13">
                <c:v>41.909945424975426</c:v>
              </c:pt>
              <c:pt idx="14">
                <c:v>60.369412997371974</c:v>
              </c:pt>
              <c:pt idx="15">
                <c:v>53.611227275956566</c:v>
              </c:pt>
              <c:pt idx="16">
                <c:v>63.63404199550554</c:v>
              </c:pt>
              <c:pt idx="17">
                <c:v>48.499400201811085</c:v>
              </c:pt>
              <c:pt idx="18">
                <c:v>59.775589859566175</c:v>
              </c:pt>
              <c:pt idx="19">
                <c:v>46.50816339198293</c:v>
              </c:pt>
              <c:pt idx="20">
                <c:v>71.780509613182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39.15986045159048</c:v>
              </c:pt>
              <c:pt idx="1">
                <c:v>60.63659409106599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11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19.97951966040343</c:v>
              </c:pt>
              <c:pt idx="1">
                <c:v>26.138429876914707</c:v>
              </c:pt>
              <c:pt idx="2">
                <c:v>28.22476526386545</c:v>
              </c:pt>
              <c:pt idx="3">
                <c:v>31.17186962494997</c:v>
              </c:pt>
              <c:pt idx="4">
                <c:v>36.85632867000223</c:v>
              </c:pt>
              <c:pt idx="5">
                <c:v>31.383325572061015</c:v>
              </c:pt>
              <c:pt idx="6">
                <c:v>36.11913358677088</c:v>
              </c:pt>
              <c:pt idx="7">
                <c:v>37.038010365184626</c:v>
              </c:pt>
              <c:pt idx="8">
                <c:v>43.67674247615591</c:v>
              </c:pt>
              <c:pt idx="9">
                <c:v>49.99629096595107</c:v>
              </c:pt>
              <c:pt idx="10">
                <c:v>49.93415634118886</c:v>
              </c:pt>
              <c:pt idx="11">
                <c:v>54.487640199392665</c:v>
              </c:pt>
              <c:pt idx="12">
                <c:v>50.267694007470055</c:v>
              </c:pt>
              <c:pt idx="13">
                <c:v>59.44119249763498</c:v>
              </c:pt>
              <c:pt idx="14">
                <c:v>59.27917024622211</c:v>
              </c:pt>
              <c:pt idx="15">
                <c:v>70.32616816173842</c:v>
              </c:pt>
              <c:pt idx="16">
                <c:v>70.66054722937638</c:v>
              </c:pt>
              <c:pt idx="17">
                <c:v>73.8480484497741</c:v>
              </c:pt>
              <c:pt idx="18">
                <c:v>73.8264351124971</c:v>
              </c:pt>
              <c:pt idx="19">
                <c:v>78.83858682284028</c:v>
              </c:pt>
              <c:pt idx="20">
                <c:v>81.9736704861635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20.34454103408355</c:v>
              </c:pt>
              <c:pt idx="1">
                <c:v>80.9380995008267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12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65.81889731814283</c:v>
              </c:pt>
              <c:pt idx="1">
                <c:v>35.10514177779453</c:v>
              </c:pt>
              <c:pt idx="2">
                <c:v>19.695767908930186</c:v>
              </c:pt>
              <c:pt idx="3">
                <c:v>35.88732172913021</c:v>
              </c:pt>
              <c:pt idx="4">
                <c:v>84.4969492300507</c:v>
              </c:pt>
              <c:pt idx="5">
                <c:v>73.17338506126326</c:v>
              </c:pt>
              <c:pt idx="6">
                <c:v>10.801529916825343</c:v>
              </c:pt>
              <c:pt idx="7">
                <c:v>25.914657374918015</c:v>
              </c:pt>
              <c:pt idx="8">
                <c:v>33.449095474898904</c:v>
              </c:pt>
              <c:pt idx="9">
                <c:v>85.47325693040412</c:v>
              </c:pt>
              <c:pt idx="10">
                <c:v>42.27496442010207</c:v>
              </c:pt>
              <c:pt idx="11">
                <c:v>24.545287725445544</c:v>
              </c:pt>
              <c:pt idx="12">
                <c:v>78.83103298756095</c:v>
              </c:pt>
              <c:pt idx="13">
                <c:v>82.56561175002899</c:v>
              </c:pt>
              <c:pt idx="14">
                <c:v>34.139838034854044</c:v>
              </c:pt>
              <c:pt idx="15">
                <c:v>38.415848339118554</c:v>
              </c:pt>
              <c:pt idx="16">
                <c:v>70.2841900932714</c:v>
              </c:pt>
              <c:pt idx="17">
                <c:v>31.467369062031032</c:v>
              </c:pt>
              <c:pt idx="18">
                <c:v>73.15379229449564</c:v>
              </c:pt>
              <c:pt idx="19">
                <c:v>46.0671915476656</c:v>
              </c:pt>
              <c:pt idx="20">
                <c:v>61.765384967429775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43.80872212952</c:v>
              </c:pt>
              <c:pt idx="1">
                <c:v>56.50808872232396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CD298-574D-48E3-B809-CBF860A5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pPr>
            <a:r>
              <a:rPr sz="2700" b="1">
                <a:solidFill>
                  <a:srgbClr val="086C61"/>
                </a:solidFill>
                <a:latin typeface="Heiti TC"/>
                <a:ea typeface="Heiti TC"/>
                <a:cs typeface="Heiti TC"/>
              </a:rPr>
              <a:t>F2 AI 工作坊 2 / Workshop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4A3DD-9E44-42E0-9216-C7C0CBBB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6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Python × Colab：數據與線性回歸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58134-D4D9-42E5-A98D-048A2FE1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Python × Colab: data and linear regression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A89D1E-8AA6-458E-889A-CF556BD8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探索數據、讀模型表、比較 R²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7903D-FEF7-49FE-939F-41E9C4EE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Explore data, read a model table and compare R²</a:t>
            </a:r>
          </a:p>
        </p:txBody>
      </p:sp>
    </p:spTree>
    <p:extLst>
      <p:ext uri="{BB962C8B-B14F-4D97-AF65-F5344CB8AC3E}">
        <p14:creationId xmlns:p14="http://schemas.microsoft.com/office/powerpoint/2010/main" val="11802668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8E5305-8BF4-426A-B3B4-F00E9906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Python 和 Jupyter Notebook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ECF192-133F-40DD-88E8-0CE55EA9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Python and Jupyter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AA24B-0503-4EA5-84B6-A4B2FE08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39184-F647-4ACB-971F-3DB4974C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Python：用程式給電腦指令，例如「畫出這些點」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808F65-3C11-4B75-AB24-A7FC4FB7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Python: instructions such as “plot these dots”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32CA33-AB1B-4191-98B7-A2960F0C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Jupyter Notebook：把說明、程式格和結果放在一起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09755-6372-4ECC-B285-15E8D85F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Jupyter Notebook: explanations, code cells and results together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ECEFB8-7A53-4B5F-ACE4-3AB91862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今天只需按播放、看結果；不用背誦程式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8B413-E18A-4F86-BEA8-8EB96A1A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Today: press play and inspect the result. No memorising code</a:t>
            </a:r>
          </a:p>
        </p:txBody>
      </p:sp>
    </p:spTree>
    <p:extLst>
      <p:ext uri="{BB962C8B-B14F-4D97-AF65-F5344CB8AC3E}">
        <p14:creationId xmlns:p14="http://schemas.microsoft.com/office/powerpoint/2010/main" val="10277759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760E97-1514-420F-9AC9-C0D2F41F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程式在哪裏跑？雲端運算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0B002-74AE-47EF-8E65-C5496CB4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Where does code run? Cloud computing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2DD4D9-4521-454A-9E83-B81509BD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083E0-D18F-4EC5-A5A5-D627E354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雲端運算：透過網絡，使用遠端電腦的運算能力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65044-CFD1-4C2C-8DD6-20CB6EC9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Cloud computing: use a remote computer over the internet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7DD014-07A6-4BD4-A673-138B0E9D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Colab：在瀏覽器開啟 Notebook，讓雲端電腦執行程式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2969F-634A-4298-8204-FC349119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Colab: open a notebook in a browser; run code on a cloud computer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A2FAD-4FED-4086-932B-55E3941F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你的畫面顯示指令和結果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83547-2E7D-4600-87A0-500D8EE4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Your screen shows instructions and results</a:t>
            </a:r>
          </a:p>
        </p:txBody>
      </p:sp>
    </p:spTree>
    <p:extLst>
      <p:ext uri="{BB962C8B-B14F-4D97-AF65-F5344CB8AC3E}">
        <p14:creationId xmlns:p14="http://schemas.microsoft.com/office/powerpoint/2010/main" val="638327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57A55-49E4-4CEC-9FF2-F106B238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借用工具箱：scikit-learn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68E9E-05F3-4FFC-B858-F0F67A2B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Borrow a toolbox: scikit-learn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CE200-9251-42D9-BC5C-60A9002A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5FDBB-FA88-416B-88FC-AA7C305F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函式庫：別人準備好的工具，讓我們重用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671546-E0FE-4369-861E-4F20185F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 library is a collection of tools we can reuse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D2996-993E-41D7-BCF6-84F28827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scikit-learn（程式中叫 sklearn）提供 LinearRegression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37475-4995-491C-9D69-235775E9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scikit-learn, imported as sklearn, provides LinearRegression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34E4D8-6916-478D-B6FB-76518D1C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fit：從數據找直線；predict：用直線作估計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CDC378-6658-4619-9902-56FBA2BD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fit: find the line. predict: use it for an estimate</a:t>
            </a:r>
          </a:p>
        </p:txBody>
      </p:sp>
    </p:spTree>
    <p:extLst>
      <p:ext uri="{BB962C8B-B14F-4D97-AF65-F5344CB8AC3E}">
        <p14:creationId xmlns:p14="http://schemas.microsoft.com/office/powerpoint/2010/main" val="2263324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85B85-4B6C-49AE-A392-8996D5E6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開啟你的數據實驗簿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171B1-1707-441B-B5D8-DB74B987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Open your data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7CE67-5AC8-4369-881B-DBD1AB22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A41553-4B38-46A9-AB2A-136B3A79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開啟老師的 Colab 連結，儲存自己的副本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E99446-29CF-4A50-A166-4D295519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Open the teacher’s Colab link and save your own copy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63EB0-B114-4193-98BB-47042BF6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三節、五個程式格：探索 → 建模 → A、B、C 比較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2AD02-5590-4D51-9B2A-D28B3D67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Three sections, five code cells: explore → fit → compare A, B, 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527C0F-6B30-4ACF-A403-50D70A42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按每格左邊的 ▶，等待結果；工作紙只記結果和觀察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0834E-0EB1-4D04-9086-D13F122C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Press ▶ and wait. Record results and observations on the worksheet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3A9CB-3FB0-49B6-9C62-78304106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0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0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086C61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labShortLink"/>
              </a:rPr>
              <a:t>Colab: tinyurl.com/26jdbxfb</a:t>
            </a:r>
          </a:p>
        </p:txBody>
      </p:sp>
    </p:spTree>
    <p:extLst>
      <p:ext uri="{BB962C8B-B14F-4D97-AF65-F5344CB8AC3E}">
        <p14:creationId xmlns:p14="http://schemas.microsoft.com/office/powerpoint/2010/main" val="9187215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6EC304-D334-4ACA-BABC-25E620D1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第 1 節：讓散點說話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317292-CAB0-4E4E-8C96-ECC06FBA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Section 1: let the dots tell their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441489-AC55-456F-A14D-0358949F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B1E23719-CD97-4740-B6DC-E3EFB348137F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7048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7acf0b0e41418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94D15-FE43-4753-B328-3AA472FF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整體關係是怎樣？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2712F-5D1E-4BBC-B695-A657B32C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What is the overall relationship?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9B71F-711D-4F5A-A149-C56E0E14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有例外嗎？找兩筆紀錄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F983DF-D19F-4D8D-B273-AD04760A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90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Any exceptions? Use two records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DD2C63-F486-485E-B2D7-DD353EF6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9587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將觀察記在工作紙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B1FEE-4E9B-44D1-8B92-4862AA7F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626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Record your observations</a:t>
            </a:r>
          </a:p>
        </p:txBody>
      </p:sp>
    </p:spTree>
    <p:extLst>
      <p:ext uri="{BB962C8B-B14F-4D97-AF65-F5344CB8AC3E}">
        <p14:creationId xmlns:p14="http://schemas.microsoft.com/office/powerpoint/2010/main" val="15433043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4761C7-1CAD-4803-9474-466CA73D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第 2 節：換一組學生數據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995800-B8A7-4165-9C0D-3EB7E7B6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Section 2: try a different dataset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74909-C827-41F3-9DD8-777117D5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527B754C-4DD1-4374-B72E-D56731C85B9D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7048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553efa15dd41a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D25EBF-FF50-4917-8381-682732F4B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每點是一位模擬學生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03CA7B-7322-4DC8-BF42-B11B9F23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Each dot is a simulated student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9ED653-4CEF-4F35-A078-B3358924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點是否排成完美直線？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BC0DEF-DB8E-4358-A835-48542D0E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90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Do the dots form a perfect line?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69251-B23E-4307-8295-49A7F9BE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9587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用一條線概括整體趨勢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6E8417-C716-4CA0-9C0A-E66AF8D0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626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Use a line to summarise the trend</a:t>
            </a:r>
          </a:p>
        </p:txBody>
      </p:sp>
    </p:spTree>
    <p:extLst>
      <p:ext uri="{BB962C8B-B14F-4D97-AF65-F5344CB8AC3E}">
        <p14:creationId xmlns:p14="http://schemas.microsoft.com/office/powerpoint/2010/main" val="14611708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33B48-F43E-491A-BEAA-47C796AE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一條直線，概括整體趨勢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66BA1-2285-4A42-B5E6-022E2A41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One line summarises the overall trend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14F70-78A6-4387-9BD9-BD93F0BE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9E1D405A-F65C-4B76-96D0-5CD25071A681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7048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9c6a31090148c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A6B93D-3BE7-4B5D-B2F5-1885E1EF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42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y = mx + 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70D99-5DF8-4E82-876A-43134F42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051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m：每多一小時的估計改變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50124-1FB9-4567-9E35-A8FB88CE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718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m: estimated change per extra hour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FA8DF-78C8-4B38-B433-B27ABB97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3387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c：0 小時的估計分數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D9799-34BA-4052-97A1-F9F98CA0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006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c: estimated score at 0 hours</a:t>
            </a:r>
          </a:p>
        </p:txBody>
      </p:sp>
    </p:spTree>
    <p:extLst>
      <p:ext uri="{BB962C8B-B14F-4D97-AF65-F5344CB8AC3E}">
        <p14:creationId xmlns:p14="http://schemas.microsoft.com/office/powerpoint/2010/main" val="14456559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05D8CC-AA53-49CC-A267-51F4678F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第 2 節：讀模型表，再找預測點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D679D-D166-4BAB-B333-592D308D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Section 2: read the table and 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235DC-F420-496A-9383-1EE9BA2C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F0B2C037-379F-48D5-9E50-AAFF73F5DA39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7048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7af662bb7041b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A8F4A-C5EA-4459-9243-30D22386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執行第 2 節，抄下模型表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26D4D-AA46-47CF-BD34-9CF6FF8F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Run Section 2 and copy the 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9AADB7-805B-49E0-AF3A-AA0F278D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76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紫色點：每天 4.5 小時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D3BE1F-69BC-4BCA-A451-7F0A9C43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43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Purple dot: 4.5 hours per day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35F0D-31E8-4E33-A946-7CA7B585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00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預測是估計，不是保證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B676E8-74EF-4A89-8456-A1FC6FC6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67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An estimate, not a guarantee</a:t>
            </a:r>
          </a:p>
        </p:txBody>
      </p:sp>
    </p:spTree>
    <p:extLst>
      <p:ext uri="{BB962C8B-B14F-4D97-AF65-F5344CB8AC3E}">
        <p14:creationId xmlns:p14="http://schemas.microsoft.com/office/powerpoint/2010/main" val="3274573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1629A2-3361-47B4-A248-4EDA750E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哪條線更能概括自己的數據？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79B2F3-FB3C-4207-BBFC-F4EAF4C6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Which line better summarises its data?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C40897-FD20-4661-9395-DCECAF1F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7C0612-2F33-46E2-85DC-D5424B17A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B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C748A0F8-7BF3-41F9-866F-F758FB30A1DB}"/>
              </a:ext>
            </a:extLst>
          </p:cNvPr>
          <p:cNvGraphicFramePr/>
          <p:nvPr/>
        </p:nvGraphicFramePr>
        <p:xfrm>
          <a:off xmlns:a="http://schemas.openxmlformats.org/drawingml/2006/main" x="609600" y="2286000"/>
          <a:ext xmlns:a="http://schemas.openxmlformats.org/drawingml/2006/main" cx="5143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40d2a8d5bc495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FA7496-2D24-4534-8AAE-CEA0674B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954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CAEEA3DA-BB16-4A67-9717-868691828BB8}"/>
              </a:ext>
            </a:extLst>
          </p:cNvPr>
          <p:cNvGraphicFramePr/>
          <p:nvPr/>
        </p:nvGraphicFramePr>
        <p:xfrm>
          <a:off xmlns:a="http://schemas.openxmlformats.org/drawingml/2006/main" x="6324600" y="2286000"/>
          <a:ext xmlns:a="http://schemas.openxmlformats.org/drawingml/2006/main" cx="5143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4b7f2683dc483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86CF23-A598-4DDF-AEDB-DE5D7E96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086C61"/>
                </a:solidFill>
                <a:latin typeface="Heiti TC"/>
                <a:ea typeface="Heiti TC"/>
                <a:cs typeface="Heiti TC"/>
              </a:rPr>
              <a:t>看看散點和直線 / Compare the dots with the line</a:t>
            </a:r>
          </a:p>
        </p:txBody>
      </p:sp>
    </p:spTree>
    <p:extLst>
      <p:ext uri="{BB962C8B-B14F-4D97-AF65-F5344CB8AC3E}">
        <p14:creationId xmlns:p14="http://schemas.microsoft.com/office/powerpoint/2010/main" val="6682231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C81E80-D855-4C6E-AE24-C85D154B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R²：給「擬合程度」一個數字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5A2D92-DDFD-4EA9-8067-150660BA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R²: a number describing the fit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60FAE-64D6-4901-A0F7-49F7897C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AA2D5-7942-4B56-8BB4-220B3018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差異：各個 y 值有高有低，例如學生的成績不同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39E94-249E-4E20-B454-7799E01F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Variation: the y-values differ, such as students’ scores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C419A-538B-451C-BC9A-0A7B04B5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0                         R²                        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60DB1-F99E-41A3-A267-83B9B494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接近 0：解釋較少差異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2C9F5-462B-4169-B0E5-96BAC0CA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Near 0: little variation explained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0282A-684D-4249-A0F5-EC955757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4812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接近 1：解釋較多差異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720D98-D1CE-4297-9FC1-448606B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5148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Near 1: more variation explained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90B03-C8CC-4C3D-B1B6-7F989912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在本課，R² 是在用來建立模型的數據上計算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3E2303-6B83-46E9-9F88-A85F0C66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Here, R² is measured on the data used to fit the line</a:t>
            </a:r>
          </a:p>
        </p:txBody>
      </p:sp>
    </p:spTree>
    <p:extLst>
      <p:ext uri="{BB962C8B-B14F-4D97-AF65-F5344CB8AC3E}">
        <p14:creationId xmlns:p14="http://schemas.microsoft.com/office/powerpoint/2010/main" val="13091658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9FD59E-5347-4C64-A7AA-2AEADF75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模型表：今天聚焦 R²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58562-6A0E-4B4C-AD22-46178BDA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The model table: focus on R²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49E4B-C60D-4242-99B0-772C6753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308AC6-3302-4A40-BE92-DE7FE332B35C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4905375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7900"/>
                <a:gridCol w="2657475"/>
              </a:tblGrid>
              <a:tr h="7524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n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m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2.00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50.00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3150" b="1">
                          <a:solidFill>
                            <a:srgbClr val="086C61"/>
                          </a:solidFill>
                          <a:latin typeface="Arial"/>
                          <a:ea typeface="Arial"/>
                          <a:cs typeface="Arial"/>
                        </a:rPr>
                        <a:t>R²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150" b="1">
                          <a:solidFill>
                            <a:srgbClr val="086C61"/>
                          </a:solidFill>
                          <a:latin typeface="Arial"/>
                          <a:ea typeface="Arial"/>
                          <a:cs typeface="Arial"/>
                        </a:rPr>
                        <a:t>0.418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39B06-BA50-496C-A4CC-943E7701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直線解釋了約 42% 的成績差異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6D01F9-21D8-4C7F-90BC-B7AEC8C1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1460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About 42% of score variation is explained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DD8058-2512-4349-AACC-454C96AE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6237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並非 42% 的預測答對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C2626B-FB14-4482-A2ED-99C970C2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2910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It does not mean 42% of predictions are correct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FF3478-E49E-4E16-9F3A-D9E896329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526B70"/>
                </a:solidFill>
                <a:latin typeface="Heiti TC"/>
                <a:ea typeface="Heiti TC"/>
                <a:cs typeface="Heiti TC"/>
              </a:rPr>
              <a:t>教學模擬數據 / Simulated teaching data</a:t>
            </a:r>
          </a:p>
        </p:txBody>
      </p:sp>
    </p:spTree>
    <p:extLst>
      <p:ext uri="{BB962C8B-B14F-4D97-AF65-F5344CB8AC3E}">
        <p14:creationId xmlns:p14="http://schemas.microsoft.com/office/powerpoint/2010/main" val="16528274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F42B4-EDCA-418B-8FDB-CAD22504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第 3 節：比較 A、B、C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3EFD66-B3AD-4332-8036-F08FA569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Section 3: compare A, B and 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834CC-D632-4A94-8019-E5879650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35D79-33AE-410E-814E-F63A3FBB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A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C33E5A1E-7616-439A-9D85-866E1EC0ADE0}"/>
              </a:ext>
            </a:extLst>
          </p:cNvPr>
          <p:cNvGraphicFramePr/>
          <p:nvPr/>
        </p:nvGraphicFramePr>
        <p:xfrm>
          <a:off xmlns:a="http://schemas.openxmlformats.org/drawingml/2006/main" x="42862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80689a078e457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158D6-40D4-4D37-982F-571E3923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B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5D50A0F-9FD9-4F99-9D30-C8FE45254B6D}"/>
              </a:ext>
            </a:extLst>
          </p:cNvPr>
          <p:cNvGraphicFramePr/>
          <p:nvPr/>
        </p:nvGraphicFramePr>
        <p:xfrm>
          <a:off xmlns:a="http://schemas.openxmlformats.org/drawingml/2006/main" x="433387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44742eb7fb448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B093C-6AD7-419C-B571-493BBA31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C</a:t>
            </a:r>
          </a:p>
        </p:txBody>
      </p:sp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19C020FD-5E88-47BB-A917-09ECBCFD1715}"/>
              </a:ext>
            </a:extLst>
          </p:cNvPr>
          <p:cNvGraphicFramePr/>
          <p:nvPr/>
        </p:nvGraphicFramePr>
        <p:xfrm>
          <a:off xmlns:a="http://schemas.openxmlformats.org/drawingml/2006/main" x="823912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02f8b3b3d3473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9026C-F811-4159-B05F-F257B2D9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依次執行三格，記下 R²，再排名 1、2、3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82E41-9392-43D0-B097-D4CC5763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Run the three cells, record R², then rank 1, 2 and 3</a:t>
            </a:r>
          </a:p>
        </p:txBody>
      </p:sp>
    </p:spTree>
    <p:extLst>
      <p:ext uri="{BB962C8B-B14F-4D97-AF65-F5344CB8AC3E}">
        <p14:creationId xmlns:p14="http://schemas.microsoft.com/office/powerpoint/2010/main" val="12070589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83D74-AB1D-4B35-9384-45F6DD4D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揭曉：比較解釋數據的比例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383D7E-51E6-47FF-B947-020B6B4F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Reveal: compare the variation explained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3183C-BCC6-4CE1-AD40-F671D073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8D59BF-CDC1-4974-BDBD-A3D8F682B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A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AB1BDCBC-D6CA-4665-901D-68DE6F1C2173}"/>
              </a:ext>
            </a:extLst>
          </p:cNvPr>
          <p:cNvGraphicFramePr/>
          <p:nvPr/>
        </p:nvGraphicFramePr>
        <p:xfrm>
          <a:off xmlns:a="http://schemas.openxmlformats.org/drawingml/2006/main" x="42862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709dcae4f34d1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848D8E-E0BA-478E-ACB6-A90A0BB6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R² = 0.218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D5DBD-BBE9-4079-ADD2-F15078C2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B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25616873-C3D6-4B38-88B9-EBB26E254AC2}"/>
              </a:ext>
            </a:extLst>
          </p:cNvPr>
          <p:cNvGraphicFramePr/>
          <p:nvPr/>
        </p:nvGraphicFramePr>
        <p:xfrm>
          <a:off xmlns:a="http://schemas.openxmlformats.org/drawingml/2006/main" x="433387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80edba37eda484e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E9BE22-993B-4606-B05E-81AB8ABE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6255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R² = 0.977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5DB4CD-E271-4FCE-9EE0-828ABE9C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C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BF41C140-FD21-4F35-9261-0A07B8D636AE}"/>
              </a:ext>
            </a:extLst>
          </p:cNvPr>
          <p:cNvGraphicFramePr/>
          <p:nvPr/>
        </p:nvGraphicFramePr>
        <p:xfrm>
          <a:off xmlns:a="http://schemas.openxmlformats.org/drawingml/2006/main" x="823912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ca906b88454aac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55B426-0933-4657-9C83-1EAE667F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6255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R² = 0.027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C52FAC-1B50-4287-9173-CC746CBF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086C61"/>
                </a:solidFill>
                <a:latin typeface="Heiti TC"/>
                <a:ea typeface="Heiti TC"/>
                <a:cs typeface="Heiti TC"/>
              </a:rPr>
              <a:t>B → A → C    較強 / Stronger · 較弱 / Weaker · 隨機 / Random</a:t>
            </a:r>
          </a:p>
        </p:txBody>
      </p:sp>
    </p:spTree>
    <p:extLst>
      <p:ext uri="{BB962C8B-B14F-4D97-AF65-F5344CB8AC3E}">
        <p14:creationId xmlns:p14="http://schemas.microsoft.com/office/powerpoint/2010/main" val="778816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64722-6D46-47C0-9DAC-D42B547D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R² 很高，就一定猜得準嗎？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7E1AB-C0AF-4873-807C-C1E2254A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Does high R² guarantee a good prediction?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91B036-8CB8-4E01-9DAB-8B7D44C9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F4837-0B6C-435A-A998-D82196A9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較高 R²：這條線對建模數據的擬合較好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2F4BE-9302-4115-B5F5-547E9868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Higher R²: a better fit to the data used to build the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AD54AB-1111-4DDB-A71D-AEBF7E98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用未參與建模的新數據，比較預測與實際結果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2A9EC-25E0-4FC6-841C-54D67E0A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Use new data kept out of fitting; compare predictions with actual results</a:t>
            </a:r>
          </a:p>
        </p:txBody>
      </p:sp>
    </p:spTree>
    <p:extLst>
      <p:ext uri="{BB962C8B-B14F-4D97-AF65-F5344CB8AC3E}">
        <p14:creationId xmlns:p14="http://schemas.microsoft.com/office/powerpoint/2010/main" val="12217127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518AFC-B5D0-43AE-A1DB-291C4F67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帶走你的三個發現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8410E-343B-4209-B9FE-7645F07F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Take away three discoveries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9A2133-D9B3-4768-8901-553A00A8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E285B-A094-48FF-BB94-25FD1F9E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散點讓我們看見關係，也看見例外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3DED0-0E14-4E98-91B7-756D06C1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Dots show a relationship and its exceptions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6C4F7C-45E9-46EB-8AA8-B7565959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R² 幫助比較直線解釋多少數據差異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37866A-2743-4F3E-8FA8-9764CDE9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R² helps compare how much variation a line explains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A4870-85ED-492F-8DA2-8C976219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好擬合不等於好新預測：還要用新數據檢查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A6B29E-369D-4F83-95D1-8425BFFE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Check new predictions against actual results</a:t>
            </a:r>
          </a:p>
        </p:txBody>
      </p:sp>
    </p:spTree>
    <p:extLst>
      <p:ext uri="{BB962C8B-B14F-4D97-AF65-F5344CB8AC3E}">
        <p14:creationId xmlns:p14="http://schemas.microsoft.com/office/powerpoint/2010/main" val="18078242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2026-10-12T02:06:58.7200000Z</dcterms:created>
  <dcterms:modified xsi:type="dcterms:W3CDTF">2026-10-12T02:06:58.7200000Z</dcterms:modified>
</coreProperties>
</file>