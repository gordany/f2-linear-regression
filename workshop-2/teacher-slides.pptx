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1020c5f984453d" /><Relationship Type="http://schemas.openxmlformats.org/officeDocument/2006/relationships/extended-properties" Target="/docProps/app.xml" Id="R783edd8a4e744ef1" /><Relationship Type="http://schemas.openxmlformats.org/officeDocument/2006/relationships/officeDocument" Target="/ppt/presentation.xml" Id="R3c5f206fcaec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853885bebe4b9f"/>
  </p:sldMasterIdLst>
  <p:notesMasterIdLst>
    <p:notesMasterId xmlns:r="http://schemas.openxmlformats.org/officeDocument/2006/relationships" r:id="R4abf4ac4412f4df6"/>
  </p:notesMasterIdLst>
  <p:sldIdLst>
    <p:sldId xmlns:r="http://schemas.openxmlformats.org/officeDocument/2006/relationships" id="256" r:id="R7cb5a5eb75384b36"/>
    <p:sldId xmlns:r="http://schemas.openxmlformats.org/officeDocument/2006/relationships" id="257" r:id="Rc861f560b2b246fb"/>
    <p:sldId xmlns:r="http://schemas.openxmlformats.org/officeDocument/2006/relationships" id="258" r:id="R71b9f726fc7e4553"/>
    <p:sldId xmlns:r="http://schemas.openxmlformats.org/officeDocument/2006/relationships" id="259" r:id="Rac5c713caee540c3"/>
    <p:sldId xmlns:r="http://schemas.openxmlformats.org/officeDocument/2006/relationships" id="260" r:id="Rab78994253d84cfe"/>
    <p:sldId xmlns:r="http://schemas.openxmlformats.org/officeDocument/2006/relationships" id="261" r:id="Rb07753d74254472e"/>
    <p:sldId xmlns:r="http://schemas.openxmlformats.org/officeDocument/2006/relationships" id="262" r:id="Raa2792253998411f"/>
    <p:sldId xmlns:r="http://schemas.openxmlformats.org/officeDocument/2006/relationships" id="263" r:id="R2a248d05d3a04054"/>
    <p:sldId xmlns:r="http://schemas.openxmlformats.org/officeDocument/2006/relationships" id="264" r:id="Raf71432f082f4fb6"/>
    <p:sldId xmlns:r="http://schemas.openxmlformats.org/officeDocument/2006/relationships" id="265" r:id="R993b5c9c0fbf426c"/>
    <p:sldId xmlns:r="http://schemas.openxmlformats.org/officeDocument/2006/relationships" id="266" r:id="Re7f79c2c5e924d4c"/>
    <p:sldId xmlns:r="http://schemas.openxmlformats.org/officeDocument/2006/relationships" id="267" r:id="Ra88626799e234296"/>
    <p:sldId xmlns:r="http://schemas.openxmlformats.org/officeDocument/2006/relationships" id="268" r:id="R76f9fe003ab34a14"/>
    <p:sldId xmlns:r="http://schemas.openxmlformats.org/officeDocument/2006/relationships" id="269" r:id="R7d93d974cbf14319"/>
    <p:sldId xmlns:r="http://schemas.openxmlformats.org/officeDocument/2006/relationships" id="270" r:id="R209fff09d97b4f40"/>
    <p:sldId xmlns:r="http://schemas.openxmlformats.org/officeDocument/2006/relationships" id="271" r:id="Ra3c5540b3b4b485c"/>
    <p:sldId xmlns:r="http://schemas.openxmlformats.org/officeDocument/2006/relationships" id="272" r:id="R11c8d36a040b45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2beb0d43264159" /><Relationship Type="http://schemas.openxmlformats.org/officeDocument/2006/relationships/slideMaster" Target="/ppt/slideMasters/slideMaster1.xml" Id="R4d853885bebe4b9f" /><Relationship Type="http://schemas.openxmlformats.org/officeDocument/2006/relationships/notesMaster" Target="/ppt/notesMasters/notesMaster1.xml" Id="R4abf4ac4412f4df6" /><Relationship Type="http://schemas.openxmlformats.org/officeDocument/2006/relationships/presProps" Target="/ppt/presProps.xml" Id="Ra570765be4284ccc" /><Relationship Type="http://schemas.openxmlformats.org/officeDocument/2006/relationships/tableStyles" Target="/ppt/tableStyles.xml" Id="R82bf9040402f40de" /><Relationship Type="http://schemas.openxmlformats.org/officeDocument/2006/relationships/slide" Target="/ppt/slides/slide1.xml" Id="R7cb5a5eb75384b36" /><Relationship Type="http://schemas.openxmlformats.org/officeDocument/2006/relationships/slide" Target="/ppt/slides/slide2.xml" Id="Rc861f560b2b246fb" /><Relationship Type="http://schemas.openxmlformats.org/officeDocument/2006/relationships/slide" Target="/ppt/slides/slide3.xml" Id="R71b9f726fc7e4553" /><Relationship Type="http://schemas.openxmlformats.org/officeDocument/2006/relationships/slide" Target="/ppt/slides/slide4.xml" Id="Rac5c713caee540c3" /><Relationship Type="http://schemas.openxmlformats.org/officeDocument/2006/relationships/slide" Target="/ppt/slides/slide5.xml" Id="Rab78994253d84cfe" /><Relationship Type="http://schemas.openxmlformats.org/officeDocument/2006/relationships/slide" Target="/ppt/slides/slide6.xml" Id="Rb07753d74254472e" /><Relationship Type="http://schemas.openxmlformats.org/officeDocument/2006/relationships/slide" Target="/ppt/slides/slide7.xml" Id="Raa2792253998411f" /><Relationship Type="http://schemas.openxmlformats.org/officeDocument/2006/relationships/slide" Target="/ppt/slides/slide8.xml" Id="R2a248d05d3a04054" /><Relationship Type="http://schemas.openxmlformats.org/officeDocument/2006/relationships/slide" Target="/ppt/slides/slide9.xml" Id="Raf71432f082f4fb6" /><Relationship Type="http://schemas.openxmlformats.org/officeDocument/2006/relationships/slide" Target="/ppt/slides/slide10.xml" Id="R993b5c9c0fbf426c" /><Relationship Type="http://schemas.openxmlformats.org/officeDocument/2006/relationships/slide" Target="/ppt/slides/slide11.xml" Id="Re7f79c2c5e924d4c" /><Relationship Type="http://schemas.openxmlformats.org/officeDocument/2006/relationships/slide" Target="/ppt/slides/slide12.xml" Id="Ra88626799e234296" /><Relationship Type="http://schemas.openxmlformats.org/officeDocument/2006/relationships/slide" Target="/ppt/slides/slide13.xml" Id="R76f9fe003ab34a14" /><Relationship Type="http://schemas.openxmlformats.org/officeDocument/2006/relationships/slide" Target="/ppt/slides/slide14.xml" Id="R7d93d974cbf14319" /><Relationship Type="http://schemas.openxmlformats.org/officeDocument/2006/relationships/slide" Target="/ppt/slides/slide15.xml" Id="R209fff09d97b4f40" /><Relationship Type="http://schemas.openxmlformats.org/officeDocument/2006/relationships/slide" Target="/ppt/slides/slide16.xml" Id="Ra3c5540b3b4b485c" /><Relationship Type="http://schemas.openxmlformats.org/officeDocument/2006/relationships/slide" Target="/ppt/slides/slide17.xml" Id="R11c8d36a040b45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d646cd2d8241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cb5ef2ec4348ff" /><Relationship Type="http://schemas.openxmlformats.org/officeDocument/2006/relationships/notesMaster" Target="/ppt/notesMasters/notesMaster1.xml" Id="R540d2419577f4a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b72bdef5d94f9e" /><Relationship Type="http://schemas.openxmlformats.org/officeDocument/2006/relationships/notesMaster" Target="/ppt/notesMasters/notesMaster1.xml" Id="Rced00a3045fc45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9957dcebc945f8" /><Relationship Type="http://schemas.openxmlformats.org/officeDocument/2006/relationships/notesMaster" Target="/ppt/notesMasters/notesMaster1.xml" Id="R51ab3b6c5de742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40723e7bdf4e7f" /><Relationship Type="http://schemas.openxmlformats.org/officeDocument/2006/relationships/notesMaster" Target="/ppt/notesMasters/notesMaster1.xml" Id="Ra411538d0fb845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5b3f73b7784863" /><Relationship Type="http://schemas.openxmlformats.org/officeDocument/2006/relationships/notesMaster" Target="/ppt/notesMasters/notesMaster1.xml" Id="Rc2b397bc974e45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1e09953c5b4f33" /><Relationship Type="http://schemas.openxmlformats.org/officeDocument/2006/relationships/notesMaster" Target="/ppt/notesMasters/notesMaster1.xml" Id="R19f39ff5531842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62d39410ef4427" /><Relationship Type="http://schemas.openxmlformats.org/officeDocument/2006/relationships/notesMaster" Target="/ppt/notesMasters/notesMaster1.xml" Id="Rdf3e2aca4a5e4f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2fa88ee42c4087" /><Relationship Type="http://schemas.openxmlformats.org/officeDocument/2006/relationships/notesMaster" Target="/ppt/notesMasters/notesMaster1.xml" Id="R2395d24b083248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b7144bbfbf444d" /><Relationship Type="http://schemas.openxmlformats.org/officeDocument/2006/relationships/notesMaster" Target="/ppt/notesMasters/notesMaster1.xml" Id="R3f876693e38845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94696c85ed4c33" /><Relationship Type="http://schemas.openxmlformats.org/officeDocument/2006/relationships/notesMaster" Target="/ppt/notesMasters/notesMaster1.xml" Id="R7f9a7b7d2d9840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17993e9e1d4483" /><Relationship Type="http://schemas.openxmlformats.org/officeDocument/2006/relationships/notesMaster" Target="/ppt/notesMasters/notesMaster1.xml" Id="R4842c0e3250a4c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3e43a2cd324870" /><Relationship Type="http://schemas.openxmlformats.org/officeDocument/2006/relationships/notesMaster" Target="/ppt/notesMasters/notesMaster1.xml" Id="R24251d76a07e43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cada1c49f64c19" /><Relationship Type="http://schemas.openxmlformats.org/officeDocument/2006/relationships/notesMaster" Target="/ppt/notesMasters/notesMaster1.xml" Id="R53a85cbf4bb346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8ad4444a29462b" /><Relationship Type="http://schemas.openxmlformats.org/officeDocument/2006/relationships/notesMaster" Target="/ppt/notesMasters/notesMaster1.xml" Id="R49f2bfb093204a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f6cd81fad04312" /><Relationship Type="http://schemas.openxmlformats.org/officeDocument/2006/relationships/notesMaster" Target="/ppt/notesMasters/notesMaster1.xml" Id="Rf3f257aab71446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7b672b88f3422b" /><Relationship Type="http://schemas.openxmlformats.org/officeDocument/2006/relationships/notesMaster" Target="/ppt/notesMasters/notesMaster1.xml" Id="R8bc740202c184f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f99de3bb7134344" /><Relationship Type="http://schemas.openxmlformats.org/officeDocument/2006/relationships/notesMaster" Target="/ppt/notesMasters/notesMaster1.xml" Id="R6fe9ece87efd4d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Plain cover. Removed both previous opening pages as requested. Go directly into brief cloud/Colab, Python/Jupyter and sklearn introductions. 60 minutes:10 setup;15 exploration;15 score model/R²;15 comparisons;5 reflection.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introduction, about1 minute. Cloud computing uses remote computers accessed via internet. In Colab the browser displays the notebook and results while a remote runtime executes code. Avoid infrastructure, GPUs or networking detail. Use approved accounts and classroom access. Source:https://research.google.com/colaboratory/faq.html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Sources:https://www.python.org/doc/essays/blurb/ and https://jupyter.org/. Brief introduction, about1 minute. Python is a programming language, Jupyter Notebook a format/interface combining prose, code and outputs. Colab is a hosted notebook service, not a separate programming language. Demonstrate one cell, no installation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Source:https://scikit-learn.org/stable/modules/generated/sklearn.linear_model.LinearRegression.html. Brief introduction, about1 minute. A library is reusable code. scikit-learn is the library; sklearn is the name used in imports. LinearRegression is one provided modelling tool. fit fits a line; predict estimates a new output. No algorithm, installation, API syntax or table of other algorithms.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setup, about4 minutes. Save a copy. There are five independently runnable code cells: Section1, Section2 and three Section3 examples. Run in order. A comment line begins with #; a # inside a quoted colour is part of a string. Do not require beginners to explain code 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Activity, about10 minutes including discussion. Run Section1. Complete worksheetSection1. Overall fees increase; exceptions include2km29 vs3km27. Prompt students to support a claim with two records. Do not ask for coefficients or a 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Section2, about2 minutes. Simulated study times/scores. Students describe trend orally before running fit. Data observed0–6hours; possibleaxes0–24/0–100. No extra worksheet estimate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 Workshop1, about1 minute. y=mx+c. m is estimated marks per extra daily study hour; c estimated marks at zero hours. They describe the line; neither measures reliability. The orange line is fitted overobserved0–6hours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Activity, about5 minutes. Run all ofSection2. Copy n,m,c,R² and4.5hprediction onto WS table. Purple point59marks. Focus teaching on R² next; n7,m2,c50 descriptive reference only. Outputs are not guarantees of real exam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introducing numeric R², about1 minute. Same axes and21dots. ShowBleft,A right. Ask which looks closer to its trendline. Learners describe tight vs spread-out dots. Do not announce R² until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conceptual explanation, about2 minutes. R² is shareofvariationexplained vsconstantmeanbaseline; do not show formula or derive. For these fitted least-squares models withintercept ontheir training data0–1. Near1morevariationexplained; near0little. HigherR²describesbetterfit here, not guaranteed predictionaccuracy. Source:https://scikit-learn.org/stable/modules/generated/sklearn.metrics/r2_score.html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About1 minute. R²study reference computedfromexactnotebook. Students alreadycopiedtable. Explain0.418accountsforabout42%variation in this tiny simulated sample, not42%correctanswers. n,m,cbriefreference only; noextendedmetrics,pvalues,adjustedR² ormanualmath.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Activity, about10minutes. EachofA/B/C isoneindependentcodecell outputsgraph+summarytable. Identicalaxes0–10/0–100,21dots each. CopyR²3dp rankeachownvariationexplained. Keepstrong/weak/random identitieshiddenuntil learnersfinish. No3.5h oroldnewpointactivity.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Revealonlyaftercompletion, about2minutes. B0.977strong,A0.218weak,C0.027random. RankingB&gt;A&gt;C. No universalstrong/weakthresholds implied. Chance correlationsmayproduce nonzeroR², so do notcallrandomzero. A fittedline always existsbutdoesnotalwayssummariseusefully.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Discussion, about2minutes. Goodtrainingfit notsameasnewpredictionreliability. Validateonnewunseendata, sufficientrepresentativesample, avoidcausalclaims. PointtoWSlastquestion. GeneralnegativeR²canoccuronnewdata, teacherknows; do notcomplicatebeginnerlesson.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Briefconnection, about1minute. Linearregressionisasimplesupervisedmodel. LargerAI systemsalsouseexamples andneedtestingbutarenotjustasingleline orallCNNs. R²appropriateforthisregressiondemo, notuniversalAIscore. Nextworkshopclassificationinsteadnumericprediction.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Final5minutesincludingdiscussion. Inviteonepairperpoint,noadditionalworksheetrequirements. Collectworksheetanswers. Codeandplotsranlocally;teacherrehearseColabclassroomaccess.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0518cf23946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4a102fe5a41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fe635131648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11d10f3364b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d193a42294f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6cd6258f34c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022BD8-0415-45E2-B847-481C95FADE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129FCE-3D46-4FE5-B2F7-C26A659DC7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B4B7F0-BBFD-423E-9AF5-3206A41F2B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37800-F81B-46F6-8997-09F5EF32D3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CC83BF-FB09-4D1F-A03F-A862697984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A45157-7923-492D-BCDE-2CC8114D4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A44EE1-3B15-4E79-BD45-DD27C500AA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CF0093-4AE9-42B6-9F0F-DC2ACAA949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1B5833-392E-44BC-BE5D-9FB29FB23C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56DB60-AE0D-4E4A-A20B-6F091080AB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3505e3058d4f73" /><Relationship Type="http://schemas.openxmlformats.org/officeDocument/2006/relationships/slideLayout" Target="/ppt/slideLayouts/slideLayout1.xml" Id="R0bb1d2b51be94b80" /><Relationship Type="http://schemas.openxmlformats.org/officeDocument/2006/relationships/slideLayout" Target="/ppt/slideLayouts/slideLayout2.xml" Id="R0376a1f64c7b4751" /><Relationship Type="http://schemas.openxmlformats.org/officeDocument/2006/relationships/slideLayout" Target="/ppt/slideLayouts/slideLayout3.xml" Id="Rba7198dc865943b6" /><Relationship Type="http://schemas.openxmlformats.org/officeDocument/2006/relationships/slideLayout" Target="/ppt/slideLayouts/slideLayout4.xml" Id="R81833541569f4054" /><Relationship Type="http://schemas.openxmlformats.org/officeDocument/2006/relationships/slideLayout" Target="/ppt/slideLayouts/slideLayout5.xml" Id="R65f55f1cdffb4661" /><Relationship Type="http://schemas.openxmlformats.org/officeDocument/2006/relationships/slideLayout" Target="/ppt/slideLayouts/slideLayout6.xml" Id="Rd2c5babfb37846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b1d2b51be94b80"/>
    <p:sldLayoutId xmlns:r="http://schemas.openxmlformats.org/officeDocument/2006/relationships" id="2147483650" r:id="R0376a1f64c7b4751"/>
    <p:sldLayoutId xmlns:r="http://schemas.openxmlformats.org/officeDocument/2006/relationships" id="2147483651" r:id="Rba7198dc865943b6"/>
    <p:sldLayoutId xmlns:r="http://schemas.openxmlformats.org/officeDocument/2006/relationships" id="2147483652" r:id="R81833541569f4054"/>
    <p:sldLayoutId xmlns:r="http://schemas.openxmlformats.org/officeDocument/2006/relationships" id="2147483653" r:id="R65f55f1cdffb4661"/>
    <p:sldLayoutId xmlns:r="http://schemas.openxmlformats.org/officeDocument/2006/relationships" id="2147483654" r:id="Rd2c5babfb37846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b1764038b42aa" /><Relationship Type="http://schemas.openxmlformats.org/officeDocument/2006/relationships/notesSlide" Target="/ppt/notesSlides/notesSlide1.xml" Id="R949389f2298343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866c0f448495b" /><Relationship Type="http://schemas.openxmlformats.org/officeDocument/2006/relationships/notesSlide" Target="/ppt/notesSlides/notesSlide2.xml" Id="R5363f09b4a424b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611ac0fa34dd7" /><Relationship Type="http://schemas.openxmlformats.org/officeDocument/2006/relationships/notesSlide" Target="/ppt/notesSlides/notesSlide3.xml" Id="R9f71ff8f30234f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3cf0127714a40" /><Relationship Type="http://schemas.openxmlformats.org/officeDocument/2006/relationships/notesSlide" Target="/ppt/notesSlides/notesSlide4.xml" Id="Reebc618334c34e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af68ff727476f" /><Relationship Type="http://schemas.openxmlformats.org/officeDocument/2006/relationships/notesSlide" Target="/ppt/notesSlides/notesSlide5.xml" Id="R5ac5b933951545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c5a3e1faf4ff7" /><Relationship Type="http://schemas.openxmlformats.org/officeDocument/2006/relationships/chart" Target="/ppt/slides/charts/chart1.xml" Id="Rb682a9d9ff984430" /><Relationship Type="http://schemas.openxmlformats.org/officeDocument/2006/relationships/notesSlide" Target="/ppt/notesSlides/notesSlide6.xml" Id="R2f049ba6340e42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8f94b23ea4ddd" /><Relationship Type="http://schemas.openxmlformats.org/officeDocument/2006/relationships/chart" Target="/ppt/slides/charts/chart2.xml" Id="R59fc927ba6fd442a" /><Relationship Type="http://schemas.openxmlformats.org/officeDocument/2006/relationships/notesSlide" Target="/ppt/notesSlides/notesSlide7.xml" Id="Re5382bf28bb04b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c2d924a964a0e" /><Relationship Type="http://schemas.openxmlformats.org/officeDocument/2006/relationships/chart" Target="/ppt/slides/charts/chart3.xml" Id="R3c5d964186624b57" /><Relationship Type="http://schemas.openxmlformats.org/officeDocument/2006/relationships/notesSlide" Target="/ppt/notesSlides/notesSlide8.xml" Id="R69461053136448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348f32d3f24d2d" /><Relationship Type="http://schemas.openxmlformats.org/officeDocument/2006/relationships/chart" Target="/ppt/slides/charts/chart4.xml" Id="R05d582b95090411e" /><Relationship Type="http://schemas.openxmlformats.org/officeDocument/2006/relationships/notesSlide" Target="/ppt/notesSlides/notesSlide9.xml" Id="Re349010f2d4f41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cf0cb3a144cf7" /><Relationship Type="http://schemas.openxmlformats.org/officeDocument/2006/relationships/chart" Target="/ppt/slides/charts/chart5.xml" Id="Rca0e84cd2ecd4bc4" /><Relationship Type="http://schemas.openxmlformats.org/officeDocument/2006/relationships/chart" Target="/ppt/slides/charts/chart6.xml" Id="Rf5637d2d93694bdb" /><Relationship Type="http://schemas.openxmlformats.org/officeDocument/2006/relationships/notesSlide" Target="/ppt/notesSlides/notesSlide10.xml" Id="R71fe2008e84842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e01f8bc5b4b27" /><Relationship Type="http://schemas.openxmlformats.org/officeDocument/2006/relationships/notesSlide" Target="/ppt/notesSlides/notesSlide11.xml" Id="R0543956bf8f74d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2a1b48daf4df3" /><Relationship Type="http://schemas.openxmlformats.org/officeDocument/2006/relationships/notesSlide" Target="/ppt/notesSlides/notesSlide12.xml" Id="R19d3b97bbc1a43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c20d6182c9496b" /><Relationship Type="http://schemas.openxmlformats.org/officeDocument/2006/relationships/chart" Target="/ppt/slides/charts/chart7.xml" Id="Rbde9243629ea4712" /><Relationship Type="http://schemas.openxmlformats.org/officeDocument/2006/relationships/chart" Target="/ppt/slides/charts/chart8.xml" Id="R1135f78aba1b4566" /><Relationship Type="http://schemas.openxmlformats.org/officeDocument/2006/relationships/chart" Target="/ppt/slides/charts/chart9.xml" Id="Rfe19771f8b9648c1" /><Relationship Type="http://schemas.openxmlformats.org/officeDocument/2006/relationships/notesSlide" Target="/ppt/notesSlides/notesSlide13.xml" Id="R187a10e0558942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d945275c6459c" /><Relationship Type="http://schemas.openxmlformats.org/officeDocument/2006/relationships/chart" Target="/ppt/slides/charts/chart10.xml" Id="Rf430a399cc14411e" /><Relationship Type="http://schemas.openxmlformats.org/officeDocument/2006/relationships/chart" Target="/ppt/slides/charts/chart11.xml" Id="Rbd71579095fe4d89" /><Relationship Type="http://schemas.openxmlformats.org/officeDocument/2006/relationships/chart" Target="/ppt/slides/charts/chart12.xml" Id="R820fe489abba4b04" /><Relationship Type="http://schemas.openxmlformats.org/officeDocument/2006/relationships/notesSlide" Target="/ppt/notesSlides/notesSlide14.xml" Id="R602ea83a6a654e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94ed152284bcc" /><Relationship Type="http://schemas.openxmlformats.org/officeDocument/2006/relationships/notesSlide" Target="/ppt/notesSlides/notesSlide15.xml" Id="R776828d3212e40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894ec77c44a5f" /><Relationship Type="http://schemas.openxmlformats.org/officeDocument/2006/relationships/notesSlide" Target="/ppt/notesSlides/notesSlide16.xml" Id="R73d4a92a372843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74df109904dee" /><Relationship Type="http://schemas.openxmlformats.org/officeDocument/2006/relationships/notesSlide" Target="/ppt/notesSlides/notesSlide17.xml" Id="R92987757f6a5443d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formatCode>0</c:formatCode>
              <c:ptCount val="8"/>
              <c:pt idx="0">
                <c:v>24</c:v>
              </c:pt>
              <c:pt idx="1">
                <c:v>29</c:v>
              </c:pt>
              <c:pt idx="2">
                <c:v>27</c:v>
              </c:pt>
              <c:pt idx="3">
                <c:v>38</c:v>
              </c:pt>
              <c:pt idx="4">
                <c:v>35</c:v>
              </c:pt>
              <c:pt idx="5">
                <c:v>44</c:v>
              </c:pt>
              <c:pt idx="6">
                <c:v>42</c:v>
              </c:pt>
              <c:pt idx="7">
                <c:v>51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Fee (HK$)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9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Distance (km)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xVal>
          <c:yVal>
            <c:numLit>
              <c:formatCode>0</c:formatCode>
              <c:ptCount val="7"/>
              <c:pt idx="0">
                <c:v>53</c:v>
              </c:pt>
              <c:pt idx="1">
                <c:v>46</c:v>
              </c:pt>
              <c:pt idx="2">
                <c:v>59</c:v>
              </c:pt>
              <c:pt idx="3">
                <c:v>52</c:v>
              </c:pt>
              <c:pt idx="4">
                <c:v>63</c:v>
              </c:pt>
              <c:pt idx="5">
                <c:v>54</c:v>
              </c:pt>
              <c:pt idx="6">
                <c:v>65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Exam score (marks)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Study time (hours/day)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6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xVal>
          <c:yVal>
            <c:numLit>
              <c:formatCode>0</c:formatCode>
              <c:ptCount val="7"/>
              <c:pt idx="0">
                <c:v>53</c:v>
              </c:pt>
              <c:pt idx="1">
                <c:v>46</c:v>
              </c:pt>
              <c:pt idx="2">
                <c:v>59</c:v>
              </c:pt>
              <c:pt idx="3">
                <c:v>52</c:v>
              </c:pt>
              <c:pt idx="4">
                <c:v>63</c:v>
              </c:pt>
              <c:pt idx="5">
                <c:v>54</c:v>
              </c:pt>
              <c:pt idx="6">
                <c:v>65</c:v>
              </c:pt>
            </c:numLit>
          </c:yVal>
        </c:ser>
        <c:ser>
          <c:idx val="1"/>
          <c:order val="1"/>
          <c:tx>
            <c:v>Best-fit line</c:v>
          </c:tx>
          <c:spPr>
            <a:solidFill xmlns:a="http://schemas.openxmlformats.org/drawingml/2006/main">
              <a:srgbClr val="B65320"/>
            </a:solidFill>
            <a:ln xmlns:a="http://schemas.openxmlformats.org/drawingml/2006/main" w="28575">
              <a:solidFill>
                <a:srgbClr val="B6532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6</c:v>
              </c:pt>
            </c:numLit>
          </c:xVal>
          <c:yVal>
            <c:numLit>
              <c:formatCode>0</c:formatCode>
              <c:ptCount val="2"/>
              <c:pt idx="0">
                <c:v>50</c:v>
              </c:pt>
              <c:pt idx="1">
                <c:v>62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Exam score (marks)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Study time (hours/day)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6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xVal>
          <c:yVal>
            <c:numLit>
              <c:formatCode>0</c:formatCode>
              <c:ptCount val="7"/>
              <c:pt idx="0">
                <c:v>53</c:v>
              </c:pt>
              <c:pt idx="1">
                <c:v>46</c:v>
              </c:pt>
              <c:pt idx="2">
                <c:v>59</c:v>
              </c:pt>
              <c:pt idx="3">
                <c:v>52</c:v>
              </c:pt>
              <c:pt idx="4">
                <c:v>63</c:v>
              </c:pt>
              <c:pt idx="5">
                <c:v>54</c:v>
              </c:pt>
              <c:pt idx="6">
                <c:v>65</c:v>
              </c:pt>
            </c:numLit>
          </c:yVal>
        </c:ser>
        <c:ser>
          <c:idx val="1"/>
          <c:order val="1"/>
          <c:tx>
            <c:v>Best-fit line</c:v>
          </c:tx>
          <c:spPr>
            <a:solidFill xmlns:a="http://schemas.openxmlformats.org/drawingml/2006/main">
              <a:srgbClr val="B65320"/>
            </a:solidFill>
            <a:ln xmlns:a="http://schemas.openxmlformats.org/drawingml/2006/main" w="28575">
              <a:solidFill>
                <a:srgbClr val="B6532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6</c:v>
              </c:pt>
            </c:numLit>
          </c:xVal>
          <c:yVal>
            <c:numLit>
              <c:formatCode>0</c:formatCode>
              <c:ptCount val="2"/>
              <c:pt idx="0">
                <c:v>50</c:v>
              </c:pt>
              <c:pt idx="1">
                <c:v>62</c:v>
              </c:pt>
            </c:numLit>
          </c:yVal>
        </c:ser>
        <c:ser>
          <c:idx val="2"/>
          <c:order val="2"/>
          <c:tx>
            <c:v>Prediction</c:v>
          </c:tx>
          <c:spPr>
            <a:solidFill xmlns:a="http://schemas.openxmlformats.org/drawingml/2006/main">
              <a:srgbClr val="6B51A3"/>
            </a:solidFill>
            <a:ln xmlns:a="http://schemas.openxmlformats.org/drawingml/2006/main" w="0">
              <a:noFill/>
            </a:ln>
          </c:spPr>
          <c:marker>
            <c:symbol val="diamond"/>
            <c:size val="13"/>
          </c:marker>
          <c:xVal>
            <c:numLit>
              <c:formatCode>General</c:formatCode>
              <c:ptCount val="1"/>
              <c:pt idx="0">
                <c:v>4.5</c:v>
              </c:pt>
            </c:numLit>
          </c:xVal>
          <c:yVal>
            <c:numLit>
              <c:formatCode>0</c:formatCode>
              <c:ptCount val="1"/>
              <c:pt idx="0">
                <c:v>59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Exam score (marks)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Study time (hours/day)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6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xVal>
          <c:yVal>
            <c:numLit>
              <c:formatCode>0</c:formatCode>
              <c:ptCount val="21"/>
              <c:pt idx="0">
                <c:v>19.97951966040343</c:v>
              </c:pt>
              <c:pt idx="1">
                <c:v>26.138429876914707</c:v>
              </c:pt>
              <c:pt idx="2">
                <c:v>28.22476526386545</c:v>
              </c:pt>
              <c:pt idx="3">
                <c:v>31.17186962494997</c:v>
              </c:pt>
              <c:pt idx="4">
                <c:v>36.85632867000223</c:v>
              </c:pt>
              <c:pt idx="5">
                <c:v>31.383325572061015</c:v>
              </c:pt>
              <c:pt idx="6">
                <c:v>36.11913358677088</c:v>
              </c:pt>
              <c:pt idx="7">
                <c:v>37.038010365184626</c:v>
              </c:pt>
              <c:pt idx="8">
                <c:v>43.67674247615591</c:v>
              </c:pt>
              <c:pt idx="9">
                <c:v>49.99629096595107</c:v>
              </c:pt>
              <c:pt idx="10">
                <c:v>49.93415634118886</c:v>
              </c:pt>
              <c:pt idx="11">
                <c:v>54.487640199392665</c:v>
              </c:pt>
              <c:pt idx="12">
                <c:v>50.267694007470055</c:v>
              </c:pt>
              <c:pt idx="13">
                <c:v>59.44119249763498</c:v>
              </c:pt>
              <c:pt idx="14">
                <c:v>59.27917024622211</c:v>
              </c:pt>
              <c:pt idx="15">
                <c:v>70.32616816173842</c:v>
              </c:pt>
              <c:pt idx="16">
                <c:v>70.66054722937638</c:v>
              </c:pt>
              <c:pt idx="17">
                <c:v>73.8480484497741</c:v>
              </c:pt>
              <c:pt idx="18">
                <c:v>73.8264351124971</c:v>
              </c:pt>
              <c:pt idx="19">
                <c:v>78.83858682284028</c:v>
              </c:pt>
              <c:pt idx="20">
                <c:v>81.9736704861635</c:v>
              </c:pt>
            </c:numLit>
          </c:yVal>
        </c:ser>
        <c:ser>
          <c:idx val="1"/>
          <c:order val="1"/>
          <c:tx>
            <c:v>Best-fit line</c:v>
          </c:tx>
          <c:spPr>
            <a:solidFill xmlns:a="http://schemas.openxmlformats.org/drawingml/2006/main">
              <a:srgbClr val="B65320"/>
            </a:solidFill>
            <a:ln xmlns:a="http://schemas.openxmlformats.org/drawingml/2006/main" w="28575">
              <a:solidFill>
                <a:srgbClr val="B6532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10</c:v>
              </c:pt>
            </c:numLit>
          </c:xVal>
          <c:yVal>
            <c:numLit>
              <c:formatCode>0</c:formatCode>
              <c:ptCount val="2"/>
              <c:pt idx="0">
                <c:v>20.34454103408355</c:v>
              </c:pt>
              <c:pt idx="1">
                <c:v>80.9380995008267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xVal>
          <c:yVal>
            <c:numLit>
              <c:formatCode>0</c:formatCode>
              <c:ptCount val="21"/>
              <c:pt idx="0">
                <c:v>42.64674734510946</c:v>
              </c:pt>
              <c:pt idx="1">
                <c:v>33.681521819269534</c:v>
              </c:pt>
              <c:pt idx="2">
                <c:v>36.21711039251349</c:v>
              </c:pt>
              <c:pt idx="3">
                <c:v>8.819456643042024</c:v>
              </c:pt>
              <c:pt idx="4">
                <c:v>69.19590335809264</c:v>
              </c:pt>
              <c:pt idx="5">
                <c:v>61.0183222085212</c:v>
              </c:pt>
              <c:pt idx="6">
                <c:v>41.44408028385046</c:v>
              </c:pt>
              <c:pt idx="7">
                <c:v>57.83329221418726</c:v>
              </c:pt>
              <c:pt idx="8">
                <c:v>51.93694937716709</c:v>
              </c:pt>
              <c:pt idx="9">
                <c:v>41.24648029006327</c:v>
              </c:pt>
              <c:pt idx="10">
                <c:v>63.6859443157645</c:v>
              </c:pt>
              <c:pt idx="11">
                <c:v>46.652208346771864</c:v>
              </c:pt>
              <c:pt idx="12">
                <c:v>47.396465343188524</c:v>
              </c:pt>
              <c:pt idx="13">
                <c:v>41.909945424975426</c:v>
              </c:pt>
              <c:pt idx="14">
                <c:v>60.369412997371974</c:v>
              </c:pt>
              <c:pt idx="15">
                <c:v>53.611227275956566</c:v>
              </c:pt>
              <c:pt idx="16">
                <c:v>63.63404199550554</c:v>
              </c:pt>
              <c:pt idx="17">
                <c:v>48.499400201811085</c:v>
              </c:pt>
              <c:pt idx="18">
                <c:v>59.775589859566175</c:v>
              </c:pt>
              <c:pt idx="19">
                <c:v>46.50816339198293</c:v>
              </c:pt>
              <c:pt idx="20">
                <c:v>71.780509613182</c:v>
              </c:pt>
            </c:numLit>
          </c:yVal>
        </c:ser>
        <c:ser>
          <c:idx val="1"/>
          <c:order val="1"/>
          <c:tx>
            <c:v>Best-fit line</c:v>
          </c:tx>
          <c:spPr>
            <a:solidFill xmlns:a="http://schemas.openxmlformats.org/drawingml/2006/main">
              <a:srgbClr val="B65320"/>
            </a:solidFill>
            <a:ln xmlns:a="http://schemas.openxmlformats.org/drawingml/2006/main" w="28575">
              <a:solidFill>
                <a:srgbClr val="B6532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10</c:v>
              </c:pt>
            </c:numLit>
          </c:xVal>
          <c:yVal>
            <c:numLit>
              <c:formatCode>0</c:formatCode>
              <c:ptCount val="2"/>
              <c:pt idx="0">
                <c:v>39.15986045159048</c:v>
              </c:pt>
              <c:pt idx="1">
                <c:v>60.63659409106599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xVal>
          <c:yVal>
            <c:numLit>
              <c:formatCode>0</c:formatCode>
              <c:ptCount val="21"/>
              <c:pt idx="0">
                <c:v>42.64674734510946</c:v>
              </c:pt>
              <c:pt idx="1">
                <c:v>33.681521819269534</c:v>
              </c:pt>
              <c:pt idx="2">
                <c:v>36.21711039251349</c:v>
              </c:pt>
              <c:pt idx="3">
                <c:v>8.819456643042024</c:v>
              </c:pt>
              <c:pt idx="4">
                <c:v>69.19590335809264</c:v>
              </c:pt>
              <c:pt idx="5">
                <c:v>61.0183222085212</c:v>
              </c:pt>
              <c:pt idx="6">
                <c:v>41.44408028385046</c:v>
              </c:pt>
              <c:pt idx="7">
                <c:v>57.83329221418726</c:v>
              </c:pt>
              <c:pt idx="8">
                <c:v>51.93694937716709</c:v>
              </c:pt>
              <c:pt idx="9">
                <c:v>41.24648029006327</c:v>
              </c:pt>
              <c:pt idx="10">
                <c:v>63.6859443157645</c:v>
              </c:pt>
              <c:pt idx="11">
                <c:v>46.652208346771864</c:v>
              </c:pt>
              <c:pt idx="12">
                <c:v>47.396465343188524</c:v>
              </c:pt>
              <c:pt idx="13">
                <c:v>41.909945424975426</c:v>
              </c:pt>
              <c:pt idx="14">
                <c:v>60.369412997371974</c:v>
              </c:pt>
              <c:pt idx="15">
                <c:v>53.611227275956566</c:v>
              </c:pt>
              <c:pt idx="16">
                <c:v>63.63404199550554</c:v>
              </c:pt>
              <c:pt idx="17">
                <c:v>48.499400201811085</c:v>
              </c:pt>
              <c:pt idx="18">
                <c:v>59.775589859566175</c:v>
              </c:pt>
              <c:pt idx="19">
                <c:v>46.50816339198293</c:v>
              </c:pt>
              <c:pt idx="20">
                <c:v>71.780509613182</c:v>
              </c:pt>
            </c:numLit>
          </c:yVal>
        </c:ser>
        <c:ser>
          <c:idx val="1"/>
          <c:order val="1"/>
          <c:tx>
            <c:v>Best-fit line</c:v>
          </c:tx>
          <c:spPr>
            <a:solidFill xmlns:a="http://schemas.openxmlformats.org/drawingml/2006/main">
              <a:srgbClr val="B65320"/>
            </a:solidFill>
            <a:ln xmlns:a="http://schemas.openxmlformats.org/drawingml/2006/main" w="28575">
              <a:solidFill>
                <a:srgbClr val="B6532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10</c:v>
              </c:pt>
            </c:numLit>
          </c:xVal>
          <c:yVal>
            <c:numLit>
              <c:formatCode>0</c:formatCode>
              <c:ptCount val="2"/>
              <c:pt idx="0">
                <c:v>39.15986045159048</c:v>
              </c:pt>
              <c:pt idx="1">
                <c:v>60.63659409106599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xVal>
          <c:yVal>
            <c:numLit>
              <c:formatCode>0</c:formatCode>
              <c:ptCount val="21"/>
              <c:pt idx="0">
                <c:v>19.97951966040343</c:v>
              </c:pt>
              <c:pt idx="1">
                <c:v>26.138429876914707</c:v>
              </c:pt>
              <c:pt idx="2">
                <c:v>28.22476526386545</c:v>
              </c:pt>
              <c:pt idx="3">
                <c:v>31.17186962494997</c:v>
              </c:pt>
              <c:pt idx="4">
                <c:v>36.85632867000223</c:v>
              </c:pt>
              <c:pt idx="5">
                <c:v>31.383325572061015</c:v>
              </c:pt>
              <c:pt idx="6">
                <c:v>36.11913358677088</c:v>
              </c:pt>
              <c:pt idx="7">
                <c:v>37.038010365184626</c:v>
              </c:pt>
              <c:pt idx="8">
                <c:v>43.67674247615591</c:v>
              </c:pt>
              <c:pt idx="9">
                <c:v>49.99629096595107</c:v>
              </c:pt>
              <c:pt idx="10">
                <c:v>49.93415634118886</c:v>
              </c:pt>
              <c:pt idx="11">
                <c:v>54.487640199392665</c:v>
              </c:pt>
              <c:pt idx="12">
                <c:v>50.267694007470055</c:v>
              </c:pt>
              <c:pt idx="13">
                <c:v>59.44119249763498</c:v>
              </c:pt>
              <c:pt idx="14">
                <c:v>59.27917024622211</c:v>
              </c:pt>
              <c:pt idx="15">
                <c:v>70.32616816173842</c:v>
              </c:pt>
              <c:pt idx="16">
                <c:v>70.66054722937638</c:v>
              </c:pt>
              <c:pt idx="17">
                <c:v>73.8480484497741</c:v>
              </c:pt>
              <c:pt idx="18">
                <c:v>73.8264351124971</c:v>
              </c:pt>
              <c:pt idx="19">
                <c:v>78.83858682284028</c:v>
              </c:pt>
              <c:pt idx="20">
                <c:v>81.9736704861635</c:v>
              </c:pt>
            </c:numLit>
          </c:yVal>
        </c:ser>
        <c:ser>
          <c:idx val="1"/>
          <c:order val="1"/>
          <c:tx>
            <c:v>Best-fit line</c:v>
          </c:tx>
          <c:spPr>
            <a:solidFill xmlns:a="http://schemas.openxmlformats.org/drawingml/2006/main">
              <a:srgbClr val="B65320"/>
            </a:solidFill>
            <a:ln xmlns:a="http://schemas.openxmlformats.org/drawingml/2006/main" w="28575">
              <a:solidFill>
                <a:srgbClr val="B6532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10</c:v>
              </c:pt>
            </c:numLit>
          </c:xVal>
          <c:yVal>
            <c:numLit>
              <c:formatCode>0</c:formatCode>
              <c:ptCount val="2"/>
              <c:pt idx="0">
                <c:v>20.34454103408355</c:v>
              </c:pt>
              <c:pt idx="1">
                <c:v>80.9380995008267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xVal>
          <c:yVal>
            <c:numLit>
              <c:formatCode>0</c:formatCode>
              <c:ptCount val="21"/>
              <c:pt idx="0">
                <c:v>65.81889731814283</c:v>
              </c:pt>
              <c:pt idx="1">
                <c:v>35.10514177779453</c:v>
              </c:pt>
              <c:pt idx="2">
                <c:v>19.695767908930186</c:v>
              </c:pt>
              <c:pt idx="3">
                <c:v>35.88732172913021</c:v>
              </c:pt>
              <c:pt idx="4">
                <c:v>84.4969492300507</c:v>
              </c:pt>
              <c:pt idx="5">
                <c:v>73.17338506126326</c:v>
              </c:pt>
              <c:pt idx="6">
                <c:v>10.801529916825343</c:v>
              </c:pt>
              <c:pt idx="7">
                <c:v>25.914657374918015</c:v>
              </c:pt>
              <c:pt idx="8">
                <c:v>33.449095474898904</c:v>
              </c:pt>
              <c:pt idx="9">
                <c:v>85.47325693040412</c:v>
              </c:pt>
              <c:pt idx="10">
                <c:v>42.27496442010207</c:v>
              </c:pt>
              <c:pt idx="11">
                <c:v>24.545287725445544</c:v>
              </c:pt>
              <c:pt idx="12">
                <c:v>78.83103298756095</c:v>
              </c:pt>
              <c:pt idx="13">
                <c:v>82.56561175002899</c:v>
              </c:pt>
              <c:pt idx="14">
                <c:v>34.139838034854044</c:v>
              </c:pt>
              <c:pt idx="15">
                <c:v>38.415848339118554</c:v>
              </c:pt>
              <c:pt idx="16">
                <c:v>70.2841900932714</c:v>
              </c:pt>
              <c:pt idx="17">
                <c:v>31.467369062031032</c:v>
              </c:pt>
              <c:pt idx="18">
                <c:v>73.15379229449564</c:v>
              </c:pt>
              <c:pt idx="19">
                <c:v>46.0671915476656</c:v>
              </c:pt>
              <c:pt idx="20">
                <c:v>61.765384967429775</c:v>
              </c:pt>
            </c:numLit>
          </c:yVal>
        </c:ser>
        <c:ser>
          <c:idx val="1"/>
          <c:order val="1"/>
          <c:tx>
            <c:v>Best-fit line</c:v>
          </c:tx>
          <c:spPr>
            <a:solidFill xmlns:a="http://schemas.openxmlformats.org/drawingml/2006/main">
              <a:srgbClr val="B65320"/>
            </a:solidFill>
            <a:ln xmlns:a="http://schemas.openxmlformats.org/drawingml/2006/main" w="28575">
              <a:solidFill>
                <a:srgbClr val="B6532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10</c:v>
              </c:pt>
            </c:numLit>
          </c:xVal>
          <c:yVal>
            <c:numLit>
              <c:formatCode>0</c:formatCode>
              <c:ptCount val="2"/>
              <c:pt idx="0">
                <c:v>43.80872212952</c:v>
              </c:pt>
              <c:pt idx="1">
                <c:v>56.50808872232396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xVal>
          <c:yVal>
            <c:numLit>
              <c:formatCode>0</c:formatCode>
              <c:ptCount val="21"/>
              <c:pt idx="0">
                <c:v>42.64674734510946</c:v>
              </c:pt>
              <c:pt idx="1">
                <c:v>33.681521819269534</c:v>
              </c:pt>
              <c:pt idx="2">
                <c:v>36.21711039251349</c:v>
              </c:pt>
              <c:pt idx="3">
                <c:v>8.819456643042024</c:v>
              </c:pt>
              <c:pt idx="4">
                <c:v>69.19590335809264</c:v>
              </c:pt>
              <c:pt idx="5">
                <c:v>61.0183222085212</c:v>
              </c:pt>
              <c:pt idx="6">
                <c:v>41.44408028385046</c:v>
              </c:pt>
              <c:pt idx="7">
                <c:v>57.83329221418726</c:v>
              </c:pt>
              <c:pt idx="8">
                <c:v>51.93694937716709</c:v>
              </c:pt>
              <c:pt idx="9">
                <c:v>41.24648029006327</c:v>
              </c:pt>
              <c:pt idx="10">
                <c:v>63.6859443157645</c:v>
              </c:pt>
              <c:pt idx="11">
                <c:v>46.652208346771864</c:v>
              </c:pt>
              <c:pt idx="12">
                <c:v>47.396465343188524</c:v>
              </c:pt>
              <c:pt idx="13">
                <c:v>41.909945424975426</c:v>
              </c:pt>
              <c:pt idx="14">
                <c:v>60.369412997371974</c:v>
              </c:pt>
              <c:pt idx="15">
                <c:v>53.611227275956566</c:v>
              </c:pt>
              <c:pt idx="16">
                <c:v>63.63404199550554</c:v>
              </c:pt>
              <c:pt idx="17">
                <c:v>48.499400201811085</c:v>
              </c:pt>
              <c:pt idx="18">
                <c:v>59.775589859566175</c:v>
              </c:pt>
              <c:pt idx="19">
                <c:v>46.50816339198293</c:v>
              </c:pt>
              <c:pt idx="20">
                <c:v>71.780509613182</c:v>
              </c:pt>
            </c:numLit>
          </c:yVal>
        </c:ser>
        <c:ser>
          <c:idx val="1"/>
          <c:order val="1"/>
          <c:tx>
            <c:v>Best-fit line</c:v>
          </c:tx>
          <c:spPr>
            <a:solidFill xmlns:a="http://schemas.openxmlformats.org/drawingml/2006/main">
              <a:srgbClr val="B65320"/>
            </a:solidFill>
            <a:ln xmlns:a="http://schemas.openxmlformats.org/drawingml/2006/main" w="28575">
              <a:solidFill>
                <a:srgbClr val="B6532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10</c:v>
              </c:pt>
            </c:numLit>
          </c:xVal>
          <c:yVal>
            <c:numLit>
              <c:formatCode>0</c:formatCode>
              <c:ptCount val="2"/>
              <c:pt idx="0">
                <c:v>39.15986045159048</c:v>
              </c:pt>
              <c:pt idx="1">
                <c:v>60.63659409106599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xVal>
          <c:yVal>
            <c:numLit>
              <c:formatCode>0</c:formatCode>
              <c:ptCount val="21"/>
              <c:pt idx="0">
                <c:v>19.97951966040343</c:v>
              </c:pt>
              <c:pt idx="1">
                <c:v>26.138429876914707</c:v>
              </c:pt>
              <c:pt idx="2">
                <c:v>28.22476526386545</c:v>
              </c:pt>
              <c:pt idx="3">
                <c:v>31.17186962494997</c:v>
              </c:pt>
              <c:pt idx="4">
                <c:v>36.85632867000223</c:v>
              </c:pt>
              <c:pt idx="5">
                <c:v>31.383325572061015</c:v>
              </c:pt>
              <c:pt idx="6">
                <c:v>36.11913358677088</c:v>
              </c:pt>
              <c:pt idx="7">
                <c:v>37.038010365184626</c:v>
              </c:pt>
              <c:pt idx="8">
                <c:v>43.67674247615591</c:v>
              </c:pt>
              <c:pt idx="9">
                <c:v>49.99629096595107</c:v>
              </c:pt>
              <c:pt idx="10">
                <c:v>49.93415634118886</c:v>
              </c:pt>
              <c:pt idx="11">
                <c:v>54.487640199392665</c:v>
              </c:pt>
              <c:pt idx="12">
                <c:v>50.267694007470055</c:v>
              </c:pt>
              <c:pt idx="13">
                <c:v>59.44119249763498</c:v>
              </c:pt>
              <c:pt idx="14">
                <c:v>59.27917024622211</c:v>
              </c:pt>
              <c:pt idx="15">
                <c:v>70.32616816173842</c:v>
              </c:pt>
              <c:pt idx="16">
                <c:v>70.66054722937638</c:v>
              </c:pt>
              <c:pt idx="17">
                <c:v>73.8480484497741</c:v>
              </c:pt>
              <c:pt idx="18">
                <c:v>73.8264351124971</c:v>
              </c:pt>
              <c:pt idx="19">
                <c:v>78.83858682284028</c:v>
              </c:pt>
              <c:pt idx="20">
                <c:v>81.9736704861635</c:v>
              </c:pt>
            </c:numLit>
          </c:yVal>
        </c:ser>
        <c:ser>
          <c:idx val="1"/>
          <c:order val="1"/>
          <c:tx>
            <c:v>Best-fit line</c:v>
          </c:tx>
          <c:spPr>
            <a:solidFill xmlns:a="http://schemas.openxmlformats.org/drawingml/2006/main">
              <a:srgbClr val="B65320"/>
            </a:solidFill>
            <a:ln xmlns:a="http://schemas.openxmlformats.org/drawingml/2006/main" w="28575">
              <a:solidFill>
                <a:srgbClr val="B6532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10</c:v>
              </c:pt>
            </c:numLit>
          </c:xVal>
          <c:yVal>
            <c:numLit>
              <c:formatCode>0</c:formatCode>
              <c:ptCount val="2"/>
              <c:pt idx="0">
                <c:v>20.34454103408355</c:v>
              </c:pt>
              <c:pt idx="1">
                <c:v>80.9380995008267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Data</c:v>
          </c:tx>
          <c:spPr>
            <a:solidFill xmlns:a="http://schemas.openxmlformats.org/drawingml/2006/main">
              <a:srgbClr val="086C61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xVal>
          <c:yVal>
            <c:numLit>
              <c:formatCode>0</c:formatCode>
              <c:ptCount val="21"/>
              <c:pt idx="0">
                <c:v>65.81889731814283</c:v>
              </c:pt>
              <c:pt idx="1">
                <c:v>35.10514177779453</c:v>
              </c:pt>
              <c:pt idx="2">
                <c:v>19.695767908930186</c:v>
              </c:pt>
              <c:pt idx="3">
                <c:v>35.88732172913021</c:v>
              </c:pt>
              <c:pt idx="4">
                <c:v>84.4969492300507</c:v>
              </c:pt>
              <c:pt idx="5">
                <c:v>73.17338506126326</c:v>
              </c:pt>
              <c:pt idx="6">
                <c:v>10.801529916825343</c:v>
              </c:pt>
              <c:pt idx="7">
                <c:v>25.914657374918015</c:v>
              </c:pt>
              <c:pt idx="8">
                <c:v>33.449095474898904</c:v>
              </c:pt>
              <c:pt idx="9">
                <c:v>85.47325693040412</c:v>
              </c:pt>
              <c:pt idx="10">
                <c:v>42.27496442010207</c:v>
              </c:pt>
              <c:pt idx="11">
                <c:v>24.545287725445544</c:v>
              </c:pt>
              <c:pt idx="12">
                <c:v>78.83103298756095</c:v>
              </c:pt>
              <c:pt idx="13">
                <c:v>82.56561175002899</c:v>
              </c:pt>
              <c:pt idx="14">
                <c:v>34.139838034854044</c:v>
              </c:pt>
              <c:pt idx="15">
                <c:v>38.415848339118554</c:v>
              </c:pt>
              <c:pt idx="16">
                <c:v>70.2841900932714</c:v>
              </c:pt>
              <c:pt idx="17">
                <c:v>31.467369062031032</c:v>
              </c:pt>
              <c:pt idx="18">
                <c:v>73.15379229449564</c:v>
              </c:pt>
              <c:pt idx="19">
                <c:v>46.0671915476656</c:v>
              </c:pt>
              <c:pt idx="20">
                <c:v>61.765384967429775</c:v>
              </c:pt>
            </c:numLit>
          </c:yVal>
        </c:ser>
        <c:ser>
          <c:idx val="1"/>
          <c:order val="1"/>
          <c:tx>
            <c:v>Best-fit line</c:v>
          </c:tx>
          <c:spPr>
            <a:solidFill xmlns:a="http://schemas.openxmlformats.org/drawingml/2006/main">
              <a:srgbClr val="B65320"/>
            </a:solidFill>
            <a:ln xmlns:a="http://schemas.openxmlformats.org/drawingml/2006/main" w="28575">
              <a:solidFill>
                <a:srgbClr val="B6532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10</c:v>
              </c:pt>
            </c:numLit>
          </c:xVal>
          <c:yVal>
            <c:numLit>
              <c:formatCode>0</c:formatCode>
              <c:ptCount val="2"/>
              <c:pt idx="0">
                <c:v>43.80872212952</c:v>
              </c:pt>
              <c:pt idx="1">
                <c:v>56.50808872232396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4D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C43"/>
                    </a:solidFill>
                    <a:latin typeface="Heiti TC"/>
                    <a:ea typeface="Heiti TC"/>
                    <a:cs typeface="Heiti TC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C43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26B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E4DF"/>
          </a:solidFill>
        </a:ln>
      </c:spPr>
    </c:plotArea>
    <c:plotVisOnly val="1"/>
  </c:chart>
  <c:spPr>
    <a:solidFill xmlns:a="http://schemas.openxmlformats.org/drawingml/2006/main">
      <a:srgbClr val="F5F7F4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0E66B-A6A7-46EC-B862-AB9A15F8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086C6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6C61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086C61"/>
                </a:solidFill>
                <a:latin typeface="Heiti TC"/>
                <a:ea typeface="Heiti TC"/>
                <a:cs typeface="Heiti TC"/>
              </a:rPr>
              <a:t>F2 AI 工作坊 2 / Workshop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D2669-1DDD-4CA3-B6A9-E1A5148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6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Python × Colab：數據與線性回歸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B86AC-68E9-429B-A6F9-1B9CB87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Python × Colab: data and linear regression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C97D5-A22F-4CEA-9C65-AB891AEB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探索數據、讀模型表、比較 R²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16EA3-0595-417D-AA41-4FF4254D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Explore data, read a model table and compare R²</a:t>
            </a:r>
          </a:p>
        </p:txBody>
      </p:sp>
    </p:spTree>
    <p:extLst>
      <p:ext uri="{BB962C8B-B14F-4D97-AF65-F5344CB8AC3E}">
        <p14:creationId xmlns:p14="http://schemas.microsoft.com/office/powerpoint/2010/main" val="412473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0B5D0-4214-46AE-912B-79CA7F02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程式在哪裏跑？雲端運算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D923A-2E9A-43A9-92DF-709E87A8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Where does code run? Cloud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009CE-37C6-44CF-A6E4-97C4A2D1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22BCF-7880-42CA-9ED4-5131C921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雲端運算：透過網絡，使用遠端電腦的運算能力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BF8D4-22EB-4913-A54A-E33F686A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Cloud computing: use a remote computer over the internet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D7868-3D6B-4F00-B5DE-19FAFECC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Colab：在瀏覽器開啟 Notebook，讓雲端電腦執行程式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1045A-3B76-4C5D-B270-01235A73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Colab: open a notebook in a browser; run code on a cloud computer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6FDF4-4EF4-48D0-BE91-7D3944B2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你的畫面顯示指令和結果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A25B7-EF56-49D3-93D5-88D99611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Your screen shows instructions and results</a:t>
            </a:r>
          </a:p>
        </p:txBody>
      </p:sp>
    </p:spTree>
    <p:extLst>
      <p:ext uri="{BB962C8B-B14F-4D97-AF65-F5344CB8AC3E}">
        <p14:creationId xmlns:p14="http://schemas.microsoft.com/office/powerpoint/2010/main" val="1072571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ECE14-0B93-4BC2-ACDB-841915CB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Python 和 Jupyter Notebook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D1F3C-280E-4CD3-A632-37571EF8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Python and Jupyter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71470-D630-40A0-8B02-2CF0F826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49232-5157-4583-B4B0-0116BD2F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6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Python：用程式給電腦指令，例如「畫出這些點」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25CD0-363D-45E3-BC5A-BE8910DA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Python: instructions such as “plot these dots”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A62B2-92A3-45EF-8F27-97211DF3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Jupyter Notebook：把說明、程式格和結果放在一起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3B3D4-8D20-409D-BA4E-E3B9E514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Jupyter Notebook: explanations, code cells and results together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8428F-5888-4DE7-983C-F0CBDCDB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今天只需按播放、看結果；不用背誦程式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C2747-213D-441B-9F22-67EC72F1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Today: press play and inspect the result. No memorising code</a:t>
            </a:r>
          </a:p>
        </p:txBody>
      </p:sp>
    </p:spTree>
    <p:extLst>
      <p:ext uri="{BB962C8B-B14F-4D97-AF65-F5344CB8AC3E}">
        <p14:creationId xmlns:p14="http://schemas.microsoft.com/office/powerpoint/2010/main" val="1384579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4CFA5-68CC-4C0E-AD48-AAB41923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借用工具箱：scikit-learn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3B6D7-4AA1-40D2-A4B2-FC57C1C1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Borrow a toolbox: scikit-learn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FD031-79D5-4A10-8623-2353246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ECCCB-9850-436B-91C6-DC1D4787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函式庫：別人準備好的工具，讓我們重用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3D553-2A41-40FC-84E5-BA41BCC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A library is a collection of tools we can reuse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889CB-507F-4345-A4E7-5A1711AA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scikit-learn（程式中叫 sklearn）提供 LinearRegression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D90AF-187C-40D0-B9B1-DD0F695B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scikit-learn, imported as sklearn, provides LinearRegression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2905E-6B8F-4C8B-A90E-E72A6511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fit：從數據找直線；predict：用直線作估計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22B15-5D71-48D0-BF1B-357BDD0C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fit: find the line. predict: use it for an estimate</a:t>
            </a:r>
          </a:p>
        </p:txBody>
      </p:sp>
    </p:spTree>
    <p:extLst>
      <p:ext uri="{BB962C8B-B14F-4D97-AF65-F5344CB8AC3E}">
        <p14:creationId xmlns:p14="http://schemas.microsoft.com/office/powerpoint/2010/main" val="20889224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12C8B-EF9D-45DE-83CD-A715CF1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開啟你的數據實驗簿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F4158-F4EF-408D-B148-1EA778E4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Open your data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4F115-BF3D-46C7-96E6-3B9AC73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12665-509F-41D7-A871-8ABF2E2B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開啟老師的 Colab 連結，儲存自己的副本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0B1B2-DCD7-4435-B62F-1172DC95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Open the teacher’s Colab link and save your own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F275E-30C1-4BF4-8462-9C39D02A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三節、五個程式格：探索 → 建模 → A、B、C 比較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570F5-AE0E-4814-80EF-2CAB5F8B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Three sections, five code cells: explore → fit → compare A, B,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C70DC-0783-449C-A9B0-98D71244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按每格左邊的 ▶，等待結果；工作紙只記結果和觀察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A23F5-4745-4B9A-A025-B76A3B47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Press ▶ and wait. Record results and observations on the worksheet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DACDB-EA46-4B01-9568-B539B93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6C61"/>
                </a:solidFill>
                <a:latin typeface="Arial"/>
                <a:ea typeface="Arial"/>
                <a:cs typeface="Arial"/>
              </a:rPr>
              <a:t>gordany.github.io/f2-linear-regression/workshop-2/</a:t>
            </a:r>
          </a:p>
        </p:txBody>
      </p:sp>
    </p:spTree>
    <p:extLst>
      <p:ext uri="{BB962C8B-B14F-4D97-AF65-F5344CB8AC3E}">
        <p14:creationId xmlns:p14="http://schemas.microsoft.com/office/powerpoint/2010/main" val="1817768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3168A-47E4-43F3-86F5-2DD49363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第 1 節：讓散點說話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23BE1-5560-4B58-9E8D-CC1E693D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Section 1: let the dots tell their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19115-7315-4712-8331-AD991049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5B0685D-87E6-4F04-A18F-903D470C7200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82a9d9ff98443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DCEF4-55A5-446C-86C4-EDD9690B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整體關係是怎樣？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5FEBC-AA4B-42EC-9E4B-0C29B121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What is the overall relationship?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D656C-0145-46EA-AB8E-B04F72C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有例外嗎？找兩筆紀錄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141C4-7EB0-4286-992C-E3B70CF6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909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Any exceptions? Use two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140D3-9408-4F91-8B87-12F5C1CA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將觀察記在工作紙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46C8E-7FF1-49A4-A29E-27450406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626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Record your observations</a:t>
            </a:r>
          </a:p>
        </p:txBody>
      </p:sp>
    </p:spTree>
    <p:extLst>
      <p:ext uri="{BB962C8B-B14F-4D97-AF65-F5344CB8AC3E}">
        <p14:creationId xmlns:p14="http://schemas.microsoft.com/office/powerpoint/2010/main" val="1389079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9134B-5293-4EB7-A15F-88EDB6EC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第 2 節：換一組學生數據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CEF3B-8290-4C2E-B99B-62365887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Section 2: try a different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C286A-417E-48B6-B04D-D37526AB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9AA8022-9C6E-4F53-80B7-2210F4CA215C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fc927ba6fd442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7A06A-3493-47F2-B295-11A566DE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每點是一位模擬學生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4B4BF-F216-42E9-97AD-3BEFEE74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Each dot is a simulated student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A5C0D-03DE-40ED-A889-BBEF3651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點是否排成完美直線？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F4528-5076-41C5-9ABB-BF3A1556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909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Do the dots form a perfect line?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3B49A-2B53-48AB-80D7-CDC6A7FB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用一條線概括整體趨勢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3634E-513C-49CE-B5B7-DDEDEB56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626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Use a line to summarise the trend</a:t>
            </a:r>
          </a:p>
        </p:txBody>
      </p:sp>
    </p:spTree>
    <p:extLst>
      <p:ext uri="{BB962C8B-B14F-4D97-AF65-F5344CB8AC3E}">
        <p14:creationId xmlns:p14="http://schemas.microsoft.com/office/powerpoint/2010/main" val="186478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159C0-915D-419B-A0A9-667339B4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一條直線，概括整體趨勢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CF887-D47D-4C74-B1C9-19638CFF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One line summarises the overall trend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41DAB-84F6-4A32-86C5-9F79AFE4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3B10940-4CB2-4DCA-9556-958C9C0EE94F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5d964186624b5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CEC53-88A2-474C-A77E-D9F1D224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y = mx +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03FAE-D1EE-4BDA-827E-C009F025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m：每多一小時的估計改變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D5D57-1AC0-4079-BBB0-8BDFF995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m: estimated change per extra hour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9DD1B-0D09-4BCF-8887-481A410B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c：0 小時的估計分數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20267-73E4-4A48-8445-1E7A8E31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c: estimated score at 0 hours</a:t>
            </a:r>
          </a:p>
        </p:txBody>
      </p:sp>
    </p:spTree>
    <p:extLst>
      <p:ext uri="{BB962C8B-B14F-4D97-AF65-F5344CB8AC3E}">
        <p14:creationId xmlns:p14="http://schemas.microsoft.com/office/powerpoint/2010/main" val="767325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36794-1AF9-44AD-924D-7DF77820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第 2 節：讀模型表，再找預測點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18154-1602-4F51-9810-37BAABDC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Section 2: read the table and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0844E-2B85-4BBC-9BE4-69CF1E5E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4E87F86-6462-4DA5-BA10-A399846B2AC9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d582b95090411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0D220-4470-4115-8488-92313C32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執行第 2 節，抄下模型表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0F793-12D1-444F-B737-BA60821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Run Section 2 and copy the 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3790A-FB92-4435-A265-6B295297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紫色點：每天 4.5 小時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534F2-1FD6-453A-9E25-ED66AA01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Purple dot: 4.5 hours per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013A2-E38C-4137-A9E6-54178487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預測是估計，不是保證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D5A72-4555-4E4D-8F93-07F2B90B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An estimate, not a guarantee</a:t>
            </a:r>
          </a:p>
        </p:txBody>
      </p:sp>
    </p:spTree>
    <p:extLst>
      <p:ext uri="{BB962C8B-B14F-4D97-AF65-F5344CB8AC3E}">
        <p14:creationId xmlns:p14="http://schemas.microsoft.com/office/powerpoint/2010/main" val="495483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FE32E-80A0-42E0-9842-15F7CDF7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哪條線更能概括自己的數據？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58854-30D2-4068-95B9-26D7892D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Which line better summarises its data?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66B61-0D79-4EA5-8754-E7ABF2A3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CDF98-BAE4-47A0-BA7F-00834A6D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Example B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DA016F6-E4CA-45BD-8A33-4D85876CABC2}"/>
              </a:ext>
            </a:extLst>
          </p:cNvPr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5143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0e84cd2ecd4bc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1A6E7-A134-4C24-ACF9-1A5084FE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Example A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3856EE6A-EBBF-467F-93C8-0CA99AFE6603}"/>
              </a:ext>
            </a:extLst>
          </p:cNvPr>
          <p:cNvGraphicFramePr/>
          <p:nvPr/>
        </p:nvGraphicFramePr>
        <p:xfrm>
          <a:off xmlns:a="http://schemas.openxmlformats.org/drawingml/2006/main" x="6324600" y="2286000"/>
          <a:ext xmlns:a="http://schemas.openxmlformats.org/drawingml/2006/main" cx="5143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637d2d93694bd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B43C1-7305-447D-8F83-FB4E9D92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86C6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86C61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086C61"/>
                </a:solidFill>
                <a:latin typeface="Heiti TC"/>
                <a:ea typeface="Heiti TC"/>
                <a:cs typeface="Heiti TC"/>
              </a:rPr>
              <a:t>看看散點和直線 / Compare the dots with the line</a:t>
            </a:r>
          </a:p>
        </p:txBody>
      </p:sp>
    </p:spTree>
    <p:extLst>
      <p:ext uri="{BB962C8B-B14F-4D97-AF65-F5344CB8AC3E}">
        <p14:creationId xmlns:p14="http://schemas.microsoft.com/office/powerpoint/2010/main" val="4531367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6B314-C343-41C0-8211-27F9D02D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R²：給「擬合程度」一個數字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4CB7D-C501-43C5-8FFC-43CE915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R²: a number describing the 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A1DB5-9F59-4223-AEF4-9214D10B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E1494-565E-41DC-A486-D11FCB16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差異：各個 y 值有高有低，例如學生的成績不同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A94A5-283B-40F3-A41F-9768DCE7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Variation: the y-values differ, such as students’ scores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AB3A9-5069-4722-8828-D2D8D5A2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0                         R²                        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F5791-D375-44D7-8EC9-85104E6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接近 0：解釋較少差異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77469-AC2D-4D23-8425-582D1793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Near 0: little variation explained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0FFD7-C370-46D8-A5BC-24809A67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4812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接近 1：解釋較多差異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DADEB-9CB8-433D-A0D0-EB4C75F7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148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Near 1: more variation explained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B86C3-FB67-46AD-A96A-61BAFFC5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在本課，R² 是在用來建立模型的數據上計算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6FCB7-CA26-4947-B347-1813BE04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Here, R² is measured on the data used to fit the line</a:t>
            </a:r>
          </a:p>
        </p:txBody>
      </p:sp>
    </p:spTree>
    <p:extLst>
      <p:ext uri="{BB962C8B-B14F-4D97-AF65-F5344CB8AC3E}">
        <p14:creationId xmlns:p14="http://schemas.microsoft.com/office/powerpoint/2010/main" val="16552470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5EADA-90B1-4BBD-8EB0-108B8FAB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模型表：今天聚焦 R²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0A408-90B2-4AD9-B427-28535EEC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The model table: focus on R²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09454-BCFC-4F29-A118-06113D9D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C9CBD-73C0-4DD1-8E70-968FA85012AB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4905375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2657475"/>
              </a:tblGrid>
              <a:tr h="7524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526B70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526B7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526B70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526B7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526B7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526B70"/>
                          </a:solidFill>
                          <a:latin typeface="Arial"/>
                          <a:ea typeface="Arial"/>
                          <a:cs typeface="Arial"/>
                        </a:rPr>
                        <a:t>2.00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526B70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526B70"/>
                          </a:solidFill>
                          <a:latin typeface="Arial"/>
                          <a:ea typeface="Arial"/>
                          <a:cs typeface="Arial"/>
                        </a:rPr>
                        <a:t>50.00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3150" b="1">
                          <a:solidFill>
                            <a:srgbClr val="086C61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150" b="1">
                          <a:solidFill>
                            <a:srgbClr val="086C61"/>
                          </a:solidFill>
                          <a:latin typeface="Arial"/>
                          <a:ea typeface="Arial"/>
                          <a:cs typeface="Arial"/>
                        </a:rPr>
                        <a:t>0.418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8CEE8-E210-4BF3-8B6E-F8FE1924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直線解釋了約 42% 的成績差異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A6DBE-3358-464B-AD85-A600A0C6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About 42% of score variation is explained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9A212-64BD-4579-B424-BAB627B4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並非 42% 的預測答對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D7D38-DF14-44E7-B34F-CD1E5202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It does not mean 42% of predictions are correct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BD923-0968-43C7-95FC-766CE7A3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B7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B70"/>
                </a:solidFill>
                <a:latin typeface="Heiti TC"/>
                <a:ea typeface="Heiti TC"/>
                <a:cs typeface="Heiti TC"/>
              </a:rPr>
              <a:t>教學模擬數據 / Simulated teaching data</a:t>
            </a:r>
          </a:p>
        </p:txBody>
      </p:sp>
    </p:spTree>
    <p:extLst>
      <p:ext uri="{BB962C8B-B14F-4D97-AF65-F5344CB8AC3E}">
        <p14:creationId xmlns:p14="http://schemas.microsoft.com/office/powerpoint/2010/main" val="737413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D6FC5-53DB-44CD-81EA-B16761A0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第 3 節：比較 A、B、C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BD935-0E2D-46B1-8F18-D128825A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Section 3: compare A, B and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50CD8-905C-4E8B-AB5C-BE3BF6F8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B1426-F820-44BF-9A0A-B9BC9CF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Example A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ED525B5-E58E-478D-A445-C30BCBCFB495}"/>
              </a:ext>
            </a:extLst>
          </p:cNvPr>
          <p:cNvGraphicFramePr/>
          <p:nvPr/>
        </p:nvGraphicFramePr>
        <p:xfrm>
          <a:off xmlns:a="http://schemas.openxmlformats.org/drawingml/2006/main" x="428625" y="2238375"/>
          <a:ext xmlns:a="http://schemas.openxmlformats.org/drawingml/2006/main" cx="36671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e9243629ea471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D697D-4E95-4BF8-8358-3261F0B8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Example B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AE178C9-7402-4B48-BA94-0AACA7ADF6E8}"/>
              </a:ext>
            </a:extLst>
          </p:cNvPr>
          <p:cNvGraphicFramePr/>
          <p:nvPr/>
        </p:nvGraphicFramePr>
        <p:xfrm>
          <a:off xmlns:a="http://schemas.openxmlformats.org/drawingml/2006/main" x="4333875" y="2238375"/>
          <a:ext xmlns:a="http://schemas.openxmlformats.org/drawingml/2006/main" cx="36671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35f78aba1b456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610FB-1C1D-4F1E-999D-19C29F51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Example C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531D68EE-3DC9-4CC8-BF76-D09551D27E99}"/>
              </a:ext>
            </a:extLst>
          </p:cNvPr>
          <p:cNvGraphicFramePr/>
          <p:nvPr/>
        </p:nvGraphicFramePr>
        <p:xfrm>
          <a:off xmlns:a="http://schemas.openxmlformats.org/drawingml/2006/main" x="8239125" y="2238375"/>
          <a:ext xmlns:a="http://schemas.openxmlformats.org/drawingml/2006/main" cx="36671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19771f8b9648c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1096B-9557-492D-BC81-0E577086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依次執行三格，記下 R²，再排名 1、2、3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28009-794A-4389-8296-FF6FC24C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Run the three cells, record R², then rank 1, 2 and 3</a:t>
            </a:r>
          </a:p>
        </p:txBody>
      </p:sp>
    </p:spTree>
    <p:extLst>
      <p:ext uri="{BB962C8B-B14F-4D97-AF65-F5344CB8AC3E}">
        <p14:creationId xmlns:p14="http://schemas.microsoft.com/office/powerpoint/2010/main" val="18102569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2E1B1-FE9E-413F-9D12-81AC5A94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揭曉：比較解釋數據的比例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8F29B-5CDD-436A-A317-083F65CD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Reveal: compare the variation explained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42EF0-0F69-409D-84BE-396AF457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1A5C2-7165-4C78-AD16-427B067C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Example A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3B92F69-AB1C-474A-A92E-77C0E7AB2F43}"/>
              </a:ext>
            </a:extLst>
          </p:cNvPr>
          <p:cNvGraphicFramePr/>
          <p:nvPr/>
        </p:nvGraphicFramePr>
        <p:xfrm>
          <a:off xmlns:a="http://schemas.openxmlformats.org/drawingml/2006/main" x="428625" y="2238375"/>
          <a:ext xmlns:a="http://schemas.openxmlformats.org/drawingml/2006/main" cx="36671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30a399cc14411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1E045-5FBD-4E65-909D-9F0E5145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R² = 0.218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3AABB-5D35-4F13-AB69-A4C4D474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Example B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927AFA3-E6F0-449D-8C70-DB1619AE5E43}"/>
              </a:ext>
            </a:extLst>
          </p:cNvPr>
          <p:cNvGraphicFramePr/>
          <p:nvPr/>
        </p:nvGraphicFramePr>
        <p:xfrm>
          <a:off xmlns:a="http://schemas.openxmlformats.org/drawingml/2006/main" x="4333875" y="2238375"/>
          <a:ext xmlns:a="http://schemas.openxmlformats.org/drawingml/2006/main" cx="36671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71579095fe4d8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9F1D6-CE76-4F94-91D9-BFD51133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625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R² = 0.977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2015D-81B5-4994-97AD-F57B635A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Example C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6F0EC2E4-B4B9-479F-B6DA-05C52C2D029F}"/>
              </a:ext>
            </a:extLst>
          </p:cNvPr>
          <p:cNvGraphicFramePr/>
          <p:nvPr/>
        </p:nvGraphicFramePr>
        <p:xfrm>
          <a:off xmlns:a="http://schemas.openxmlformats.org/drawingml/2006/main" x="8239125" y="2238375"/>
          <a:ext xmlns:a="http://schemas.openxmlformats.org/drawingml/2006/main" cx="36671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0fe489abba4b04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88E04-2383-4680-B8BB-C6F81FB7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625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6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C61"/>
                </a:solidFill>
                <a:latin typeface="Arial"/>
                <a:ea typeface="Arial"/>
                <a:cs typeface="Arial"/>
              </a:rPr>
              <a:t>R² = 0.027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32CA8-5542-44B9-B57F-51FAF3FD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86C6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86C61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086C61"/>
                </a:solidFill>
                <a:latin typeface="Heiti TC"/>
                <a:ea typeface="Heiti TC"/>
                <a:cs typeface="Heiti TC"/>
              </a:rPr>
              <a:t>B → A → C    較強 / Stronger · 較弱 / Weaker · 隨機 / Random</a:t>
            </a:r>
          </a:p>
        </p:txBody>
      </p:sp>
    </p:spTree>
    <p:extLst>
      <p:ext uri="{BB962C8B-B14F-4D97-AF65-F5344CB8AC3E}">
        <p14:creationId xmlns:p14="http://schemas.microsoft.com/office/powerpoint/2010/main" val="3234690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27B37-DC9C-48E6-BA31-D85C1752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R² 很高，就一定猜得準嗎？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7231F-2055-4F59-89CE-BCAEB670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Does high R² guarantee a good prediction?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3B395-FEF6-4F37-80B6-193D4A3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EA465-3941-4509-AD83-2F924EB1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較高 R²：這條線對建模數據的擬合較好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77868-0992-482F-90DD-2B434FF8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Higher R²: a better fit to the data used to build the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817B1-DCE1-4B7C-ACBA-09D7BFB4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新預測是否可靠？用未參與建模的新數據檢查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298C6-FE5F-4CF0-A4A2-16915D85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Reliable new predictions? Check with data not used to fit the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0E9A9-BEC9-4FA5-9D7C-591C90BD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例子太少，信心有限；關聯不能證明因果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C9AF2-CADE-4CFB-AECE-D7B06646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Few examples limit confidence; association does not prove cause</a:t>
            </a:r>
          </a:p>
        </p:txBody>
      </p:sp>
    </p:spTree>
    <p:extLst>
      <p:ext uri="{BB962C8B-B14F-4D97-AF65-F5344CB8AC3E}">
        <p14:creationId xmlns:p14="http://schemas.microsoft.com/office/powerpoint/2010/main" val="19955154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FF626-49EC-43A2-8D3F-741C5CBA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和 AI 的共同想法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30A4E-651D-4AED-B4D3-DDF822B3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The shared idea behind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81C2E-C4EA-4FF7-A1F3-001F0B3A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6E6E6-768D-4288-A583-B95DC306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從例子建立模型 → 用模型作估計 → 用新例子檢查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4D218-25B5-4AB8-9DB4-0F8C4984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Learn from examples → make estimates → check new examples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B15BE-CFEC-4AD3-BAC4-E5D9025E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現代 AI 更複雜，也需要合適的數據和測試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C26F9-F65A-476F-9141-DB474A18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Modern AI is more complex and also needs suitable data and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3593F-36A0-4F17-A036-DD400F66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下一堂：猜「是哪一類」。R² 不是所有 AI 的評分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32EC4-5EF8-4ABE-A295-4C159EDA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Next: predict a class. R² is not a score for every AI task</a:t>
            </a:r>
          </a:p>
        </p:txBody>
      </p:sp>
    </p:spTree>
    <p:extLst>
      <p:ext uri="{BB962C8B-B14F-4D97-AF65-F5344CB8AC3E}">
        <p14:creationId xmlns:p14="http://schemas.microsoft.com/office/powerpoint/2010/main" val="3263254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B9847-F010-435A-86E8-123086A8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帶走你的三個發現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45712-23C3-4D2E-AE9A-A028AF25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Take away three discoveries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58164-BA24-448C-B45D-DF836CE7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DE610-3B84-49D9-A85D-98323E5C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6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散點讓我們看見關係，也看見例外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FFEC9-7BE8-4D27-8442-A7575341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Dots show a relationship and its exceptions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0E1A1-DFEC-4ECF-8629-0017BB73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R² 幫助比較直線解釋多少數據差異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7866C-5A2A-4199-BED9-E57FB85A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R² helps compare how much variation a line explains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AB4D6-8215-4C8B-8B12-091D47BB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3C43"/>
                </a:solidFill>
                <a:latin typeface="Heiti TC"/>
                <a:ea typeface="Heiti TC"/>
                <a:cs typeface="Heiti TC"/>
              </a:defRPr>
            </a:pPr>
            <a:r>
              <a:rPr sz="2625" b="0">
                <a:solidFill>
                  <a:srgbClr val="173C43"/>
                </a:solidFill>
                <a:latin typeface="Heiti TC"/>
                <a:ea typeface="Heiti TC"/>
                <a:cs typeface="Heiti TC"/>
              </a:rPr>
              <a:t>好擬合不等於好新預測：還要用新數據檢查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4A86D-6A90-4DC5-A7B4-D205AA91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Good fit still needs a check on new data</a:t>
            </a:r>
          </a:p>
        </p:txBody>
      </p:sp>
    </p:spTree>
    <p:extLst>
      <p:ext uri="{BB962C8B-B14F-4D97-AF65-F5344CB8AC3E}">
        <p14:creationId xmlns:p14="http://schemas.microsoft.com/office/powerpoint/2010/main" val="1162153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2026-10-12T01:56:48.0020000Z</dcterms:created>
  <dcterms:modified xsi:type="dcterms:W3CDTF">2026-10-12T01:56:48.0020000Z</dcterms:modified>
</coreProperties>
</file>