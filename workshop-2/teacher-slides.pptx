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a3183abae51436f" /><Relationship Type="http://schemas.openxmlformats.org/officeDocument/2006/relationships/extended-properties" Target="/docProps/app.xml" Id="R5b0075e7f1f14658" /><Relationship Type="http://schemas.openxmlformats.org/officeDocument/2006/relationships/officeDocument" Target="/ppt/presentation.xml" Id="Ree462bd390714a27" /></Relationships>
</file>

<file path=ppt/presentation.xml><?xml version="1.0" encoding="utf-8"?>
<p:presentation xmlns:p="http://schemas.openxmlformats.org/presentationml/2006/main">
  <p:sldMasterIdLst>
    <p:sldMasterId xmlns:r="http://schemas.openxmlformats.org/officeDocument/2006/relationships" id="2147483648" r:id="R044cb51daba24384"/>
  </p:sldMasterIdLst>
  <p:notesMasterIdLst>
    <p:notesMasterId xmlns:r="http://schemas.openxmlformats.org/officeDocument/2006/relationships" r:id="R042a157311c64ee0"/>
  </p:notesMasterIdLst>
  <p:sldIdLst>
    <p:sldId xmlns:r="http://schemas.openxmlformats.org/officeDocument/2006/relationships" id="256" r:id="Rdd1bd2c81d584b5d"/>
    <p:sldId xmlns:r="http://schemas.openxmlformats.org/officeDocument/2006/relationships" id="257" r:id="R0ec89fa631d9450b"/>
    <p:sldId xmlns:r="http://schemas.openxmlformats.org/officeDocument/2006/relationships" id="258" r:id="R55fef5a7a2324a93"/>
    <p:sldId xmlns:r="http://schemas.openxmlformats.org/officeDocument/2006/relationships" id="259" r:id="Re2e5c870d4954074"/>
    <p:sldId xmlns:r="http://schemas.openxmlformats.org/officeDocument/2006/relationships" id="260" r:id="R8fbb0192aafa4746"/>
    <p:sldId xmlns:r="http://schemas.openxmlformats.org/officeDocument/2006/relationships" id="261" r:id="R72e48cc874bb421a"/>
    <p:sldId xmlns:r="http://schemas.openxmlformats.org/officeDocument/2006/relationships" id="262" r:id="R857616e79f114935"/>
    <p:sldId xmlns:r="http://schemas.openxmlformats.org/officeDocument/2006/relationships" id="263" r:id="R86a651d0827d43ce"/>
    <p:sldId xmlns:r="http://schemas.openxmlformats.org/officeDocument/2006/relationships" id="264" r:id="Rce01e74bb8944a70"/>
    <p:sldId xmlns:r="http://schemas.openxmlformats.org/officeDocument/2006/relationships" id="265" r:id="R236456ffe4014072"/>
    <p:sldId xmlns:r="http://schemas.openxmlformats.org/officeDocument/2006/relationships" id="266" r:id="Rb79489bbc8364054"/>
    <p:sldId xmlns:r="http://schemas.openxmlformats.org/officeDocument/2006/relationships" id="267" r:id="Rdc4c8f5a8f7842ad"/>
    <p:sldId xmlns:r="http://schemas.openxmlformats.org/officeDocument/2006/relationships" id="268" r:id="Rc7240d0ae77f45e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1e9c0bb65a34895" /><Relationship Type="http://schemas.openxmlformats.org/officeDocument/2006/relationships/slideMaster" Target="/ppt/slideMasters/slideMaster1.xml" Id="R044cb51daba24384" /><Relationship Type="http://schemas.openxmlformats.org/officeDocument/2006/relationships/notesMaster" Target="/ppt/notesMasters/notesMaster1.xml" Id="R042a157311c64ee0" /><Relationship Type="http://schemas.openxmlformats.org/officeDocument/2006/relationships/presProps" Target="/ppt/presProps.xml" Id="Re3b38e66d62e4a5d" /><Relationship Type="http://schemas.openxmlformats.org/officeDocument/2006/relationships/tableStyles" Target="/ppt/tableStyles.xml" Id="R5b14444c52184bdb" /><Relationship Type="http://schemas.openxmlformats.org/officeDocument/2006/relationships/slide" Target="/ppt/slides/slide1.xml" Id="Rdd1bd2c81d584b5d" /><Relationship Type="http://schemas.openxmlformats.org/officeDocument/2006/relationships/slide" Target="/ppt/slides/slide2.xml" Id="R0ec89fa631d9450b" /><Relationship Type="http://schemas.openxmlformats.org/officeDocument/2006/relationships/slide" Target="/ppt/slides/slide3.xml" Id="R55fef5a7a2324a93" /><Relationship Type="http://schemas.openxmlformats.org/officeDocument/2006/relationships/slide" Target="/ppt/slides/slide4.xml" Id="Re2e5c870d4954074" /><Relationship Type="http://schemas.openxmlformats.org/officeDocument/2006/relationships/slide" Target="/ppt/slides/slide5.xml" Id="R8fbb0192aafa4746" /><Relationship Type="http://schemas.openxmlformats.org/officeDocument/2006/relationships/slide" Target="/ppt/slides/slide6.xml" Id="R72e48cc874bb421a" /><Relationship Type="http://schemas.openxmlformats.org/officeDocument/2006/relationships/slide" Target="/ppt/slides/slide7.xml" Id="R857616e79f114935" /><Relationship Type="http://schemas.openxmlformats.org/officeDocument/2006/relationships/slide" Target="/ppt/slides/slide8.xml" Id="R86a651d0827d43ce" /><Relationship Type="http://schemas.openxmlformats.org/officeDocument/2006/relationships/slide" Target="/ppt/slides/slide9.xml" Id="Rce01e74bb8944a70" /><Relationship Type="http://schemas.openxmlformats.org/officeDocument/2006/relationships/slide" Target="/ppt/slides/slide10.xml" Id="R236456ffe4014072" /><Relationship Type="http://schemas.openxmlformats.org/officeDocument/2006/relationships/slide" Target="/ppt/slides/slide11.xml" Id="Rb79489bbc8364054" /><Relationship Type="http://schemas.openxmlformats.org/officeDocument/2006/relationships/slide" Target="/ppt/slides/slide12.xml" Id="Rdc4c8f5a8f7842ad" /><Relationship Type="http://schemas.openxmlformats.org/officeDocument/2006/relationships/slide" Target="/ppt/slides/slide13.xml" Id="Rc7240d0ae77f45e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20eed235274a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c974587c064f2c" /><Relationship Type="http://schemas.openxmlformats.org/officeDocument/2006/relationships/notesMaster" Target="/ppt/notesMasters/notesMaster1.xml" Id="Raa012d63600141f8"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004610d9b64e8a" /><Relationship Type="http://schemas.openxmlformats.org/officeDocument/2006/relationships/notesMaster" Target="/ppt/notesMasters/notesMaster1.xml" Id="R92089d157c8540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444185ad35a481a" /><Relationship Type="http://schemas.openxmlformats.org/officeDocument/2006/relationships/notesMaster" Target="/ppt/notesMasters/notesMaster1.xml" Id="R74102cc8b1d74a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df9690fa2e274445" /><Relationship Type="http://schemas.openxmlformats.org/officeDocument/2006/relationships/notesMaster" Target="/ppt/notesMasters/notesMaster1.xml" Id="Rcf6fb9d27a7e4b73" /></Relationships>
</file>

<file path=ppt/notesSlides/_rels/notesSlide5.xml.rels>&#65279;<?xml version="1.0" encoding="utf-8"?><Relationships xmlns="http://schemas.openxmlformats.org/package/2006/relationships"><Relationship Type="http://schemas.openxmlformats.org/officeDocument/2006/relationships/slide" Target="/ppt/slides/slide5.xml" Id="Rf0f8f82b3dd24e9d" /><Relationship Type="http://schemas.openxmlformats.org/officeDocument/2006/relationships/notesMaster" Target="/ppt/notesMasters/notesMaster1.xml" Id="R15abc093c85645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edead958eef5476d" /><Relationship Type="http://schemas.openxmlformats.org/officeDocument/2006/relationships/notesMaster" Target="/ppt/notesMasters/notesMaster1.xml" Id="R0c48ab61c56a46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983f3005a34bc2" /><Relationship Type="http://schemas.openxmlformats.org/officeDocument/2006/relationships/notesMaster" Target="/ppt/notesMasters/notesMaster1.xml" Id="R8d4ef0aef8ed43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47094cd7bc49dd" /><Relationship Type="http://schemas.openxmlformats.org/officeDocument/2006/relationships/notesMaster" Target="/ppt/notesMasters/notesMaster1.xml" Id="Rd00fc28d628a467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fdd490f81d64473" /><Relationship Type="http://schemas.openxmlformats.org/officeDocument/2006/relationships/notesMaster" Target="/ppt/notesMasters/notesMaster1.xml" Id="Rc09a7046469a4e7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070f35d7334b0d" /><Relationship Type="http://schemas.openxmlformats.org/officeDocument/2006/relationships/notesMaster" Target="/ppt/notesMasters/notesMaster1.xml" Id="R159df86d98f5454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d2314d8ac546f1" /><Relationship Type="http://schemas.openxmlformats.org/officeDocument/2006/relationships/notesMaster" Target="/ppt/notesMasters/notesMaster1.xml" Id="Rf5eb628abf7d41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b4b6301857a4ade" /><Relationship Type="http://schemas.openxmlformats.org/officeDocument/2006/relationships/notesMaster" Target="/ppt/notesMasters/notesMaster1.xml" Id="R83cf73e7b30e423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14e92c72a834a31" /><Relationship Type="http://schemas.openxmlformats.org/officeDocument/2006/relationships/notesMaster" Target="/ppt/notesMasters/notesMaster1.xml" Id="Rdad7fc792400419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Warm-up, 2 minutes. Teacher demonstration first; students suggest a greeting and repeat in their own copy after setup. Ask students to guess the output before running. Invite a funny but school-appropriate greeting. No syntax lecture.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Warm-up, about 2 minutes. Teacher edits the quoted string first; students repeat in their own copy after setup. The output changes because their instruction/data changed, not because the machine understood the greeting.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Finish the 8-minute introductory block. Connect with Workshop 1: students draw a line by instinct, now a library fits it from examples. Today is guided programming, not formula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12-minute guided setup block, about 2 minutes on this slide. Colab is a hosted Jupyter notebook service, not a programming language. Source: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opens the supplied Colab link. Students may need approved Google accounts. Save a copy using Colab’s File menu before editing. Interface may differ by language. The supplied student file begins with no saved outputs to protect the initial estimate. Teacher has locally executed and checked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data cell. Matching positions pair one student’s hours with their score. Edit only numbers. All scores are simulated and do not establish a causal study effect. Avoid explaining numpy reshape; it is prepared plumbing.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notebook section 2 only. Students write their estimate on worksheet page 1 before section 3 reveals the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student estimates, run notebook section 3. Source: scikit-learn LinearRegression official documentation. Explain fit as a library operation that learns from the paired examples. No calculation/derivation, loss or gradient descent.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predict first, run notebook section 4, and compare with their own written estimate. Try 3.5 then 10. Editing original data requires rerunning data and model cells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running section5, students write or say their predicted change. This slide deliberately shows only the original fit and proposed new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running section5. Students compare with their earlier guess; now the changed line is revealed. The optional notebook comparison cell starts from the unchanged original data each time. Teacher reference: original at 3.5 is57, changed about62. Counts/approximations, no decimal transcription.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the final10-minute reflection block. The model learns a summary from data, then predicts for a new input. Code executing correctly is not the same as a prediction being accurate. Actual unseen cases with known outcomes are needed for accuracy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discussion and worksheet section6. Ask one pair to describe a change without reading decimal coefficients. Tomorrow’s workshop predicts a category instead of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f8f2b72280495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6d1f6464c3f4058" /><Relationship Type="http://schemas.openxmlformats.org/officeDocument/2006/relationships/slideLayout" Target="/ppt/slideLayouts/slideLayout1.xml" Id="R8e0c1c757ab1419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0c1c757ab1419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cc4edb79cf74fe6" /><Relationship Type="http://schemas.openxmlformats.org/officeDocument/2006/relationships/notesSlide" Target="/ppt/notesSlides/notesSlide1.xml" Id="R3fb26d6071554d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d6a0d4358904a48" /><Relationship Type="http://schemas.openxmlformats.org/officeDocument/2006/relationships/notesSlide" Target="/ppt/notesSlides/notesSlide2.xml" Id="Ra0604f0dff7643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8452ef6f60e49e5" /><Relationship Type="http://schemas.openxmlformats.org/officeDocument/2006/relationships/notesSlide" Target="/ppt/notesSlides/notesSlide3.xml" Id="Rb011ac74376440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94259ef096a48f2" /><Relationship Type="http://schemas.openxmlformats.org/officeDocument/2006/relationships/notesSlide" Target="/ppt/notesSlides/notesSlide4.xml" Id="R92dd1e47580242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ceac71cace8439b" /><Relationship Type="http://schemas.openxmlformats.org/officeDocument/2006/relationships/notesSlide" Target="/ppt/notesSlides/notesSlide5.xml" Id="Rc6aee02fdcbe439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f4577a765ba4dc5" /><Relationship Type="http://schemas.openxmlformats.org/officeDocument/2006/relationships/notesSlide" Target="/ppt/notesSlides/notesSlide6.xml" Id="Reafa4b7d165341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f9e0441a7034a43" /><Relationship Type="http://schemas.openxmlformats.org/officeDocument/2006/relationships/chart" Target="/ppt/slides/charts/chart1.xml" Id="Ra86112d2856942a1" /><Relationship Type="http://schemas.openxmlformats.org/officeDocument/2006/relationships/notesSlide" Target="/ppt/notesSlides/notesSlide7.xml" Id="R17b57f1da39848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2dba08e7b5748ee" /><Relationship Type="http://schemas.openxmlformats.org/officeDocument/2006/relationships/notesSlide" Target="/ppt/notesSlides/notesSlide8.xml" Id="R0792d4f9ca57429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4dd13839a724a74" /><Relationship Type="http://schemas.openxmlformats.org/officeDocument/2006/relationships/notesSlide" Target="/ppt/notesSlides/notesSlide9.xml" Id="Rcdb8db5aff0648c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0c3922e5b7846d2" /><Relationship Type="http://schemas.openxmlformats.org/officeDocument/2006/relationships/chart" Target="/ppt/slides/charts/chart2.xml" Id="R8ed73304277c4f3c" /><Relationship Type="http://schemas.openxmlformats.org/officeDocument/2006/relationships/notesSlide" Target="/ppt/notesSlides/notesSlide10.xml" Id="R653b1dc71e27499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ad9b0fba81947e0" /><Relationship Type="http://schemas.openxmlformats.org/officeDocument/2006/relationships/chart" Target="/ppt/slides/charts/chart3.xml" Id="R835d0d0a984a4c85" /><Relationship Type="http://schemas.openxmlformats.org/officeDocument/2006/relationships/notesSlide" Target="/ppt/notesSlides/notesSlide11.xml" Id="Rd0c59bd21aa843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c0f9f028e28410c" /><Relationship Type="http://schemas.openxmlformats.org/officeDocument/2006/relationships/notesSlide" Target="/ppt/notesSlides/notesSlide12.xml" Id="R33e2708b2eb1426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ea318d70f1a49c7" /><Relationship Type="http://schemas.openxmlformats.org/officeDocument/2006/relationships/notesSlide" Target="/ppt/notesSlides/notesSlide13.xml" Id="R320114352aa546aa" /></Relationships>
</file>

<file path=ppt/slides/charts/chart1.xml><?xml version="1.0" encoding="utf-8"?>
<c:chartSpace xmlns:c="http://schemas.openxmlformats.org/drawingml/2006/chart">
  <c:lang val="en-US"/>
  <c:chart>
    <c:plotArea>
      <c:scatterChart>
        <c:scatterStyle val="lineMarker"/>
        <c:ser>
          <c:idx val="0"/>
          <c:order val="0"/>
          <c:tx>
            <c:v>模擬數據 / Simulated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2.xml><?xml version="1.0" encoding="utf-8"?>
<c:chartSpace xmlns:c="http://schemas.openxmlformats.org/drawingml/2006/chart">
  <c:lang val="en-US"/>
  <c:chart>
    <c:plotArea>
      <c:scatterChart>
        <c:scatterStyle val="lineMarker"/>
        <c:ser>
          <c:idx val="0"/>
          <c:order val="0"/>
          <c:tx>
            <c:v>原數據 / Original</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ser>
          <c:idx val="1"/>
          <c:order val="1"/>
          <c:tx>
            <c:v>New point</c:v>
          </c:tx>
          <c:spPr>
            <a:solidFill xmlns:a="http://schemas.openxmlformats.org/drawingml/2006/main">
              <a:srgbClr val="6B51A3"/>
            </a:solidFill>
            <a:ln xmlns:a="http://schemas.openxmlformats.org/drawingml/2006/main" w="0">
              <a:noFill/>
            </a:ln>
          </c:spPr>
          <c:marker>
            <c:symbol val="diamond"/>
            <c:size val="10"/>
            <c:spPr>
              <a:noFill xmlns:a="http://schemas.openxmlformats.org/drawingml/2006/main"/>
            </c:spPr>
          </c:marker>
          <c:xVal>
            <c:numLit>
              <c:formatCode>General</c:formatCode>
              <c:ptCount val="1"/>
              <c:pt idx="0">
                <c:v>4</c:v>
              </c:pt>
            </c:numLit>
          </c:xVal>
          <c:yVal>
            <c:numLit>
              <c:formatCode>0</c:formatCode>
              <c:ptCount val="1"/>
              <c:pt idx="0">
                <c:v>95</c:v>
              </c:pt>
            </c:numLit>
          </c:yVal>
        </c:ser>
        <c:ser>
          <c:idx val="2"/>
          <c:order val="2"/>
          <c:tx>
            <c:v>原直線 / Original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24</c:v>
              </c:pt>
            </c:numLit>
          </c:xVal>
          <c:yVal>
            <c:numLit>
              <c:formatCode>0</c:formatCode>
              <c:ptCount val="2"/>
              <c:pt idx="0">
                <c:v>50</c:v>
              </c:pt>
              <c:pt idx="1">
                <c:v>98</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3.xml><?xml version="1.0" encoding="utf-8"?>
<c:chartSpace xmlns:c="http://schemas.openxmlformats.org/drawingml/2006/chart">
  <c:lang val="en-US"/>
  <c:chart>
    <c:plotArea>
      <c:scatterChart>
        <c:scatterStyle val="lineMarker"/>
        <c:ser>
          <c:idx val="0"/>
          <c:order val="0"/>
          <c:tx>
            <c:v>原數據 / Original</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ser>
          <c:idx val="1"/>
          <c:order val="1"/>
          <c:tx>
            <c:v>New point</c:v>
          </c:tx>
          <c:spPr>
            <a:solidFill xmlns:a="http://schemas.openxmlformats.org/drawingml/2006/main">
              <a:srgbClr val="6B51A3"/>
            </a:solidFill>
            <a:ln xmlns:a="http://schemas.openxmlformats.org/drawingml/2006/main" w="0">
              <a:noFill/>
            </a:ln>
          </c:spPr>
          <c:marker>
            <c:symbol val="diamond"/>
            <c:size val="10"/>
            <c:spPr>
              <a:noFill xmlns:a="http://schemas.openxmlformats.org/drawingml/2006/main"/>
            </c:spPr>
          </c:marker>
          <c:xVal>
            <c:numLit>
              <c:formatCode>General</c:formatCode>
              <c:ptCount val="1"/>
              <c:pt idx="0">
                <c:v>4</c:v>
              </c:pt>
            </c:numLit>
          </c:xVal>
          <c:yVal>
            <c:numLit>
              <c:formatCode>0</c:formatCode>
              <c:ptCount val="1"/>
              <c:pt idx="0">
                <c:v>95</c:v>
              </c:pt>
            </c:numLit>
          </c:yVal>
        </c:ser>
        <c:ser>
          <c:idx val="2"/>
          <c:order val="2"/>
          <c:tx>
            <c:v>原直線 / Original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24</c:v>
              </c:pt>
            </c:numLit>
          </c:xVal>
          <c:yVal>
            <c:numLit>
              <c:formatCode>0</c:formatCode>
              <c:ptCount val="2"/>
              <c:pt idx="0">
                <c:v>50</c:v>
              </c:pt>
              <c:pt idx="1">
                <c:v>98</c:v>
              </c:pt>
            </c:numLit>
          </c:yVal>
        </c:ser>
        <c:ser>
          <c:idx val="3"/>
          <c:order val="3"/>
          <c:tx>
            <c:v>加入點後 / After</c:v>
          </c:tx>
          <c:spPr>
            <a:solidFill xmlns:a="http://schemas.openxmlformats.org/drawingml/2006/main">
              <a:srgbClr val="6B51A3"/>
            </a:solidFill>
            <a:ln xmlns:a="http://schemas.openxmlformats.org/drawingml/2006/main" w="28575">
              <a:solidFill>
                <a:srgbClr val="6B51A3"/>
              </a:solidFill>
            </a:ln>
          </c:spPr>
          <c:marker>
            <c:symbol val="none"/>
          </c:marker>
          <c:xVal>
            <c:numLit>
              <c:formatCode>General</c:formatCode>
              <c:ptCount val="2"/>
              <c:pt idx="0">
                <c:v>0</c:v>
              </c:pt>
              <c:pt idx="1">
                <c:v>15.6601941748</c:v>
              </c:pt>
            </c:numLit>
          </c:xVal>
          <c:yVal>
            <c:numLit>
              <c:formatCode>0</c:formatCode>
              <c:ptCount val="2"/>
              <c:pt idx="0">
                <c:v>51.1212121212</c:v>
              </c:pt>
              <c:pt idx="1">
                <c:v>100</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752A77E-A306-4CC1-BB6E-7AD45562A7D1}"/>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電腦會聽你的指令嗎？</a:t>
            </a:r>
          </a:p>
        </p:txBody>
      </p:sp>
      <p:sp>
        <p:nvSpPr>
          <p:cNvPr id="2" name="">
            <a:extLst xmlns:a="http://schemas.openxmlformats.org/drawingml/2006/main">
              <a:ext uri="{FF2B5EF4-FFF2-40B4-BE49-F238E27FC236}">
                <a16:creationId xmlns:a16="http://schemas.microsoft.com/office/drawing/2014/main" id="{943B87E2-B325-4EBA-9428-EF22A2B29FFA}"/>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Will the computer follow your instructions?</a:t>
            </a:r>
          </a:p>
        </p:txBody>
      </p:sp>
      <p:sp>
        <p:nvSpPr>
          <p:cNvPr id="3" name="">
            <a:extLst xmlns:a="http://schemas.openxmlformats.org/drawingml/2006/main">
              <a:ext uri="{FF2B5EF4-FFF2-40B4-BE49-F238E27FC236}">
                <a16:creationId xmlns:a16="http://schemas.microsoft.com/office/drawing/2014/main" id="{874EC583-9FB8-4496-9124-0B329B4503C3}"/>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D7B53494-DBE9-475C-A994-70A78EB75C92}"/>
              </a:ext>
            </a:extLst>
          </p:cNvPr>
          <p:cNvSpPr>
            <a:spLocks xmlns:a="http://schemas.openxmlformats.org/drawingml/2006/main" noGrp="1"/>
          </p:cNvSpPr>
          <p:nvPr/>
        </p:nvSpPr>
        <p:spPr>
          <a:xfrm xmlns:a="http://schemas.openxmlformats.org/drawingml/2006/main">
            <a:off x="857250" y="1809750"/>
            <a:ext cx="10096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086C61"/>
                </a:solidFill>
                <a:latin typeface="Courier New"/>
                <a:ea typeface="Courier New"/>
                <a:cs typeface="Courier New"/>
              </a:defRPr>
            </a:pPr>
            <a:r>
              <a:rPr sz="3450" b="0">
                <a:solidFill>
                  <a:srgbClr val="086C61"/>
                </a:solidFill>
                <a:latin typeface="Courier New"/>
                <a:ea typeface="Courier New"/>
                <a:cs typeface="Courier New"/>
              </a:rPr>
              <a:t>message = "Hello, AI!"</a:t>
            </a:r>
          </a:p>
          <a:p xmlns:a="http://schemas.openxmlformats.org/drawingml/2006/main">
            <a:pPr>
              <a:defRPr sz="3450" b="0">
                <a:solidFill>
                  <a:srgbClr val="086C61"/>
                </a:solidFill>
                <a:latin typeface="Courier New"/>
                <a:ea typeface="Courier New"/>
                <a:cs typeface="Courier New"/>
              </a:defRPr>
            </a:pPr>
            <a:r>
              <a:rPr sz="3450" b="0">
                <a:solidFill>
                  <a:srgbClr val="086C61"/>
                </a:solidFill>
                <a:latin typeface="Courier New"/>
                <a:ea typeface="Courier New"/>
                <a:cs typeface="Courier New"/>
              </a:rPr>
              <a:t>print(message)</a:t>
            </a:r>
          </a:p>
        </p:txBody>
      </p:sp>
      <p:sp>
        <p:nvSpPr>
          <p:cNvPr id="5" name="">
            <a:extLst xmlns:a="http://schemas.openxmlformats.org/drawingml/2006/main">
              <a:ext uri="{FF2B5EF4-FFF2-40B4-BE49-F238E27FC236}">
                <a16:creationId xmlns:a16="http://schemas.microsoft.com/office/drawing/2014/main" id="{4B4411A5-A079-483B-9740-C7182060183A}"/>
              </a:ext>
            </a:extLst>
          </p:cNvPr>
          <p:cNvSpPr>
            <a:spLocks xmlns:a="http://schemas.openxmlformats.org/drawingml/2006/main" noGrp="1"/>
          </p:cNvSpPr>
          <p:nvPr/>
        </p:nvSpPr>
        <p:spPr>
          <a:xfrm xmlns:a="http://schemas.openxmlformats.org/drawingml/2006/main">
            <a:off x="857250" y="37623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猜猜看：螢幕會顯示甚麼？</a:t>
            </a:r>
          </a:p>
        </p:txBody>
      </p:sp>
      <p:sp>
        <p:nvSpPr>
          <p:cNvPr id="6" name="">
            <a:extLst xmlns:a="http://schemas.openxmlformats.org/drawingml/2006/main">
              <a:ext uri="{FF2B5EF4-FFF2-40B4-BE49-F238E27FC236}">
                <a16:creationId xmlns:a16="http://schemas.microsoft.com/office/drawing/2014/main" id="{17145388-09DF-4B70-A47C-28D2D3BC3C1F}"/>
              </a:ext>
            </a:extLst>
          </p:cNvPr>
          <p:cNvSpPr>
            <a:spLocks xmlns:a="http://schemas.openxmlformats.org/drawingml/2006/main" noGrp="1"/>
          </p:cNvSpPr>
          <p:nvPr/>
        </p:nvSpPr>
        <p:spPr>
          <a:xfrm xmlns:a="http://schemas.openxmlformats.org/drawingml/2006/main">
            <a:off x="857250" y="42291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Guess: what will appear on the screen?</a:t>
            </a:r>
          </a:p>
        </p:txBody>
      </p:sp>
      <p:sp>
        <p:nvSpPr>
          <p:cNvPr id="7" name="">
            <a:extLst xmlns:a="http://schemas.openxmlformats.org/drawingml/2006/main">
              <a:ext uri="{FF2B5EF4-FFF2-40B4-BE49-F238E27FC236}">
                <a16:creationId xmlns:a16="http://schemas.microsoft.com/office/drawing/2014/main" id="{29DD5C81-2760-459F-9AAD-FA93457BF77B}"/>
              </a:ext>
            </a:extLst>
          </p:cNvPr>
          <p:cNvSpPr>
            <a:spLocks xmlns:a="http://schemas.openxmlformats.org/drawingml/2006/main" noGrp="1"/>
          </p:cNvSpPr>
          <p:nvPr/>
        </p:nvSpPr>
        <p:spPr>
          <a:xfrm xmlns:a="http://schemas.openxmlformats.org/drawingml/2006/main">
            <a:off x="857250" y="50958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先看老師示範，開啟自己的副本後再試</a:t>
            </a:r>
          </a:p>
        </p:txBody>
      </p:sp>
      <p:sp>
        <p:nvSpPr>
          <p:cNvPr id="8" name="">
            <a:extLst xmlns:a="http://schemas.openxmlformats.org/drawingml/2006/main">
              <a:ext uri="{FF2B5EF4-FFF2-40B4-BE49-F238E27FC236}">
                <a16:creationId xmlns:a16="http://schemas.microsoft.com/office/drawing/2014/main" id="{30257F34-C3E7-43D7-A7FC-89EEB49DFE2C}"/>
              </a:ext>
            </a:extLst>
          </p:cNvPr>
          <p:cNvSpPr>
            <a:spLocks xmlns:a="http://schemas.openxmlformats.org/drawingml/2006/main" noGrp="1"/>
          </p:cNvSpPr>
          <p:nvPr/>
        </p:nvSpPr>
        <p:spPr>
          <a:xfrm xmlns:a="http://schemas.openxmlformats.org/drawingml/2006/main">
            <a:off x="857250" y="55626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Watch the teacher first, then repeat in your own copy</a:t>
            </a:r>
          </a:p>
        </p:txBody>
      </p:sp>
    </p:spTree>
    <p:extLst>
      <p:ext uri="{BB962C8B-B14F-4D97-AF65-F5344CB8AC3E}">
        <p14:creationId xmlns:p14="http://schemas.microsoft.com/office/powerpoint/2010/main" val="1447152484"/>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88A73E-B6E8-462B-B76E-0458BE1C15A4}"/>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換一句話，試試看</a:t>
            </a:r>
          </a:p>
        </p:txBody>
      </p:sp>
      <p:sp>
        <p:nvSpPr>
          <p:cNvPr id="2" name="">
            <a:extLst xmlns:a="http://schemas.openxmlformats.org/drawingml/2006/main">
              <a:ext uri="{FF2B5EF4-FFF2-40B4-BE49-F238E27FC236}">
                <a16:creationId xmlns:a16="http://schemas.microsoft.com/office/drawing/2014/main" id="{44D48024-152D-4E0E-A375-CF11AF3DACD2}"/>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Change the greeting and try again</a:t>
            </a:r>
          </a:p>
        </p:txBody>
      </p:sp>
      <p:sp>
        <p:nvSpPr>
          <p:cNvPr id="3" name="">
            <a:extLst xmlns:a="http://schemas.openxmlformats.org/drawingml/2006/main">
              <a:ext uri="{FF2B5EF4-FFF2-40B4-BE49-F238E27FC236}">
                <a16:creationId xmlns:a16="http://schemas.microsoft.com/office/drawing/2014/main" id="{27EC04FC-FEF0-4D1F-9F3F-65BCC238EB18}"/>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2334BAA0-C686-4CD5-B39D-CFAD52891368}"/>
              </a:ext>
            </a:extLst>
          </p:cNvPr>
          <p:cNvSpPr>
            <a:spLocks xmlns:a="http://schemas.openxmlformats.org/drawingml/2006/main" noGrp="1"/>
          </p:cNvSpPr>
          <p:nvPr/>
        </p:nvSpPr>
        <p:spPr>
          <a:xfrm xmlns:a="http://schemas.openxmlformats.org/drawingml/2006/main">
            <a:off x="857250" y="1809750"/>
            <a:ext cx="10096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086C61"/>
                </a:solidFill>
                <a:latin typeface="Courier New"/>
                <a:ea typeface="Courier New"/>
                <a:cs typeface="Courier New"/>
              </a:defRPr>
            </a:pPr>
            <a:r>
              <a:rPr sz="2925" b="0">
                <a:solidFill>
                  <a:srgbClr val="086C61"/>
                </a:solidFill>
                <a:latin typeface="Courier New"/>
                <a:ea typeface="Courier New"/>
                <a:cs typeface="Courier New"/>
              </a:rPr>
              <a:t>message = "Hello, future robot!"</a:t>
            </a:r>
          </a:p>
          <a:p xmlns:a="http://schemas.openxmlformats.org/drawingml/2006/main">
            <a:pPr>
              <a:defRPr sz="2925" b="0">
                <a:solidFill>
                  <a:srgbClr val="086C61"/>
                </a:solidFill>
                <a:latin typeface="Courier New"/>
                <a:ea typeface="Courier New"/>
                <a:cs typeface="Courier New"/>
              </a:defRPr>
            </a:pPr>
            <a:r>
              <a:rPr sz="2925" b="0">
                <a:solidFill>
                  <a:srgbClr val="086C61"/>
                </a:solidFill>
                <a:latin typeface="Courier New"/>
                <a:ea typeface="Courier New"/>
                <a:cs typeface="Courier New"/>
              </a:rPr>
              <a:t>print(message)</a:t>
            </a:r>
          </a:p>
        </p:txBody>
      </p:sp>
      <p:sp>
        <p:nvSpPr>
          <p:cNvPr id="5" name="">
            <a:extLst xmlns:a="http://schemas.openxmlformats.org/drawingml/2006/main">
              <a:ext uri="{FF2B5EF4-FFF2-40B4-BE49-F238E27FC236}">
                <a16:creationId xmlns:a16="http://schemas.microsoft.com/office/drawing/2014/main" id="{94527732-EBCA-4EA7-9835-F9ECCBF765F7}"/>
              </a:ext>
            </a:extLst>
          </p:cNvPr>
          <p:cNvSpPr>
            <a:spLocks xmlns:a="http://schemas.openxmlformats.org/drawingml/2006/main" noGrp="1"/>
          </p:cNvSpPr>
          <p:nvPr/>
        </p:nvSpPr>
        <p:spPr>
          <a:xfrm xmlns:a="http://schemas.openxmlformats.org/drawingml/2006/main">
            <a:off x="857250" y="37623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改引號內的文字，再執行一次</a:t>
            </a:r>
          </a:p>
        </p:txBody>
      </p:sp>
      <p:sp>
        <p:nvSpPr>
          <p:cNvPr id="6" name="">
            <a:extLst xmlns:a="http://schemas.openxmlformats.org/drawingml/2006/main">
              <a:ext uri="{FF2B5EF4-FFF2-40B4-BE49-F238E27FC236}">
                <a16:creationId xmlns:a16="http://schemas.microsoft.com/office/drawing/2014/main" id="{456F07E0-83B4-42C5-9C1F-62BCA4011D65}"/>
              </a:ext>
            </a:extLst>
          </p:cNvPr>
          <p:cNvSpPr>
            <a:spLocks xmlns:a="http://schemas.openxmlformats.org/drawingml/2006/main" noGrp="1"/>
          </p:cNvSpPr>
          <p:nvPr/>
        </p:nvSpPr>
        <p:spPr>
          <a:xfrm xmlns:a="http://schemas.openxmlformats.org/drawingml/2006/main">
            <a:off x="857250" y="42291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Change the text inside the quotes, then run again</a:t>
            </a:r>
          </a:p>
        </p:txBody>
      </p:sp>
      <p:sp>
        <p:nvSpPr>
          <p:cNvPr id="7" name="">
            <a:extLst xmlns:a="http://schemas.openxmlformats.org/drawingml/2006/main">
              <a:ext uri="{FF2B5EF4-FFF2-40B4-BE49-F238E27FC236}">
                <a16:creationId xmlns:a16="http://schemas.microsoft.com/office/drawing/2014/main" id="{B7ACD42B-48E0-4509-B2EF-C1BC9C2141CE}"/>
              </a:ext>
            </a:extLst>
          </p:cNvPr>
          <p:cNvSpPr>
            <a:spLocks xmlns:a="http://schemas.openxmlformats.org/drawingml/2006/main" noGrp="1"/>
          </p:cNvSpPr>
          <p:nvPr/>
        </p:nvSpPr>
        <p:spPr>
          <a:xfrm xmlns:a="http://schemas.openxmlformats.org/drawingml/2006/main">
            <a:off x="857250" y="50577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C43"/>
                </a:solidFill>
                <a:latin typeface="Heiti TC"/>
                <a:ea typeface="Heiti TC"/>
                <a:cs typeface="Heiti TC"/>
              </a:defRPr>
            </a:pPr>
            <a:r>
              <a:rPr sz="2325" b="0">
                <a:solidFill>
                  <a:srgbClr val="173C43"/>
                </a:solidFill>
                <a:latin typeface="Heiti TC"/>
                <a:ea typeface="Heiti TC"/>
                <a:cs typeface="Heiti TC"/>
              </a:rPr>
              <a:t>先把文字存成 message，再用 print 顯示</a:t>
            </a:r>
          </a:p>
        </p:txBody>
      </p:sp>
      <p:sp>
        <p:nvSpPr>
          <p:cNvPr id="8" name="">
            <a:extLst xmlns:a="http://schemas.openxmlformats.org/drawingml/2006/main">
              <a:ext uri="{FF2B5EF4-FFF2-40B4-BE49-F238E27FC236}">
                <a16:creationId xmlns:a16="http://schemas.microsoft.com/office/drawing/2014/main" id="{71E794FF-B60D-4CAD-A6C5-08931C0A671D}"/>
              </a:ext>
            </a:extLst>
          </p:cNvPr>
          <p:cNvSpPr>
            <a:spLocks xmlns:a="http://schemas.openxmlformats.org/drawingml/2006/main" noGrp="1"/>
          </p:cNvSpPr>
          <p:nvPr/>
        </p:nvSpPr>
        <p:spPr>
          <a:xfrm xmlns:a="http://schemas.openxmlformats.org/drawingml/2006/main">
            <a:off x="857250" y="55245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Store the text as message, then display it with print</a:t>
            </a:r>
          </a:p>
        </p:txBody>
      </p:sp>
    </p:spTree>
    <p:extLst>
      <p:ext uri="{BB962C8B-B14F-4D97-AF65-F5344CB8AC3E}">
        <p14:creationId xmlns:p14="http://schemas.microsoft.com/office/powerpoint/2010/main" val="973998016"/>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DC13A20-2366-4AFB-BC2D-914FD8D1956C}"/>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今天的挑戰：讓電腦找一條線</a:t>
            </a:r>
          </a:p>
        </p:txBody>
      </p:sp>
      <p:sp>
        <p:nvSpPr>
          <p:cNvPr id="2" name="">
            <a:extLst xmlns:a="http://schemas.openxmlformats.org/drawingml/2006/main">
              <a:ext uri="{FF2B5EF4-FFF2-40B4-BE49-F238E27FC236}">
                <a16:creationId xmlns:a16="http://schemas.microsoft.com/office/drawing/2014/main" id="{76AB8C8E-999C-4431-B50D-B2DCB45DF78A}"/>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Today’s challenge: let the computer find the line</a:t>
            </a:r>
          </a:p>
        </p:txBody>
      </p:sp>
      <p:sp>
        <p:nvSpPr>
          <p:cNvPr id="3" name="">
            <a:extLst xmlns:a="http://schemas.openxmlformats.org/drawingml/2006/main">
              <a:ext uri="{FF2B5EF4-FFF2-40B4-BE49-F238E27FC236}">
                <a16:creationId xmlns:a16="http://schemas.microsoft.com/office/drawing/2014/main" id="{26D84D69-BFB9-4237-94E4-755A5B8B2BF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2D9AFDDE-336F-4F0A-A65B-2545F585C293}"/>
              </a:ext>
            </a:extLst>
          </p:cNvPr>
          <p:cNvSpPr>
            <a:spLocks xmlns:a="http://schemas.openxmlformats.org/drawingml/2006/main" noGrp="1"/>
          </p:cNvSpPr>
          <p:nvPr/>
        </p:nvSpPr>
        <p:spPr>
          <a:xfrm xmlns:a="http://schemas.openxmlformats.org/drawingml/2006/main">
            <a:off x="609600" y="1809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上堂：你用眼睛觀察，畫一條合適的直線</a:t>
            </a:r>
          </a:p>
        </p:txBody>
      </p:sp>
      <p:sp>
        <p:nvSpPr>
          <p:cNvPr id="5" name="">
            <a:extLst xmlns:a="http://schemas.openxmlformats.org/drawingml/2006/main">
              <a:ext uri="{FF2B5EF4-FFF2-40B4-BE49-F238E27FC236}">
                <a16:creationId xmlns:a16="http://schemas.microsoft.com/office/drawing/2014/main" id="{73A45860-4DB6-4526-9DC7-44A027A31810}"/>
              </a:ext>
            </a:extLst>
          </p:cNvPr>
          <p:cNvSpPr>
            <a:spLocks xmlns:a="http://schemas.openxmlformats.org/drawingml/2006/main" noGrp="1"/>
          </p:cNvSpPr>
          <p:nvPr/>
        </p:nvSpPr>
        <p:spPr>
          <a:xfrm xmlns:a="http://schemas.openxmlformats.org/drawingml/2006/main">
            <a:off x="609600" y="22764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Last time: you looked at the dots and drew a line</a:t>
            </a:r>
          </a:p>
        </p:txBody>
      </p:sp>
      <p:sp>
        <p:nvSpPr>
          <p:cNvPr id="6" name="">
            <a:extLst xmlns:a="http://schemas.openxmlformats.org/drawingml/2006/main">
              <a:ext uri="{FF2B5EF4-FFF2-40B4-BE49-F238E27FC236}">
                <a16:creationId xmlns:a16="http://schemas.microsoft.com/office/drawing/2014/main" id="{7089C1BE-46C7-42B4-AF04-13934BEE6F72}"/>
              </a:ext>
            </a:extLst>
          </p:cNvPr>
          <p:cNvSpPr>
            <a:spLocks xmlns:a="http://schemas.openxmlformats.org/drawingml/2006/main" noGrp="1"/>
          </p:cNvSpPr>
          <p:nvPr/>
        </p:nvSpPr>
        <p:spPr>
          <a:xfrm xmlns:a="http://schemas.openxmlformats.org/drawingml/2006/main">
            <a:off x="609600" y="3190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今堂：用 Python 執行、改數據、作預測</a:t>
            </a:r>
          </a:p>
        </p:txBody>
      </p:sp>
      <p:sp>
        <p:nvSpPr>
          <p:cNvPr id="7" name="">
            <a:extLst xmlns:a="http://schemas.openxmlformats.org/drawingml/2006/main">
              <a:ext uri="{FF2B5EF4-FFF2-40B4-BE49-F238E27FC236}">
                <a16:creationId xmlns:a16="http://schemas.microsoft.com/office/drawing/2014/main" id="{2072495F-F663-45D2-8C71-9B32599EA6C9}"/>
              </a:ext>
            </a:extLst>
          </p:cNvPr>
          <p:cNvSpPr>
            <a:spLocks xmlns:a="http://schemas.openxmlformats.org/drawingml/2006/main" noGrp="1"/>
          </p:cNvSpPr>
          <p:nvPr/>
        </p:nvSpPr>
        <p:spPr>
          <a:xfrm xmlns:a="http://schemas.openxmlformats.org/drawingml/2006/main">
            <a:off x="609600" y="36576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Today: use Python to run code, change data and predict</a:t>
            </a:r>
          </a:p>
        </p:txBody>
      </p:sp>
      <p:sp>
        <p:nvSpPr>
          <p:cNvPr id="8" name="">
            <a:extLst xmlns:a="http://schemas.openxmlformats.org/drawingml/2006/main">
              <a:ext uri="{FF2B5EF4-FFF2-40B4-BE49-F238E27FC236}">
                <a16:creationId xmlns:a16="http://schemas.microsoft.com/office/drawing/2014/main" id="{450F2DB3-428E-41FE-A547-622EEA9B20D9}"/>
              </a:ext>
            </a:extLst>
          </p:cNvPr>
          <p:cNvSpPr>
            <a:spLocks xmlns:a="http://schemas.openxmlformats.org/drawingml/2006/main" noGrp="1"/>
          </p:cNvSpPr>
          <p:nvPr/>
        </p:nvSpPr>
        <p:spPr>
          <a:xfrm xmlns:a="http://schemas.openxmlformats.org/drawingml/2006/main">
            <a:off x="609600" y="45720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目標是看懂變化，無需背下每一行程式</a:t>
            </a:r>
          </a:p>
        </p:txBody>
      </p:sp>
      <p:sp>
        <p:nvSpPr>
          <p:cNvPr id="9" name="">
            <a:extLst xmlns:a="http://schemas.openxmlformats.org/drawingml/2006/main">
              <a:ext uri="{FF2B5EF4-FFF2-40B4-BE49-F238E27FC236}">
                <a16:creationId xmlns:a16="http://schemas.microsoft.com/office/drawing/2014/main" id="{9255CE37-9803-412C-AA43-49601F3CA632}"/>
              </a:ext>
            </a:extLst>
          </p:cNvPr>
          <p:cNvSpPr>
            <a:spLocks xmlns:a="http://schemas.openxmlformats.org/drawingml/2006/main" noGrp="1"/>
          </p:cNvSpPr>
          <p:nvPr/>
        </p:nvSpPr>
        <p:spPr>
          <a:xfrm xmlns:a="http://schemas.openxmlformats.org/drawingml/2006/main">
            <a:off x="609600" y="50387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Notice what changes. You do not need to memorise every line</a:t>
            </a:r>
          </a:p>
        </p:txBody>
      </p:sp>
    </p:spTree>
    <p:extLst>
      <p:ext uri="{BB962C8B-B14F-4D97-AF65-F5344CB8AC3E}">
        <p14:creationId xmlns:p14="http://schemas.microsoft.com/office/powerpoint/2010/main" val="2039365930"/>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CE682BC-3570-4B3D-91D7-E61D37C90020}"/>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Python、Notebook、Colab 是甚麼？</a:t>
            </a:r>
          </a:p>
        </p:txBody>
      </p:sp>
      <p:sp>
        <p:nvSpPr>
          <p:cNvPr id="2" name="">
            <a:extLst xmlns:a="http://schemas.openxmlformats.org/drawingml/2006/main">
              <a:ext uri="{FF2B5EF4-FFF2-40B4-BE49-F238E27FC236}">
                <a16:creationId xmlns:a16="http://schemas.microsoft.com/office/drawing/2014/main" id="{BC1BA1DC-8300-4A03-8637-A0CBCE64A29F}"/>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What are Python, a notebook and Colab?</a:t>
            </a:r>
          </a:p>
        </p:txBody>
      </p:sp>
      <p:sp>
        <p:nvSpPr>
          <p:cNvPr id="3" name="">
            <a:extLst xmlns:a="http://schemas.openxmlformats.org/drawingml/2006/main">
              <a:ext uri="{FF2B5EF4-FFF2-40B4-BE49-F238E27FC236}">
                <a16:creationId xmlns:a16="http://schemas.microsoft.com/office/drawing/2014/main" id="{1FD56343-E4C1-44EB-8BD0-52D00FB08610}"/>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7AC7B7BB-FA9A-4330-AE33-9201D2A937A7}"/>
              </a:ext>
            </a:extLst>
          </p:cNvPr>
          <p:cNvSpPr>
            <a:spLocks xmlns:a="http://schemas.openxmlformats.org/drawingml/2006/main" noGrp="1"/>
          </p:cNvSpPr>
          <p:nvPr/>
        </p:nvSpPr>
        <p:spPr>
          <a:xfrm xmlns:a="http://schemas.openxmlformats.org/drawingml/2006/main">
            <a:off x="609600" y="1809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Python：給電腦指令的程式語言</a:t>
            </a:r>
          </a:p>
        </p:txBody>
      </p:sp>
      <p:sp>
        <p:nvSpPr>
          <p:cNvPr id="5" name="">
            <a:extLst xmlns:a="http://schemas.openxmlformats.org/drawingml/2006/main">
              <a:ext uri="{FF2B5EF4-FFF2-40B4-BE49-F238E27FC236}">
                <a16:creationId xmlns:a16="http://schemas.microsoft.com/office/drawing/2014/main" id="{20DDF2D7-DF26-4446-94A7-86AEE991C4B4}"/>
              </a:ext>
            </a:extLst>
          </p:cNvPr>
          <p:cNvSpPr>
            <a:spLocks xmlns:a="http://schemas.openxmlformats.org/drawingml/2006/main" noGrp="1"/>
          </p:cNvSpPr>
          <p:nvPr/>
        </p:nvSpPr>
        <p:spPr>
          <a:xfrm xmlns:a="http://schemas.openxmlformats.org/drawingml/2006/main">
            <a:off x="609600" y="22764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Python: the programming language for instructions</a:t>
            </a:r>
          </a:p>
        </p:txBody>
      </p:sp>
      <p:sp>
        <p:nvSpPr>
          <p:cNvPr id="6" name="">
            <a:extLst xmlns:a="http://schemas.openxmlformats.org/drawingml/2006/main">
              <a:ext uri="{FF2B5EF4-FFF2-40B4-BE49-F238E27FC236}">
                <a16:creationId xmlns:a16="http://schemas.microsoft.com/office/drawing/2014/main" id="{001F0F9A-C872-496E-8E62-A812C25695C6}"/>
              </a:ext>
            </a:extLst>
          </p:cNvPr>
          <p:cNvSpPr>
            <a:spLocks xmlns:a="http://schemas.openxmlformats.org/drawingml/2006/main" noGrp="1"/>
          </p:cNvSpPr>
          <p:nvPr/>
        </p:nvSpPr>
        <p:spPr>
          <a:xfrm xmlns:a="http://schemas.openxmlformats.org/drawingml/2006/main">
            <a:off x="609600" y="3190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Jupyter Notebook：把文字、程式和結果放在一起</a:t>
            </a:r>
          </a:p>
        </p:txBody>
      </p:sp>
      <p:sp>
        <p:nvSpPr>
          <p:cNvPr id="7" name="">
            <a:extLst xmlns:a="http://schemas.openxmlformats.org/drawingml/2006/main">
              <a:ext uri="{FF2B5EF4-FFF2-40B4-BE49-F238E27FC236}">
                <a16:creationId xmlns:a16="http://schemas.microsoft.com/office/drawing/2014/main" id="{952FF252-9E69-4428-9DB8-7B80B8E7563F}"/>
              </a:ext>
            </a:extLst>
          </p:cNvPr>
          <p:cNvSpPr>
            <a:spLocks xmlns:a="http://schemas.openxmlformats.org/drawingml/2006/main" noGrp="1"/>
          </p:cNvSpPr>
          <p:nvPr/>
        </p:nvSpPr>
        <p:spPr>
          <a:xfrm xmlns:a="http://schemas.openxmlformats.org/drawingml/2006/main">
            <a:off x="609600" y="36576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Jupyter Notebook: text, code and results together</a:t>
            </a:r>
          </a:p>
        </p:txBody>
      </p:sp>
      <p:sp>
        <p:nvSpPr>
          <p:cNvPr id="8" name="">
            <a:extLst xmlns:a="http://schemas.openxmlformats.org/drawingml/2006/main">
              <a:ext uri="{FF2B5EF4-FFF2-40B4-BE49-F238E27FC236}">
                <a16:creationId xmlns:a16="http://schemas.microsoft.com/office/drawing/2014/main" id="{64CAFD10-CD66-4830-ACDC-A00A0995BD3F}"/>
              </a:ext>
            </a:extLst>
          </p:cNvPr>
          <p:cNvSpPr>
            <a:spLocks xmlns:a="http://schemas.openxmlformats.org/drawingml/2006/main" noGrp="1"/>
          </p:cNvSpPr>
          <p:nvPr/>
        </p:nvSpPr>
        <p:spPr>
          <a:xfrm xmlns:a="http://schemas.openxmlformats.org/drawingml/2006/main">
            <a:off x="609600" y="45720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Colab：在瀏覽器使用 Notebook，程式在雲端執行</a:t>
            </a:r>
          </a:p>
        </p:txBody>
      </p:sp>
      <p:sp>
        <p:nvSpPr>
          <p:cNvPr id="9" name="">
            <a:extLst xmlns:a="http://schemas.openxmlformats.org/drawingml/2006/main">
              <a:ext uri="{FF2B5EF4-FFF2-40B4-BE49-F238E27FC236}">
                <a16:creationId xmlns:a16="http://schemas.microsoft.com/office/drawing/2014/main" id="{522C5492-43E0-4941-BB68-76544B16771B}"/>
              </a:ext>
            </a:extLst>
          </p:cNvPr>
          <p:cNvSpPr>
            <a:spLocks xmlns:a="http://schemas.openxmlformats.org/drawingml/2006/main" noGrp="1"/>
          </p:cNvSpPr>
          <p:nvPr/>
        </p:nvSpPr>
        <p:spPr>
          <a:xfrm xmlns:a="http://schemas.openxmlformats.org/drawingml/2006/main">
            <a:off x="609600" y="50387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Colab: use a notebook in a browser; code runs on a cloud computer</a:t>
            </a:r>
          </a:p>
        </p:txBody>
      </p:sp>
    </p:spTree>
    <p:extLst>
      <p:ext uri="{BB962C8B-B14F-4D97-AF65-F5344CB8AC3E}">
        <p14:creationId xmlns:p14="http://schemas.microsoft.com/office/powerpoint/2010/main" val="77048718"/>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5BA699-A21A-4639-991F-29D86D5D7B04}"/>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你的第一本「實驗簿」</a:t>
            </a:r>
          </a:p>
        </p:txBody>
      </p:sp>
      <p:sp>
        <p:nvSpPr>
          <p:cNvPr id="2" name="">
            <a:extLst xmlns:a="http://schemas.openxmlformats.org/drawingml/2006/main">
              <a:ext uri="{FF2B5EF4-FFF2-40B4-BE49-F238E27FC236}">
                <a16:creationId xmlns:a16="http://schemas.microsoft.com/office/drawing/2014/main" id="{B4F5ECCF-DE22-49BB-8363-04238E85D69F}"/>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Your first experiment notebook</a:t>
            </a:r>
          </a:p>
        </p:txBody>
      </p:sp>
      <p:sp>
        <p:nvSpPr>
          <p:cNvPr id="3" name="">
            <a:extLst xmlns:a="http://schemas.openxmlformats.org/drawingml/2006/main">
              <a:ext uri="{FF2B5EF4-FFF2-40B4-BE49-F238E27FC236}">
                <a16:creationId xmlns:a16="http://schemas.microsoft.com/office/drawing/2014/main" id="{00CB7B4B-A86B-4D0E-8DF5-240C0057A812}"/>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44D11384-4589-44D5-864F-A3093CD7C611}"/>
              </a:ext>
            </a:extLst>
          </p:cNvPr>
          <p:cNvSpPr>
            <a:spLocks xmlns:a="http://schemas.openxmlformats.org/drawingml/2006/main" noGrp="1"/>
          </p:cNvSpPr>
          <p:nvPr/>
        </p:nvSpPr>
        <p:spPr>
          <a:xfrm xmlns:a="http://schemas.openxmlformats.org/drawingml/2006/main">
            <a:off x="609600" y="17145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開啟老師的連結，儲存自己的副本</a:t>
            </a:r>
          </a:p>
        </p:txBody>
      </p:sp>
      <p:sp>
        <p:nvSpPr>
          <p:cNvPr id="5" name="">
            <a:extLst xmlns:a="http://schemas.openxmlformats.org/drawingml/2006/main">
              <a:ext uri="{FF2B5EF4-FFF2-40B4-BE49-F238E27FC236}">
                <a16:creationId xmlns:a16="http://schemas.microsoft.com/office/drawing/2014/main" id="{1D7E2269-99D9-4101-99FD-AC83DBBE8D9D}"/>
              </a:ext>
            </a:extLst>
          </p:cNvPr>
          <p:cNvSpPr>
            <a:spLocks xmlns:a="http://schemas.openxmlformats.org/drawingml/2006/main" noGrp="1"/>
          </p:cNvSpPr>
          <p:nvPr/>
        </p:nvSpPr>
        <p:spPr>
          <a:xfrm xmlns:a="http://schemas.openxmlformats.org/drawingml/2006/main">
            <a:off x="609600" y="21812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Open the teacher’s link and save your own copy</a:t>
            </a:r>
          </a:p>
        </p:txBody>
      </p:sp>
      <p:sp>
        <p:nvSpPr>
          <p:cNvPr id="6" name="">
            <a:extLst xmlns:a="http://schemas.openxmlformats.org/drawingml/2006/main">
              <a:ext uri="{FF2B5EF4-FFF2-40B4-BE49-F238E27FC236}">
                <a16:creationId xmlns:a16="http://schemas.microsoft.com/office/drawing/2014/main" id="{5459F528-3C8D-476B-9DEA-6FD261911C77}"/>
              </a:ext>
            </a:extLst>
          </p:cNvPr>
          <p:cNvSpPr>
            <a:spLocks xmlns:a="http://schemas.openxmlformats.org/drawingml/2006/main" noGrp="1"/>
          </p:cNvSpPr>
          <p:nvPr/>
        </p:nvSpPr>
        <p:spPr>
          <a:xfrm xmlns:a="http://schemas.openxmlformats.org/drawingml/2006/main">
            <a:off x="609600" y="30575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文字格是說明；程式格是可執行的指令</a:t>
            </a:r>
          </a:p>
        </p:txBody>
      </p:sp>
      <p:sp>
        <p:nvSpPr>
          <p:cNvPr id="7" name="">
            <a:extLst xmlns:a="http://schemas.openxmlformats.org/drawingml/2006/main">
              <a:ext uri="{FF2B5EF4-FFF2-40B4-BE49-F238E27FC236}">
                <a16:creationId xmlns:a16="http://schemas.microsoft.com/office/drawing/2014/main" id="{8AD74615-82DC-4B29-B32E-1ED4DA5887CB}"/>
              </a:ext>
            </a:extLst>
          </p:cNvPr>
          <p:cNvSpPr>
            <a:spLocks xmlns:a="http://schemas.openxmlformats.org/drawingml/2006/main" noGrp="1"/>
          </p:cNvSpPr>
          <p:nvPr/>
        </p:nvSpPr>
        <p:spPr>
          <a:xfrm xmlns:a="http://schemas.openxmlformats.org/drawingml/2006/main">
            <a:off x="609600" y="35242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Text cells explain; code cells contain instructions to run</a:t>
            </a:r>
          </a:p>
        </p:txBody>
      </p:sp>
      <p:sp>
        <p:nvSpPr>
          <p:cNvPr id="8" name="">
            <a:extLst xmlns:a="http://schemas.openxmlformats.org/drawingml/2006/main">
              <a:ext uri="{FF2B5EF4-FFF2-40B4-BE49-F238E27FC236}">
                <a16:creationId xmlns:a16="http://schemas.microsoft.com/office/drawing/2014/main" id="{4151C2AA-0153-46A8-AC6B-2123C9139957}"/>
              </a:ext>
            </a:extLst>
          </p:cNvPr>
          <p:cNvSpPr>
            <a:spLocks xmlns:a="http://schemas.openxmlformats.org/drawingml/2006/main" noGrp="1"/>
          </p:cNvSpPr>
          <p:nvPr/>
        </p:nvSpPr>
        <p:spPr>
          <a:xfrm xmlns:a="http://schemas.openxmlformats.org/drawingml/2006/main">
            <a:off x="609600" y="44005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按程式格左邊的 ▶，每次執行一格。結果顯示在下方</a:t>
            </a:r>
          </a:p>
        </p:txBody>
      </p:sp>
      <p:sp>
        <p:nvSpPr>
          <p:cNvPr id="9" name="">
            <a:extLst xmlns:a="http://schemas.openxmlformats.org/drawingml/2006/main">
              <a:ext uri="{FF2B5EF4-FFF2-40B4-BE49-F238E27FC236}">
                <a16:creationId xmlns:a16="http://schemas.microsoft.com/office/drawing/2014/main" id="{891F7909-D7AE-4E8A-BEDF-1AEEE5385A55}"/>
              </a:ext>
            </a:extLst>
          </p:cNvPr>
          <p:cNvSpPr>
            <a:spLocks xmlns:a="http://schemas.openxmlformats.org/drawingml/2006/main" noGrp="1"/>
          </p:cNvSpPr>
          <p:nvPr/>
        </p:nvSpPr>
        <p:spPr>
          <a:xfrm xmlns:a="http://schemas.openxmlformats.org/drawingml/2006/main">
            <a:off x="609600" y="4867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Click ▶ on the left of a code cell. Run one cell at a time</a:t>
            </a:r>
          </a:p>
        </p:txBody>
      </p:sp>
      <p:sp>
        <p:nvSpPr>
          <p:cNvPr id="10" name="">
            <a:extLst xmlns:a="http://schemas.openxmlformats.org/drawingml/2006/main">
              <a:ext uri="{FF2B5EF4-FFF2-40B4-BE49-F238E27FC236}">
                <a16:creationId xmlns:a16="http://schemas.microsoft.com/office/drawing/2014/main" id="{9A5D4704-454D-40BA-951B-4476A2D9E52B}"/>
              </a:ext>
            </a:extLst>
          </p:cNvPr>
          <p:cNvSpPr>
            <a:spLocks xmlns:a="http://schemas.openxmlformats.org/drawingml/2006/main" noGrp="1"/>
          </p:cNvSpPr>
          <p:nvPr/>
        </p:nvSpPr>
        <p:spPr>
          <a:xfrm xmlns:a="http://schemas.openxmlformats.org/drawingml/2006/main">
            <a:off x="609600" y="5791200"/>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86C61"/>
                </a:solidFill>
                <a:latin typeface="Heiti TC"/>
                <a:ea typeface="Heiti TC"/>
                <a:cs typeface="Heiti TC"/>
              </a:defRPr>
            </a:pPr>
            <a:r>
              <a:rPr sz="1800" b="0">
                <a:solidFill>
                  <a:srgbClr val="086C61"/>
                </a:solidFill>
                <a:latin typeface="Heiti TC"/>
                <a:ea typeface="Heiti TC"/>
                <a:cs typeface="Heiti TC"/>
              </a:rPr>
              <a:t>資源 / Resources: gordany.github.io/f2-linear-regression/workshop-2/</a:t>
            </a:r>
          </a:p>
        </p:txBody>
      </p:sp>
    </p:spTree>
    <p:extLst>
      <p:ext uri="{BB962C8B-B14F-4D97-AF65-F5344CB8AC3E}">
        <p14:creationId xmlns:p14="http://schemas.microsoft.com/office/powerpoint/2010/main" val="1398512731"/>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3E7D3C-46F6-43FE-A7EC-209ABDC005CC}"/>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數據也要排好隊</a:t>
            </a:r>
          </a:p>
        </p:txBody>
      </p:sp>
      <p:sp>
        <p:nvSpPr>
          <p:cNvPr id="2" name="">
            <a:extLst xmlns:a="http://schemas.openxmlformats.org/drawingml/2006/main">
              <a:ext uri="{FF2B5EF4-FFF2-40B4-BE49-F238E27FC236}">
                <a16:creationId xmlns:a16="http://schemas.microsoft.com/office/drawing/2014/main" id="{E46D5B82-B02F-4766-B338-65645260C0C0}"/>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The data needs matching pairs</a:t>
            </a:r>
          </a:p>
        </p:txBody>
      </p:sp>
      <p:sp>
        <p:nvSpPr>
          <p:cNvPr id="3" name="">
            <a:extLst xmlns:a="http://schemas.openxmlformats.org/drawingml/2006/main">
              <a:ext uri="{FF2B5EF4-FFF2-40B4-BE49-F238E27FC236}">
                <a16:creationId xmlns:a16="http://schemas.microsoft.com/office/drawing/2014/main" id="{05C50630-2CEE-4076-A4DD-612303BFDD5D}"/>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FFD2CBE9-FC28-426E-B2F8-898860B5D43C}"/>
              </a:ext>
            </a:extLst>
          </p:cNvPr>
          <p:cNvSpPr>
            <a:spLocks xmlns:a="http://schemas.openxmlformats.org/drawingml/2006/main" noGrp="1"/>
          </p:cNvSpPr>
          <p:nvPr/>
        </p:nvSpPr>
        <p:spPr>
          <a:xfrm xmlns:a="http://schemas.openxmlformats.org/drawingml/2006/main">
            <a:off x="609600" y="1762125"/>
            <a:ext cx="103441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086C61"/>
                </a:solidFill>
                <a:latin typeface="Courier New"/>
                <a:ea typeface="Courier New"/>
                <a:cs typeface="Courier New"/>
              </a:defRPr>
            </a:pPr>
            <a:r>
              <a:rPr sz="2400" b="0">
                <a:solidFill>
                  <a:srgbClr val="086C61"/>
                </a:solidFill>
                <a:latin typeface="Courier New"/>
                <a:ea typeface="Courier New"/>
                <a:cs typeface="Courier New"/>
              </a:rPr>
              <a:t>hours  = [0, 1, 2, 3, 4, 5, 6]</a:t>
            </a:r>
          </a:p>
          <a:p xmlns:a="http://schemas.openxmlformats.org/drawingml/2006/main">
            <a:pPr>
              <a:defRPr sz="2400" b="0">
                <a:solidFill>
                  <a:srgbClr val="086C61"/>
                </a:solidFill>
                <a:latin typeface="Courier New"/>
                <a:ea typeface="Courier New"/>
                <a:cs typeface="Courier New"/>
              </a:defRPr>
            </a:pPr>
            <a:r>
              <a:rPr sz="2400" b="0">
                <a:solidFill>
                  <a:srgbClr val="086C61"/>
                </a:solidFill>
                <a:latin typeface="Courier New"/>
                <a:ea typeface="Courier New"/>
                <a:cs typeface="Courier New"/>
              </a:rPr>
              <a:t>scores = [53, 46, 59, 52, 63, 54, 65]</a:t>
            </a:r>
          </a:p>
        </p:txBody>
      </p:sp>
      <p:sp>
        <p:nvSpPr>
          <p:cNvPr id="5" name="">
            <a:extLst xmlns:a="http://schemas.openxmlformats.org/drawingml/2006/main">
              <a:ext uri="{FF2B5EF4-FFF2-40B4-BE49-F238E27FC236}">
                <a16:creationId xmlns:a16="http://schemas.microsoft.com/office/drawing/2014/main" id="{8DA51167-4488-4280-A97C-0E0180C2A302}"/>
              </a:ext>
            </a:extLst>
          </p:cNvPr>
          <p:cNvSpPr>
            <a:spLocks xmlns:a="http://schemas.openxmlformats.org/drawingml/2006/main" noGrp="1"/>
          </p:cNvSpPr>
          <p:nvPr/>
        </p:nvSpPr>
        <p:spPr>
          <a:xfrm xmlns:a="http://schemas.openxmlformats.org/drawingml/2006/main">
            <a:off x="609600" y="35147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第 2 對：(1 小時, 46 分)。兩個列表要有相同數量</a:t>
            </a:r>
          </a:p>
        </p:txBody>
      </p:sp>
      <p:sp>
        <p:nvSpPr>
          <p:cNvPr id="6" name="">
            <a:extLst xmlns:a="http://schemas.openxmlformats.org/drawingml/2006/main">
              <a:ext uri="{FF2B5EF4-FFF2-40B4-BE49-F238E27FC236}">
                <a16:creationId xmlns:a16="http://schemas.microsoft.com/office/drawing/2014/main" id="{B55E5D4A-C1C4-4F2A-8BEE-30AC2A3D68EA}"/>
              </a:ext>
            </a:extLst>
          </p:cNvPr>
          <p:cNvSpPr>
            <a:spLocks xmlns:a="http://schemas.openxmlformats.org/drawingml/2006/main" noGrp="1"/>
          </p:cNvSpPr>
          <p:nvPr/>
        </p:nvSpPr>
        <p:spPr>
          <a:xfrm xmlns:a="http://schemas.openxmlformats.org/drawingml/2006/main">
            <a:off x="609600" y="39814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second pair is (1 hour, 46 marks). Both lists need equal lengths</a:t>
            </a:r>
          </a:p>
        </p:txBody>
      </p:sp>
      <p:sp>
        <p:nvSpPr>
          <p:cNvPr id="7" name="">
            <a:extLst xmlns:a="http://schemas.openxmlformats.org/drawingml/2006/main">
              <a:ext uri="{FF2B5EF4-FFF2-40B4-BE49-F238E27FC236}">
                <a16:creationId xmlns:a16="http://schemas.microsoft.com/office/drawing/2014/main" id="{BB8CA6FD-131B-4959-A06A-D63BE936A35A}"/>
              </a:ext>
            </a:extLst>
          </p:cNvPr>
          <p:cNvSpPr>
            <a:spLocks xmlns:a="http://schemas.openxmlformats.org/drawingml/2006/main" noGrp="1"/>
          </p:cNvSpPr>
          <p:nvPr/>
        </p:nvSpPr>
        <p:spPr>
          <a:xfrm xmlns:a="http://schemas.openxmlformats.org/drawingml/2006/main">
            <a:off x="609600" y="49339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先看散點，猜每天 3.5 小時會得多少分</a:t>
            </a:r>
          </a:p>
        </p:txBody>
      </p:sp>
      <p:sp>
        <p:nvSpPr>
          <p:cNvPr id="8" name="">
            <a:extLst xmlns:a="http://schemas.openxmlformats.org/drawingml/2006/main">
              <a:ext uri="{FF2B5EF4-FFF2-40B4-BE49-F238E27FC236}">
                <a16:creationId xmlns:a16="http://schemas.microsoft.com/office/drawing/2014/main" id="{4CF92596-AAEA-420D-B170-58DFDDEF2A70}"/>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Look at the dots first. Guess the score for 3.5 hours a day</a:t>
            </a:r>
          </a:p>
        </p:txBody>
      </p:sp>
    </p:spTree>
    <p:extLst>
      <p:ext uri="{BB962C8B-B14F-4D97-AF65-F5344CB8AC3E}">
        <p14:creationId xmlns:p14="http://schemas.microsoft.com/office/powerpoint/2010/main" val="1800504184"/>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762B36-BAFB-462F-A29E-E00379E0F341}"/>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先猜一猜，暫時不揭曉</a:t>
            </a:r>
          </a:p>
        </p:txBody>
      </p:sp>
      <p:sp>
        <p:nvSpPr>
          <p:cNvPr id="2" name="">
            <a:extLst xmlns:a="http://schemas.openxmlformats.org/drawingml/2006/main">
              <a:ext uri="{FF2B5EF4-FFF2-40B4-BE49-F238E27FC236}">
                <a16:creationId xmlns:a16="http://schemas.microsoft.com/office/drawing/2014/main" id="{5A32A8C5-E6FC-4973-A2C6-AB5DDF92B224}"/>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Make a guess before the reveal</a:t>
            </a:r>
          </a:p>
        </p:txBody>
      </p:sp>
      <p:sp>
        <p:nvSpPr>
          <p:cNvPr id="3" name="">
            <a:extLst xmlns:a="http://schemas.openxmlformats.org/drawingml/2006/main">
              <a:ext uri="{FF2B5EF4-FFF2-40B4-BE49-F238E27FC236}">
                <a16:creationId xmlns:a16="http://schemas.microsoft.com/office/drawing/2014/main" id="{F835B5A4-3849-49A6-9F8F-49E101DC6D2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7</a:t>
            </a:r>
          </a:p>
        </p:txBody>
      </p:sp>
      <p:graphicFrame>
        <p:nvGraphicFramePr>
          <p:cNvPr id="12" name="Chart"/>
          <p:cNvGraphicFramePr/>
          <p:nvPr/>
        </p:nvGraphicFramePr>
        <p:xfrm>
          <a:off xmlns:a="http://schemas.openxmlformats.org/drawingml/2006/main" x="609600" y="1714500"/>
          <a:ext xmlns:a="http://schemas.openxmlformats.org/drawingml/2006/main" cx="6953250" cy="4191000"/>
        </p:xfrm>
        <a:graphic xmlns:a="http://schemas.openxmlformats.org/drawingml/2006/main">
          <a:graphicData uri="http://schemas.openxmlformats.org/drawingml/2006/chart">
            <c:chart xmlns:r="http://schemas.openxmlformats.org/officeDocument/2006/relationships" xmlns:c="http://schemas.openxmlformats.org/drawingml/2006/chart" r:id="Ra86112d2856942a1"/>
          </a:graphicData>
        </a:graphic>
      </p:graphicFrame>
      <p:sp>
        <p:nvSpPr>
          <p:cNvPr id="5" name="">
            <a:extLst xmlns:a="http://schemas.openxmlformats.org/drawingml/2006/main">
              <a:ext uri="{FF2B5EF4-FFF2-40B4-BE49-F238E27FC236}">
                <a16:creationId xmlns:a16="http://schemas.microsoft.com/office/drawing/2014/main" id="{254B8271-7CD4-40FE-B87D-755135BFB372}"/>
              </a:ext>
            </a:extLst>
          </p:cNvPr>
          <p:cNvSpPr>
            <a:spLocks xmlns:a="http://schemas.openxmlformats.org/drawingml/2006/main" noGrp="1"/>
          </p:cNvSpPr>
          <p:nvPr/>
        </p:nvSpPr>
        <p:spPr>
          <a:xfrm xmlns:a="http://schemas.openxmlformats.org/drawingml/2006/main">
            <a:off x="8001000" y="2085975"/>
            <a:ext cx="3524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3.5 小時，大約幾分？</a:t>
            </a:r>
          </a:p>
        </p:txBody>
      </p:sp>
      <p:sp>
        <p:nvSpPr>
          <p:cNvPr id="6" name="">
            <a:extLst xmlns:a="http://schemas.openxmlformats.org/drawingml/2006/main">
              <a:ext uri="{FF2B5EF4-FFF2-40B4-BE49-F238E27FC236}">
                <a16:creationId xmlns:a16="http://schemas.microsoft.com/office/drawing/2014/main" id="{B1CC640B-9A78-4D67-9580-AFF3CB8A119B}"/>
              </a:ext>
            </a:extLst>
          </p:cNvPr>
          <p:cNvSpPr>
            <a:spLocks xmlns:a="http://schemas.openxmlformats.org/drawingml/2006/main" noGrp="1"/>
          </p:cNvSpPr>
          <p:nvPr/>
        </p:nvSpPr>
        <p:spPr>
          <a:xfrm xmlns:a="http://schemas.openxmlformats.org/drawingml/2006/main">
            <a:off x="8001000" y="2552700"/>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About what score at 3.5 hours?</a:t>
            </a:r>
          </a:p>
        </p:txBody>
      </p:sp>
      <p:sp>
        <p:nvSpPr>
          <p:cNvPr id="7" name="">
            <a:extLst xmlns:a="http://schemas.openxmlformats.org/drawingml/2006/main">
              <a:ext uri="{FF2B5EF4-FFF2-40B4-BE49-F238E27FC236}">
                <a16:creationId xmlns:a16="http://schemas.microsoft.com/office/drawing/2014/main" id="{A7E3FD5C-F7E0-4A24-B05D-F4669589E359}"/>
              </a:ext>
            </a:extLst>
          </p:cNvPr>
          <p:cNvSpPr>
            <a:spLocks xmlns:a="http://schemas.openxmlformats.org/drawingml/2006/main" noGrp="1"/>
          </p:cNvSpPr>
          <p:nvPr/>
        </p:nvSpPr>
        <p:spPr>
          <a:xfrm xmlns:a="http://schemas.openxmlformats.org/drawingml/2006/main">
            <a:off x="8001000" y="3810000"/>
            <a:ext cx="3524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先寫答案，再看模型</a:t>
            </a:r>
          </a:p>
        </p:txBody>
      </p:sp>
      <p:sp>
        <p:nvSpPr>
          <p:cNvPr id="8" name="">
            <a:extLst xmlns:a="http://schemas.openxmlformats.org/drawingml/2006/main">
              <a:ext uri="{FF2B5EF4-FFF2-40B4-BE49-F238E27FC236}">
                <a16:creationId xmlns:a16="http://schemas.microsoft.com/office/drawing/2014/main" id="{0DA20E27-0C81-42BA-BB5D-5FAA7983B518}"/>
              </a:ext>
            </a:extLst>
          </p:cNvPr>
          <p:cNvSpPr>
            <a:spLocks xmlns:a="http://schemas.openxmlformats.org/drawingml/2006/main" noGrp="1"/>
          </p:cNvSpPr>
          <p:nvPr/>
        </p:nvSpPr>
        <p:spPr>
          <a:xfrm xmlns:a="http://schemas.openxmlformats.org/drawingml/2006/main">
            <a:off x="8001000" y="4276725"/>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Write your guess before the model</a:t>
            </a:r>
          </a:p>
        </p:txBody>
      </p:sp>
    </p:spTree>
    <p:extLst>
      <p:ext uri="{BB962C8B-B14F-4D97-AF65-F5344CB8AC3E}">
        <p14:creationId xmlns:p14="http://schemas.microsoft.com/office/powerpoint/2010/main" val="1227967201"/>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BFF7EF-9CAC-4851-972D-B6189A90AC88}"/>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fit：讓工具從例子找直線</a:t>
            </a:r>
          </a:p>
        </p:txBody>
      </p:sp>
      <p:sp>
        <p:nvSpPr>
          <p:cNvPr id="2" name="">
            <a:extLst xmlns:a="http://schemas.openxmlformats.org/drawingml/2006/main">
              <a:ext uri="{FF2B5EF4-FFF2-40B4-BE49-F238E27FC236}">
                <a16:creationId xmlns:a16="http://schemas.microsoft.com/office/drawing/2014/main" id="{9A295109-42D0-4067-B4F1-3BC9C767F1DB}"/>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fit: let the tool learn a line from examples</a:t>
            </a:r>
          </a:p>
        </p:txBody>
      </p:sp>
      <p:sp>
        <p:nvSpPr>
          <p:cNvPr id="3" name="">
            <a:extLst xmlns:a="http://schemas.openxmlformats.org/drawingml/2006/main">
              <a:ext uri="{FF2B5EF4-FFF2-40B4-BE49-F238E27FC236}">
                <a16:creationId xmlns:a16="http://schemas.microsoft.com/office/drawing/2014/main" id="{98355867-FF96-4D9F-A61A-C07D2098F633}"/>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D071E3C9-DFA8-4BA4-9DF7-9C21983DCED6}"/>
              </a:ext>
            </a:extLst>
          </p:cNvPr>
          <p:cNvSpPr>
            <a:spLocks xmlns:a="http://schemas.openxmlformats.org/drawingml/2006/main" noGrp="1"/>
          </p:cNvSpPr>
          <p:nvPr/>
        </p:nvSpPr>
        <p:spPr>
          <a:xfrm xmlns:a="http://schemas.openxmlformats.org/drawingml/2006/main">
            <a:off x="609600" y="1733550"/>
            <a:ext cx="103441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086C61"/>
                </a:solidFill>
                <a:latin typeface="Courier New"/>
                <a:ea typeface="Courier New"/>
                <a:cs typeface="Courier New"/>
              </a:defRPr>
            </a:pPr>
            <a:r>
              <a:rPr sz="3000" b="0">
                <a:solidFill>
                  <a:srgbClr val="086C61"/>
                </a:solidFill>
                <a:latin typeface="Courier New"/>
                <a:ea typeface="Courier New"/>
                <a:cs typeface="Courier New"/>
              </a:rPr>
              <a:t>model = LinearRegression()</a:t>
            </a:r>
          </a:p>
          <a:p xmlns:a="http://schemas.openxmlformats.org/drawingml/2006/main">
            <a:pPr>
              <a:defRPr sz="3000" b="0">
                <a:solidFill>
                  <a:srgbClr val="086C61"/>
                </a:solidFill>
                <a:latin typeface="Courier New"/>
                <a:ea typeface="Courier New"/>
                <a:cs typeface="Courier New"/>
              </a:defRPr>
            </a:pPr>
            <a:r>
              <a:rPr sz="3000" b="0">
                <a:solidFill>
                  <a:srgbClr val="086C61"/>
                </a:solidFill>
                <a:latin typeface="Courier New"/>
                <a:ea typeface="Courier New"/>
                <a:cs typeface="Courier New"/>
              </a:rPr>
              <a:t>model.fit(X, y)</a:t>
            </a:r>
          </a:p>
        </p:txBody>
      </p:sp>
      <p:sp>
        <p:nvSpPr>
          <p:cNvPr id="5" name="">
            <a:extLst xmlns:a="http://schemas.openxmlformats.org/drawingml/2006/main">
              <a:ext uri="{FF2B5EF4-FFF2-40B4-BE49-F238E27FC236}">
                <a16:creationId xmlns:a16="http://schemas.microsoft.com/office/drawing/2014/main" id="{99B8E5F0-51FF-4162-85AB-45A55B4E98B3}"/>
              </a:ext>
            </a:extLst>
          </p:cNvPr>
          <p:cNvSpPr>
            <a:spLocks xmlns:a="http://schemas.openxmlformats.org/drawingml/2006/main" noGrp="1"/>
          </p:cNvSpPr>
          <p:nvPr/>
        </p:nvSpPr>
        <p:spPr>
          <a:xfrm xmlns:a="http://schemas.openxmlformats.org/drawingml/2006/main">
            <a:off x="609600" y="34004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C43"/>
                </a:solidFill>
                <a:latin typeface="Heiti TC"/>
                <a:ea typeface="Heiti TC"/>
                <a:cs typeface="Heiti TC"/>
              </a:defRPr>
            </a:pPr>
            <a:r>
              <a:rPr sz="2325" b="0">
                <a:solidFill>
                  <a:srgbClr val="173C43"/>
                </a:solidFill>
                <a:latin typeface="Heiti TC"/>
                <a:ea typeface="Heiti TC"/>
                <a:cs typeface="Heiti TC"/>
              </a:rPr>
              <a:t>X 是溫習時間資料，y 是相應成績</a:t>
            </a:r>
          </a:p>
        </p:txBody>
      </p:sp>
      <p:sp>
        <p:nvSpPr>
          <p:cNvPr id="6" name="">
            <a:extLst xmlns:a="http://schemas.openxmlformats.org/drawingml/2006/main">
              <a:ext uri="{FF2B5EF4-FFF2-40B4-BE49-F238E27FC236}">
                <a16:creationId xmlns:a16="http://schemas.microsoft.com/office/drawing/2014/main" id="{E4BC3695-36E0-4CFA-BA80-E5A3CE14870C}"/>
              </a:ext>
            </a:extLst>
          </p:cNvPr>
          <p:cNvSpPr>
            <a:spLocks xmlns:a="http://schemas.openxmlformats.org/drawingml/2006/main" noGrp="1"/>
          </p:cNvSpPr>
          <p:nvPr/>
        </p:nvSpPr>
        <p:spPr>
          <a:xfrm xmlns:a="http://schemas.openxmlformats.org/drawingml/2006/main">
            <a:off x="609600" y="3867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X holds the study hours; y holds the matching scores</a:t>
            </a:r>
          </a:p>
        </p:txBody>
      </p:sp>
      <p:sp>
        <p:nvSpPr>
          <p:cNvPr id="7" name="">
            <a:extLst xmlns:a="http://schemas.openxmlformats.org/drawingml/2006/main">
              <a:ext uri="{FF2B5EF4-FFF2-40B4-BE49-F238E27FC236}">
                <a16:creationId xmlns:a16="http://schemas.microsoft.com/office/drawing/2014/main" id="{8DCC6F62-3896-455C-B741-4FC523E40BA4}"/>
              </a:ext>
            </a:extLst>
          </p:cNvPr>
          <p:cNvSpPr>
            <a:spLocks xmlns:a="http://schemas.openxmlformats.org/drawingml/2006/main" noGrp="1"/>
          </p:cNvSpPr>
          <p:nvPr/>
        </p:nvSpPr>
        <p:spPr>
          <a:xfrm xmlns:a="http://schemas.openxmlformats.org/drawingml/2006/main">
            <a:off x="609600" y="47434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C43"/>
                </a:solidFill>
                <a:latin typeface="Heiti TC"/>
                <a:ea typeface="Heiti TC"/>
                <a:cs typeface="Heiti TC"/>
              </a:defRPr>
            </a:pPr>
            <a:r>
              <a:rPr sz="2325" b="0">
                <a:solidFill>
                  <a:srgbClr val="173C43"/>
                </a:solidFill>
                <a:latin typeface="Heiti TC"/>
                <a:ea typeface="Heiti TC"/>
                <a:cs typeface="Heiti TC"/>
              </a:rPr>
              <a:t>直線概括整體趨勢，不必穿過每一點</a:t>
            </a:r>
          </a:p>
        </p:txBody>
      </p:sp>
      <p:sp>
        <p:nvSpPr>
          <p:cNvPr id="8" name="">
            <a:extLst xmlns:a="http://schemas.openxmlformats.org/drawingml/2006/main">
              <a:ext uri="{FF2B5EF4-FFF2-40B4-BE49-F238E27FC236}">
                <a16:creationId xmlns:a16="http://schemas.microsoft.com/office/drawing/2014/main" id="{10257E78-B3B8-4102-AC48-E665CDBFAB16}"/>
              </a:ext>
            </a:extLst>
          </p:cNvPr>
          <p:cNvSpPr>
            <a:spLocks xmlns:a="http://schemas.openxmlformats.org/drawingml/2006/main" noGrp="1"/>
          </p:cNvSpPr>
          <p:nvPr/>
        </p:nvSpPr>
        <p:spPr>
          <a:xfrm xmlns:a="http://schemas.openxmlformats.org/drawingml/2006/main">
            <a:off x="609600" y="52101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line summarises the trend; it need not pass through every dot</a:t>
            </a:r>
          </a:p>
        </p:txBody>
      </p:sp>
    </p:spTree>
    <p:extLst>
      <p:ext uri="{BB962C8B-B14F-4D97-AF65-F5344CB8AC3E}">
        <p14:creationId xmlns:p14="http://schemas.microsoft.com/office/powerpoint/2010/main" val="1039075646"/>
      </p:ext>
    </p:extLst>
  </p:cSld>
</p:sld>
</file>

<file path=ppt/slides/slide9.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701D4E-AED3-4A67-94E8-440AE1599FAE}"/>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predict：請模型猜一個新情況</a:t>
            </a:r>
          </a:p>
        </p:txBody>
      </p:sp>
      <p:sp>
        <p:nvSpPr>
          <p:cNvPr id="2" name="">
            <a:extLst xmlns:a="http://schemas.openxmlformats.org/drawingml/2006/main">
              <a:ext uri="{FF2B5EF4-FFF2-40B4-BE49-F238E27FC236}">
                <a16:creationId xmlns:a16="http://schemas.microsoft.com/office/drawing/2014/main" id="{75D3D782-EE0F-43FC-BDB4-11DA1E6D7F26}"/>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predict: ask the model about a new case</a:t>
            </a:r>
          </a:p>
        </p:txBody>
      </p:sp>
      <p:sp>
        <p:nvSpPr>
          <p:cNvPr id="3" name="">
            <a:extLst xmlns:a="http://schemas.openxmlformats.org/drawingml/2006/main">
              <a:ext uri="{FF2B5EF4-FFF2-40B4-BE49-F238E27FC236}">
                <a16:creationId xmlns:a16="http://schemas.microsoft.com/office/drawing/2014/main" id="{74D22455-BD61-4FDC-A15C-5458FF189CDE}"/>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09454130-A2ED-40C8-BADF-477771F61BB6}"/>
              </a:ext>
            </a:extLst>
          </p:cNvPr>
          <p:cNvSpPr>
            <a:spLocks xmlns:a="http://schemas.openxmlformats.org/drawingml/2006/main" noGrp="1"/>
          </p:cNvSpPr>
          <p:nvPr/>
        </p:nvSpPr>
        <p:spPr>
          <a:xfrm xmlns:a="http://schemas.openxmlformats.org/drawingml/2006/main">
            <a:off x="609600" y="1809750"/>
            <a:ext cx="103441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086C61"/>
                </a:solidFill>
                <a:latin typeface="Courier New"/>
                <a:ea typeface="Courier New"/>
                <a:cs typeface="Courier New"/>
              </a:defRPr>
            </a:pPr>
            <a:r>
              <a:rPr sz="2925" b="0">
                <a:solidFill>
                  <a:srgbClr val="086C61"/>
                </a:solidFill>
                <a:latin typeface="Courier New"/>
                <a:ea typeface="Courier New"/>
                <a:cs typeface="Courier New"/>
              </a:rPr>
              <a:t>study_hours = 3.5</a:t>
            </a:r>
          </a:p>
          <a:p xmlns:a="http://schemas.openxmlformats.org/drawingml/2006/main">
            <a:pPr>
              <a:defRPr sz="2925" b="0">
                <a:solidFill>
                  <a:srgbClr val="086C61"/>
                </a:solidFill>
                <a:latin typeface="Courier New"/>
                <a:ea typeface="Courier New"/>
                <a:cs typeface="Courier New"/>
              </a:defRPr>
            </a:pPr>
            <a:r>
              <a:rPr sz="2925" b="0">
                <a:solidFill>
                  <a:srgbClr val="086C61"/>
                </a:solidFill>
                <a:latin typeface="Courier New"/>
                <a:ea typeface="Courier New"/>
                <a:cs typeface="Courier New"/>
              </a:rPr>
              <a:t>model.predict([[study_hours]])</a:t>
            </a:r>
          </a:p>
        </p:txBody>
      </p:sp>
      <p:sp>
        <p:nvSpPr>
          <p:cNvPr id="5" name="">
            <a:extLst xmlns:a="http://schemas.openxmlformats.org/drawingml/2006/main">
              <a:ext uri="{FF2B5EF4-FFF2-40B4-BE49-F238E27FC236}">
                <a16:creationId xmlns:a16="http://schemas.microsoft.com/office/drawing/2014/main" id="{4CC9D1B8-D62E-442F-A15E-743E595DD8F9}"/>
              </a:ext>
            </a:extLst>
          </p:cNvPr>
          <p:cNvSpPr>
            <a:spLocks xmlns:a="http://schemas.openxmlformats.org/drawingml/2006/main" noGrp="1"/>
          </p:cNvSpPr>
          <p:nvPr/>
        </p:nvSpPr>
        <p:spPr>
          <a:xfrm xmlns:a="http://schemas.openxmlformats.org/drawingml/2006/main">
            <a:off x="609600" y="35623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只改 study_hours：試 3.5，再試 10</a:t>
            </a:r>
          </a:p>
        </p:txBody>
      </p:sp>
      <p:sp>
        <p:nvSpPr>
          <p:cNvPr id="6" name="">
            <a:extLst xmlns:a="http://schemas.openxmlformats.org/drawingml/2006/main">
              <a:ext uri="{FF2B5EF4-FFF2-40B4-BE49-F238E27FC236}">
                <a16:creationId xmlns:a16="http://schemas.microsoft.com/office/drawing/2014/main" id="{06867057-3A7E-41B2-8B6D-C3599792876D}"/>
              </a:ext>
            </a:extLst>
          </p:cNvPr>
          <p:cNvSpPr>
            <a:spLocks xmlns:a="http://schemas.openxmlformats.org/drawingml/2006/main" noGrp="1"/>
          </p:cNvSpPr>
          <p:nvPr/>
        </p:nvSpPr>
        <p:spPr>
          <a:xfrm xmlns:a="http://schemas.openxmlformats.org/drawingml/2006/main">
            <a:off x="609600" y="40290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Change only study_hours: try 3.5, then 10</a:t>
            </a:r>
          </a:p>
        </p:txBody>
      </p:sp>
      <p:sp>
        <p:nvSpPr>
          <p:cNvPr id="7" name="">
            <a:extLst xmlns:a="http://schemas.openxmlformats.org/drawingml/2006/main">
              <a:ext uri="{FF2B5EF4-FFF2-40B4-BE49-F238E27FC236}">
                <a16:creationId xmlns:a16="http://schemas.microsoft.com/office/drawing/2014/main" id="{45B7C552-6E38-46DD-8BF5-75562C1E19E4}"/>
              </a:ext>
            </a:extLst>
          </p:cNvPr>
          <p:cNvSpPr>
            <a:spLocks xmlns:a="http://schemas.openxmlformats.org/drawingml/2006/main" noGrp="1"/>
          </p:cNvSpPr>
          <p:nvPr/>
        </p:nvSpPr>
        <p:spPr>
          <a:xfrm xmlns:a="http://schemas.openxmlformats.org/drawingml/2006/main">
            <a:off x="609600" y="49053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預測是估計。10 小時超出原來 0–6 小時的觀察範圍</a:t>
            </a:r>
          </a:p>
        </p:txBody>
      </p:sp>
      <p:sp>
        <p:nvSpPr>
          <p:cNvPr id="8" name="">
            <a:extLst xmlns:a="http://schemas.openxmlformats.org/drawingml/2006/main">
              <a:ext uri="{FF2B5EF4-FFF2-40B4-BE49-F238E27FC236}">
                <a16:creationId xmlns:a16="http://schemas.microsoft.com/office/drawing/2014/main" id="{AE1C27BB-50FF-46E7-9423-442819C02C6D}"/>
              </a:ext>
            </a:extLst>
          </p:cNvPr>
          <p:cNvSpPr>
            <a:spLocks xmlns:a="http://schemas.openxmlformats.org/drawingml/2006/main" noGrp="1"/>
          </p:cNvSpPr>
          <p:nvPr/>
        </p:nvSpPr>
        <p:spPr>
          <a:xfrm xmlns:a="http://schemas.openxmlformats.org/drawingml/2006/main">
            <a:off x="609600" y="53721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prediction is an estimate. 10 hours is outside the observed 0–6 range</a:t>
            </a:r>
          </a:p>
        </p:txBody>
      </p:sp>
    </p:spTree>
    <p:extLst>
      <p:ext uri="{BB962C8B-B14F-4D97-AF65-F5344CB8AC3E}">
        <p14:creationId xmlns:p14="http://schemas.microsoft.com/office/powerpoint/2010/main" val="860516238"/>
      </p:ext>
    </p:extLst>
  </p:cSld>
</p:sld>
</file>

<file path=ppt/slides/slide10.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7B5B715-C402-4A62-A4E7-B51EA6AAA817}"/>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加入一個新數據點</a:t>
            </a:r>
          </a:p>
        </p:txBody>
      </p:sp>
      <p:sp>
        <p:nvSpPr>
          <p:cNvPr id="2" name="">
            <a:extLst xmlns:a="http://schemas.openxmlformats.org/drawingml/2006/main">
              <a:ext uri="{FF2B5EF4-FFF2-40B4-BE49-F238E27FC236}">
                <a16:creationId xmlns:a16="http://schemas.microsoft.com/office/drawing/2014/main" id="{8F6E4AC5-50EE-428B-B2D4-81FEEFE8E7A5}"/>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Add a new data point</a:t>
            </a:r>
          </a:p>
        </p:txBody>
      </p:sp>
      <p:sp>
        <p:nvSpPr>
          <p:cNvPr id="3" name="">
            <a:extLst xmlns:a="http://schemas.openxmlformats.org/drawingml/2006/main">
              <a:ext uri="{FF2B5EF4-FFF2-40B4-BE49-F238E27FC236}">
                <a16:creationId xmlns:a16="http://schemas.microsoft.com/office/drawing/2014/main" id="{30BB6F86-747F-4E76-A6AC-129B02EB381F}"/>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10</a:t>
            </a:r>
          </a:p>
        </p:txBody>
      </p:sp>
      <p:graphicFrame>
        <p:nvGraphicFramePr>
          <p:cNvPr id="13" name="Chart"/>
          <p:cNvGraphicFramePr/>
          <p:nvPr/>
        </p:nvGraphicFramePr>
        <p:xfrm>
          <a:off xmlns:a="http://schemas.openxmlformats.org/drawingml/2006/main" x="609600" y="1666875"/>
          <a:ext xmlns:a="http://schemas.openxmlformats.org/drawingml/2006/main" cx="7239000" cy="4286250"/>
        </p:xfrm>
        <a:graphic xmlns:a="http://schemas.openxmlformats.org/drawingml/2006/main">
          <a:graphicData uri="http://schemas.openxmlformats.org/drawingml/2006/chart">
            <c:chart xmlns:r="http://schemas.openxmlformats.org/officeDocument/2006/relationships" xmlns:c="http://schemas.openxmlformats.org/drawingml/2006/chart" r:id="R8ed73304277c4f3c"/>
          </a:graphicData>
        </a:graphic>
      </p:graphicFrame>
      <p:sp>
        <p:nvSpPr>
          <p:cNvPr id="5" name="">
            <a:extLst xmlns:a="http://schemas.openxmlformats.org/drawingml/2006/main">
              <a:ext uri="{FF2B5EF4-FFF2-40B4-BE49-F238E27FC236}">
                <a16:creationId xmlns:a16="http://schemas.microsoft.com/office/drawing/2014/main" id="{15799048-06A1-4824-93FA-7A03DF892F31}"/>
              </a:ext>
            </a:extLst>
          </p:cNvPr>
          <p:cNvSpPr>
            <a:spLocks xmlns:a="http://schemas.openxmlformats.org/drawingml/2006/main" noGrp="1"/>
          </p:cNvSpPr>
          <p:nvPr/>
        </p:nvSpPr>
        <p:spPr>
          <a:xfrm xmlns:a="http://schemas.openxmlformats.org/drawingml/2006/main">
            <a:off x="8210550" y="1809750"/>
            <a:ext cx="27432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086C61"/>
                </a:solidFill>
                <a:latin typeface="Courier New"/>
                <a:ea typeface="Courier New"/>
                <a:cs typeface="Courier New"/>
              </a:defRPr>
            </a:pPr>
            <a:r>
              <a:rPr sz="1875" b="0">
                <a:solidFill>
                  <a:srgbClr val="086C61"/>
                </a:solidFill>
                <a:latin typeface="Courier New"/>
                <a:ea typeface="Courier New"/>
                <a:cs typeface="Courier New"/>
              </a:rPr>
              <a:t>new_point=[4,95]</a:t>
            </a:r>
          </a:p>
        </p:txBody>
      </p:sp>
      <p:sp>
        <p:nvSpPr>
          <p:cNvPr id="6" name="">
            <a:extLst xmlns:a="http://schemas.openxmlformats.org/drawingml/2006/main">
              <a:ext uri="{FF2B5EF4-FFF2-40B4-BE49-F238E27FC236}">
                <a16:creationId xmlns:a16="http://schemas.microsoft.com/office/drawing/2014/main" id="{2AFE3545-983A-4D8F-897F-EA30D7582928}"/>
              </a:ext>
            </a:extLst>
          </p:cNvPr>
          <p:cNvSpPr>
            <a:spLocks xmlns:a="http://schemas.openxmlformats.org/drawingml/2006/main" noGrp="1"/>
          </p:cNvSpPr>
          <p:nvPr/>
        </p:nvSpPr>
        <p:spPr>
          <a:xfrm xmlns:a="http://schemas.openxmlformats.org/drawingml/2006/main">
            <a:off x="8210550" y="31813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先猜，再執行</a:t>
            </a:r>
          </a:p>
        </p:txBody>
      </p:sp>
      <p:sp>
        <p:nvSpPr>
          <p:cNvPr id="7" name="">
            <a:extLst xmlns:a="http://schemas.openxmlformats.org/drawingml/2006/main">
              <a:ext uri="{FF2B5EF4-FFF2-40B4-BE49-F238E27FC236}">
                <a16:creationId xmlns:a16="http://schemas.microsoft.com/office/drawing/2014/main" id="{35CA328C-C135-4AAD-A85A-9C8FF78CE576}"/>
              </a:ext>
            </a:extLst>
          </p:cNvPr>
          <p:cNvSpPr>
            <a:spLocks xmlns:a="http://schemas.openxmlformats.org/drawingml/2006/main" noGrp="1"/>
          </p:cNvSpPr>
          <p:nvPr/>
        </p:nvSpPr>
        <p:spPr>
          <a:xfrm xmlns:a="http://schemas.openxmlformats.org/drawingml/2006/main">
            <a:off x="8210550" y="364807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Predict, then run</a:t>
            </a:r>
          </a:p>
        </p:txBody>
      </p:sp>
      <p:sp>
        <p:nvSpPr>
          <p:cNvPr id="8" name="">
            <a:extLst xmlns:a="http://schemas.openxmlformats.org/drawingml/2006/main">
              <a:ext uri="{FF2B5EF4-FFF2-40B4-BE49-F238E27FC236}">
                <a16:creationId xmlns:a16="http://schemas.microsoft.com/office/drawing/2014/main" id="{60E524E8-B5A9-4B28-BE7E-6ABFD25B67CA}"/>
              </a:ext>
            </a:extLst>
          </p:cNvPr>
          <p:cNvSpPr>
            <a:spLocks xmlns:a="http://schemas.openxmlformats.org/drawingml/2006/main" noGrp="1"/>
          </p:cNvSpPr>
          <p:nvPr/>
        </p:nvSpPr>
        <p:spPr>
          <a:xfrm xmlns:a="http://schemas.openxmlformats.org/drawingml/2006/main">
            <a:off x="8210550" y="445770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直線會怎樣變？</a:t>
            </a:r>
          </a:p>
        </p:txBody>
      </p:sp>
      <p:sp>
        <p:nvSpPr>
          <p:cNvPr id="9" name="">
            <a:extLst xmlns:a="http://schemas.openxmlformats.org/drawingml/2006/main">
              <a:ext uri="{FF2B5EF4-FFF2-40B4-BE49-F238E27FC236}">
                <a16:creationId xmlns:a16="http://schemas.microsoft.com/office/drawing/2014/main" id="{98D7EFC0-643A-4968-8933-22AE8A947FBB}"/>
              </a:ext>
            </a:extLst>
          </p:cNvPr>
          <p:cNvSpPr>
            <a:spLocks xmlns:a="http://schemas.openxmlformats.org/drawingml/2006/main" noGrp="1"/>
          </p:cNvSpPr>
          <p:nvPr/>
        </p:nvSpPr>
        <p:spPr>
          <a:xfrm xmlns:a="http://schemas.openxmlformats.org/drawingml/2006/main">
            <a:off x="8210550" y="492442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might the line change?</a:t>
            </a:r>
          </a:p>
        </p:txBody>
      </p:sp>
    </p:spTree>
    <p:extLst>
      <p:ext uri="{BB962C8B-B14F-4D97-AF65-F5344CB8AC3E}">
        <p14:creationId xmlns:p14="http://schemas.microsoft.com/office/powerpoint/2010/main" val="301690942"/>
      </p:ext>
    </p:extLst>
  </p:cSld>
</p:sld>
</file>

<file path=ppt/slides/slide1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902F4C6-3944-47E1-A994-A839E7800B67}"/>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揭曉：原來和加點後的直線</a:t>
            </a:r>
          </a:p>
        </p:txBody>
      </p:sp>
      <p:sp>
        <p:nvSpPr>
          <p:cNvPr id="2" name="">
            <a:extLst xmlns:a="http://schemas.openxmlformats.org/drawingml/2006/main">
              <a:ext uri="{FF2B5EF4-FFF2-40B4-BE49-F238E27FC236}">
                <a16:creationId xmlns:a16="http://schemas.microsoft.com/office/drawing/2014/main" id="{C3B554A7-4CA8-4B98-A922-EB55E5B51715}"/>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Reveal: compare the two lines</a:t>
            </a:r>
          </a:p>
        </p:txBody>
      </p:sp>
      <p:sp>
        <p:nvSpPr>
          <p:cNvPr id="3" name="">
            <a:extLst xmlns:a="http://schemas.openxmlformats.org/drawingml/2006/main">
              <a:ext uri="{FF2B5EF4-FFF2-40B4-BE49-F238E27FC236}">
                <a16:creationId xmlns:a16="http://schemas.microsoft.com/office/drawing/2014/main" id="{3AD58F1E-F0B2-4D86-B3C8-0349ED74767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11</a:t>
            </a:r>
          </a:p>
        </p:txBody>
      </p:sp>
      <p:graphicFrame>
        <p:nvGraphicFramePr>
          <p:cNvPr id="15" name="Chart"/>
          <p:cNvGraphicFramePr/>
          <p:nvPr/>
        </p:nvGraphicFramePr>
        <p:xfrm>
          <a:off xmlns:a="http://schemas.openxmlformats.org/drawingml/2006/main" x="609600" y="1666875"/>
          <a:ext xmlns:a="http://schemas.openxmlformats.org/drawingml/2006/main" cx="7239000" cy="4286250"/>
        </p:xfrm>
        <a:graphic xmlns:a="http://schemas.openxmlformats.org/drawingml/2006/main">
          <a:graphicData uri="http://schemas.openxmlformats.org/drawingml/2006/chart">
            <c:chart xmlns:r="http://schemas.openxmlformats.org/officeDocument/2006/relationships" xmlns:c="http://schemas.openxmlformats.org/drawingml/2006/chart" r:id="R835d0d0a984a4c85"/>
          </a:graphicData>
        </a:graphic>
      </p:graphicFrame>
      <p:sp>
        <p:nvSpPr>
          <p:cNvPr id="5" name="">
            <a:extLst xmlns:a="http://schemas.openxmlformats.org/drawingml/2006/main">
              <a:ext uri="{FF2B5EF4-FFF2-40B4-BE49-F238E27FC236}">
                <a16:creationId xmlns:a16="http://schemas.microsoft.com/office/drawing/2014/main" id="{5FCCE02A-41FF-48F6-894F-7A308AB8653D}"/>
              </a:ext>
            </a:extLst>
          </p:cNvPr>
          <p:cNvSpPr>
            <a:spLocks xmlns:a="http://schemas.openxmlformats.org/drawingml/2006/main" noGrp="1"/>
          </p:cNvSpPr>
          <p:nvPr/>
        </p:nvSpPr>
        <p:spPr>
          <a:xfrm xmlns:a="http://schemas.openxmlformats.org/drawingml/2006/main">
            <a:off x="8210550" y="1809750"/>
            <a:ext cx="27432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086C61"/>
                </a:solidFill>
                <a:latin typeface="Courier New"/>
                <a:ea typeface="Courier New"/>
                <a:cs typeface="Courier New"/>
              </a:defRPr>
            </a:pPr>
            <a:r>
              <a:rPr sz="1875" b="0">
                <a:solidFill>
                  <a:srgbClr val="086C61"/>
                </a:solidFill>
                <a:latin typeface="Courier New"/>
                <a:ea typeface="Courier New"/>
                <a:cs typeface="Courier New"/>
              </a:rPr>
              <a:t>new_point=[4,95]</a:t>
            </a:r>
          </a:p>
        </p:txBody>
      </p:sp>
      <p:sp>
        <p:nvSpPr>
          <p:cNvPr id="6" name="">
            <a:extLst xmlns:a="http://schemas.openxmlformats.org/drawingml/2006/main">
              <a:ext uri="{FF2B5EF4-FFF2-40B4-BE49-F238E27FC236}">
                <a16:creationId xmlns:a16="http://schemas.microsoft.com/office/drawing/2014/main" id="{C554AFD4-3F51-49F6-940A-AEBCC06876C0}"/>
              </a:ext>
            </a:extLst>
          </p:cNvPr>
          <p:cNvSpPr>
            <a:spLocks xmlns:a="http://schemas.openxmlformats.org/drawingml/2006/main" noGrp="1"/>
          </p:cNvSpPr>
          <p:nvPr/>
        </p:nvSpPr>
        <p:spPr>
          <a:xfrm xmlns:a="http://schemas.openxmlformats.org/drawingml/2006/main">
            <a:off x="8210550" y="2657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70"/>
                </a:solidFill>
                <a:latin typeface="Heiti TC"/>
                <a:ea typeface="Heiti TC"/>
                <a:cs typeface="Heiti TC"/>
              </a:defRPr>
            </a:pPr>
            <a:r>
              <a:rPr sz="1575" b="0">
                <a:solidFill>
                  <a:srgbClr val="526B70"/>
                </a:solidFill>
                <a:latin typeface="Heiti TC"/>
                <a:ea typeface="Heiti TC"/>
                <a:cs typeface="Heiti TC"/>
              </a:rPr>
              <a:t>3.5 小時的預測 / At 3.5 hours</a:t>
            </a:r>
          </a:p>
        </p:txBody>
      </p:sp>
      <p:sp>
        <p:nvSpPr>
          <p:cNvPr id="7" name="">
            <a:extLst xmlns:a="http://schemas.openxmlformats.org/drawingml/2006/main">
              <a:ext uri="{FF2B5EF4-FFF2-40B4-BE49-F238E27FC236}">
                <a16:creationId xmlns:a16="http://schemas.microsoft.com/office/drawing/2014/main" id="{6CE28E4C-33EB-4075-BF04-8BA5D5183EFF}"/>
              </a:ext>
            </a:extLst>
          </p:cNvPr>
          <p:cNvSpPr>
            <a:spLocks xmlns:a="http://schemas.openxmlformats.org/drawingml/2006/main" noGrp="1"/>
          </p:cNvSpPr>
          <p:nvPr/>
        </p:nvSpPr>
        <p:spPr>
          <a:xfrm xmlns:a="http://schemas.openxmlformats.org/drawingml/2006/main">
            <a:off x="8210550" y="31813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原來約 57 分</a:t>
            </a:r>
          </a:p>
        </p:txBody>
      </p:sp>
      <p:sp>
        <p:nvSpPr>
          <p:cNvPr id="8" name="">
            <a:extLst xmlns:a="http://schemas.openxmlformats.org/drawingml/2006/main">
              <a:ext uri="{FF2B5EF4-FFF2-40B4-BE49-F238E27FC236}">
                <a16:creationId xmlns:a16="http://schemas.microsoft.com/office/drawing/2014/main" id="{B1618EFF-B625-4E9C-B108-F344D2E01363}"/>
              </a:ext>
            </a:extLst>
          </p:cNvPr>
          <p:cNvSpPr>
            <a:spLocks xmlns:a="http://schemas.openxmlformats.org/drawingml/2006/main" noGrp="1"/>
          </p:cNvSpPr>
          <p:nvPr/>
        </p:nvSpPr>
        <p:spPr>
          <a:xfrm xmlns:a="http://schemas.openxmlformats.org/drawingml/2006/main">
            <a:off x="8210550" y="364807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Before: about 57 marks</a:t>
            </a:r>
          </a:p>
        </p:txBody>
      </p:sp>
      <p:sp>
        <p:nvSpPr>
          <p:cNvPr id="9" name="">
            <a:extLst xmlns:a="http://schemas.openxmlformats.org/drawingml/2006/main">
              <a:ext uri="{FF2B5EF4-FFF2-40B4-BE49-F238E27FC236}">
                <a16:creationId xmlns:a16="http://schemas.microsoft.com/office/drawing/2014/main" id="{6166B76E-4477-4818-9154-AB3D976888C2}"/>
              </a:ext>
            </a:extLst>
          </p:cNvPr>
          <p:cNvSpPr>
            <a:spLocks xmlns:a="http://schemas.openxmlformats.org/drawingml/2006/main" noGrp="1"/>
          </p:cNvSpPr>
          <p:nvPr/>
        </p:nvSpPr>
        <p:spPr>
          <a:xfrm xmlns:a="http://schemas.openxmlformats.org/drawingml/2006/main">
            <a:off x="8210550" y="445770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加點後約 62 分</a:t>
            </a:r>
          </a:p>
        </p:txBody>
      </p:sp>
      <p:sp>
        <p:nvSpPr>
          <p:cNvPr id="10" name="">
            <a:extLst xmlns:a="http://schemas.openxmlformats.org/drawingml/2006/main">
              <a:ext uri="{FF2B5EF4-FFF2-40B4-BE49-F238E27FC236}">
                <a16:creationId xmlns:a16="http://schemas.microsoft.com/office/drawing/2014/main" id="{B5636275-27A7-45AD-B95F-776DD8D275AC}"/>
              </a:ext>
            </a:extLst>
          </p:cNvPr>
          <p:cNvSpPr>
            <a:spLocks xmlns:a="http://schemas.openxmlformats.org/drawingml/2006/main" noGrp="1"/>
          </p:cNvSpPr>
          <p:nvPr/>
        </p:nvSpPr>
        <p:spPr>
          <a:xfrm xmlns:a="http://schemas.openxmlformats.org/drawingml/2006/main">
            <a:off x="8210550" y="492442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After: about 62 marks</a:t>
            </a:r>
          </a:p>
        </p:txBody>
      </p:sp>
      <p:sp>
        <p:nvSpPr>
          <p:cNvPr id="11" name="">
            <a:extLst xmlns:a="http://schemas.openxmlformats.org/drawingml/2006/main">
              <a:ext uri="{FF2B5EF4-FFF2-40B4-BE49-F238E27FC236}">
                <a16:creationId xmlns:a16="http://schemas.microsoft.com/office/drawing/2014/main" id="{87DD987E-82B3-41E2-8FD9-B5C4D59B3733}"/>
              </a:ext>
            </a:extLst>
          </p:cNvPr>
          <p:cNvSpPr>
            <a:spLocks xmlns:a="http://schemas.openxmlformats.org/drawingml/2006/main" noGrp="1"/>
          </p:cNvSpPr>
          <p:nvPr/>
        </p:nvSpPr>
        <p:spPr>
          <a:xfrm xmlns:a="http://schemas.openxmlformats.org/drawingml/2006/main">
            <a:off x="609600" y="6115050"/>
            <a:ext cx="742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B70"/>
                </a:solidFill>
                <a:latin typeface="Heiti TC"/>
                <a:ea typeface="Heiti TC"/>
                <a:cs typeface="Heiti TC"/>
              </a:defRPr>
            </a:pPr>
            <a:r>
              <a:rPr sz="1500" b="0">
                <a:solidFill>
                  <a:srgbClr val="526B70"/>
                </a:solidFill>
                <a:latin typeface="Heiti TC"/>
                <a:ea typeface="Heiti TC"/>
                <a:cs typeface="Heiti TC"/>
              </a:rPr>
              <a:t>橙：原來 / Orange: before    紫：加點後 / Purple: after</a:t>
            </a:r>
          </a:p>
        </p:txBody>
      </p:sp>
    </p:spTree>
    <p:extLst>
      <p:ext uri="{BB962C8B-B14F-4D97-AF65-F5344CB8AC3E}">
        <p14:creationId xmlns:p14="http://schemas.microsoft.com/office/powerpoint/2010/main" val="187653203"/>
      </p:ext>
    </p:extLst>
  </p:cSld>
</p:sld>
</file>

<file path=ppt/slides/slide1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D61F578-1F7D-4D02-8841-ADF46B9CD4F1}"/>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這和 AI 有甚麼關係？</a:t>
            </a:r>
          </a:p>
        </p:txBody>
      </p:sp>
      <p:sp>
        <p:nvSpPr>
          <p:cNvPr id="2" name="">
            <a:extLst xmlns:a="http://schemas.openxmlformats.org/drawingml/2006/main">
              <a:ext uri="{FF2B5EF4-FFF2-40B4-BE49-F238E27FC236}">
                <a16:creationId xmlns:a16="http://schemas.microsoft.com/office/drawing/2014/main" id="{6987F08A-5179-4B26-BE7F-47F97E27DBA3}"/>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How does this connect to AI?</a:t>
            </a:r>
          </a:p>
        </p:txBody>
      </p:sp>
      <p:sp>
        <p:nvSpPr>
          <p:cNvPr id="3" name="">
            <a:extLst xmlns:a="http://schemas.openxmlformats.org/drawingml/2006/main">
              <a:ext uri="{FF2B5EF4-FFF2-40B4-BE49-F238E27FC236}">
                <a16:creationId xmlns:a16="http://schemas.microsoft.com/office/drawing/2014/main" id="{3F2CD407-8877-4BBE-A50D-EE54E6E85974}"/>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ED285821-CB14-4C26-9349-18618D701F96}"/>
              </a:ext>
            </a:extLst>
          </p:cNvPr>
          <p:cNvSpPr>
            <a:spLocks xmlns:a="http://schemas.openxmlformats.org/drawingml/2006/main" noGrp="1"/>
          </p:cNvSpPr>
          <p:nvPr/>
        </p:nvSpPr>
        <p:spPr>
          <a:xfrm xmlns:a="http://schemas.openxmlformats.org/drawingml/2006/main">
            <a:off x="609600" y="17145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我們提供例子，工具從例子建立模型</a:t>
            </a:r>
          </a:p>
        </p:txBody>
      </p:sp>
      <p:sp>
        <p:nvSpPr>
          <p:cNvPr id="5" name="">
            <a:extLst xmlns:a="http://schemas.openxmlformats.org/drawingml/2006/main">
              <a:ext uri="{FF2B5EF4-FFF2-40B4-BE49-F238E27FC236}">
                <a16:creationId xmlns:a16="http://schemas.microsoft.com/office/drawing/2014/main" id="{29BB6A0E-858D-467B-A356-61B041BC9C20}"/>
              </a:ext>
            </a:extLst>
          </p:cNvPr>
          <p:cNvSpPr>
            <a:spLocks xmlns:a="http://schemas.openxmlformats.org/drawingml/2006/main" noGrp="1"/>
          </p:cNvSpPr>
          <p:nvPr/>
        </p:nvSpPr>
        <p:spPr>
          <a:xfrm xmlns:a="http://schemas.openxmlformats.org/drawingml/2006/main">
            <a:off x="609600" y="21812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We provide examples; the tool fits a model from them</a:t>
            </a:r>
          </a:p>
        </p:txBody>
      </p:sp>
      <p:sp>
        <p:nvSpPr>
          <p:cNvPr id="6" name="">
            <a:extLst xmlns:a="http://schemas.openxmlformats.org/drawingml/2006/main">
              <a:ext uri="{FF2B5EF4-FFF2-40B4-BE49-F238E27FC236}">
                <a16:creationId xmlns:a16="http://schemas.microsoft.com/office/drawing/2014/main" id="{30F9801A-C74C-4C77-B39F-3AE56AC7C1DB}"/>
              </a:ext>
            </a:extLst>
          </p:cNvPr>
          <p:cNvSpPr>
            <a:spLocks xmlns:a="http://schemas.openxmlformats.org/drawingml/2006/main" noGrp="1"/>
          </p:cNvSpPr>
          <p:nvPr/>
        </p:nvSpPr>
        <p:spPr>
          <a:xfrm xmlns:a="http://schemas.openxmlformats.org/drawingml/2006/main">
            <a:off x="609600" y="30575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改變數據，模型的預測可能改變</a:t>
            </a:r>
          </a:p>
        </p:txBody>
      </p:sp>
      <p:sp>
        <p:nvSpPr>
          <p:cNvPr id="7" name="">
            <a:extLst xmlns:a="http://schemas.openxmlformats.org/drawingml/2006/main">
              <a:ext uri="{FF2B5EF4-FFF2-40B4-BE49-F238E27FC236}">
                <a16:creationId xmlns:a16="http://schemas.microsoft.com/office/drawing/2014/main" id="{12F4FF95-5CAA-4E3A-A92D-4F62F33815BB}"/>
              </a:ext>
            </a:extLst>
          </p:cNvPr>
          <p:cNvSpPr>
            <a:spLocks xmlns:a="http://schemas.openxmlformats.org/drawingml/2006/main" noGrp="1"/>
          </p:cNvSpPr>
          <p:nvPr/>
        </p:nvSpPr>
        <p:spPr>
          <a:xfrm xmlns:a="http://schemas.openxmlformats.org/drawingml/2006/main">
            <a:off x="609600" y="35242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Change the data, and predictions may change</a:t>
            </a:r>
          </a:p>
        </p:txBody>
      </p:sp>
      <p:sp>
        <p:nvSpPr>
          <p:cNvPr id="8" name="">
            <a:extLst xmlns:a="http://schemas.openxmlformats.org/drawingml/2006/main">
              <a:ext uri="{FF2B5EF4-FFF2-40B4-BE49-F238E27FC236}">
                <a16:creationId xmlns:a16="http://schemas.microsoft.com/office/drawing/2014/main" id="{DF43549C-6CEB-436F-B765-0754F58102DB}"/>
              </a:ext>
            </a:extLst>
          </p:cNvPr>
          <p:cNvSpPr>
            <a:spLocks xmlns:a="http://schemas.openxmlformats.org/drawingml/2006/main" noGrp="1"/>
          </p:cNvSpPr>
          <p:nvPr/>
        </p:nvSpPr>
        <p:spPr>
          <a:xfrm xmlns:a="http://schemas.openxmlformats.org/drawingml/2006/main">
            <a:off x="609600" y="44005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程式能執行，不代表模型的答案一定正確</a:t>
            </a:r>
          </a:p>
        </p:txBody>
      </p:sp>
      <p:sp>
        <p:nvSpPr>
          <p:cNvPr id="9" name="">
            <a:extLst xmlns:a="http://schemas.openxmlformats.org/drawingml/2006/main">
              <a:ext uri="{FF2B5EF4-FFF2-40B4-BE49-F238E27FC236}">
                <a16:creationId xmlns:a16="http://schemas.microsoft.com/office/drawing/2014/main" id="{18111820-0BD1-4EC0-BF8A-1A37978BF450}"/>
              </a:ext>
            </a:extLst>
          </p:cNvPr>
          <p:cNvSpPr>
            <a:spLocks xmlns:a="http://schemas.openxmlformats.org/drawingml/2006/main" noGrp="1"/>
          </p:cNvSpPr>
          <p:nvPr/>
        </p:nvSpPr>
        <p:spPr>
          <a:xfrm xmlns:a="http://schemas.openxmlformats.org/drawingml/2006/main">
            <a:off x="609600" y="4867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Working code does not guarantee a correct prediction</a:t>
            </a:r>
          </a:p>
        </p:txBody>
      </p:sp>
    </p:spTree>
    <p:extLst>
      <p:ext uri="{BB962C8B-B14F-4D97-AF65-F5344CB8AC3E}">
        <p14:creationId xmlns:p14="http://schemas.microsoft.com/office/powerpoint/2010/main" val="1097599158"/>
      </p:ext>
    </p:extLst>
  </p:cSld>
</p:sld>
</file>

<file path=ppt/slides/slide1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9B08EA-4123-42CF-840D-F9A9AD396067}"/>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分享你的觀察</a:t>
            </a:r>
          </a:p>
        </p:txBody>
      </p:sp>
      <p:sp>
        <p:nvSpPr>
          <p:cNvPr id="2" name="">
            <a:extLst xmlns:a="http://schemas.openxmlformats.org/drawingml/2006/main">
              <a:ext uri="{FF2B5EF4-FFF2-40B4-BE49-F238E27FC236}">
                <a16:creationId xmlns:a16="http://schemas.microsoft.com/office/drawing/2014/main" id="{01117647-6BE9-4D29-AD16-6B3F4D868BCD}"/>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Share your observations</a:t>
            </a:r>
          </a:p>
        </p:txBody>
      </p:sp>
      <p:sp>
        <p:nvSpPr>
          <p:cNvPr id="3" name="">
            <a:extLst xmlns:a="http://schemas.openxmlformats.org/drawingml/2006/main">
              <a:ext uri="{FF2B5EF4-FFF2-40B4-BE49-F238E27FC236}">
                <a16:creationId xmlns:a16="http://schemas.microsoft.com/office/drawing/2014/main" id="{A9B5C66F-76A2-4931-91D1-DB2A523EB603}"/>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6B541F46-AA0F-414E-ACF0-F1F8CE9EB3BB}"/>
              </a:ext>
            </a:extLst>
          </p:cNvPr>
          <p:cNvSpPr>
            <a:spLocks xmlns:a="http://schemas.openxmlformats.org/drawingml/2006/main" noGrp="1"/>
          </p:cNvSpPr>
          <p:nvPr/>
        </p:nvSpPr>
        <p:spPr>
          <a:xfrm xmlns:a="http://schemas.openxmlformats.org/drawingml/2006/main">
            <a:off x="609600" y="1809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加入新點後，直線或預測有甚麼改變？</a:t>
            </a:r>
          </a:p>
        </p:txBody>
      </p:sp>
      <p:sp>
        <p:nvSpPr>
          <p:cNvPr id="5" name="">
            <a:extLst xmlns:a="http://schemas.openxmlformats.org/drawingml/2006/main">
              <a:ext uri="{FF2B5EF4-FFF2-40B4-BE49-F238E27FC236}">
                <a16:creationId xmlns:a16="http://schemas.microsoft.com/office/drawing/2014/main" id="{11F02D0B-694B-440E-885B-FA5A0EDD3D7F}"/>
              </a:ext>
            </a:extLst>
          </p:cNvPr>
          <p:cNvSpPr>
            <a:spLocks xmlns:a="http://schemas.openxmlformats.org/drawingml/2006/main" noGrp="1"/>
          </p:cNvSpPr>
          <p:nvPr/>
        </p:nvSpPr>
        <p:spPr>
          <a:xfrm xmlns:a="http://schemas.openxmlformats.org/drawingml/2006/main">
            <a:off x="609600" y="22764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How did the line or prediction change after adding the point?</a:t>
            </a:r>
          </a:p>
        </p:txBody>
      </p:sp>
      <p:sp>
        <p:nvSpPr>
          <p:cNvPr id="6" name="">
            <a:extLst xmlns:a="http://schemas.openxmlformats.org/drawingml/2006/main">
              <a:ext uri="{FF2B5EF4-FFF2-40B4-BE49-F238E27FC236}">
                <a16:creationId xmlns:a16="http://schemas.microsoft.com/office/drawing/2014/main" id="{A9A57C2F-1FDA-4C2E-9730-7503B530C198}"/>
              </a:ext>
            </a:extLst>
          </p:cNvPr>
          <p:cNvSpPr>
            <a:spLocks xmlns:a="http://schemas.openxmlformats.org/drawingml/2006/main" noGrp="1"/>
          </p:cNvSpPr>
          <p:nvPr/>
        </p:nvSpPr>
        <p:spPr>
          <a:xfrm xmlns:a="http://schemas.openxmlformats.org/drawingml/2006/main">
            <a:off x="609600" y="3190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3.5 小時和 10 小時的預測，哪個較值得信賴？</a:t>
            </a:r>
          </a:p>
        </p:txBody>
      </p:sp>
      <p:sp>
        <p:nvSpPr>
          <p:cNvPr id="7" name="">
            <a:extLst xmlns:a="http://schemas.openxmlformats.org/drawingml/2006/main">
              <a:ext uri="{FF2B5EF4-FFF2-40B4-BE49-F238E27FC236}">
                <a16:creationId xmlns:a16="http://schemas.microsoft.com/office/drawing/2014/main" id="{BA19D4D8-8203-4DA7-A116-0A3EEE5D955D}"/>
              </a:ext>
            </a:extLst>
          </p:cNvPr>
          <p:cNvSpPr>
            <a:spLocks xmlns:a="http://schemas.openxmlformats.org/drawingml/2006/main" noGrp="1"/>
          </p:cNvSpPr>
          <p:nvPr/>
        </p:nvSpPr>
        <p:spPr>
          <a:xfrm xmlns:a="http://schemas.openxmlformats.org/drawingml/2006/main">
            <a:off x="609600" y="36576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Which prediction is more trustworthy: 3.5 or 10 hours?</a:t>
            </a:r>
          </a:p>
        </p:txBody>
      </p:sp>
      <p:sp>
        <p:nvSpPr>
          <p:cNvPr id="8" name="">
            <a:extLst xmlns:a="http://schemas.openxmlformats.org/drawingml/2006/main">
              <a:ext uri="{FF2B5EF4-FFF2-40B4-BE49-F238E27FC236}">
                <a16:creationId xmlns:a16="http://schemas.microsoft.com/office/drawing/2014/main" id="{5D9589DB-016D-49A4-8A82-E48D004D0FB5}"/>
              </a:ext>
            </a:extLst>
          </p:cNvPr>
          <p:cNvSpPr>
            <a:spLocks xmlns:a="http://schemas.openxmlformats.org/drawingml/2006/main" noGrp="1"/>
          </p:cNvSpPr>
          <p:nvPr/>
        </p:nvSpPr>
        <p:spPr>
          <a:xfrm xmlns:a="http://schemas.openxmlformats.org/drawingml/2006/main">
            <a:off x="609600" y="45720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C43"/>
                </a:solidFill>
                <a:latin typeface="Heiti TC"/>
                <a:ea typeface="Heiti TC"/>
                <a:cs typeface="Heiti TC"/>
              </a:defRPr>
            </a:pPr>
            <a:r>
              <a:rPr sz="2325" b="0">
                <a:solidFill>
                  <a:srgbClr val="173C43"/>
                </a:solidFill>
                <a:latin typeface="Heiti TC"/>
                <a:ea typeface="Heiti TC"/>
                <a:cs typeface="Heiti TC"/>
              </a:rPr>
              <a:t>下一堂：讓電腦猜「是哪一類」，而不是「幾多分」</a:t>
            </a:r>
          </a:p>
        </p:txBody>
      </p:sp>
      <p:sp>
        <p:nvSpPr>
          <p:cNvPr id="9" name="">
            <a:extLst xmlns:a="http://schemas.openxmlformats.org/drawingml/2006/main">
              <a:ext uri="{FF2B5EF4-FFF2-40B4-BE49-F238E27FC236}">
                <a16:creationId xmlns:a16="http://schemas.microsoft.com/office/drawing/2014/main" id="{2070EF26-CB0F-474B-8F27-2E87C5A031E5}"/>
              </a:ext>
            </a:extLst>
          </p:cNvPr>
          <p:cNvSpPr>
            <a:spLocks xmlns:a="http://schemas.openxmlformats.org/drawingml/2006/main" noGrp="1"/>
          </p:cNvSpPr>
          <p:nvPr/>
        </p:nvSpPr>
        <p:spPr>
          <a:xfrm xmlns:a="http://schemas.openxmlformats.org/drawingml/2006/main">
            <a:off x="609600" y="50387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Next time: predict which class, instead of how many marks</a:t>
            </a:r>
          </a:p>
        </p:txBody>
      </p:sp>
    </p:spTree>
    <p:extLst>
      <p:ext uri="{BB962C8B-B14F-4D97-AF65-F5344CB8AC3E}">
        <p14:creationId xmlns:p14="http://schemas.microsoft.com/office/powerpoint/2010/main" val="4066833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2026-10-06T08:53:52.7430000Z</dcterms:created>
  <dcterms:modified xsi:type="dcterms:W3CDTF">2026-10-06T08:53:52.7430000Z</dcterms:modified>
</coreProperties>
</file>