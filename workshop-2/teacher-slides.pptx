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1.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2.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slides/charts/chart3.xml" ContentType="application/vnd.openxmlformats-officedocument.drawingml.chart+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27c64da988742c5" /><Relationship Type="http://schemas.openxmlformats.org/officeDocument/2006/relationships/extended-properties" Target="/docProps/app.xml" Id="R5d3742bada5d4f09" /><Relationship Type="http://schemas.openxmlformats.org/officeDocument/2006/relationships/officeDocument" Target="/ppt/presentation.xml" Id="R68e4b95851c5400c" /></Relationships>
</file>

<file path=ppt/presentation.xml><?xml version="1.0" encoding="utf-8"?>
<p:presentation xmlns:p="http://schemas.openxmlformats.org/presentationml/2006/main">
  <p:sldMasterIdLst>
    <p:sldMasterId xmlns:r="http://schemas.openxmlformats.org/officeDocument/2006/relationships" id="2147483648" r:id="R7d758406757c4bd6"/>
  </p:sldMasterIdLst>
  <p:notesMasterIdLst>
    <p:notesMasterId xmlns:r="http://schemas.openxmlformats.org/officeDocument/2006/relationships" r:id="R68e4bf1f92b040d0"/>
  </p:notesMasterIdLst>
  <p:sldIdLst>
    <p:sldId xmlns:r="http://schemas.openxmlformats.org/officeDocument/2006/relationships" id="256" r:id="R32388274c9c24b56"/>
    <p:sldId xmlns:r="http://schemas.openxmlformats.org/officeDocument/2006/relationships" id="257" r:id="R714e16b3486144a3"/>
    <p:sldId xmlns:r="http://schemas.openxmlformats.org/officeDocument/2006/relationships" id="258" r:id="R2a700402f83e423e"/>
    <p:sldId xmlns:r="http://schemas.openxmlformats.org/officeDocument/2006/relationships" id="259" r:id="R082674505af04a61"/>
    <p:sldId xmlns:r="http://schemas.openxmlformats.org/officeDocument/2006/relationships" id="260" r:id="Rcb5bbc638470424c"/>
    <p:sldId xmlns:r="http://schemas.openxmlformats.org/officeDocument/2006/relationships" id="261" r:id="Re36f5c045cce493e"/>
    <p:sldId xmlns:r="http://schemas.openxmlformats.org/officeDocument/2006/relationships" id="262" r:id="Rbd79d17c12214f20"/>
    <p:sldId xmlns:r="http://schemas.openxmlformats.org/officeDocument/2006/relationships" id="263" r:id="Raac47d801091480a"/>
    <p:sldId xmlns:r="http://schemas.openxmlformats.org/officeDocument/2006/relationships" id="264" r:id="R4bf81b7c604f49db"/>
    <p:sldId xmlns:r="http://schemas.openxmlformats.org/officeDocument/2006/relationships" id="265" r:id="R0d8dd6e57de64957"/>
    <p:sldId xmlns:r="http://schemas.openxmlformats.org/officeDocument/2006/relationships" id="266" r:id="R055a9e8a644d4997"/>
    <p:sldId xmlns:r="http://schemas.openxmlformats.org/officeDocument/2006/relationships" id="267" r:id="Re2f00e4dd3c04596"/>
    <p:sldId xmlns:r="http://schemas.openxmlformats.org/officeDocument/2006/relationships" id="268" r:id="R0f0460da60944255"/>
    <p:sldId xmlns:r="http://schemas.openxmlformats.org/officeDocument/2006/relationships" id="269" r:id="R253e020dd0fb4c6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6e96d62a0c442c3" /><Relationship Type="http://schemas.openxmlformats.org/officeDocument/2006/relationships/slideMaster" Target="/ppt/slideMasters/slideMaster1.xml" Id="R7d758406757c4bd6" /><Relationship Type="http://schemas.openxmlformats.org/officeDocument/2006/relationships/notesMaster" Target="/ppt/notesMasters/notesMaster1.xml" Id="R68e4bf1f92b040d0" /><Relationship Type="http://schemas.openxmlformats.org/officeDocument/2006/relationships/presProps" Target="/ppt/presProps.xml" Id="R06de306844574e8f" /><Relationship Type="http://schemas.openxmlformats.org/officeDocument/2006/relationships/tableStyles" Target="/ppt/tableStyles.xml" Id="R35e55de0d46a4a21" /><Relationship Type="http://schemas.openxmlformats.org/officeDocument/2006/relationships/slide" Target="/ppt/slides/slide1.xml" Id="R32388274c9c24b56" /><Relationship Type="http://schemas.openxmlformats.org/officeDocument/2006/relationships/slide" Target="/ppt/slides/slide2.xml" Id="R714e16b3486144a3" /><Relationship Type="http://schemas.openxmlformats.org/officeDocument/2006/relationships/slide" Target="/ppt/slides/slide3.xml" Id="R2a700402f83e423e" /><Relationship Type="http://schemas.openxmlformats.org/officeDocument/2006/relationships/slide" Target="/ppt/slides/slide4.xml" Id="R082674505af04a61" /><Relationship Type="http://schemas.openxmlformats.org/officeDocument/2006/relationships/slide" Target="/ppt/slides/slide5.xml" Id="Rcb5bbc638470424c" /><Relationship Type="http://schemas.openxmlformats.org/officeDocument/2006/relationships/slide" Target="/ppt/slides/slide6.xml" Id="Re36f5c045cce493e" /><Relationship Type="http://schemas.openxmlformats.org/officeDocument/2006/relationships/slide" Target="/ppt/slides/slide7.xml" Id="Rbd79d17c12214f20" /><Relationship Type="http://schemas.openxmlformats.org/officeDocument/2006/relationships/slide" Target="/ppt/slides/slide8.xml" Id="Raac47d801091480a" /><Relationship Type="http://schemas.openxmlformats.org/officeDocument/2006/relationships/slide" Target="/ppt/slides/slide9.xml" Id="R4bf81b7c604f49db" /><Relationship Type="http://schemas.openxmlformats.org/officeDocument/2006/relationships/slide" Target="/ppt/slides/slide10.xml" Id="R0d8dd6e57de64957" /><Relationship Type="http://schemas.openxmlformats.org/officeDocument/2006/relationships/slide" Target="/ppt/slides/slide11.xml" Id="R055a9e8a644d4997" /><Relationship Type="http://schemas.openxmlformats.org/officeDocument/2006/relationships/slide" Target="/ppt/slides/slide12.xml" Id="Re2f00e4dd3c04596" /><Relationship Type="http://schemas.openxmlformats.org/officeDocument/2006/relationships/slide" Target="/ppt/slides/slide13.xml" Id="R0f0460da60944255" /><Relationship Type="http://schemas.openxmlformats.org/officeDocument/2006/relationships/slide" Target="/ppt/slides/slide14.xml" Id="R253e020dd0fb4c6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fd53dafb52644e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64414c17a6f43fa" /><Relationship Type="http://schemas.openxmlformats.org/officeDocument/2006/relationships/notesMaster" Target="/ppt/notesMasters/notesMaster1.xml" Id="R5ba4e7c14062495c" /></Relationships>
</file>

<file path=ppt/notesSlides/_rels/notesSlide2.xml.rels>&#65279;<?xml version="1.0" encoding="utf-8"?><Relationships xmlns="http://schemas.openxmlformats.org/package/2006/relationships"><Relationship Type="http://schemas.openxmlformats.org/officeDocument/2006/relationships/slide" Target="/ppt/slides/slide2.xml" Id="Ra8878cc038384708" /><Relationship Type="http://schemas.openxmlformats.org/officeDocument/2006/relationships/notesMaster" Target="/ppt/notesMasters/notesMaster1.xml" Id="Rcff8319f02d0486b" /></Relationships>
</file>

<file path=ppt/notesSlides/_rels/notesSlide3.xml.rels>&#65279;<?xml version="1.0" encoding="utf-8"?><Relationships xmlns="http://schemas.openxmlformats.org/package/2006/relationships"><Relationship Type="http://schemas.openxmlformats.org/officeDocument/2006/relationships/slide" Target="/ppt/slides/slide3.xml" Id="Rd12f38dcb25d422b" /><Relationship Type="http://schemas.openxmlformats.org/officeDocument/2006/relationships/notesMaster" Target="/ppt/notesMasters/notesMaster1.xml" Id="R0ee26153a7b54d74" /></Relationships>
</file>

<file path=ppt/notesSlides/_rels/notesSlide4.xml.rels>&#65279;<?xml version="1.0" encoding="utf-8"?><Relationships xmlns="http://schemas.openxmlformats.org/package/2006/relationships"><Relationship Type="http://schemas.openxmlformats.org/officeDocument/2006/relationships/slide" Target="/ppt/slides/slide4.xml" Id="Rb982e14007dc4e4e" /><Relationship Type="http://schemas.openxmlformats.org/officeDocument/2006/relationships/notesMaster" Target="/ppt/notesMasters/notesMaster1.xml" Id="R002e2933a8fe49f1" /></Relationships>
</file>

<file path=ppt/notesSlides/_rels/notesSlide5.xml.rels>&#65279;<?xml version="1.0" encoding="utf-8"?><Relationships xmlns="http://schemas.openxmlformats.org/package/2006/relationships"><Relationship Type="http://schemas.openxmlformats.org/officeDocument/2006/relationships/slide" Target="/ppt/slides/slide5.xml" Id="R8ae3671f30ee4bf4" /><Relationship Type="http://schemas.openxmlformats.org/officeDocument/2006/relationships/notesMaster" Target="/ppt/notesMasters/notesMaster1.xml" Id="Ra543cd31d2da4e22" /></Relationships>
</file>

<file path=ppt/notesSlides/_rels/notesSlide6.xml.rels>&#65279;<?xml version="1.0" encoding="utf-8"?><Relationships xmlns="http://schemas.openxmlformats.org/package/2006/relationships"><Relationship Type="http://schemas.openxmlformats.org/officeDocument/2006/relationships/slide" Target="/ppt/slides/slide6.xml" Id="R6e8df8b0676346ec" /><Relationship Type="http://schemas.openxmlformats.org/officeDocument/2006/relationships/notesMaster" Target="/ppt/notesMasters/notesMaster1.xml" Id="R993066d02367449b" /></Relationships>
</file>

<file path=ppt/notesSlides/_rels/notesSlide7.xml.rels>&#65279;<?xml version="1.0" encoding="utf-8"?><Relationships xmlns="http://schemas.openxmlformats.org/package/2006/relationships"><Relationship Type="http://schemas.openxmlformats.org/officeDocument/2006/relationships/slide" Target="/ppt/slides/slide7.xml" Id="R0c88af8ce3184aed" /><Relationship Type="http://schemas.openxmlformats.org/officeDocument/2006/relationships/notesMaster" Target="/ppt/notesMasters/notesMaster1.xml" Id="R22e9f420d2e54381" /></Relationships>
</file>

<file path=ppt/notesSlides/_rels/notesSlide8.xml.rels>&#65279;<?xml version="1.0" encoding="utf-8"?><Relationships xmlns="http://schemas.openxmlformats.org/package/2006/relationships"><Relationship Type="http://schemas.openxmlformats.org/officeDocument/2006/relationships/slide" Target="/ppt/slides/slide8.xml" Id="R7e0c128c8f04481d" /><Relationship Type="http://schemas.openxmlformats.org/officeDocument/2006/relationships/notesMaster" Target="/ppt/notesMasters/notesMaster1.xml" Id="Re97b2ef0322547dc" /></Relationships>
</file>

<file path=ppt/notesSlides/_rels/notesSlide9.xml.rels>&#65279;<?xml version="1.0" encoding="utf-8"?><Relationships xmlns="http://schemas.openxmlformats.org/package/2006/relationships"><Relationship Type="http://schemas.openxmlformats.org/officeDocument/2006/relationships/slide" Target="/ppt/slides/slide9.xml" Id="R337eef84da4749f8" /><Relationship Type="http://schemas.openxmlformats.org/officeDocument/2006/relationships/notesMaster" Target="/ppt/notesMasters/notesMaster1.xml" Id="R2c676e8b0b30471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73c453985774423" /><Relationship Type="http://schemas.openxmlformats.org/officeDocument/2006/relationships/notesMaster" Target="/ppt/notesMasters/notesMaster1.xml" Id="R4ae5c0cea171447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84065c14c5d4d1f" /><Relationship Type="http://schemas.openxmlformats.org/officeDocument/2006/relationships/notesMaster" Target="/ppt/notesMasters/notesMaster1.xml" Id="R8f3b4f2c8f174b1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d64cb05f60a4c40" /><Relationship Type="http://schemas.openxmlformats.org/officeDocument/2006/relationships/notesMaster" Target="/ppt/notesMasters/notesMaster1.xml" Id="Rf5aac261d48a4d6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6fac7736f7f44e9" /><Relationship Type="http://schemas.openxmlformats.org/officeDocument/2006/relationships/notesMaster" Target="/ppt/notesMasters/notesMaster1.xml" Id="R20a34458f5e1415c"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bc6478f92674770" /><Relationship Type="http://schemas.openxmlformats.org/officeDocument/2006/relationships/notesMaster" Target="/ppt/notesMasters/notesMaster1.xml" Id="R95ea843fbfc74b7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Warm-up, 2 minutes. Teacher demonstration first; students suggest a greeting and repeat in their own copy after setup. Ask students to guess the output before running. Invite a funny but school-appropriate greeting. No syntax lecture.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Warm-up, about 2 minutes. Teacher edits the quoted string first; students repeat in their own copy after setup. The output changes because their instruction/data changed, not because the machine understood the greeting.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Finish the 8-minute introductory block. Connect with Workshop 1: students draw a line by instinct, now a library fits it from examples. Today is guided programming, not formula derivation.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12-minute guided setup block, about 2 minutes on this slide. Colab is a hosted Jupyter notebook service, not a programming language. Source: https://research.google.com/colaboratory/faq.html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opens the supplied Colab link. Students may need approved Google accounts. Save a copy using Colab’s File menu before editing. Interface may differ by language. The supplied student file begins with no saved outputs to protect the initial estimate. Teacher has locally executed and checked the notebook.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data cell. Matching positions pair one student’s hours with their score. Edit only numbers. All scores are simulated and do not establish a causal study effect. Avoid explaining numpy reshape; it is prepared plumbing.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Run notebook section 2 only. Students write their estimate on worksheet page 1 before section 3 reveals the fit.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After student estimates, run notebook section 3. Source: scikit-learn LinearRegression official documentation. Explain fit as a library operation that learns from the paired examples. No calculation/derivation, loss or gradient descent.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Students predict first, run notebook section 4, and compare with their own written estimate. Try 3.5 then 10. Editing original data requires rerunning data and model cells first.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running section5, students write or say their predicted change. This slide deliberately shows only the original fit and proposed new point.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After running section5. Students compare with their earlier guess; now the changed line is revealed. The optional notebook comparison cell starts from the unchanged original data each time. Teacher reference: original at 3.5 is57, changed about62. Counts/approximations, no decimal transcription.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Help beginners without a general debugging lecture. Read the last line of the error. Check cell order, matching list lengths, comma/quote/bracket. Do not tell students to execute unreviewed AI-generated code. Use prepared examples or ask the teacher.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Begin the final10-minute reflection block. The model learns a summary from data, then predicts for a new input. Code executing correctly is not the same as a prediction being accurate. Actual unseen cases with known outcomes are needed for accuracy evaluation.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Final discussion and worksheet section6. Ask one pair to describe a change without reading decimal coefficients. Tomorrow’s workshop predicts a category instead of a score.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fc64075f94b4b1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b6ce13f991a428f" /><Relationship Type="http://schemas.openxmlformats.org/officeDocument/2006/relationships/slideLayout" Target="/ppt/slideLayouts/slideLayout1.xml" Id="R8de38083f55a48a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de38083f55a48a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3ead6adf93134773" /><Relationship Type="http://schemas.openxmlformats.org/officeDocument/2006/relationships/notesSlide" Target="/ppt/notesSlides/notesSlide1.xml" Id="R8495a65769b64a7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e8138426b474c2e" /><Relationship Type="http://schemas.openxmlformats.org/officeDocument/2006/relationships/notesSlide" Target="/ppt/notesSlides/notesSlide2.xml" Id="Rc20214154576423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065818b570124553" /><Relationship Type="http://schemas.openxmlformats.org/officeDocument/2006/relationships/notesSlide" Target="/ppt/notesSlides/notesSlide3.xml" Id="R5368f6107b7b4617"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6530cf5715246fd" /><Relationship Type="http://schemas.openxmlformats.org/officeDocument/2006/relationships/notesSlide" Target="/ppt/notesSlides/notesSlide4.xml" Id="R5321333c190143b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f6cf08b40e9e47f6" /><Relationship Type="http://schemas.openxmlformats.org/officeDocument/2006/relationships/notesSlide" Target="/ppt/notesSlides/notesSlide5.xml" Id="R85c02964bd744610"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dc35c0c6b56464f" /><Relationship Type="http://schemas.openxmlformats.org/officeDocument/2006/relationships/notesSlide" Target="/ppt/notesSlides/notesSlide6.xml" Id="Redffa9e5b5fa4e2e"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cc2fd4ce16514633" /><Relationship Type="http://schemas.openxmlformats.org/officeDocument/2006/relationships/chart" Target="/ppt/slides/charts/chart1.xml" Id="R9c05588698f44b1c" /><Relationship Type="http://schemas.openxmlformats.org/officeDocument/2006/relationships/notesSlide" Target="/ppt/notesSlides/notesSlide7.xml" Id="R5d265762419b4bbd"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62c3aa416c824465" /><Relationship Type="http://schemas.openxmlformats.org/officeDocument/2006/relationships/notesSlide" Target="/ppt/notesSlides/notesSlide8.xml" Id="R7350715c328943b7"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0d428e2ee1754e5f" /><Relationship Type="http://schemas.openxmlformats.org/officeDocument/2006/relationships/notesSlide" Target="/ppt/notesSlides/notesSlide9.xml" Id="Rd0a6688cc0fe43a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cd805d7fd6a947ab" /><Relationship Type="http://schemas.openxmlformats.org/officeDocument/2006/relationships/chart" Target="/ppt/slides/charts/chart2.xml" Id="R6412fb60b8d6421a" /><Relationship Type="http://schemas.openxmlformats.org/officeDocument/2006/relationships/notesSlide" Target="/ppt/notesSlides/notesSlide10.xml" Id="R1a328c4b11de486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5ae153e89f894736" /><Relationship Type="http://schemas.openxmlformats.org/officeDocument/2006/relationships/chart" Target="/ppt/slides/charts/chart3.xml" Id="Rb334a7fe1bef434b" /><Relationship Type="http://schemas.openxmlformats.org/officeDocument/2006/relationships/notesSlide" Target="/ppt/notesSlides/notesSlide11.xml" Id="Rd1ee64111b2a49c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4b2d7955261d4bf7" /><Relationship Type="http://schemas.openxmlformats.org/officeDocument/2006/relationships/notesSlide" Target="/ppt/notesSlides/notesSlide12.xml" Id="R82daaa4e1e06476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65c2a47ca9e54413" /><Relationship Type="http://schemas.openxmlformats.org/officeDocument/2006/relationships/notesSlide" Target="/ppt/notesSlides/notesSlide13.xml" Id="R7c19896e0bb7474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baa9acc062e048ac" /><Relationship Type="http://schemas.openxmlformats.org/officeDocument/2006/relationships/notesSlide" Target="/ppt/notesSlides/notesSlide14.xml" Id="R9db2381b05b14817" /></Relationships>
</file>

<file path=ppt/slides/charts/chart1.xml><?xml version="1.0" encoding="utf-8"?>
<c:chartSpace xmlns:c="http://schemas.openxmlformats.org/drawingml/2006/chart">
  <c:lang val="en-US"/>
  <c:chart>
    <c:plotArea>
      <c:scatterChart>
        <c:scatterStyle val="lineMarker"/>
        <c:ser>
          <c:idx val="0"/>
          <c:order val="0"/>
          <c:tx>
            <c:v>模擬數據 / Simulated data</c:v>
          </c:tx>
          <c:spPr>
            <a:solidFill xmlns:a="http://schemas.openxmlformats.org/drawingml/2006/main">
              <a:srgbClr val="086C61"/>
            </a:solidFill>
            <a:ln xmlns:a="http://schemas.openxmlformats.org/drawingml/2006/main" w="0">
              <a:noFill/>
            </a:ln>
          </c:spPr>
          <c:marker>
            <c:symbol val="circle"/>
            <c:size val="9"/>
            <c:spPr>
              <a:noFill xmlns:a="http://schemas.openxmlformats.org/drawingml/2006/main"/>
            </c:spPr>
          </c:marker>
          <c:xVal>
            <c:numLit>
              <c:formatCode>General</c:formatCode>
              <c:ptCount val="7"/>
              <c:pt idx="0">
                <c:v>0</c:v>
              </c:pt>
              <c:pt idx="1">
                <c:v>1</c:v>
              </c:pt>
              <c:pt idx="2">
                <c:v>2</c:v>
              </c:pt>
              <c:pt idx="3">
                <c:v>3</c:v>
              </c:pt>
              <c:pt idx="4">
                <c:v>4</c:v>
              </c:pt>
              <c:pt idx="5">
                <c:v>5</c:v>
              </c:pt>
              <c:pt idx="6">
                <c:v>6</c:v>
              </c:pt>
            </c:numLit>
          </c:xVal>
          <c:yVal>
            <c:numLit>
              <c:formatCode>0</c:formatCode>
              <c:ptCount val="7"/>
              <c:pt idx="0">
                <c:v>53</c:v>
              </c:pt>
              <c:pt idx="1">
                <c:v>46</c:v>
              </c:pt>
              <c:pt idx="2">
                <c:v>59</c:v>
              </c:pt>
              <c:pt idx="3">
                <c:v>52</c:v>
              </c:pt>
              <c:pt idx="4">
                <c:v>63</c:v>
              </c:pt>
              <c:pt idx="5">
                <c:v>54</c:v>
              </c:pt>
              <c:pt idx="6">
                <c:v>65</c:v>
              </c:pt>
            </c:numLit>
          </c:yVal>
        </c:ser>
        <c:dLbls>
          <c:txPr>
            <a:bodyPr xmlns:a="http://schemas.openxmlformats.org/drawingml/2006/main" anchorCtr="1"/>
            <a:lstStyle xmlns:a="http://schemas.openxmlformats.org/drawingml/2006/main"/>
            <a:p xmlns:a="http://schemas.openxmlformats.org/drawingml/2006/main">
              <a:pPr>
                <a:defRPr>
                  <a:latin typeface="Heiti TC"/>
                  <a:ea typeface="Heiti TC"/>
                  <a:cs typeface="Heiti TC"/>
                </a:defRPr>
              </a:pPr>
            </a:p>
          </c:txPr>
          <c:showLegendKey val="0"/>
          <c:showVal val="0"/>
          <c:showCatName val="0"/>
          <c:showSerName val="0"/>
          <c:showPercent val="0"/>
          <c:showBubbleSize val="0"/>
          <c:showLeaderLines val="0"/>
        </c:dLbls>
        <c:axId val="48650112"/>
        <c:axId val="48672768"/>
      </c:scatterChart>
      <c:valAx>
        <c:axId val="48672768"/>
        <c:scaling>
          <c:orientation val="minMax"/>
          <c:max val="100"/>
          <c:min val="0"/>
        </c:scaling>
        <c:delete val="0"/>
        <c:axPos val="l"/>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Exam score</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50112"/>
        <c:majorUnit val="20"/>
      </c:valAx>
      <c:valAx>
        <c:axId val="48650112"/>
        <c:scaling>
          <c:orientation val="minMax"/>
          <c:max val="24"/>
          <c:min val="0"/>
        </c:scaling>
        <c:delete val="0"/>
        <c:axPos val="b"/>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Daily study time (h)</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72768"/>
        <c:majorUnit val="6"/>
      </c:valAx>
      <c:spPr>
        <a:solidFill xmlns:a="http://schemas.openxmlformats.org/drawingml/2006/main">
          <a:srgbClr val="FFFFFF"/>
        </a:solidFill>
        <a:ln xmlns:a="http://schemas.openxmlformats.org/drawingml/2006/main" w="9525">
          <a:solidFill>
            <a:srgbClr val="D8E4DF"/>
          </a:solidFill>
        </a:ln>
      </c:spPr>
    </c:plotArea>
    <c:plotVisOnly val="1"/>
  </c:chart>
  <c:spPr>
    <a:solidFill xmlns:a="http://schemas.openxmlformats.org/drawingml/2006/main">
      <a:srgbClr val="F5F7F4"/>
    </a:solidFill>
    <a:ln xmlns:a="http://schemas.openxmlformats.org/drawingml/2006/main" w="0">
      <a:noFill/>
    </a:ln>
  </c:spPr>
</c:chartSpace>
</file>

<file path=ppt/slides/charts/chart2.xml><?xml version="1.0" encoding="utf-8"?>
<c:chartSpace xmlns:c="http://schemas.openxmlformats.org/drawingml/2006/chart">
  <c:lang val="en-US"/>
  <c:chart>
    <c:plotArea>
      <c:scatterChart>
        <c:scatterStyle val="lineMarker"/>
        <c:ser>
          <c:idx val="0"/>
          <c:order val="0"/>
          <c:tx>
            <c:v>原數據 / Original</c:v>
          </c:tx>
          <c:spPr>
            <a:solidFill xmlns:a="http://schemas.openxmlformats.org/drawingml/2006/main">
              <a:srgbClr val="086C61"/>
            </a:solidFill>
            <a:ln xmlns:a="http://schemas.openxmlformats.org/drawingml/2006/main" w="0">
              <a:noFill/>
            </a:ln>
          </c:spPr>
          <c:marker>
            <c:symbol val="circle"/>
            <c:size val="9"/>
            <c:spPr>
              <a:noFill xmlns:a="http://schemas.openxmlformats.org/drawingml/2006/main"/>
            </c:spPr>
          </c:marker>
          <c:xVal>
            <c:numLit>
              <c:formatCode>General</c:formatCode>
              <c:ptCount val="7"/>
              <c:pt idx="0">
                <c:v>0</c:v>
              </c:pt>
              <c:pt idx="1">
                <c:v>1</c:v>
              </c:pt>
              <c:pt idx="2">
                <c:v>2</c:v>
              </c:pt>
              <c:pt idx="3">
                <c:v>3</c:v>
              </c:pt>
              <c:pt idx="4">
                <c:v>4</c:v>
              </c:pt>
              <c:pt idx="5">
                <c:v>5</c:v>
              </c:pt>
              <c:pt idx="6">
                <c:v>6</c:v>
              </c:pt>
            </c:numLit>
          </c:xVal>
          <c:yVal>
            <c:numLit>
              <c:formatCode>0</c:formatCode>
              <c:ptCount val="7"/>
              <c:pt idx="0">
                <c:v>53</c:v>
              </c:pt>
              <c:pt idx="1">
                <c:v>46</c:v>
              </c:pt>
              <c:pt idx="2">
                <c:v>59</c:v>
              </c:pt>
              <c:pt idx="3">
                <c:v>52</c:v>
              </c:pt>
              <c:pt idx="4">
                <c:v>63</c:v>
              </c:pt>
              <c:pt idx="5">
                <c:v>54</c:v>
              </c:pt>
              <c:pt idx="6">
                <c:v>65</c:v>
              </c:pt>
            </c:numLit>
          </c:yVal>
        </c:ser>
        <c:ser>
          <c:idx val="1"/>
          <c:order val="1"/>
          <c:tx>
            <c:v>New point</c:v>
          </c:tx>
          <c:spPr>
            <a:solidFill xmlns:a="http://schemas.openxmlformats.org/drawingml/2006/main">
              <a:srgbClr val="6B51A3"/>
            </a:solidFill>
            <a:ln xmlns:a="http://schemas.openxmlformats.org/drawingml/2006/main" w="0">
              <a:noFill/>
            </a:ln>
          </c:spPr>
          <c:marker>
            <c:symbol val="diamond"/>
            <c:size val="10"/>
            <c:spPr>
              <a:noFill xmlns:a="http://schemas.openxmlformats.org/drawingml/2006/main"/>
            </c:spPr>
          </c:marker>
          <c:xVal>
            <c:numLit>
              <c:formatCode>General</c:formatCode>
              <c:ptCount val="1"/>
              <c:pt idx="0">
                <c:v>4</c:v>
              </c:pt>
            </c:numLit>
          </c:xVal>
          <c:yVal>
            <c:numLit>
              <c:formatCode>0</c:formatCode>
              <c:ptCount val="1"/>
              <c:pt idx="0">
                <c:v>95</c:v>
              </c:pt>
            </c:numLit>
          </c:yVal>
        </c:ser>
        <c:ser>
          <c:idx val="2"/>
          <c:order val="2"/>
          <c:tx>
            <c:v>原直線 / Original</c:v>
          </c:tx>
          <c:spPr>
            <a:solidFill xmlns:a="http://schemas.openxmlformats.org/drawingml/2006/main">
              <a:srgbClr val="B65320"/>
            </a:solidFill>
            <a:ln xmlns:a="http://schemas.openxmlformats.org/drawingml/2006/main" w="28575">
              <a:solidFill>
                <a:srgbClr val="B65320"/>
              </a:solidFill>
            </a:ln>
          </c:spPr>
          <c:marker>
            <c:symbol val="none"/>
          </c:marker>
          <c:xVal>
            <c:numLit>
              <c:formatCode>General</c:formatCode>
              <c:ptCount val="2"/>
              <c:pt idx="0">
                <c:v>0</c:v>
              </c:pt>
              <c:pt idx="1">
                <c:v>24</c:v>
              </c:pt>
            </c:numLit>
          </c:xVal>
          <c:yVal>
            <c:numLit>
              <c:formatCode>0</c:formatCode>
              <c:ptCount val="2"/>
              <c:pt idx="0">
                <c:v>50</c:v>
              </c:pt>
              <c:pt idx="1">
                <c:v>98</c:v>
              </c:pt>
            </c:numLit>
          </c:yVal>
        </c:ser>
        <c:dLbls>
          <c:txPr>
            <a:bodyPr xmlns:a="http://schemas.openxmlformats.org/drawingml/2006/main" anchorCtr="1"/>
            <a:lstStyle xmlns:a="http://schemas.openxmlformats.org/drawingml/2006/main"/>
            <a:p xmlns:a="http://schemas.openxmlformats.org/drawingml/2006/main">
              <a:pPr>
                <a:defRPr>
                  <a:latin typeface="Heiti TC"/>
                  <a:ea typeface="Heiti TC"/>
                  <a:cs typeface="Heiti TC"/>
                </a:defRPr>
              </a:pPr>
            </a:p>
          </c:txPr>
          <c:showLegendKey val="0"/>
          <c:showVal val="0"/>
          <c:showCatName val="0"/>
          <c:showSerName val="0"/>
          <c:showPercent val="0"/>
          <c:showBubbleSize val="0"/>
          <c:showLeaderLines val="0"/>
        </c:dLbls>
        <c:axId val="48650112"/>
        <c:axId val="48672768"/>
      </c:scatterChart>
      <c:valAx>
        <c:axId val="48672768"/>
        <c:scaling>
          <c:orientation val="minMax"/>
          <c:max val="100"/>
          <c:min val="0"/>
        </c:scaling>
        <c:delete val="0"/>
        <c:axPos val="l"/>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Exam score</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50112"/>
        <c:majorUnit val="20"/>
      </c:valAx>
      <c:valAx>
        <c:axId val="48650112"/>
        <c:scaling>
          <c:orientation val="minMax"/>
          <c:max val="24"/>
          <c:min val="0"/>
        </c:scaling>
        <c:delete val="0"/>
        <c:axPos val="b"/>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Daily study time (h)</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72768"/>
        <c:majorUnit val="6"/>
      </c:valAx>
      <c:spPr>
        <a:solidFill xmlns:a="http://schemas.openxmlformats.org/drawingml/2006/main">
          <a:srgbClr val="FFFFFF"/>
        </a:solidFill>
        <a:ln xmlns:a="http://schemas.openxmlformats.org/drawingml/2006/main" w="9525">
          <a:solidFill>
            <a:srgbClr val="D8E4DF"/>
          </a:solidFill>
        </a:ln>
      </c:spPr>
    </c:plotArea>
    <c:plotVisOnly val="1"/>
  </c:chart>
  <c:spPr>
    <a:solidFill xmlns:a="http://schemas.openxmlformats.org/drawingml/2006/main">
      <a:srgbClr val="F5F7F4"/>
    </a:solidFill>
    <a:ln xmlns:a="http://schemas.openxmlformats.org/drawingml/2006/main" w="0">
      <a:noFill/>
    </a:ln>
  </c:spPr>
</c:chartSpace>
</file>

<file path=ppt/slides/charts/chart3.xml><?xml version="1.0" encoding="utf-8"?>
<c:chartSpace xmlns:c="http://schemas.openxmlformats.org/drawingml/2006/chart">
  <c:lang val="en-US"/>
  <c:chart>
    <c:plotArea>
      <c:scatterChart>
        <c:scatterStyle val="lineMarker"/>
        <c:ser>
          <c:idx val="0"/>
          <c:order val="0"/>
          <c:tx>
            <c:v>原數據 / Original</c:v>
          </c:tx>
          <c:spPr>
            <a:solidFill xmlns:a="http://schemas.openxmlformats.org/drawingml/2006/main">
              <a:srgbClr val="086C61"/>
            </a:solidFill>
            <a:ln xmlns:a="http://schemas.openxmlformats.org/drawingml/2006/main" w="0">
              <a:noFill/>
            </a:ln>
          </c:spPr>
          <c:marker>
            <c:symbol val="circle"/>
            <c:size val="9"/>
            <c:spPr>
              <a:noFill xmlns:a="http://schemas.openxmlformats.org/drawingml/2006/main"/>
            </c:spPr>
          </c:marker>
          <c:xVal>
            <c:numLit>
              <c:formatCode>General</c:formatCode>
              <c:ptCount val="7"/>
              <c:pt idx="0">
                <c:v>0</c:v>
              </c:pt>
              <c:pt idx="1">
                <c:v>1</c:v>
              </c:pt>
              <c:pt idx="2">
                <c:v>2</c:v>
              </c:pt>
              <c:pt idx="3">
                <c:v>3</c:v>
              </c:pt>
              <c:pt idx="4">
                <c:v>4</c:v>
              </c:pt>
              <c:pt idx="5">
                <c:v>5</c:v>
              </c:pt>
              <c:pt idx="6">
                <c:v>6</c:v>
              </c:pt>
            </c:numLit>
          </c:xVal>
          <c:yVal>
            <c:numLit>
              <c:formatCode>0</c:formatCode>
              <c:ptCount val="7"/>
              <c:pt idx="0">
                <c:v>53</c:v>
              </c:pt>
              <c:pt idx="1">
                <c:v>46</c:v>
              </c:pt>
              <c:pt idx="2">
                <c:v>59</c:v>
              </c:pt>
              <c:pt idx="3">
                <c:v>52</c:v>
              </c:pt>
              <c:pt idx="4">
                <c:v>63</c:v>
              </c:pt>
              <c:pt idx="5">
                <c:v>54</c:v>
              </c:pt>
              <c:pt idx="6">
                <c:v>65</c:v>
              </c:pt>
            </c:numLit>
          </c:yVal>
        </c:ser>
        <c:ser>
          <c:idx val="1"/>
          <c:order val="1"/>
          <c:tx>
            <c:v>New point</c:v>
          </c:tx>
          <c:spPr>
            <a:solidFill xmlns:a="http://schemas.openxmlformats.org/drawingml/2006/main">
              <a:srgbClr val="6B51A3"/>
            </a:solidFill>
            <a:ln xmlns:a="http://schemas.openxmlformats.org/drawingml/2006/main" w="0">
              <a:noFill/>
            </a:ln>
          </c:spPr>
          <c:marker>
            <c:symbol val="diamond"/>
            <c:size val="10"/>
            <c:spPr>
              <a:noFill xmlns:a="http://schemas.openxmlformats.org/drawingml/2006/main"/>
            </c:spPr>
          </c:marker>
          <c:xVal>
            <c:numLit>
              <c:formatCode>General</c:formatCode>
              <c:ptCount val="1"/>
              <c:pt idx="0">
                <c:v>4</c:v>
              </c:pt>
            </c:numLit>
          </c:xVal>
          <c:yVal>
            <c:numLit>
              <c:formatCode>0</c:formatCode>
              <c:ptCount val="1"/>
              <c:pt idx="0">
                <c:v>95</c:v>
              </c:pt>
            </c:numLit>
          </c:yVal>
        </c:ser>
        <c:ser>
          <c:idx val="2"/>
          <c:order val="2"/>
          <c:tx>
            <c:v>原直線 / Original</c:v>
          </c:tx>
          <c:spPr>
            <a:solidFill xmlns:a="http://schemas.openxmlformats.org/drawingml/2006/main">
              <a:srgbClr val="B65320"/>
            </a:solidFill>
            <a:ln xmlns:a="http://schemas.openxmlformats.org/drawingml/2006/main" w="28575">
              <a:solidFill>
                <a:srgbClr val="B65320"/>
              </a:solidFill>
            </a:ln>
          </c:spPr>
          <c:marker>
            <c:symbol val="none"/>
          </c:marker>
          <c:xVal>
            <c:numLit>
              <c:formatCode>General</c:formatCode>
              <c:ptCount val="2"/>
              <c:pt idx="0">
                <c:v>0</c:v>
              </c:pt>
              <c:pt idx="1">
                <c:v>24</c:v>
              </c:pt>
            </c:numLit>
          </c:xVal>
          <c:yVal>
            <c:numLit>
              <c:formatCode>0</c:formatCode>
              <c:ptCount val="2"/>
              <c:pt idx="0">
                <c:v>50</c:v>
              </c:pt>
              <c:pt idx="1">
                <c:v>98</c:v>
              </c:pt>
            </c:numLit>
          </c:yVal>
        </c:ser>
        <c:ser>
          <c:idx val="3"/>
          <c:order val="3"/>
          <c:tx>
            <c:v>加入點後 / After</c:v>
          </c:tx>
          <c:spPr>
            <a:solidFill xmlns:a="http://schemas.openxmlformats.org/drawingml/2006/main">
              <a:srgbClr val="6B51A3"/>
            </a:solidFill>
            <a:ln xmlns:a="http://schemas.openxmlformats.org/drawingml/2006/main" w="28575">
              <a:solidFill>
                <a:srgbClr val="6B51A3"/>
              </a:solidFill>
            </a:ln>
          </c:spPr>
          <c:marker>
            <c:symbol val="none"/>
          </c:marker>
          <c:xVal>
            <c:numLit>
              <c:formatCode>General</c:formatCode>
              <c:ptCount val="2"/>
              <c:pt idx="0">
                <c:v>0</c:v>
              </c:pt>
              <c:pt idx="1">
                <c:v>15.6601941748</c:v>
              </c:pt>
            </c:numLit>
          </c:xVal>
          <c:yVal>
            <c:numLit>
              <c:formatCode>0</c:formatCode>
              <c:ptCount val="2"/>
              <c:pt idx="0">
                <c:v>51.1212121212</c:v>
              </c:pt>
              <c:pt idx="1">
                <c:v>100</c:v>
              </c:pt>
            </c:numLit>
          </c:yVal>
        </c:ser>
        <c:dLbls>
          <c:txPr>
            <a:bodyPr xmlns:a="http://schemas.openxmlformats.org/drawingml/2006/main" anchorCtr="1"/>
            <a:lstStyle xmlns:a="http://schemas.openxmlformats.org/drawingml/2006/main"/>
            <a:p xmlns:a="http://schemas.openxmlformats.org/drawingml/2006/main">
              <a:pPr>
                <a:defRPr>
                  <a:latin typeface="Heiti TC"/>
                  <a:ea typeface="Heiti TC"/>
                  <a:cs typeface="Heiti TC"/>
                </a:defRPr>
              </a:pPr>
            </a:p>
          </c:txPr>
          <c:showLegendKey val="0"/>
          <c:showVal val="0"/>
          <c:showCatName val="0"/>
          <c:showSerName val="0"/>
          <c:showPercent val="0"/>
          <c:showBubbleSize val="0"/>
          <c:showLeaderLines val="0"/>
        </c:dLbls>
        <c:axId val="48650112"/>
        <c:axId val="48672768"/>
      </c:scatterChart>
      <c:valAx>
        <c:axId val="48672768"/>
        <c:scaling>
          <c:orientation val="minMax"/>
          <c:max val="100"/>
          <c:min val="0"/>
        </c:scaling>
        <c:delete val="0"/>
        <c:axPos val="l"/>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Exam score</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50112"/>
        <c:majorUnit val="20"/>
      </c:valAx>
      <c:valAx>
        <c:axId val="48650112"/>
        <c:scaling>
          <c:orientation val="minMax"/>
          <c:max val="24"/>
          <c:min val="0"/>
        </c:scaling>
        <c:delete val="0"/>
        <c:axPos val="b"/>
        <c:majorGridlines>
          <c:spPr>
            <a:ln xmlns:a="http://schemas.openxmlformats.org/drawingml/2006/main" w="9525">
              <a:solidFill>
                <a:srgbClr val="D8E4DF"/>
              </a:solidFill>
            </a:ln>
          </c:spPr>
        </c:majorGridlines>
        <c:title>
          <c:tx>
            <c:rich>
              <a:bodyPr xmlns:a="http://schemas.openxmlformats.org/drawingml/2006/main"/>
              <a:lstStyle xmlns:a="http://schemas.openxmlformats.org/drawingml/2006/main"/>
              <a:p xmlns:a="http://schemas.openxmlformats.org/drawingml/2006/main">
                <a:r>
                  <a:rPr sz="1650">
                    <a:solidFill>
                      <a:srgbClr val="173C43"/>
                    </a:solidFill>
                    <a:latin typeface="Heiti TC"/>
                    <a:ea typeface="Heiti TC"/>
                    <a:cs typeface="Heiti TC"/>
                  </a:rPr>
                  <a:t>Daily study time (h)</a:t>
                </a:r>
              </a:p>
            </c:rich>
          </c:tx>
          <c:overlay val="0"/>
          <c:txPr>
            <a:bodyPr xmlns:a="http://schemas.openxmlformats.org/drawingml/2006/main" anchorCtr="1"/>
            <a:lstStyle xmlns:a="http://schemas.openxmlformats.org/drawingml/2006/main"/>
            <a:p xmlns:a="http://schemas.openxmlformats.org/drawingml/2006/main">
              <a:pPr>
                <a:defRPr sz="1650">
                  <a:solidFill>
                    <a:srgbClr val="173C43"/>
                  </a:solidFill>
                  <a:latin typeface="Heiti TC"/>
                  <a:ea typeface="Heiti TC"/>
                  <a:cs typeface="Heiti TC"/>
                </a:defRPr>
              </a:pPr>
            </a:p>
          </c:txPr>
        </c:title>
        <c:numFmt formatCode="0"/>
        <c:majorTickMark val="none"/>
        <c:minorTickMark val="none"/>
        <c:spPr>
          <a:ln xmlns:a="http://schemas.openxmlformats.org/drawingml/2006/main" w="9525">
            <a:solidFill>
              <a:srgbClr val="526B70"/>
            </a:solidFill>
          </a:ln>
        </c:spPr>
        <c:txPr>
          <a:bodyPr xmlns:a="http://schemas.openxmlformats.org/drawingml/2006/main" anchorCtr="1"/>
          <a:lstStyle xmlns:a="http://schemas.openxmlformats.org/drawingml/2006/main"/>
          <a:p xmlns:a="http://schemas.openxmlformats.org/drawingml/2006/main">
            <a:pPr>
              <a:defRPr sz="1500">
                <a:solidFill>
                  <a:srgbClr val="526B70"/>
                </a:solidFill>
                <a:latin typeface="Heiti TC"/>
                <a:ea typeface="Heiti TC"/>
                <a:cs typeface="Heiti TC"/>
              </a:defRPr>
            </a:pPr>
          </a:p>
        </c:txPr>
        <c:crossAx val="48672768"/>
        <c:majorUnit val="6"/>
      </c:valAx>
      <c:spPr>
        <a:solidFill xmlns:a="http://schemas.openxmlformats.org/drawingml/2006/main">
          <a:srgbClr val="FFFFFF"/>
        </a:solidFill>
        <a:ln xmlns:a="http://schemas.openxmlformats.org/drawingml/2006/main" w="9525">
          <a:solidFill>
            <a:srgbClr val="D8E4DF"/>
          </a:solidFill>
        </a:ln>
      </c:spPr>
    </c:plotArea>
    <c:plotVisOnly val="1"/>
  </c:chart>
  <c:spPr>
    <a:solidFill xmlns:a="http://schemas.openxmlformats.org/drawingml/2006/main">
      <a:srgbClr val="F5F7F4"/>
    </a:solidFill>
    <a:ln xmlns:a="http://schemas.openxmlformats.org/drawingml/2006/main" w="0">
      <a:noFill/>
    </a:ln>
  </c:spPr>
</c:chartSpace>
</file>

<file path=ppt/slides/slide1.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0F078CB-91FA-446D-B137-0F676B57ADAA}"/>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電腦會聽你的指令嗎？</a:t>
            </a:r>
          </a:p>
        </p:txBody>
      </p:sp>
      <p:sp>
        <p:nvSpPr>
          <p:cNvPr id="2" name="">
            <a:extLst xmlns:a="http://schemas.openxmlformats.org/drawingml/2006/main">
              <a:ext uri="{FF2B5EF4-FFF2-40B4-BE49-F238E27FC236}">
                <a16:creationId xmlns:a16="http://schemas.microsoft.com/office/drawing/2014/main" id="{235F1B43-90CB-4DBB-A506-7A84F18AF92E}"/>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Will the computer follow your instructions?</a:t>
            </a:r>
          </a:p>
        </p:txBody>
      </p:sp>
      <p:sp>
        <p:nvSpPr>
          <p:cNvPr id="3" name="">
            <a:extLst xmlns:a="http://schemas.openxmlformats.org/drawingml/2006/main">
              <a:ext uri="{FF2B5EF4-FFF2-40B4-BE49-F238E27FC236}">
                <a16:creationId xmlns:a16="http://schemas.microsoft.com/office/drawing/2014/main" id="{B34CB25C-DA78-43A0-845F-7862F40433A5}"/>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1</a:t>
            </a:r>
          </a:p>
        </p:txBody>
      </p:sp>
      <p:sp>
        <p:nvSpPr>
          <p:cNvPr id="4" name="">
            <a:extLst xmlns:a="http://schemas.openxmlformats.org/drawingml/2006/main">
              <a:ext uri="{FF2B5EF4-FFF2-40B4-BE49-F238E27FC236}">
                <a16:creationId xmlns:a16="http://schemas.microsoft.com/office/drawing/2014/main" id="{3C6C3836-27AB-47D8-9680-1EFB94B6EA70}"/>
              </a:ext>
            </a:extLst>
          </p:cNvPr>
          <p:cNvSpPr>
            <a:spLocks xmlns:a="http://schemas.openxmlformats.org/drawingml/2006/main" noGrp="1"/>
          </p:cNvSpPr>
          <p:nvPr/>
        </p:nvSpPr>
        <p:spPr>
          <a:xfrm xmlns:a="http://schemas.openxmlformats.org/drawingml/2006/main">
            <a:off x="857250" y="1809750"/>
            <a:ext cx="100965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0">
                <a:solidFill>
                  <a:srgbClr val="086C61"/>
                </a:solidFill>
                <a:latin typeface="Courier New"/>
                <a:ea typeface="Courier New"/>
                <a:cs typeface="Courier New"/>
              </a:defRPr>
            </a:pPr>
            <a:r>
              <a:rPr sz="3450" b="0">
                <a:solidFill>
                  <a:srgbClr val="086C61"/>
                </a:solidFill>
                <a:latin typeface="Courier New"/>
                <a:ea typeface="Courier New"/>
                <a:cs typeface="Courier New"/>
              </a:rPr>
              <a:t>message = "Hello, AI!"</a:t>
            </a:r>
          </a:p>
          <a:p xmlns:a="http://schemas.openxmlformats.org/drawingml/2006/main">
            <a:pPr>
              <a:defRPr sz="3450" b="0">
                <a:solidFill>
                  <a:srgbClr val="086C61"/>
                </a:solidFill>
                <a:latin typeface="Courier New"/>
                <a:ea typeface="Courier New"/>
                <a:cs typeface="Courier New"/>
              </a:defRPr>
            </a:pPr>
            <a:r>
              <a:rPr sz="3450" b="0">
                <a:solidFill>
                  <a:srgbClr val="086C61"/>
                </a:solidFill>
                <a:latin typeface="Courier New"/>
                <a:ea typeface="Courier New"/>
                <a:cs typeface="Courier New"/>
              </a:rPr>
              <a:t>print(message)</a:t>
            </a:r>
          </a:p>
        </p:txBody>
      </p:sp>
      <p:sp>
        <p:nvSpPr>
          <p:cNvPr id="5" name="">
            <a:extLst xmlns:a="http://schemas.openxmlformats.org/drawingml/2006/main">
              <a:ext uri="{FF2B5EF4-FFF2-40B4-BE49-F238E27FC236}">
                <a16:creationId xmlns:a16="http://schemas.microsoft.com/office/drawing/2014/main" id="{A6EB90CC-3B9F-45A8-B206-ACD436C632C2}"/>
              </a:ext>
            </a:extLst>
          </p:cNvPr>
          <p:cNvSpPr>
            <a:spLocks xmlns:a="http://schemas.openxmlformats.org/drawingml/2006/main" noGrp="1"/>
          </p:cNvSpPr>
          <p:nvPr/>
        </p:nvSpPr>
        <p:spPr>
          <a:xfrm xmlns:a="http://schemas.openxmlformats.org/drawingml/2006/main">
            <a:off x="857250" y="3762375"/>
            <a:ext cx="10382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0">
                <a:solidFill>
                  <a:srgbClr val="173C43"/>
                </a:solidFill>
                <a:latin typeface="Heiti TC"/>
                <a:ea typeface="Heiti TC"/>
                <a:cs typeface="Heiti TC"/>
              </a:defRPr>
            </a:pPr>
            <a:r>
              <a:rPr sz="3000" b="0">
                <a:solidFill>
                  <a:srgbClr val="173C43"/>
                </a:solidFill>
                <a:latin typeface="Heiti TC"/>
                <a:ea typeface="Heiti TC"/>
                <a:cs typeface="Heiti TC"/>
              </a:rPr>
              <a:t>猜猜看：螢幕會顯示甚麼？</a:t>
            </a:r>
          </a:p>
        </p:txBody>
      </p:sp>
      <p:sp>
        <p:nvSpPr>
          <p:cNvPr id="6" name="">
            <a:extLst xmlns:a="http://schemas.openxmlformats.org/drawingml/2006/main">
              <a:ext uri="{FF2B5EF4-FFF2-40B4-BE49-F238E27FC236}">
                <a16:creationId xmlns:a16="http://schemas.microsoft.com/office/drawing/2014/main" id="{9BEA0A08-15E0-4E90-91F6-6C44F86E0E23}"/>
              </a:ext>
            </a:extLst>
          </p:cNvPr>
          <p:cNvSpPr>
            <a:spLocks xmlns:a="http://schemas.openxmlformats.org/drawingml/2006/main" noGrp="1"/>
          </p:cNvSpPr>
          <p:nvPr/>
        </p:nvSpPr>
        <p:spPr>
          <a:xfrm xmlns:a="http://schemas.openxmlformats.org/drawingml/2006/main">
            <a:off x="857250" y="4229100"/>
            <a:ext cx="10382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526B70"/>
                </a:solidFill>
                <a:latin typeface="Arial"/>
                <a:ea typeface="Arial"/>
                <a:cs typeface="Arial"/>
              </a:defRPr>
            </a:pPr>
            <a:r>
              <a:rPr sz="2400" b="0">
                <a:solidFill>
                  <a:srgbClr val="526B70"/>
                </a:solidFill>
                <a:latin typeface="Arial"/>
                <a:ea typeface="Arial"/>
                <a:cs typeface="Arial"/>
              </a:rPr>
              <a:t>Guess: what will appear on the screen?</a:t>
            </a:r>
          </a:p>
        </p:txBody>
      </p:sp>
      <p:sp>
        <p:nvSpPr>
          <p:cNvPr id="7" name="">
            <a:extLst xmlns:a="http://schemas.openxmlformats.org/drawingml/2006/main">
              <a:ext uri="{FF2B5EF4-FFF2-40B4-BE49-F238E27FC236}">
                <a16:creationId xmlns:a16="http://schemas.microsoft.com/office/drawing/2014/main" id="{D0AE2506-B954-4A3D-BFE2-B7986EE66463}"/>
              </a:ext>
            </a:extLst>
          </p:cNvPr>
          <p:cNvSpPr>
            <a:spLocks xmlns:a="http://schemas.openxmlformats.org/drawingml/2006/main" noGrp="1"/>
          </p:cNvSpPr>
          <p:nvPr/>
        </p:nvSpPr>
        <p:spPr>
          <a:xfrm xmlns:a="http://schemas.openxmlformats.org/drawingml/2006/main">
            <a:off x="857250" y="5095875"/>
            <a:ext cx="10382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73C43"/>
                </a:solidFill>
                <a:latin typeface="Heiti TC"/>
                <a:ea typeface="Heiti TC"/>
                <a:cs typeface="Heiti TC"/>
              </a:defRPr>
            </a:pPr>
            <a:r>
              <a:rPr sz="2250" b="0">
                <a:solidFill>
                  <a:srgbClr val="173C43"/>
                </a:solidFill>
                <a:latin typeface="Heiti TC"/>
                <a:ea typeface="Heiti TC"/>
                <a:cs typeface="Heiti TC"/>
              </a:rPr>
              <a:t>先看老師示範，開啟自己的副本後再試</a:t>
            </a:r>
          </a:p>
        </p:txBody>
      </p:sp>
      <p:sp>
        <p:nvSpPr>
          <p:cNvPr id="8" name="">
            <a:extLst xmlns:a="http://schemas.openxmlformats.org/drawingml/2006/main">
              <a:ext uri="{FF2B5EF4-FFF2-40B4-BE49-F238E27FC236}">
                <a16:creationId xmlns:a16="http://schemas.microsoft.com/office/drawing/2014/main" id="{B4F1C29E-7283-4A68-93FD-2888D92FC457}"/>
              </a:ext>
            </a:extLst>
          </p:cNvPr>
          <p:cNvSpPr>
            <a:spLocks xmlns:a="http://schemas.openxmlformats.org/drawingml/2006/main" noGrp="1"/>
          </p:cNvSpPr>
          <p:nvPr/>
        </p:nvSpPr>
        <p:spPr>
          <a:xfrm xmlns:a="http://schemas.openxmlformats.org/drawingml/2006/main">
            <a:off x="857250" y="5562600"/>
            <a:ext cx="10382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Watch the teacher first, then repeat in your own copy</a:t>
            </a:r>
          </a:p>
        </p:txBody>
      </p:sp>
    </p:spTree>
    <p:extLst>
      <p:ext uri="{BB962C8B-B14F-4D97-AF65-F5344CB8AC3E}">
        <p14:creationId xmlns:p14="http://schemas.microsoft.com/office/powerpoint/2010/main" val="2027243489"/>
      </p:ext>
    </p:extLst>
  </p:cSld>
</p:sld>
</file>

<file path=ppt/slides/slide2.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D8D5584-91CA-479C-B26F-27EF07ABA7BB}"/>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換一句話，試試看</a:t>
            </a:r>
          </a:p>
        </p:txBody>
      </p:sp>
      <p:sp>
        <p:nvSpPr>
          <p:cNvPr id="2" name="">
            <a:extLst xmlns:a="http://schemas.openxmlformats.org/drawingml/2006/main">
              <a:ext uri="{FF2B5EF4-FFF2-40B4-BE49-F238E27FC236}">
                <a16:creationId xmlns:a16="http://schemas.microsoft.com/office/drawing/2014/main" id="{65BE3DF3-4659-4830-9B3E-6EB159288099}"/>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Change the greeting and try again</a:t>
            </a:r>
          </a:p>
        </p:txBody>
      </p:sp>
      <p:sp>
        <p:nvSpPr>
          <p:cNvPr id="3" name="">
            <a:extLst xmlns:a="http://schemas.openxmlformats.org/drawingml/2006/main">
              <a:ext uri="{FF2B5EF4-FFF2-40B4-BE49-F238E27FC236}">
                <a16:creationId xmlns:a16="http://schemas.microsoft.com/office/drawing/2014/main" id="{E196BC11-A444-4B61-B48B-E94227499C51}"/>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2</a:t>
            </a:r>
          </a:p>
        </p:txBody>
      </p:sp>
      <p:sp>
        <p:nvSpPr>
          <p:cNvPr id="4" name="">
            <a:extLst xmlns:a="http://schemas.openxmlformats.org/drawingml/2006/main">
              <a:ext uri="{FF2B5EF4-FFF2-40B4-BE49-F238E27FC236}">
                <a16:creationId xmlns:a16="http://schemas.microsoft.com/office/drawing/2014/main" id="{3E98D0E4-01D4-488A-8571-6B68F974743D}"/>
              </a:ext>
            </a:extLst>
          </p:cNvPr>
          <p:cNvSpPr>
            <a:spLocks xmlns:a="http://schemas.openxmlformats.org/drawingml/2006/main" noGrp="1"/>
          </p:cNvSpPr>
          <p:nvPr/>
        </p:nvSpPr>
        <p:spPr>
          <a:xfrm xmlns:a="http://schemas.openxmlformats.org/drawingml/2006/main">
            <a:off x="857250" y="1809750"/>
            <a:ext cx="100965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0">
                <a:solidFill>
                  <a:srgbClr val="086C61"/>
                </a:solidFill>
                <a:latin typeface="Courier New"/>
                <a:ea typeface="Courier New"/>
                <a:cs typeface="Courier New"/>
              </a:defRPr>
            </a:pPr>
            <a:r>
              <a:rPr sz="2925" b="0">
                <a:solidFill>
                  <a:srgbClr val="086C61"/>
                </a:solidFill>
                <a:latin typeface="Courier New"/>
                <a:ea typeface="Courier New"/>
                <a:cs typeface="Courier New"/>
              </a:rPr>
              <a:t>message = "Hello, future robot!"</a:t>
            </a:r>
          </a:p>
          <a:p xmlns:a="http://schemas.openxmlformats.org/drawingml/2006/main">
            <a:pPr>
              <a:defRPr sz="2925" b="0">
                <a:solidFill>
                  <a:srgbClr val="086C61"/>
                </a:solidFill>
                <a:latin typeface="Courier New"/>
                <a:ea typeface="Courier New"/>
                <a:cs typeface="Courier New"/>
              </a:defRPr>
            </a:pPr>
            <a:r>
              <a:rPr sz="2925" b="0">
                <a:solidFill>
                  <a:srgbClr val="086C61"/>
                </a:solidFill>
                <a:latin typeface="Courier New"/>
                <a:ea typeface="Courier New"/>
                <a:cs typeface="Courier New"/>
              </a:rPr>
              <a:t>print(message)</a:t>
            </a:r>
          </a:p>
        </p:txBody>
      </p:sp>
      <p:sp>
        <p:nvSpPr>
          <p:cNvPr id="5" name="">
            <a:extLst xmlns:a="http://schemas.openxmlformats.org/drawingml/2006/main">
              <a:ext uri="{FF2B5EF4-FFF2-40B4-BE49-F238E27FC236}">
                <a16:creationId xmlns:a16="http://schemas.microsoft.com/office/drawing/2014/main" id="{7732DAFC-2FBF-4D7F-809E-30B2A2AF055A}"/>
              </a:ext>
            </a:extLst>
          </p:cNvPr>
          <p:cNvSpPr>
            <a:spLocks xmlns:a="http://schemas.openxmlformats.org/drawingml/2006/main" noGrp="1"/>
          </p:cNvSpPr>
          <p:nvPr/>
        </p:nvSpPr>
        <p:spPr>
          <a:xfrm xmlns:a="http://schemas.openxmlformats.org/drawingml/2006/main">
            <a:off x="857250" y="3762375"/>
            <a:ext cx="10382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73C43"/>
                </a:solidFill>
                <a:latin typeface="Heiti TC"/>
                <a:ea typeface="Heiti TC"/>
                <a:cs typeface="Heiti TC"/>
              </a:defRPr>
            </a:pPr>
            <a:r>
              <a:rPr sz="2550" b="0">
                <a:solidFill>
                  <a:srgbClr val="173C43"/>
                </a:solidFill>
                <a:latin typeface="Heiti TC"/>
                <a:ea typeface="Heiti TC"/>
                <a:cs typeface="Heiti TC"/>
              </a:rPr>
              <a:t>改引號內的文字，再執行一次</a:t>
            </a:r>
          </a:p>
        </p:txBody>
      </p:sp>
      <p:sp>
        <p:nvSpPr>
          <p:cNvPr id="6" name="">
            <a:extLst xmlns:a="http://schemas.openxmlformats.org/drawingml/2006/main">
              <a:ext uri="{FF2B5EF4-FFF2-40B4-BE49-F238E27FC236}">
                <a16:creationId xmlns:a16="http://schemas.microsoft.com/office/drawing/2014/main" id="{B9702768-7D02-4151-B712-E0BC3AB62F9C}"/>
              </a:ext>
            </a:extLst>
          </p:cNvPr>
          <p:cNvSpPr>
            <a:spLocks xmlns:a="http://schemas.openxmlformats.org/drawingml/2006/main" noGrp="1"/>
          </p:cNvSpPr>
          <p:nvPr/>
        </p:nvSpPr>
        <p:spPr>
          <a:xfrm xmlns:a="http://schemas.openxmlformats.org/drawingml/2006/main">
            <a:off x="857250" y="4229100"/>
            <a:ext cx="10382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526B70"/>
                </a:solidFill>
                <a:latin typeface="Arial"/>
                <a:ea typeface="Arial"/>
                <a:cs typeface="Arial"/>
              </a:defRPr>
            </a:pPr>
            <a:r>
              <a:rPr sz="1950" b="0">
                <a:solidFill>
                  <a:srgbClr val="526B70"/>
                </a:solidFill>
                <a:latin typeface="Arial"/>
                <a:ea typeface="Arial"/>
                <a:cs typeface="Arial"/>
              </a:rPr>
              <a:t>Change the text inside the quotes, then run again</a:t>
            </a:r>
          </a:p>
        </p:txBody>
      </p:sp>
      <p:sp>
        <p:nvSpPr>
          <p:cNvPr id="7" name="">
            <a:extLst xmlns:a="http://schemas.openxmlformats.org/drawingml/2006/main">
              <a:ext uri="{FF2B5EF4-FFF2-40B4-BE49-F238E27FC236}">
                <a16:creationId xmlns:a16="http://schemas.microsoft.com/office/drawing/2014/main" id="{363318BD-59B8-43E4-909A-3BABEBDF731F}"/>
              </a:ext>
            </a:extLst>
          </p:cNvPr>
          <p:cNvSpPr>
            <a:spLocks xmlns:a="http://schemas.openxmlformats.org/drawingml/2006/main" noGrp="1"/>
          </p:cNvSpPr>
          <p:nvPr/>
        </p:nvSpPr>
        <p:spPr>
          <a:xfrm xmlns:a="http://schemas.openxmlformats.org/drawingml/2006/main">
            <a:off x="857250" y="5057775"/>
            <a:ext cx="10382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73C43"/>
                </a:solidFill>
                <a:latin typeface="Heiti TC"/>
                <a:ea typeface="Heiti TC"/>
                <a:cs typeface="Heiti TC"/>
              </a:defRPr>
            </a:pPr>
            <a:r>
              <a:rPr sz="2325" b="0">
                <a:solidFill>
                  <a:srgbClr val="173C43"/>
                </a:solidFill>
                <a:latin typeface="Heiti TC"/>
                <a:ea typeface="Heiti TC"/>
                <a:cs typeface="Heiti TC"/>
              </a:rPr>
              <a:t>成功了？你已經完成第一個 Python 小實驗</a:t>
            </a:r>
          </a:p>
        </p:txBody>
      </p:sp>
      <p:sp>
        <p:nvSpPr>
          <p:cNvPr id="8" name="">
            <a:extLst xmlns:a="http://schemas.openxmlformats.org/drawingml/2006/main">
              <a:ext uri="{FF2B5EF4-FFF2-40B4-BE49-F238E27FC236}">
                <a16:creationId xmlns:a16="http://schemas.microsoft.com/office/drawing/2014/main" id="{FAAD12D9-0119-4374-B1CA-DA689A7E8FBE}"/>
              </a:ext>
            </a:extLst>
          </p:cNvPr>
          <p:cNvSpPr>
            <a:spLocks xmlns:a="http://schemas.openxmlformats.org/drawingml/2006/main" noGrp="1"/>
          </p:cNvSpPr>
          <p:nvPr/>
        </p:nvSpPr>
        <p:spPr>
          <a:xfrm xmlns:a="http://schemas.openxmlformats.org/drawingml/2006/main">
            <a:off x="857250" y="5524500"/>
            <a:ext cx="10382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Did it work? You have completed your first Python experiment</a:t>
            </a:r>
          </a:p>
        </p:txBody>
      </p:sp>
    </p:spTree>
    <p:extLst>
      <p:ext uri="{BB962C8B-B14F-4D97-AF65-F5344CB8AC3E}">
        <p14:creationId xmlns:p14="http://schemas.microsoft.com/office/powerpoint/2010/main" val="1406891811"/>
      </p:ext>
    </p:extLst>
  </p:cSld>
</p:sld>
</file>

<file path=ppt/slides/slide3.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7A5E924-C3EA-4AAC-9BA8-023CD4B892B5}"/>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今天的挑戰：讓電腦找一條線</a:t>
            </a:r>
          </a:p>
        </p:txBody>
      </p:sp>
      <p:sp>
        <p:nvSpPr>
          <p:cNvPr id="2" name="">
            <a:extLst xmlns:a="http://schemas.openxmlformats.org/drawingml/2006/main">
              <a:ext uri="{FF2B5EF4-FFF2-40B4-BE49-F238E27FC236}">
                <a16:creationId xmlns:a16="http://schemas.microsoft.com/office/drawing/2014/main" id="{FDF30673-3809-4EA3-88F3-41DA3BCF5F6A}"/>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Today’s challenge: let the computer find the line</a:t>
            </a:r>
          </a:p>
        </p:txBody>
      </p:sp>
      <p:sp>
        <p:nvSpPr>
          <p:cNvPr id="3" name="">
            <a:extLst xmlns:a="http://schemas.openxmlformats.org/drawingml/2006/main">
              <a:ext uri="{FF2B5EF4-FFF2-40B4-BE49-F238E27FC236}">
                <a16:creationId xmlns:a16="http://schemas.microsoft.com/office/drawing/2014/main" id="{A1405D65-A673-4392-924B-C79B02440E65}"/>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3</a:t>
            </a:r>
          </a:p>
        </p:txBody>
      </p:sp>
      <p:sp>
        <p:nvSpPr>
          <p:cNvPr id="4" name="">
            <a:extLst xmlns:a="http://schemas.openxmlformats.org/drawingml/2006/main">
              <a:ext uri="{FF2B5EF4-FFF2-40B4-BE49-F238E27FC236}">
                <a16:creationId xmlns:a16="http://schemas.microsoft.com/office/drawing/2014/main" id="{6BB0B1A4-080D-4D15-8DEA-C76C6EC0F4D6}"/>
              </a:ext>
            </a:extLst>
          </p:cNvPr>
          <p:cNvSpPr>
            <a:spLocks xmlns:a="http://schemas.openxmlformats.org/drawingml/2006/main" noGrp="1"/>
          </p:cNvSpPr>
          <p:nvPr/>
        </p:nvSpPr>
        <p:spPr>
          <a:xfrm xmlns:a="http://schemas.openxmlformats.org/drawingml/2006/main">
            <a:off x="609600" y="1809750"/>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73C43"/>
                </a:solidFill>
                <a:latin typeface="Heiti TC"/>
                <a:ea typeface="Heiti TC"/>
                <a:cs typeface="Heiti TC"/>
              </a:defRPr>
            </a:pPr>
            <a:r>
              <a:rPr sz="2550" b="0">
                <a:solidFill>
                  <a:srgbClr val="173C43"/>
                </a:solidFill>
                <a:latin typeface="Heiti TC"/>
                <a:ea typeface="Heiti TC"/>
                <a:cs typeface="Heiti TC"/>
              </a:rPr>
              <a:t>上堂：你用眼睛觀察，畫一條合適的直線</a:t>
            </a:r>
          </a:p>
        </p:txBody>
      </p:sp>
      <p:sp>
        <p:nvSpPr>
          <p:cNvPr id="5" name="">
            <a:extLst xmlns:a="http://schemas.openxmlformats.org/drawingml/2006/main">
              <a:ext uri="{FF2B5EF4-FFF2-40B4-BE49-F238E27FC236}">
                <a16:creationId xmlns:a16="http://schemas.microsoft.com/office/drawing/2014/main" id="{CF28EDFF-2F1C-4822-90DE-6A9DD012BDE4}"/>
              </a:ext>
            </a:extLst>
          </p:cNvPr>
          <p:cNvSpPr>
            <a:spLocks xmlns:a="http://schemas.openxmlformats.org/drawingml/2006/main" noGrp="1"/>
          </p:cNvSpPr>
          <p:nvPr/>
        </p:nvSpPr>
        <p:spPr>
          <a:xfrm xmlns:a="http://schemas.openxmlformats.org/drawingml/2006/main">
            <a:off x="609600" y="227647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526B70"/>
                </a:solidFill>
                <a:latin typeface="Arial"/>
                <a:ea typeface="Arial"/>
                <a:cs typeface="Arial"/>
              </a:defRPr>
            </a:pPr>
            <a:r>
              <a:rPr sz="1950" b="0">
                <a:solidFill>
                  <a:srgbClr val="526B70"/>
                </a:solidFill>
                <a:latin typeface="Arial"/>
                <a:ea typeface="Arial"/>
                <a:cs typeface="Arial"/>
              </a:rPr>
              <a:t>Last time: you looked at the dots and drew a line</a:t>
            </a:r>
          </a:p>
        </p:txBody>
      </p:sp>
      <p:sp>
        <p:nvSpPr>
          <p:cNvPr id="6" name="">
            <a:extLst xmlns:a="http://schemas.openxmlformats.org/drawingml/2006/main">
              <a:ext uri="{FF2B5EF4-FFF2-40B4-BE49-F238E27FC236}">
                <a16:creationId xmlns:a16="http://schemas.microsoft.com/office/drawing/2014/main" id="{9080817C-4330-4151-B2C4-0511EA9ACBEA}"/>
              </a:ext>
            </a:extLst>
          </p:cNvPr>
          <p:cNvSpPr>
            <a:spLocks xmlns:a="http://schemas.openxmlformats.org/drawingml/2006/main" noGrp="1"/>
          </p:cNvSpPr>
          <p:nvPr/>
        </p:nvSpPr>
        <p:spPr>
          <a:xfrm xmlns:a="http://schemas.openxmlformats.org/drawingml/2006/main">
            <a:off x="609600" y="3190875"/>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73C43"/>
                </a:solidFill>
                <a:latin typeface="Heiti TC"/>
                <a:ea typeface="Heiti TC"/>
                <a:cs typeface="Heiti TC"/>
              </a:defRPr>
            </a:pPr>
            <a:r>
              <a:rPr sz="2550" b="0">
                <a:solidFill>
                  <a:srgbClr val="173C43"/>
                </a:solidFill>
                <a:latin typeface="Heiti TC"/>
                <a:ea typeface="Heiti TC"/>
                <a:cs typeface="Heiti TC"/>
              </a:rPr>
              <a:t>今堂：用 Python 執行、改數據、作預測</a:t>
            </a:r>
          </a:p>
        </p:txBody>
      </p:sp>
      <p:sp>
        <p:nvSpPr>
          <p:cNvPr id="7" name="">
            <a:extLst xmlns:a="http://schemas.openxmlformats.org/drawingml/2006/main">
              <a:ext uri="{FF2B5EF4-FFF2-40B4-BE49-F238E27FC236}">
                <a16:creationId xmlns:a16="http://schemas.microsoft.com/office/drawing/2014/main" id="{F44F3694-D3DD-48ED-A142-2CDFF7798C6C}"/>
              </a:ext>
            </a:extLst>
          </p:cNvPr>
          <p:cNvSpPr>
            <a:spLocks xmlns:a="http://schemas.openxmlformats.org/drawingml/2006/main" noGrp="1"/>
          </p:cNvSpPr>
          <p:nvPr/>
        </p:nvSpPr>
        <p:spPr>
          <a:xfrm xmlns:a="http://schemas.openxmlformats.org/drawingml/2006/main">
            <a:off x="609600" y="365760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526B70"/>
                </a:solidFill>
                <a:latin typeface="Arial"/>
                <a:ea typeface="Arial"/>
                <a:cs typeface="Arial"/>
              </a:defRPr>
            </a:pPr>
            <a:r>
              <a:rPr sz="1950" b="0">
                <a:solidFill>
                  <a:srgbClr val="526B70"/>
                </a:solidFill>
                <a:latin typeface="Arial"/>
                <a:ea typeface="Arial"/>
                <a:cs typeface="Arial"/>
              </a:rPr>
              <a:t>Today: use Python to run code, change data and predict</a:t>
            </a:r>
          </a:p>
        </p:txBody>
      </p:sp>
      <p:sp>
        <p:nvSpPr>
          <p:cNvPr id="8" name="">
            <a:extLst xmlns:a="http://schemas.openxmlformats.org/drawingml/2006/main">
              <a:ext uri="{FF2B5EF4-FFF2-40B4-BE49-F238E27FC236}">
                <a16:creationId xmlns:a16="http://schemas.microsoft.com/office/drawing/2014/main" id="{0E99A807-1361-4D92-9F09-CF957AA4B2FB}"/>
              </a:ext>
            </a:extLst>
          </p:cNvPr>
          <p:cNvSpPr>
            <a:spLocks xmlns:a="http://schemas.openxmlformats.org/drawingml/2006/main" noGrp="1"/>
          </p:cNvSpPr>
          <p:nvPr/>
        </p:nvSpPr>
        <p:spPr>
          <a:xfrm xmlns:a="http://schemas.openxmlformats.org/drawingml/2006/main">
            <a:off x="609600" y="4572000"/>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73C43"/>
                </a:solidFill>
                <a:latin typeface="Heiti TC"/>
                <a:ea typeface="Heiti TC"/>
                <a:cs typeface="Heiti TC"/>
              </a:defRPr>
            </a:pPr>
            <a:r>
              <a:rPr sz="2550" b="0">
                <a:solidFill>
                  <a:srgbClr val="173C43"/>
                </a:solidFill>
                <a:latin typeface="Heiti TC"/>
                <a:ea typeface="Heiti TC"/>
                <a:cs typeface="Heiti TC"/>
              </a:rPr>
              <a:t>目標是看懂變化，無需背下每一行程式</a:t>
            </a:r>
          </a:p>
        </p:txBody>
      </p:sp>
      <p:sp>
        <p:nvSpPr>
          <p:cNvPr id="9" name="">
            <a:extLst xmlns:a="http://schemas.openxmlformats.org/drawingml/2006/main">
              <a:ext uri="{FF2B5EF4-FFF2-40B4-BE49-F238E27FC236}">
                <a16:creationId xmlns:a16="http://schemas.microsoft.com/office/drawing/2014/main" id="{39371BEC-3E7C-4A4C-8470-7EF813DAFF1F}"/>
              </a:ext>
            </a:extLst>
          </p:cNvPr>
          <p:cNvSpPr>
            <a:spLocks xmlns:a="http://schemas.openxmlformats.org/drawingml/2006/main" noGrp="1"/>
          </p:cNvSpPr>
          <p:nvPr/>
        </p:nvSpPr>
        <p:spPr>
          <a:xfrm xmlns:a="http://schemas.openxmlformats.org/drawingml/2006/main">
            <a:off x="609600" y="50387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526B70"/>
                </a:solidFill>
                <a:latin typeface="Arial"/>
                <a:ea typeface="Arial"/>
                <a:cs typeface="Arial"/>
              </a:defRPr>
            </a:pPr>
            <a:r>
              <a:rPr sz="1950" b="0">
                <a:solidFill>
                  <a:srgbClr val="526B70"/>
                </a:solidFill>
                <a:latin typeface="Arial"/>
                <a:ea typeface="Arial"/>
                <a:cs typeface="Arial"/>
              </a:rPr>
              <a:t>Notice what changes. You do not need to memorise every line</a:t>
            </a:r>
          </a:p>
        </p:txBody>
      </p:sp>
    </p:spTree>
    <p:extLst>
      <p:ext uri="{BB962C8B-B14F-4D97-AF65-F5344CB8AC3E}">
        <p14:creationId xmlns:p14="http://schemas.microsoft.com/office/powerpoint/2010/main" val="65354577"/>
      </p:ext>
    </p:extLst>
  </p:cSld>
</p:sld>
</file>

<file path=ppt/slides/slide4.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D2E8FE2-7BF0-44F5-BDA6-B78D13033496}"/>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Python、Notebook、Colab 是甚麼？</a:t>
            </a:r>
          </a:p>
        </p:txBody>
      </p:sp>
      <p:sp>
        <p:nvSpPr>
          <p:cNvPr id="2" name="">
            <a:extLst xmlns:a="http://schemas.openxmlformats.org/drawingml/2006/main">
              <a:ext uri="{FF2B5EF4-FFF2-40B4-BE49-F238E27FC236}">
                <a16:creationId xmlns:a16="http://schemas.microsoft.com/office/drawing/2014/main" id="{FEF81CE4-1521-4C6C-A9CE-88E263A10A5B}"/>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What are Python, a notebook and Colab?</a:t>
            </a:r>
          </a:p>
        </p:txBody>
      </p:sp>
      <p:sp>
        <p:nvSpPr>
          <p:cNvPr id="3" name="">
            <a:extLst xmlns:a="http://schemas.openxmlformats.org/drawingml/2006/main">
              <a:ext uri="{FF2B5EF4-FFF2-40B4-BE49-F238E27FC236}">
                <a16:creationId xmlns:a16="http://schemas.microsoft.com/office/drawing/2014/main" id="{B17A31BB-5176-44C3-BDA3-70F3B0850A57}"/>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4</a:t>
            </a:r>
          </a:p>
        </p:txBody>
      </p:sp>
      <p:sp>
        <p:nvSpPr>
          <p:cNvPr id="4" name="">
            <a:extLst xmlns:a="http://schemas.openxmlformats.org/drawingml/2006/main">
              <a:ext uri="{FF2B5EF4-FFF2-40B4-BE49-F238E27FC236}">
                <a16:creationId xmlns:a16="http://schemas.microsoft.com/office/drawing/2014/main" id="{13161813-1831-4180-A0AC-8465F4974337}"/>
              </a:ext>
            </a:extLst>
          </p:cNvPr>
          <p:cNvSpPr>
            <a:spLocks xmlns:a="http://schemas.openxmlformats.org/drawingml/2006/main" noGrp="1"/>
          </p:cNvSpPr>
          <p:nvPr/>
        </p:nvSpPr>
        <p:spPr>
          <a:xfrm xmlns:a="http://schemas.openxmlformats.org/drawingml/2006/main">
            <a:off x="609600" y="1809750"/>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73C43"/>
                </a:solidFill>
                <a:latin typeface="Heiti TC"/>
                <a:ea typeface="Heiti TC"/>
                <a:cs typeface="Heiti TC"/>
              </a:defRPr>
            </a:pPr>
            <a:r>
              <a:rPr sz="2550" b="0">
                <a:solidFill>
                  <a:srgbClr val="173C43"/>
                </a:solidFill>
                <a:latin typeface="Heiti TC"/>
                <a:ea typeface="Heiti TC"/>
                <a:cs typeface="Heiti TC"/>
              </a:rPr>
              <a:t>Python：給電腦指令的程式語言</a:t>
            </a:r>
          </a:p>
        </p:txBody>
      </p:sp>
      <p:sp>
        <p:nvSpPr>
          <p:cNvPr id="5" name="">
            <a:extLst xmlns:a="http://schemas.openxmlformats.org/drawingml/2006/main">
              <a:ext uri="{FF2B5EF4-FFF2-40B4-BE49-F238E27FC236}">
                <a16:creationId xmlns:a16="http://schemas.microsoft.com/office/drawing/2014/main" id="{875B46A3-DDBC-422D-AB9D-F7C08E3D82D6}"/>
              </a:ext>
            </a:extLst>
          </p:cNvPr>
          <p:cNvSpPr>
            <a:spLocks xmlns:a="http://schemas.openxmlformats.org/drawingml/2006/main" noGrp="1"/>
          </p:cNvSpPr>
          <p:nvPr/>
        </p:nvSpPr>
        <p:spPr>
          <a:xfrm xmlns:a="http://schemas.openxmlformats.org/drawingml/2006/main">
            <a:off x="609600" y="227647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526B70"/>
                </a:solidFill>
                <a:latin typeface="Arial"/>
                <a:ea typeface="Arial"/>
                <a:cs typeface="Arial"/>
              </a:defRPr>
            </a:pPr>
            <a:r>
              <a:rPr sz="1950" b="0">
                <a:solidFill>
                  <a:srgbClr val="526B70"/>
                </a:solidFill>
                <a:latin typeface="Arial"/>
                <a:ea typeface="Arial"/>
                <a:cs typeface="Arial"/>
              </a:rPr>
              <a:t>Python: the programming language for instructions</a:t>
            </a:r>
          </a:p>
        </p:txBody>
      </p:sp>
      <p:sp>
        <p:nvSpPr>
          <p:cNvPr id="6" name="">
            <a:extLst xmlns:a="http://schemas.openxmlformats.org/drawingml/2006/main">
              <a:ext uri="{FF2B5EF4-FFF2-40B4-BE49-F238E27FC236}">
                <a16:creationId xmlns:a16="http://schemas.microsoft.com/office/drawing/2014/main" id="{DDEEDAF8-B752-4D30-A950-0628194D9F60}"/>
              </a:ext>
            </a:extLst>
          </p:cNvPr>
          <p:cNvSpPr>
            <a:spLocks xmlns:a="http://schemas.openxmlformats.org/drawingml/2006/main" noGrp="1"/>
          </p:cNvSpPr>
          <p:nvPr/>
        </p:nvSpPr>
        <p:spPr>
          <a:xfrm xmlns:a="http://schemas.openxmlformats.org/drawingml/2006/main">
            <a:off x="609600" y="3190875"/>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73C43"/>
                </a:solidFill>
                <a:latin typeface="Heiti TC"/>
                <a:ea typeface="Heiti TC"/>
                <a:cs typeface="Heiti TC"/>
              </a:defRPr>
            </a:pPr>
            <a:r>
              <a:rPr sz="2400" b="0">
                <a:solidFill>
                  <a:srgbClr val="173C43"/>
                </a:solidFill>
                <a:latin typeface="Heiti TC"/>
                <a:ea typeface="Heiti TC"/>
                <a:cs typeface="Heiti TC"/>
              </a:rPr>
              <a:t>Jupyter Notebook：把文字、程式和結果放在一起</a:t>
            </a:r>
          </a:p>
        </p:txBody>
      </p:sp>
      <p:sp>
        <p:nvSpPr>
          <p:cNvPr id="7" name="">
            <a:extLst xmlns:a="http://schemas.openxmlformats.org/drawingml/2006/main">
              <a:ext uri="{FF2B5EF4-FFF2-40B4-BE49-F238E27FC236}">
                <a16:creationId xmlns:a16="http://schemas.microsoft.com/office/drawing/2014/main" id="{3F7B67E6-8292-4CE4-9F9F-5D7533FE6E72}"/>
              </a:ext>
            </a:extLst>
          </p:cNvPr>
          <p:cNvSpPr>
            <a:spLocks xmlns:a="http://schemas.openxmlformats.org/drawingml/2006/main" noGrp="1"/>
          </p:cNvSpPr>
          <p:nvPr/>
        </p:nvSpPr>
        <p:spPr>
          <a:xfrm xmlns:a="http://schemas.openxmlformats.org/drawingml/2006/main">
            <a:off x="609600" y="365760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Jupyter Notebook: text, code and results together</a:t>
            </a:r>
          </a:p>
        </p:txBody>
      </p:sp>
      <p:sp>
        <p:nvSpPr>
          <p:cNvPr id="8" name="">
            <a:extLst xmlns:a="http://schemas.openxmlformats.org/drawingml/2006/main">
              <a:ext uri="{FF2B5EF4-FFF2-40B4-BE49-F238E27FC236}">
                <a16:creationId xmlns:a16="http://schemas.microsoft.com/office/drawing/2014/main" id="{0D019CA5-4FD0-4AF9-9005-6110CB5C20C9}"/>
              </a:ext>
            </a:extLst>
          </p:cNvPr>
          <p:cNvSpPr>
            <a:spLocks xmlns:a="http://schemas.openxmlformats.org/drawingml/2006/main" noGrp="1"/>
          </p:cNvSpPr>
          <p:nvPr/>
        </p:nvSpPr>
        <p:spPr>
          <a:xfrm xmlns:a="http://schemas.openxmlformats.org/drawingml/2006/main">
            <a:off x="609600" y="4572000"/>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73C43"/>
                </a:solidFill>
                <a:latin typeface="Heiti TC"/>
                <a:ea typeface="Heiti TC"/>
                <a:cs typeface="Heiti TC"/>
              </a:defRPr>
            </a:pPr>
            <a:r>
              <a:rPr sz="2400" b="0">
                <a:solidFill>
                  <a:srgbClr val="173C43"/>
                </a:solidFill>
                <a:latin typeface="Heiti TC"/>
                <a:ea typeface="Heiti TC"/>
                <a:cs typeface="Heiti TC"/>
              </a:rPr>
              <a:t>Colab：在瀏覽器使用 Notebook，程式在雲端執行</a:t>
            </a:r>
          </a:p>
        </p:txBody>
      </p:sp>
      <p:sp>
        <p:nvSpPr>
          <p:cNvPr id="9" name="">
            <a:extLst xmlns:a="http://schemas.openxmlformats.org/drawingml/2006/main">
              <a:ext uri="{FF2B5EF4-FFF2-40B4-BE49-F238E27FC236}">
                <a16:creationId xmlns:a16="http://schemas.microsoft.com/office/drawing/2014/main" id="{3405C776-9EA4-45F7-8C65-0172CA61EE0E}"/>
              </a:ext>
            </a:extLst>
          </p:cNvPr>
          <p:cNvSpPr>
            <a:spLocks xmlns:a="http://schemas.openxmlformats.org/drawingml/2006/main" noGrp="1"/>
          </p:cNvSpPr>
          <p:nvPr/>
        </p:nvSpPr>
        <p:spPr>
          <a:xfrm xmlns:a="http://schemas.openxmlformats.org/drawingml/2006/main">
            <a:off x="609600" y="50387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Colab: use a notebook in a browser; code runs on a cloud computer</a:t>
            </a:r>
          </a:p>
        </p:txBody>
      </p:sp>
    </p:spTree>
    <p:extLst>
      <p:ext uri="{BB962C8B-B14F-4D97-AF65-F5344CB8AC3E}">
        <p14:creationId xmlns:p14="http://schemas.microsoft.com/office/powerpoint/2010/main" val="1138073895"/>
      </p:ext>
    </p:extLst>
  </p:cSld>
</p:sld>
</file>

<file path=ppt/slides/slide5.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31E978A-BBB2-4B2F-BF59-4ACABBEE3772}"/>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你的第一本「實驗簿」</a:t>
            </a:r>
          </a:p>
        </p:txBody>
      </p:sp>
      <p:sp>
        <p:nvSpPr>
          <p:cNvPr id="2" name="">
            <a:extLst xmlns:a="http://schemas.openxmlformats.org/drawingml/2006/main">
              <a:ext uri="{FF2B5EF4-FFF2-40B4-BE49-F238E27FC236}">
                <a16:creationId xmlns:a16="http://schemas.microsoft.com/office/drawing/2014/main" id="{005435B3-4663-42B2-9422-7A2B35CA9DD9}"/>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Your first experiment notebook</a:t>
            </a:r>
          </a:p>
        </p:txBody>
      </p:sp>
      <p:sp>
        <p:nvSpPr>
          <p:cNvPr id="3" name="">
            <a:extLst xmlns:a="http://schemas.openxmlformats.org/drawingml/2006/main">
              <a:ext uri="{FF2B5EF4-FFF2-40B4-BE49-F238E27FC236}">
                <a16:creationId xmlns:a16="http://schemas.microsoft.com/office/drawing/2014/main" id="{0CDACD66-A058-4599-A084-953AC1D9C03F}"/>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5</a:t>
            </a:r>
          </a:p>
        </p:txBody>
      </p:sp>
      <p:sp>
        <p:nvSpPr>
          <p:cNvPr id="4" name="">
            <a:extLst xmlns:a="http://schemas.openxmlformats.org/drawingml/2006/main">
              <a:ext uri="{FF2B5EF4-FFF2-40B4-BE49-F238E27FC236}">
                <a16:creationId xmlns:a16="http://schemas.microsoft.com/office/drawing/2014/main" id="{1AD8E1CD-4770-4C12-A937-5E5263D605C2}"/>
              </a:ext>
            </a:extLst>
          </p:cNvPr>
          <p:cNvSpPr>
            <a:spLocks xmlns:a="http://schemas.openxmlformats.org/drawingml/2006/main" noGrp="1"/>
          </p:cNvSpPr>
          <p:nvPr/>
        </p:nvSpPr>
        <p:spPr>
          <a:xfrm xmlns:a="http://schemas.openxmlformats.org/drawingml/2006/main">
            <a:off x="609600" y="1714500"/>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73C43"/>
                </a:solidFill>
                <a:latin typeface="Heiti TC"/>
                <a:ea typeface="Heiti TC"/>
                <a:cs typeface="Heiti TC"/>
              </a:defRPr>
            </a:pPr>
            <a:r>
              <a:rPr sz="2550" b="0">
                <a:solidFill>
                  <a:srgbClr val="173C43"/>
                </a:solidFill>
                <a:latin typeface="Heiti TC"/>
                <a:ea typeface="Heiti TC"/>
                <a:cs typeface="Heiti TC"/>
              </a:rPr>
              <a:t>開啟老師的連結，儲存自己的副本</a:t>
            </a:r>
          </a:p>
        </p:txBody>
      </p:sp>
      <p:sp>
        <p:nvSpPr>
          <p:cNvPr id="5" name="">
            <a:extLst xmlns:a="http://schemas.openxmlformats.org/drawingml/2006/main">
              <a:ext uri="{FF2B5EF4-FFF2-40B4-BE49-F238E27FC236}">
                <a16:creationId xmlns:a16="http://schemas.microsoft.com/office/drawing/2014/main" id="{263A471A-30AB-48C5-B4D7-BE5816C4BFE0}"/>
              </a:ext>
            </a:extLst>
          </p:cNvPr>
          <p:cNvSpPr>
            <a:spLocks xmlns:a="http://schemas.openxmlformats.org/drawingml/2006/main" noGrp="1"/>
          </p:cNvSpPr>
          <p:nvPr/>
        </p:nvSpPr>
        <p:spPr>
          <a:xfrm xmlns:a="http://schemas.openxmlformats.org/drawingml/2006/main">
            <a:off x="609600" y="21812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526B70"/>
                </a:solidFill>
                <a:latin typeface="Arial"/>
                <a:ea typeface="Arial"/>
                <a:cs typeface="Arial"/>
              </a:defRPr>
            </a:pPr>
            <a:r>
              <a:rPr sz="1950" b="0">
                <a:solidFill>
                  <a:srgbClr val="526B70"/>
                </a:solidFill>
                <a:latin typeface="Arial"/>
                <a:ea typeface="Arial"/>
                <a:cs typeface="Arial"/>
              </a:rPr>
              <a:t>Open the teacher’s link and save your own copy</a:t>
            </a:r>
          </a:p>
        </p:txBody>
      </p:sp>
      <p:sp>
        <p:nvSpPr>
          <p:cNvPr id="6" name="">
            <a:extLst xmlns:a="http://schemas.openxmlformats.org/drawingml/2006/main">
              <a:ext uri="{FF2B5EF4-FFF2-40B4-BE49-F238E27FC236}">
                <a16:creationId xmlns:a16="http://schemas.microsoft.com/office/drawing/2014/main" id="{A2C6C5C1-15A8-4566-BF68-1FD477066FB4}"/>
              </a:ext>
            </a:extLst>
          </p:cNvPr>
          <p:cNvSpPr>
            <a:spLocks xmlns:a="http://schemas.openxmlformats.org/drawingml/2006/main" noGrp="1"/>
          </p:cNvSpPr>
          <p:nvPr/>
        </p:nvSpPr>
        <p:spPr>
          <a:xfrm xmlns:a="http://schemas.openxmlformats.org/drawingml/2006/main">
            <a:off x="609600" y="3057525"/>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75" b="0">
                <a:solidFill>
                  <a:srgbClr val="173C43"/>
                </a:solidFill>
                <a:latin typeface="Heiti TC"/>
                <a:ea typeface="Heiti TC"/>
                <a:cs typeface="Heiti TC"/>
              </a:defRPr>
            </a:pPr>
            <a:r>
              <a:rPr sz="2475" b="0">
                <a:solidFill>
                  <a:srgbClr val="173C43"/>
                </a:solidFill>
                <a:latin typeface="Heiti TC"/>
                <a:ea typeface="Heiti TC"/>
                <a:cs typeface="Heiti TC"/>
              </a:rPr>
              <a:t>文字格是說明；程式格是可執行的指令</a:t>
            </a:r>
          </a:p>
        </p:txBody>
      </p:sp>
      <p:sp>
        <p:nvSpPr>
          <p:cNvPr id="7" name="">
            <a:extLst xmlns:a="http://schemas.openxmlformats.org/drawingml/2006/main">
              <a:ext uri="{FF2B5EF4-FFF2-40B4-BE49-F238E27FC236}">
                <a16:creationId xmlns:a16="http://schemas.microsoft.com/office/drawing/2014/main" id="{C5A89068-EFD7-483C-AAD4-3848436DF770}"/>
              </a:ext>
            </a:extLst>
          </p:cNvPr>
          <p:cNvSpPr>
            <a:spLocks xmlns:a="http://schemas.openxmlformats.org/drawingml/2006/main" noGrp="1"/>
          </p:cNvSpPr>
          <p:nvPr/>
        </p:nvSpPr>
        <p:spPr>
          <a:xfrm xmlns:a="http://schemas.openxmlformats.org/drawingml/2006/main">
            <a:off x="609600" y="35242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26B70"/>
                </a:solidFill>
                <a:latin typeface="Arial"/>
                <a:ea typeface="Arial"/>
                <a:cs typeface="Arial"/>
              </a:defRPr>
            </a:pPr>
            <a:r>
              <a:rPr sz="1875" b="0">
                <a:solidFill>
                  <a:srgbClr val="526B70"/>
                </a:solidFill>
                <a:latin typeface="Arial"/>
                <a:ea typeface="Arial"/>
                <a:cs typeface="Arial"/>
              </a:rPr>
              <a:t>Text cells explain; code cells contain instructions to run</a:t>
            </a:r>
          </a:p>
        </p:txBody>
      </p:sp>
      <p:sp>
        <p:nvSpPr>
          <p:cNvPr id="8" name="">
            <a:extLst xmlns:a="http://schemas.openxmlformats.org/drawingml/2006/main">
              <a:ext uri="{FF2B5EF4-FFF2-40B4-BE49-F238E27FC236}">
                <a16:creationId xmlns:a16="http://schemas.microsoft.com/office/drawing/2014/main" id="{BBBB70A9-477E-4597-B930-3F3EE8E12915}"/>
              </a:ext>
            </a:extLst>
          </p:cNvPr>
          <p:cNvSpPr>
            <a:spLocks xmlns:a="http://schemas.openxmlformats.org/drawingml/2006/main" noGrp="1"/>
          </p:cNvSpPr>
          <p:nvPr/>
        </p:nvSpPr>
        <p:spPr>
          <a:xfrm xmlns:a="http://schemas.openxmlformats.org/drawingml/2006/main">
            <a:off x="609600" y="4400550"/>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75" b="0">
                <a:solidFill>
                  <a:srgbClr val="173C43"/>
                </a:solidFill>
                <a:latin typeface="Heiti TC"/>
                <a:ea typeface="Heiti TC"/>
                <a:cs typeface="Heiti TC"/>
              </a:defRPr>
            </a:pPr>
            <a:r>
              <a:rPr sz="2475" b="0">
                <a:solidFill>
                  <a:srgbClr val="173C43"/>
                </a:solidFill>
                <a:latin typeface="Heiti TC"/>
                <a:ea typeface="Heiti TC"/>
                <a:cs typeface="Heiti TC"/>
              </a:rPr>
              <a:t>由上至下執行。結果會出現在格子下方</a:t>
            </a:r>
          </a:p>
        </p:txBody>
      </p:sp>
      <p:sp>
        <p:nvSpPr>
          <p:cNvPr id="9" name="">
            <a:extLst xmlns:a="http://schemas.openxmlformats.org/drawingml/2006/main">
              <a:ext uri="{FF2B5EF4-FFF2-40B4-BE49-F238E27FC236}">
                <a16:creationId xmlns:a16="http://schemas.microsoft.com/office/drawing/2014/main" id="{630A1F6E-CE73-4E22-8FE3-76AFACD68F8B}"/>
              </a:ext>
            </a:extLst>
          </p:cNvPr>
          <p:cNvSpPr>
            <a:spLocks xmlns:a="http://schemas.openxmlformats.org/drawingml/2006/main" noGrp="1"/>
          </p:cNvSpPr>
          <p:nvPr/>
        </p:nvSpPr>
        <p:spPr>
          <a:xfrm xmlns:a="http://schemas.openxmlformats.org/drawingml/2006/main">
            <a:off x="609600" y="486727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26B70"/>
                </a:solidFill>
                <a:latin typeface="Arial"/>
                <a:ea typeface="Arial"/>
                <a:cs typeface="Arial"/>
              </a:defRPr>
            </a:pPr>
            <a:r>
              <a:rPr sz="1875" b="0">
                <a:solidFill>
                  <a:srgbClr val="526B70"/>
                </a:solidFill>
                <a:latin typeface="Arial"/>
                <a:ea typeface="Arial"/>
                <a:cs typeface="Arial"/>
              </a:rPr>
              <a:t>Run from top to bottom. Results appear below each cell</a:t>
            </a:r>
          </a:p>
        </p:txBody>
      </p:sp>
      <p:sp>
        <p:nvSpPr>
          <p:cNvPr id="10" name="">
            <a:extLst xmlns:a="http://schemas.openxmlformats.org/drawingml/2006/main">
              <a:ext uri="{FF2B5EF4-FFF2-40B4-BE49-F238E27FC236}">
                <a16:creationId xmlns:a16="http://schemas.microsoft.com/office/drawing/2014/main" id="{092248AF-6783-4B1D-87EF-F23EBE6A2B4F}"/>
              </a:ext>
            </a:extLst>
          </p:cNvPr>
          <p:cNvSpPr>
            <a:spLocks xmlns:a="http://schemas.openxmlformats.org/drawingml/2006/main" noGrp="1"/>
          </p:cNvSpPr>
          <p:nvPr/>
        </p:nvSpPr>
        <p:spPr>
          <a:xfrm xmlns:a="http://schemas.openxmlformats.org/drawingml/2006/main">
            <a:off x="609600" y="5791200"/>
            <a:ext cx="10763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086C61"/>
                </a:solidFill>
                <a:latin typeface="Heiti TC"/>
                <a:ea typeface="Heiti TC"/>
                <a:cs typeface="Heiti TC"/>
              </a:defRPr>
            </a:pPr>
            <a:r>
              <a:rPr sz="1800" b="0">
                <a:solidFill>
                  <a:srgbClr val="086C61"/>
                </a:solidFill>
                <a:latin typeface="Heiti TC"/>
                <a:ea typeface="Heiti TC"/>
                <a:cs typeface="Heiti TC"/>
              </a:rPr>
              <a:t>資源 / Resources: gordany.github.io/f2-linear-regression/workshop-2/</a:t>
            </a:r>
          </a:p>
        </p:txBody>
      </p:sp>
    </p:spTree>
    <p:extLst>
      <p:ext uri="{BB962C8B-B14F-4D97-AF65-F5344CB8AC3E}">
        <p14:creationId xmlns:p14="http://schemas.microsoft.com/office/powerpoint/2010/main" val="484002489"/>
      </p:ext>
    </p:extLst>
  </p:cSld>
</p:sld>
</file>

<file path=ppt/slides/slide6.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6753F0F-3881-4998-8790-AAB1190EB8F3}"/>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數據也要排好隊</a:t>
            </a:r>
          </a:p>
        </p:txBody>
      </p:sp>
      <p:sp>
        <p:nvSpPr>
          <p:cNvPr id="2" name="">
            <a:extLst xmlns:a="http://schemas.openxmlformats.org/drawingml/2006/main">
              <a:ext uri="{FF2B5EF4-FFF2-40B4-BE49-F238E27FC236}">
                <a16:creationId xmlns:a16="http://schemas.microsoft.com/office/drawing/2014/main" id="{D2056C5B-BC45-4352-B7BA-F333AFB0060C}"/>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The data needs matching pairs</a:t>
            </a:r>
          </a:p>
        </p:txBody>
      </p:sp>
      <p:sp>
        <p:nvSpPr>
          <p:cNvPr id="3" name="">
            <a:extLst xmlns:a="http://schemas.openxmlformats.org/drawingml/2006/main">
              <a:ext uri="{FF2B5EF4-FFF2-40B4-BE49-F238E27FC236}">
                <a16:creationId xmlns:a16="http://schemas.microsoft.com/office/drawing/2014/main" id="{3E8A0C08-6C1A-4384-992C-D6ADDB2FDE47}"/>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6</a:t>
            </a:r>
          </a:p>
        </p:txBody>
      </p:sp>
      <p:sp>
        <p:nvSpPr>
          <p:cNvPr id="4" name="">
            <a:extLst xmlns:a="http://schemas.openxmlformats.org/drawingml/2006/main">
              <a:ext uri="{FF2B5EF4-FFF2-40B4-BE49-F238E27FC236}">
                <a16:creationId xmlns:a16="http://schemas.microsoft.com/office/drawing/2014/main" id="{254F8240-14DA-44FF-8B78-7023B6645C63}"/>
              </a:ext>
            </a:extLst>
          </p:cNvPr>
          <p:cNvSpPr>
            <a:spLocks xmlns:a="http://schemas.openxmlformats.org/drawingml/2006/main" noGrp="1"/>
          </p:cNvSpPr>
          <p:nvPr/>
        </p:nvSpPr>
        <p:spPr>
          <a:xfrm xmlns:a="http://schemas.openxmlformats.org/drawingml/2006/main">
            <a:off x="609600" y="1762125"/>
            <a:ext cx="103441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086C61"/>
                </a:solidFill>
                <a:latin typeface="Courier New"/>
                <a:ea typeface="Courier New"/>
                <a:cs typeface="Courier New"/>
              </a:defRPr>
            </a:pPr>
            <a:r>
              <a:rPr sz="2400" b="0">
                <a:solidFill>
                  <a:srgbClr val="086C61"/>
                </a:solidFill>
                <a:latin typeface="Courier New"/>
                <a:ea typeface="Courier New"/>
                <a:cs typeface="Courier New"/>
              </a:rPr>
              <a:t>hours  = [0, 1, 2, 3, 4, 5, 6]</a:t>
            </a:r>
          </a:p>
          <a:p xmlns:a="http://schemas.openxmlformats.org/drawingml/2006/main">
            <a:pPr>
              <a:defRPr sz="2400" b="0">
                <a:solidFill>
                  <a:srgbClr val="086C61"/>
                </a:solidFill>
                <a:latin typeface="Courier New"/>
                <a:ea typeface="Courier New"/>
                <a:cs typeface="Courier New"/>
              </a:defRPr>
            </a:pPr>
            <a:r>
              <a:rPr sz="2400" b="0">
                <a:solidFill>
                  <a:srgbClr val="086C61"/>
                </a:solidFill>
                <a:latin typeface="Courier New"/>
                <a:ea typeface="Courier New"/>
                <a:cs typeface="Courier New"/>
              </a:rPr>
              <a:t>scores = [53, 46, 59, 52, 63, 54, 65]</a:t>
            </a:r>
          </a:p>
        </p:txBody>
      </p:sp>
      <p:sp>
        <p:nvSpPr>
          <p:cNvPr id="5" name="">
            <a:extLst xmlns:a="http://schemas.openxmlformats.org/drawingml/2006/main">
              <a:ext uri="{FF2B5EF4-FFF2-40B4-BE49-F238E27FC236}">
                <a16:creationId xmlns:a16="http://schemas.microsoft.com/office/drawing/2014/main" id="{0320E7B0-F8E5-4A70-BB5D-C2104224777B}"/>
              </a:ext>
            </a:extLst>
          </p:cNvPr>
          <p:cNvSpPr>
            <a:spLocks xmlns:a="http://schemas.openxmlformats.org/drawingml/2006/main" noGrp="1"/>
          </p:cNvSpPr>
          <p:nvPr/>
        </p:nvSpPr>
        <p:spPr>
          <a:xfrm xmlns:a="http://schemas.openxmlformats.org/drawingml/2006/main">
            <a:off x="609600" y="3514725"/>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73C43"/>
                </a:solidFill>
                <a:latin typeface="Heiti TC"/>
                <a:ea typeface="Heiti TC"/>
                <a:cs typeface="Heiti TC"/>
              </a:defRPr>
            </a:pPr>
            <a:r>
              <a:rPr sz="2250" b="0">
                <a:solidFill>
                  <a:srgbClr val="173C43"/>
                </a:solidFill>
                <a:latin typeface="Heiti TC"/>
                <a:ea typeface="Heiti TC"/>
                <a:cs typeface="Heiti TC"/>
              </a:rPr>
              <a:t>第 2 對：(1 小時, 46 分)。兩個列表要有相同數量</a:t>
            </a:r>
          </a:p>
        </p:txBody>
      </p:sp>
      <p:sp>
        <p:nvSpPr>
          <p:cNvPr id="6" name="">
            <a:extLst xmlns:a="http://schemas.openxmlformats.org/drawingml/2006/main">
              <a:ext uri="{FF2B5EF4-FFF2-40B4-BE49-F238E27FC236}">
                <a16:creationId xmlns:a16="http://schemas.microsoft.com/office/drawing/2014/main" id="{A9BC8A7C-2765-4209-8488-EA590FBBB229}"/>
              </a:ext>
            </a:extLst>
          </p:cNvPr>
          <p:cNvSpPr>
            <a:spLocks xmlns:a="http://schemas.openxmlformats.org/drawingml/2006/main" noGrp="1"/>
          </p:cNvSpPr>
          <p:nvPr/>
        </p:nvSpPr>
        <p:spPr>
          <a:xfrm xmlns:a="http://schemas.openxmlformats.org/drawingml/2006/main">
            <a:off x="609600" y="39814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The second pair is (1 hour, 46 marks). Both lists need equal lengths</a:t>
            </a:r>
          </a:p>
        </p:txBody>
      </p:sp>
      <p:sp>
        <p:nvSpPr>
          <p:cNvPr id="7" name="">
            <a:extLst xmlns:a="http://schemas.openxmlformats.org/drawingml/2006/main">
              <a:ext uri="{FF2B5EF4-FFF2-40B4-BE49-F238E27FC236}">
                <a16:creationId xmlns:a16="http://schemas.microsoft.com/office/drawing/2014/main" id="{ABD0C944-8E9D-4301-8907-AC6128997595}"/>
              </a:ext>
            </a:extLst>
          </p:cNvPr>
          <p:cNvSpPr>
            <a:spLocks xmlns:a="http://schemas.openxmlformats.org/drawingml/2006/main" noGrp="1"/>
          </p:cNvSpPr>
          <p:nvPr/>
        </p:nvSpPr>
        <p:spPr>
          <a:xfrm xmlns:a="http://schemas.openxmlformats.org/drawingml/2006/main">
            <a:off x="609600" y="4933950"/>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73C43"/>
                </a:solidFill>
                <a:latin typeface="Heiti TC"/>
                <a:ea typeface="Heiti TC"/>
                <a:cs typeface="Heiti TC"/>
              </a:defRPr>
            </a:pPr>
            <a:r>
              <a:rPr sz="2400" b="0">
                <a:solidFill>
                  <a:srgbClr val="173C43"/>
                </a:solidFill>
                <a:latin typeface="Heiti TC"/>
                <a:ea typeface="Heiti TC"/>
                <a:cs typeface="Heiti TC"/>
              </a:rPr>
              <a:t>先看散點，猜每天 3.5 小時會得多少分</a:t>
            </a:r>
          </a:p>
        </p:txBody>
      </p:sp>
      <p:sp>
        <p:nvSpPr>
          <p:cNvPr id="8" name="">
            <a:extLst xmlns:a="http://schemas.openxmlformats.org/drawingml/2006/main">
              <a:ext uri="{FF2B5EF4-FFF2-40B4-BE49-F238E27FC236}">
                <a16:creationId xmlns:a16="http://schemas.microsoft.com/office/drawing/2014/main" id="{4AA9A86F-8885-4CE0-99F2-A73684F0822D}"/>
              </a:ext>
            </a:extLst>
          </p:cNvPr>
          <p:cNvSpPr>
            <a:spLocks xmlns:a="http://schemas.openxmlformats.org/drawingml/2006/main" noGrp="1"/>
          </p:cNvSpPr>
          <p:nvPr/>
        </p:nvSpPr>
        <p:spPr>
          <a:xfrm xmlns:a="http://schemas.openxmlformats.org/drawingml/2006/main">
            <a:off x="609600" y="540067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Look at the dots first. Guess the score for 3.5 hours a day</a:t>
            </a:r>
          </a:p>
        </p:txBody>
      </p:sp>
    </p:spTree>
    <p:extLst>
      <p:ext uri="{BB962C8B-B14F-4D97-AF65-F5344CB8AC3E}">
        <p14:creationId xmlns:p14="http://schemas.microsoft.com/office/powerpoint/2010/main" val="1417608982"/>
      </p:ext>
    </p:extLst>
  </p:cSld>
</p:sld>
</file>

<file path=ppt/slides/slide7.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94AA287-823B-4116-AF4D-B691DCF0106E}"/>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先猜一猜，暫時不揭曉</a:t>
            </a:r>
          </a:p>
        </p:txBody>
      </p:sp>
      <p:sp>
        <p:nvSpPr>
          <p:cNvPr id="2" name="">
            <a:extLst xmlns:a="http://schemas.openxmlformats.org/drawingml/2006/main">
              <a:ext uri="{FF2B5EF4-FFF2-40B4-BE49-F238E27FC236}">
                <a16:creationId xmlns:a16="http://schemas.microsoft.com/office/drawing/2014/main" id="{5D6DE3F8-8BDC-42AF-BD01-3DEC12DC0BA8}"/>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Make a guess before the reveal</a:t>
            </a:r>
          </a:p>
        </p:txBody>
      </p:sp>
      <p:sp>
        <p:nvSpPr>
          <p:cNvPr id="3" name="">
            <a:extLst xmlns:a="http://schemas.openxmlformats.org/drawingml/2006/main">
              <a:ext uri="{FF2B5EF4-FFF2-40B4-BE49-F238E27FC236}">
                <a16:creationId xmlns:a16="http://schemas.microsoft.com/office/drawing/2014/main" id="{EC2CED75-E281-4241-AA3C-2ED41361A9B1}"/>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7</a:t>
            </a:r>
          </a:p>
        </p:txBody>
      </p:sp>
      <p:graphicFrame>
        <p:nvGraphicFramePr>
          <p:cNvPr id="12" name="Chart"/>
          <p:cNvGraphicFramePr/>
          <p:nvPr/>
        </p:nvGraphicFramePr>
        <p:xfrm>
          <a:off xmlns:a="http://schemas.openxmlformats.org/drawingml/2006/main" x="609600" y="1714500"/>
          <a:ext xmlns:a="http://schemas.openxmlformats.org/drawingml/2006/main" cx="6953250" cy="4191000"/>
        </p:xfrm>
        <a:graphic xmlns:a="http://schemas.openxmlformats.org/drawingml/2006/main">
          <a:graphicData uri="http://schemas.openxmlformats.org/drawingml/2006/chart">
            <c:chart xmlns:r="http://schemas.openxmlformats.org/officeDocument/2006/relationships" xmlns:c="http://schemas.openxmlformats.org/drawingml/2006/chart" r:id="R9c05588698f44b1c"/>
          </a:graphicData>
        </a:graphic>
      </p:graphicFrame>
      <p:sp>
        <p:nvSpPr>
          <p:cNvPr id="5" name="">
            <a:extLst xmlns:a="http://schemas.openxmlformats.org/drawingml/2006/main">
              <a:ext uri="{FF2B5EF4-FFF2-40B4-BE49-F238E27FC236}">
                <a16:creationId xmlns:a16="http://schemas.microsoft.com/office/drawing/2014/main" id="{BFF5438A-2417-46F8-81C6-A8D3BC66E2E5}"/>
              </a:ext>
            </a:extLst>
          </p:cNvPr>
          <p:cNvSpPr>
            <a:spLocks xmlns:a="http://schemas.openxmlformats.org/drawingml/2006/main" noGrp="1"/>
          </p:cNvSpPr>
          <p:nvPr/>
        </p:nvSpPr>
        <p:spPr>
          <a:xfrm xmlns:a="http://schemas.openxmlformats.org/drawingml/2006/main">
            <a:off x="8001000" y="2085975"/>
            <a:ext cx="3524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3.5 小時，大約幾分？</a:t>
            </a:r>
          </a:p>
        </p:txBody>
      </p:sp>
      <p:sp>
        <p:nvSpPr>
          <p:cNvPr id="6" name="">
            <a:extLst xmlns:a="http://schemas.openxmlformats.org/drawingml/2006/main">
              <a:ext uri="{FF2B5EF4-FFF2-40B4-BE49-F238E27FC236}">
                <a16:creationId xmlns:a16="http://schemas.microsoft.com/office/drawing/2014/main" id="{30E3D237-F32E-40D8-9E2B-E01F5F8C5C8A}"/>
              </a:ext>
            </a:extLst>
          </p:cNvPr>
          <p:cNvSpPr>
            <a:spLocks xmlns:a="http://schemas.openxmlformats.org/drawingml/2006/main" noGrp="1"/>
          </p:cNvSpPr>
          <p:nvPr/>
        </p:nvSpPr>
        <p:spPr>
          <a:xfrm xmlns:a="http://schemas.openxmlformats.org/drawingml/2006/main">
            <a:off x="8001000" y="2552700"/>
            <a:ext cx="3524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About what score at 3.5 hours?</a:t>
            </a:r>
          </a:p>
        </p:txBody>
      </p:sp>
      <p:sp>
        <p:nvSpPr>
          <p:cNvPr id="7" name="">
            <a:extLst xmlns:a="http://schemas.openxmlformats.org/drawingml/2006/main">
              <a:ext uri="{FF2B5EF4-FFF2-40B4-BE49-F238E27FC236}">
                <a16:creationId xmlns:a16="http://schemas.microsoft.com/office/drawing/2014/main" id="{CB2E002C-6DEB-4B9A-B4F1-786AAE647D69}"/>
              </a:ext>
            </a:extLst>
          </p:cNvPr>
          <p:cNvSpPr>
            <a:spLocks xmlns:a="http://schemas.openxmlformats.org/drawingml/2006/main" noGrp="1"/>
          </p:cNvSpPr>
          <p:nvPr/>
        </p:nvSpPr>
        <p:spPr>
          <a:xfrm xmlns:a="http://schemas.openxmlformats.org/drawingml/2006/main">
            <a:off x="8001000" y="3810000"/>
            <a:ext cx="3524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先寫答案，再看模型</a:t>
            </a:r>
          </a:p>
        </p:txBody>
      </p:sp>
      <p:sp>
        <p:nvSpPr>
          <p:cNvPr id="8" name="">
            <a:extLst xmlns:a="http://schemas.openxmlformats.org/drawingml/2006/main">
              <a:ext uri="{FF2B5EF4-FFF2-40B4-BE49-F238E27FC236}">
                <a16:creationId xmlns:a16="http://schemas.microsoft.com/office/drawing/2014/main" id="{0DDCF9DC-1E4E-4CBD-A732-C22B068229C6}"/>
              </a:ext>
            </a:extLst>
          </p:cNvPr>
          <p:cNvSpPr>
            <a:spLocks xmlns:a="http://schemas.openxmlformats.org/drawingml/2006/main" noGrp="1"/>
          </p:cNvSpPr>
          <p:nvPr/>
        </p:nvSpPr>
        <p:spPr>
          <a:xfrm xmlns:a="http://schemas.openxmlformats.org/drawingml/2006/main">
            <a:off x="8001000" y="4276725"/>
            <a:ext cx="3524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Write your guess before the model</a:t>
            </a:r>
          </a:p>
        </p:txBody>
      </p:sp>
    </p:spTree>
    <p:extLst>
      <p:ext uri="{BB962C8B-B14F-4D97-AF65-F5344CB8AC3E}">
        <p14:creationId xmlns:p14="http://schemas.microsoft.com/office/powerpoint/2010/main" val="373628861"/>
      </p:ext>
    </p:extLst>
  </p:cSld>
</p:sld>
</file>

<file path=ppt/slides/slide8.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3DB5AE9-E9CE-4579-9655-D599B04AF0B2}"/>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fit：讓工具從例子找直線</a:t>
            </a:r>
          </a:p>
        </p:txBody>
      </p:sp>
      <p:sp>
        <p:nvSpPr>
          <p:cNvPr id="2" name="">
            <a:extLst xmlns:a="http://schemas.openxmlformats.org/drawingml/2006/main">
              <a:ext uri="{FF2B5EF4-FFF2-40B4-BE49-F238E27FC236}">
                <a16:creationId xmlns:a16="http://schemas.microsoft.com/office/drawing/2014/main" id="{69D9F1DB-D9D8-4933-A8A1-B43C1B997C29}"/>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fit: let the tool learn a line from examples</a:t>
            </a:r>
          </a:p>
        </p:txBody>
      </p:sp>
      <p:sp>
        <p:nvSpPr>
          <p:cNvPr id="3" name="">
            <a:extLst xmlns:a="http://schemas.openxmlformats.org/drawingml/2006/main">
              <a:ext uri="{FF2B5EF4-FFF2-40B4-BE49-F238E27FC236}">
                <a16:creationId xmlns:a16="http://schemas.microsoft.com/office/drawing/2014/main" id="{E62B4DC2-DC99-4BA6-9999-18D0A0424885}"/>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8</a:t>
            </a:r>
          </a:p>
        </p:txBody>
      </p:sp>
      <p:sp>
        <p:nvSpPr>
          <p:cNvPr id="4" name="">
            <a:extLst xmlns:a="http://schemas.openxmlformats.org/drawingml/2006/main">
              <a:ext uri="{FF2B5EF4-FFF2-40B4-BE49-F238E27FC236}">
                <a16:creationId xmlns:a16="http://schemas.microsoft.com/office/drawing/2014/main" id="{C854E359-8C54-4C56-9E29-D8FC0F526390}"/>
              </a:ext>
            </a:extLst>
          </p:cNvPr>
          <p:cNvSpPr>
            <a:spLocks xmlns:a="http://schemas.openxmlformats.org/drawingml/2006/main" noGrp="1"/>
          </p:cNvSpPr>
          <p:nvPr/>
        </p:nvSpPr>
        <p:spPr>
          <a:xfrm xmlns:a="http://schemas.openxmlformats.org/drawingml/2006/main">
            <a:off x="609600" y="1733550"/>
            <a:ext cx="103441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0">
                <a:solidFill>
                  <a:srgbClr val="086C61"/>
                </a:solidFill>
                <a:latin typeface="Courier New"/>
                <a:ea typeface="Courier New"/>
                <a:cs typeface="Courier New"/>
              </a:defRPr>
            </a:pPr>
            <a:r>
              <a:rPr sz="3000" b="0">
                <a:solidFill>
                  <a:srgbClr val="086C61"/>
                </a:solidFill>
                <a:latin typeface="Courier New"/>
                <a:ea typeface="Courier New"/>
                <a:cs typeface="Courier New"/>
              </a:rPr>
              <a:t>model = LinearRegression()</a:t>
            </a:r>
          </a:p>
          <a:p xmlns:a="http://schemas.openxmlformats.org/drawingml/2006/main">
            <a:pPr>
              <a:defRPr sz="3000" b="0">
                <a:solidFill>
                  <a:srgbClr val="086C61"/>
                </a:solidFill>
                <a:latin typeface="Courier New"/>
                <a:ea typeface="Courier New"/>
                <a:cs typeface="Courier New"/>
              </a:defRPr>
            </a:pPr>
            <a:r>
              <a:rPr sz="3000" b="0">
                <a:solidFill>
                  <a:srgbClr val="086C61"/>
                </a:solidFill>
                <a:latin typeface="Courier New"/>
                <a:ea typeface="Courier New"/>
                <a:cs typeface="Courier New"/>
              </a:rPr>
              <a:t>model.fit(X, y)</a:t>
            </a:r>
          </a:p>
        </p:txBody>
      </p:sp>
      <p:sp>
        <p:nvSpPr>
          <p:cNvPr id="5" name="">
            <a:extLst xmlns:a="http://schemas.openxmlformats.org/drawingml/2006/main">
              <a:ext uri="{FF2B5EF4-FFF2-40B4-BE49-F238E27FC236}">
                <a16:creationId xmlns:a16="http://schemas.microsoft.com/office/drawing/2014/main" id="{53BE977D-DFAD-4828-A908-167CCA3AE470}"/>
              </a:ext>
            </a:extLst>
          </p:cNvPr>
          <p:cNvSpPr>
            <a:spLocks xmlns:a="http://schemas.openxmlformats.org/drawingml/2006/main" noGrp="1"/>
          </p:cNvSpPr>
          <p:nvPr/>
        </p:nvSpPr>
        <p:spPr>
          <a:xfrm xmlns:a="http://schemas.openxmlformats.org/drawingml/2006/main">
            <a:off x="609600" y="3400425"/>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73C43"/>
                </a:solidFill>
                <a:latin typeface="Heiti TC"/>
                <a:ea typeface="Heiti TC"/>
                <a:cs typeface="Heiti TC"/>
              </a:defRPr>
            </a:pPr>
            <a:r>
              <a:rPr sz="2325" b="0">
                <a:solidFill>
                  <a:srgbClr val="173C43"/>
                </a:solidFill>
                <a:latin typeface="Heiti TC"/>
                <a:ea typeface="Heiti TC"/>
                <a:cs typeface="Heiti TC"/>
              </a:rPr>
              <a:t>X 是整理好的輸入，y 是相應成績</a:t>
            </a:r>
          </a:p>
        </p:txBody>
      </p:sp>
      <p:sp>
        <p:nvSpPr>
          <p:cNvPr id="6" name="">
            <a:extLst xmlns:a="http://schemas.openxmlformats.org/drawingml/2006/main">
              <a:ext uri="{FF2B5EF4-FFF2-40B4-BE49-F238E27FC236}">
                <a16:creationId xmlns:a16="http://schemas.microsoft.com/office/drawing/2014/main" id="{BE44DB6E-14B3-489C-9D47-B68FE435D881}"/>
              </a:ext>
            </a:extLst>
          </p:cNvPr>
          <p:cNvSpPr>
            <a:spLocks xmlns:a="http://schemas.openxmlformats.org/drawingml/2006/main" noGrp="1"/>
          </p:cNvSpPr>
          <p:nvPr/>
        </p:nvSpPr>
        <p:spPr>
          <a:xfrm xmlns:a="http://schemas.openxmlformats.org/drawingml/2006/main">
            <a:off x="609600" y="38671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X contains prepared inputs; y contains their scores</a:t>
            </a:r>
          </a:p>
        </p:txBody>
      </p:sp>
      <p:sp>
        <p:nvSpPr>
          <p:cNvPr id="7" name="">
            <a:extLst xmlns:a="http://schemas.openxmlformats.org/drawingml/2006/main">
              <a:ext uri="{FF2B5EF4-FFF2-40B4-BE49-F238E27FC236}">
                <a16:creationId xmlns:a16="http://schemas.microsoft.com/office/drawing/2014/main" id="{AFEA4A9D-FE16-4B7A-B6A5-96CD522FABF6}"/>
              </a:ext>
            </a:extLst>
          </p:cNvPr>
          <p:cNvSpPr>
            <a:spLocks xmlns:a="http://schemas.openxmlformats.org/drawingml/2006/main" noGrp="1"/>
          </p:cNvSpPr>
          <p:nvPr/>
        </p:nvSpPr>
        <p:spPr>
          <a:xfrm xmlns:a="http://schemas.openxmlformats.org/drawingml/2006/main">
            <a:off x="609600" y="4743450"/>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73C43"/>
                </a:solidFill>
                <a:latin typeface="Heiti TC"/>
                <a:ea typeface="Heiti TC"/>
                <a:cs typeface="Heiti TC"/>
              </a:defRPr>
            </a:pPr>
            <a:r>
              <a:rPr sz="2325" b="0">
                <a:solidFill>
                  <a:srgbClr val="173C43"/>
                </a:solidFill>
                <a:latin typeface="Heiti TC"/>
                <a:ea typeface="Heiti TC"/>
                <a:cs typeface="Heiti TC"/>
              </a:rPr>
              <a:t>直線概括整體趨勢，不必穿過每一點</a:t>
            </a:r>
          </a:p>
        </p:txBody>
      </p:sp>
      <p:sp>
        <p:nvSpPr>
          <p:cNvPr id="8" name="">
            <a:extLst xmlns:a="http://schemas.openxmlformats.org/drawingml/2006/main">
              <a:ext uri="{FF2B5EF4-FFF2-40B4-BE49-F238E27FC236}">
                <a16:creationId xmlns:a16="http://schemas.microsoft.com/office/drawing/2014/main" id="{D8BBAFA4-CA31-4686-8669-E9AD0E78B7C8}"/>
              </a:ext>
            </a:extLst>
          </p:cNvPr>
          <p:cNvSpPr>
            <a:spLocks xmlns:a="http://schemas.openxmlformats.org/drawingml/2006/main" noGrp="1"/>
          </p:cNvSpPr>
          <p:nvPr/>
        </p:nvSpPr>
        <p:spPr>
          <a:xfrm xmlns:a="http://schemas.openxmlformats.org/drawingml/2006/main">
            <a:off x="609600" y="521017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The line summarises the trend; it need not pass through every dot</a:t>
            </a:r>
          </a:p>
        </p:txBody>
      </p:sp>
    </p:spTree>
    <p:extLst>
      <p:ext uri="{BB962C8B-B14F-4D97-AF65-F5344CB8AC3E}">
        <p14:creationId xmlns:p14="http://schemas.microsoft.com/office/powerpoint/2010/main" val="614054860"/>
      </p:ext>
    </p:extLst>
  </p:cSld>
</p:sld>
</file>

<file path=ppt/slides/slide9.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33AB54C-052C-4D43-9A54-4B1975209806}"/>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predict：請模型猜一個新情況</a:t>
            </a:r>
          </a:p>
        </p:txBody>
      </p:sp>
      <p:sp>
        <p:nvSpPr>
          <p:cNvPr id="2" name="">
            <a:extLst xmlns:a="http://schemas.openxmlformats.org/drawingml/2006/main">
              <a:ext uri="{FF2B5EF4-FFF2-40B4-BE49-F238E27FC236}">
                <a16:creationId xmlns:a16="http://schemas.microsoft.com/office/drawing/2014/main" id="{D9A4E7B3-01E1-4A07-91DB-F241FFBF3099}"/>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predict: ask the model about a new case</a:t>
            </a:r>
          </a:p>
        </p:txBody>
      </p:sp>
      <p:sp>
        <p:nvSpPr>
          <p:cNvPr id="3" name="">
            <a:extLst xmlns:a="http://schemas.openxmlformats.org/drawingml/2006/main">
              <a:ext uri="{FF2B5EF4-FFF2-40B4-BE49-F238E27FC236}">
                <a16:creationId xmlns:a16="http://schemas.microsoft.com/office/drawing/2014/main" id="{EDEC931E-89B7-4192-B6EE-5F8C59B9A6CD}"/>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9</a:t>
            </a:r>
          </a:p>
        </p:txBody>
      </p:sp>
      <p:sp>
        <p:nvSpPr>
          <p:cNvPr id="4" name="">
            <a:extLst xmlns:a="http://schemas.openxmlformats.org/drawingml/2006/main">
              <a:ext uri="{FF2B5EF4-FFF2-40B4-BE49-F238E27FC236}">
                <a16:creationId xmlns:a16="http://schemas.microsoft.com/office/drawing/2014/main" id="{4A4D9516-09FD-49A6-B38D-930C8C059DCE}"/>
              </a:ext>
            </a:extLst>
          </p:cNvPr>
          <p:cNvSpPr>
            <a:spLocks xmlns:a="http://schemas.openxmlformats.org/drawingml/2006/main" noGrp="1"/>
          </p:cNvSpPr>
          <p:nvPr/>
        </p:nvSpPr>
        <p:spPr>
          <a:xfrm xmlns:a="http://schemas.openxmlformats.org/drawingml/2006/main">
            <a:off x="609600" y="1809750"/>
            <a:ext cx="103441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0">
                <a:solidFill>
                  <a:srgbClr val="086C61"/>
                </a:solidFill>
                <a:latin typeface="Courier New"/>
                <a:ea typeface="Courier New"/>
                <a:cs typeface="Courier New"/>
              </a:defRPr>
            </a:pPr>
            <a:r>
              <a:rPr sz="2925" b="0">
                <a:solidFill>
                  <a:srgbClr val="086C61"/>
                </a:solidFill>
                <a:latin typeface="Courier New"/>
                <a:ea typeface="Courier New"/>
                <a:cs typeface="Courier New"/>
              </a:rPr>
              <a:t>study_hours = 3.5</a:t>
            </a:r>
          </a:p>
          <a:p xmlns:a="http://schemas.openxmlformats.org/drawingml/2006/main">
            <a:pPr>
              <a:defRPr sz="2925" b="0">
                <a:solidFill>
                  <a:srgbClr val="086C61"/>
                </a:solidFill>
                <a:latin typeface="Courier New"/>
                <a:ea typeface="Courier New"/>
                <a:cs typeface="Courier New"/>
              </a:defRPr>
            </a:pPr>
            <a:r>
              <a:rPr sz="2925" b="0">
                <a:solidFill>
                  <a:srgbClr val="086C61"/>
                </a:solidFill>
                <a:latin typeface="Courier New"/>
                <a:ea typeface="Courier New"/>
                <a:cs typeface="Courier New"/>
              </a:rPr>
              <a:t>model.predict([[study_hours]])</a:t>
            </a:r>
          </a:p>
        </p:txBody>
      </p:sp>
      <p:sp>
        <p:nvSpPr>
          <p:cNvPr id="5" name="">
            <a:extLst xmlns:a="http://schemas.openxmlformats.org/drawingml/2006/main">
              <a:ext uri="{FF2B5EF4-FFF2-40B4-BE49-F238E27FC236}">
                <a16:creationId xmlns:a16="http://schemas.microsoft.com/office/drawing/2014/main" id="{E7757093-C657-49D4-A14E-CA6A2B7D2185}"/>
              </a:ext>
            </a:extLst>
          </p:cNvPr>
          <p:cNvSpPr>
            <a:spLocks xmlns:a="http://schemas.openxmlformats.org/drawingml/2006/main" noGrp="1"/>
          </p:cNvSpPr>
          <p:nvPr/>
        </p:nvSpPr>
        <p:spPr>
          <a:xfrm xmlns:a="http://schemas.openxmlformats.org/drawingml/2006/main">
            <a:off x="609600" y="3562350"/>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75" b="0">
                <a:solidFill>
                  <a:srgbClr val="173C43"/>
                </a:solidFill>
                <a:latin typeface="Heiti TC"/>
                <a:ea typeface="Heiti TC"/>
                <a:cs typeface="Heiti TC"/>
              </a:defRPr>
            </a:pPr>
            <a:r>
              <a:rPr sz="2475" b="0">
                <a:solidFill>
                  <a:srgbClr val="173C43"/>
                </a:solidFill>
                <a:latin typeface="Heiti TC"/>
                <a:ea typeface="Heiti TC"/>
                <a:cs typeface="Heiti TC"/>
              </a:rPr>
              <a:t>只改 study_hours：試 3.5，再試 10</a:t>
            </a:r>
          </a:p>
        </p:txBody>
      </p:sp>
      <p:sp>
        <p:nvSpPr>
          <p:cNvPr id="6" name="">
            <a:extLst xmlns:a="http://schemas.openxmlformats.org/drawingml/2006/main">
              <a:ext uri="{FF2B5EF4-FFF2-40B4-BE49-F238E27FC236}">
                <a16:creationId xmlns:a16="http://schemas.microsoft.com/office/drawing/2014/main" id="{3CB41141-E72F-46A1-819B-89F1D05A5060}"/>
              </a:ext>
            </a:extLst>
          </p:cNvPr>
          <p:cNvSpPr>
            <a:spLocks xmlns:a="http://schemas.openxmlformats.org/drawingml/2006/main" noGrp="1"/>
          </p:cNvSpPr>
          <p:nvPr/>
        </p:nvSpPr>
        <p:spPr>
          <a:xfrm xmlns:a="http://schemas.openxmlformats.org/drawingml/2006/main">
            <a:off x="609600" y="402907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26B70"/>
                </a:solidFill>
                <a:latin typeface="Arial"/>
                <a:ea typeface="Arial"/>
                <a:cs typeface="Arial"/>
              </a:defRPr>
            </a:pPr>
            <a:r>
              <a:rPr sz="1875" b="0">
                <a:solidFill>
                  <a:srgbClr val="526B70"/>
                </a:solidFill>
                <a:latin typeface="Arial"/>
                <a:ea typeface="Arial"/>
                <a:cs typeface="Arial"/>
              </a:rPr>
              <a:t>Change only study_hours: try 3.5, then 10</a:t>
            </a:r>
          </a:p>
        </p:txBody>
      </p:sp>
      <p:sp>
        <p:nvSpPr>
          <p:cNvPr id="7" name="">
            <a:extLst xmlns:a="http://schemas.openxmlformats.org/drawingml/2006/main">
              <a:ext uri="{FF2B5EF4-FFF2-40B4-BE49-F238E27FC236}">
                <a16:creationId xmlns:a16="http://schemas.microsoft.com/office/drawing/2014/main" id="{10A64BED-BC94-4CB0-AB89-3AD8C94053C5}"/>
              </a:ext>
            </a:extLst>
          </p:cNvPr>
          <p:cNvSpPr>
            <a:spLocks xmlns:a="http://schemas.openxmlformats.org/drawingml/2006/main" noGrp="1"/>
          </p:cNvSpPr>
          <p:nvPr/>
        </p:nvSpPr>
        <p:spPr>
          <a:xfrm xmlns:a="http://schemas.openxmlformats.org/drawingml/2006/main">
            <a:off x="609600" y="4905375"/>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3C43"/>
                </a:solidFill>
                <a:latin typeface="Heiti TC"/>
                <a:ea typeface="Heiti TC"/>
                <a:cs typeface="Heiti TC"/>
              </a:defRPr>
            </a:pPr>
            <a:r>
              <a:rPr sz="2175" b="0">
                <a:solidFill>
                  <a:srgbClr val="173C43"/>
                </a:solidFill>
                <a:latin typeface="Heiti TC"/>
                <a:ea typeface="Heiti TC"/>
                <a:cs typeface="Heiti TC"/>
              </a:rPr>
              <a:t>預測是估計。10 小時超出原來 0–6 小時的觀察範圍</a:t>
            </a:r>
          </a:p>
        </p:txBody>
      </p:sp>
      <p:sp>
        <p:nvSpPr>
          <p:cNvPr id="8" name="">
            <a:extLst xmlns:a="http://schemas.openxmlformats.org/drawingml/2006/main">
              <a:ext uri="{FF2B5EF4-FFF2-40B4-BE49-F238E27FC236}">
                <a16:creationId xmlns:a16="http://schemas.microsoft.com/office/drawing/2014/main" id="{4D42B215-77B4-4C0C-88E1-9608B3A5DC5F}"/>
              </a:ext>
            </a:extLst>
          </p:cNvPr>
          <p:cNvSpPr>
            <a:spLocks xmlns:a="http://schemas.openxmlformats.org/drawingml/2006/main" noGrp="1"/>
          </p:cNvSpPr>
          <p:nvPr/>
        </p:nvSpPr>
        <p:spPr>
          <a:xfrm xmlns:a="http://schemas.openxmlformats.org/drawingml/2006/main">
            <a:off x="609600" y="537210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A prediction is an estimate. 10 hours is outside the observed 0–6 range</a:t>
            </a:r>
          </a:p>
        </p:txBody>
      </p:sp>
    </p:spTree>
    <p:extLst>
      <p:ext uri="{BB962C8B-B14F-4D97-AF65-F5344CB8AC3E}">
        <p14:creationId xmlns:p14="http://schemas.microsoft.com/office/powerpoint/2010/main" val="1875721145"/>
      </p:ext>
    </p:extLst>
  </p:cSld>
</p:sld>
</file>

<file path=ppt/slides/slide10.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6711450-7960-4DA5-8204-0D50329D43D5}"/>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一個奇怪的新點，會搗亂嗎？</a:t>
            </a:r>
          </a:p>
        </p:txBody>
      </p:sp>
      <p:sp>
        <p:nvSpPr>
          <p:cNvPr id="2" name="">
            <a:extLst xmlns:a="http://schemas.openxmlformats.org/drawingml/2006/main">
              <a:ext uri="{FF2B5EF4-FFF2-40B4-BE49-F238E27FC236}">
                <a16:creationId xmlns:a16="http://schemas.microsoft.com/office/drawing/2014/main" id="{CE145A89-4814-4761-B0E3-BB38E7AAADA4}"/>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Can one surprising point change the line?</a:t>
            </a:r>
          </a:p>
        </p:txBody>
      </p:sp>
      <p:sp>
        <p:nvSpPr>
          <p:cNvPr id="3" name="">
            <a:extLst xmlns:a="http://schemas.openxmlformats.org/drawingml/2006/main">
              <a:ext uri="{FF2B5EF4-FFF2-40B4-BE49-F238E27FC236}">
                <a16:creationId xmlns:a16="http://schemas.microsoft.com/office/drawing/2014/main" id="{4A1FFFB0-2DBB-46A6-ABAF-BF8BB839867C}"/>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10</a:t>
            </a:r>
          </a:p>
        </p:txBody>
      </p:sp>
      <p:graphicFrame>
        <p:nvGraphicFramePr>
          <p:cNvPr id="13" name="Chart"/>
          <p:cNvGraphicFramePr/>
          <p:nvPr/>
        </p:nvGraphicFramePr>
        <p:xfrm>
          <a:off xmlns:a="http://schemas.openxmlformats.org/drawingml/2006/main" x="609600" y="1666875"/>
          <a:ext xmlns:a="http://schemas.openxmlformats.org/drawingml/2006/main" cx="7239000" cy="4286250"/>
        </p:xfrm>
        <a:graphic xmlns:a="http://schemas.openxmlformats.org/drawingml/2006/main">
          <a:graphicData uri="http://schemas.openxmlformats.org/drawingml/2006/chart">
            <c:chart xmlns:r="http://schemas.openxmlformats.org/officeDocument/2006/relationships" xmlns:c="http://schemas.openxmlformats.org/drawingml/2006/chart" r:id="R6412fb60b8d6421a"/>
          </a:graphicData>
        </a:graphic>
      </p:graphicFrame>
      <p:sp>
        <p:nvSpPr>
          <p:cNvPr id="5" name="">
            <a:extLst xmlns:a="http://schemas.openxmlformats.org/drawingml/2006/main">
              <a:ext uri="{FF2B5EF4-FFF2-40B4-BE49-F238E27FC236}">
                <a16:creationId xmlns:a16="http://schemas.microsoft.com/office/drawing/2014/main" id="{9042C2B6-3A3F-4035-9D46-EDCEFAC1C344}"/>
              </a:ext>
            </a:extLst>
          </p:cNvPr>
          <p:cNvSpPr>
            <a:spLocks xmlns:a="http://schemas.openxmlformats.org/drawingml/2006/main" noGrp="1"/>
          </p:cNvSpPr>
          <p:nvPr/>
        </p:nvSpPr>
        <p:spPr>
          <a:xfrm xmlns:a="http://schemas.openxmlformats.org/drawingml/2006/main">
            <a:off x="8210550" y="1809750"/>
            <a:ext cx="27432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086C61"/>
                </a:solidFill>
                <a:latin typeface="Courier New"/>
                <a:ea typeface="Courier New"/>
                <a:cs typeface="Courier New"/>
              </a:defRPr>
            </a:pPr>
            <a:r>
              <a:rPr sz="1875" b="0">
                <a:solidFill>
                  <a:srgbClr val="086C61"/>
                </a:solidFill>
                <a:latin typeface="Courier New"/>
                <a:ea typeface="Courier New"/>
                <a:cs typeface="Courier New"/>
              </a:rPr>
              <a:t>new_point=[4,95]</a:t>
            </a:r>
          </a:p>
        </p:txBody>
      </p:sp>
      <p:sp>
        <p:nvSpPr>
          <p:cNvPr id="6" name="">
            <a:extLst xmlns:a="http://schemas.openxmlformats.org/drawingml/2006/main">
              <a:ext uri="{FF2B5EF4-FFF2-40B4-BE49-F238E27FC236}">
                <a16:creationId xmlns:a16="http://schemas.microsoft.com/office/drawing/2014/main" id="{62DDC0F5-AFCE-4D85-95E3-C0965CBD83DA}"/>
              </a:ext>
            </a:extLst>
          </p:cNvPr>
          <p:cNvSpPr>
            <a:spLocks xmlns:a="http://schemas.openxmlformats.org/drawingml/2006/main" noGrp="1"/>
          </p:cNvSpPr>
          <p:nvPr/>
        </p:nvSpPr>
        <p:spPr>
          <a:xfrm xmlns:a="http://schemas.openxmlformats.org/drawingml/2006/main">
            <a:off x="8210550" y="3181350"/>
            <a:ext cx="3333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73C43"/>
                </a:solidFill>
                <a:latin typeface="Heiti TC"/>
                <a:ea typeface="Heiti TC"/>
                <a:cs typeface="Heiti TC"/>
              </a:defRPr>
            </a:pPr>
            <a:r>
              <a:rPr sz="2250" b="0">
                <a:solidFill>
                  <a:srgbClr val="173C43"/>
                </a:solidFill>
                <a:latin typeface="Heiti TC"/>
                <a:ea typeface="Heiti TC"/>
                <a:cs typeface="Heiti TC"/>
              </a:rPr>
              <a:t>先猜，再執行</a:t>
            </a:r>
          </a:p>
        </p:txBody>
      </p:sp>
      <p:sp>
        <p:nvSpPr>
          <p:cNvPr id="7" name="">
            <a:extLst xmlns:a="http://schemas.openxmlformats.org/drawingml/2006/main">
              <a:ext uri="{FF2B5EF4-FFF2-40B4-BE49-F238E27FC236}">
                <a16:creationId xmlns:a16="http://schemas.microsoft.com/office/drawing/2014/main" id="{9C342F24-E06D-45AF-A020-E389C84578E0}"/>
              </a:ext>
            </a:extLst>
          </p:cNvPr>
          <p:cNvSpPr>
            <a:spLocks xmlns:a="http://schemas.openxmlformats.org/drawingml/2006/main" noGrp="1"/>
          </p:cNvSpPr>
          <p:nvPr/>
        </p:nvSpPr>
        <p:spPr>
          <a:xfrm xmlns:a="http://schemas.openxmlformats.org/drawingml/2006/main">
            <a:off x="8210550" y="3648075"/>
            <a:ext cx="333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Predict, then run</a:t>
            </a:r>
          </a:p>
        </p:txBody>
      </p:sp>
      <p:sp>
        <p:nvSpPr>
          <p:cNvPr id="8" name="">
            <a:extLst xmlns:a="http://schemas.openxmlformats.org/drawingml/2006/main">
              <a:ext uri="{FF2B5EF4-FFF2-40B4-BE49-F238E27FC236}">
                <a16:creationId xmlns:a16="http://schemas.microsoft.com/office/drawing/2014/main" id="{25A779DD-6D56-436E-B6C7-8354F90774AC}"/>
              </a:ext>
            </a:extLst>
          </p:cNvPr>
          <p:cNvSpPr>
            <a:spLocks xmlns:a="http://schemas.openxmlformats.org/drawingml/2006/main" noGrp="1"/>
          </p:cNvSpPr>
          <p:nvPr/>
        </p:nvSpPr>
        <p:spPr>
          <a:xfrm xmlns:a="http://schemas.openxmlformats.org/drawingml/2006/main">
            <a:off x="8210550" y="4457700"/>
            <a:ext cx="3333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73C43"/>
                </a:solidFill>
                <a:latin typeface="Heiti TC"/>
                <a:ea typeface="Heiti TC"/>
                <a:cs typeface="Heiti TC"/>
              </a:defRPr>
            </a:pPr>
            <a:r>
              <a:rPr sz="2100" b="0">
                <a:solidFill>
                  <a:srgbClr val="173C43"/>
                </a:solidFill>
                <a:latin typeface="Heiti TC"/>
                <a:ea typeface="Heiti TC"/>
                <a:cs typeface="Heiti TC"/>
              </a:rPr>
              <a:t>直線會怎樣變？</a:t>
            </a:r>
          </a:p>
        </p:txBody>
      </p:sp>
      <p:sp>
        <p:nvSpPr>
          <p:cNvPr id="9" name="">
            <a:extLst xmlns:a="http://schemas.openxmlformats.org/drawingml/2006/main">
              <a:ext uri="{FF2B5EF4-FFF2-40B4-BE49-F238E27FC236}">
                <a16:creationId xmlns:a16="http://schemas.microsoft.com/office/drawing/2014/main" id="{B26373D6-C1B6-4FCF-BC02-7C620BBDEA53}"/>
              </a:ext>
            </a:extLst>
          </p:cNvPr>
          <p:cNvSpPr>
            <a:spLocks xmlns:a="http://schemas.openxmlformats.org/drawingml/2006/main" noGrp="1"/>
          </p:cNvSpPr>
          <p:nvPr/>
        </p:nvSpPr>
        <p:spPr>
          <a:xfrm xmlns:a="http://schemas.openxmlformats.org/drawingml/2006/main">
            <a:off x="8210550" y="4924425"/>
            <a:ext cx="333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How might the line change?</a:t>
            </a:r>
          </a:p>
        </p:txBody>
      </p:sp>
    </p:spTree>
    <p:extLst>
      <p:ext uri="{BB962C8B-B14F-4D97-AF65-F5344CB8AC3E}">
        <p14:creationId xmlns:p14="http://schemas.microsoft.com/office/powerpoint/2010/main" val="582496211"/>
      </p:ext>
    </p:extLst>
  </p:cSld>
</p:sld>
</file>

<file path=ppt/slides/slide11.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6646EDFB-7242-4228-A5FF-92D61F1A85A7}"/>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揭曉：原來和加點後的直線</a:t>
            </a:r>
          </a:p>
        </p:txBody>
      </p:sp>
      <p:sp>
        <p:nvSpPr>
          <p:cNvPr id="2" name="">
            <a:extLst xmlns:a="http://schemas.openxmlformats.org/drawingml/2006/main">
              <a:ext uri="{FF2B5EF4-FFF2-40B4-BE49-F238E27FC236}">
                <a16:creationId xmlns:a16="http://schemas.microsoft.com/office/drawing/2014/main" id="{CA25F9C7-6904-49D5-AE29-92B66B95424F}"/>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Reveal: compare the two lines</a:t>
            </a:r>
          </a:p>
        </p:txBody>
      </p:sp>
      <p:sp>
        <p:nvSpPr>
          <p:cNvPr id="3" name="">
            <a:extLst xmlns:a="http://schemas.openxmlformats.org/drawingml/2006/main">
              <a:ext uri="{FF2B5EF4-FFF2-40B4-BE49-F238E27FC236}">
                <a16:creationId xmlns:a16="http://schemas.microsoft.com/office/drawing/2014/main" id="{936976AE-D9E0-45AB-8ABA-12872B5A478B}"/>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11</a:t>
            </a:r>
          </a:p>
        </p:txBody>
      </p:sp>
      <p:graphicFrame>
        <p:nvGraphicFramePr>
          <p:cNvPr id="15" name="Chart"/>
          <p:cNvGraphicFramePr/>
          <p:nvPr/>
        </p:nvGraphicFramePr>
        <p:xfrm>
          <a:off xmlns:a="http://schemas.openxmlformats.org/drawingml/2006/main" x="609600" y="1666875"/>
          <a:ext xmlns:a="http://schemas.openxmlformats.org/drawingml/2006/main" cx="7239000" cy="4286250"/>
        </p:xfrm>
        <a:graphic xmlns:a="http://schemas.openxmlformats.org/drawingml/2006/main">
          <a:graphicData uri="http://schemas.openxmlformats.org/drawingml/2006/chart">
            <c:chart xmlns:r="http://schemas.openxmlformats.org/officeDocument/2006/relationships" xmlns:c="http://schemas.openxmlformats.org/drawingml/2006/chart" r:id="Rb334a7fe1bef434b"/>
          </a:graphicData>
        </a:graphic>
      </p:graphicFrame>
      <p:sp>
        <p:nvSpPr>
          <p:cNvPr id="5" name="">
            <a:extLst xmlns:a="http://schemas.openxmlformats.org/drawingml/2006/main">
              <a:ext uri="{FF2B5EF4-FFF2-40B4-BE49-F238E27FC236}">
                <a16:creationId xmlns:a16="http://schemas.microsoft.com/office/drawing/2014/main" id="{569FFE63-64E1-48EE-ABCE-8049F16AAC62}"/>
              </a:ext>
            </a:extLst>
          </p:cNvPr>
          <p:cNvSpPr>
            <a:spLocks xmlns:a="http://schemas.openxmlformats.org/drawingml/2006/main" noGrp="1"/>
          </p:cNvSpPr>
          <p:nvPr/>
        </p:nvSpPr>
        <p:spPr>
          <a:xfrm xmlns:a="http://schemas.openxmlformats.org/drawingml/2006/main">
            <a:off x="8210550" y="1809750"/>
            <a:ext cx="27432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086C61"/>
                </a:solidFill>
                <a:latin typeface="Courier New"/>
                <a:ea typeface="Courier New"/>
                <a:cs typeface="Courier New"/>
              </a:defRPr>
            </a:pPr>
            <a:r>
              <a:rPr sz="1875" b="0">
                <a:solidFill>
                  <a:srgbClr val="086C61"/>
                </a:solidFill>
                <a:latin typeface="Courier New"/>
                <a:ea typeface="Courier New"/>
                <a:cs typeface="Courier New"/>
              </a:rPr>
              <a:t>new_point=[4,95]</a:t>
            </a:r>
          </a:p>
        </p:txBody>
      </p:sp>
      <p:sp>
        <p:nvSpPr>
          <p:cNvPr id="6" name="">
            <a:extLst xmlns:a="http://schemas.openxmlformats.org/drawingml/2006/main">
              <a:ext uri="{FF2B5EF4-FFF2-40B4-BE49-F238E27FC236}">
                <a16:creationId xmlns:a16="http://schemas.microsoft.com/office/drawing/2014/main" id="{FBF17A9F-5AC8-4156-9AA5-22E7F4F2776C}"/>
              </a:ext>
            </a:extLst>
          </p:cNvPr>
          <p:cNvSpPr>
            <a:spLocks xmlns:a="http://schemas.openxmlformats.org/drawingml/2006/main" noGrp="1"/>
          </p:cNvSpPr>
          <p:nvPr/>
        </p:nvSpPr>
        <p:spPr>
          <a:xfrm xmlns:a="http://schemas.openxmlformats.org/drawingml/2006/main">
            <a:off x="8210550" y="2657475"/>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B70"/>
                </a:solidFill>
                <a:latin typeface="Heiti TC"/>
                <a:ea typeface="Heiti TC"/>
                <a:cs typeface="Heiti TC"/>
              </a:defRPr>
            </a:pPr>
            <a:r>
              <a:rPr sz="1575" b="0">
                <a:solidFill>
                  <a:srgbClr val="526B70"/>
                </a:solidFill>
                <a:latin typeface="Heiti TC"/>
                <a:ea typeface="Heiti TC"/>
                <a:cs typeface="Heiti TC"/>
              </a:rPr>
              <a:t>3.5 小時的預測 / At 3.5 hours</a:t>
            </a:r>
          </a:p>
        </p:txBody>
      </p:sp>
      <p:sp>
        <p:nvSpPr>
          <p:cNvPr id="7" name="">
            <a:extLst xmlns:a="http://schemas.openxmlformats.org/drawingml/2006/main">
              <a:ext uri="{FF2B5EF4-FFF2-40B4-BE49-F238E27FC236}">
                <a16:creationId xmlns:a16="http://schemas.microsoft.com/office/drawing/2014/main" id="{E1C7C270-37B5-4C65-9223-BC5B736FFEB6}"/>
              </a:ext>
            </a:extLst>
          </p:cNvPr>
          <p:cNvSpPr>
            <a:spLocks xmlns:a="http://schemas.openxmlformats.org/drawingml/2006/main" noGrp="1"/>
          </p:cNvSpPr>
          <p:nvPr/>
        </p:nvSpPr>
        <p:spPr>
          <a:xfrm xmlns:a="http://schemas.openxmlformats.org/drawingml/2006/main">
            <a:off x="8210550" y="3181350"/>
            <a:ext cx="3333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73C43"/>
                </a:solidFill>
                <a:latin typeface="Heiti TC"/>
                <a:ea typeface="Heiti TC"/>
                <a:cs typeface="Heiti TC"/>
              </a:defRPr>
            </a:pPr>
            <a:r>
              <a:rPr sz="2100" b="0">
                <a:solidFill>
                  <a:srgbClr val="173C43"/>
                </a:solidFill>
                <a:latin typeface="Heiti TC"/>
                <a:ea typeface="Heiti TC"/>
                <a:cs typeface="Heiti TC"/>
              </a:rPr>
              <a:t>原來約 57 分</a:t>
            </a:r>
          </a:p>
        </p:txBody>
      </p:sp>
      <p:sp>
        <p:nvSpPr>
          <p:cNvPr id="8" name="">
            <a:extLst xmlns:a="http://schemas.openxmlformats.org/drawingml/2006/main">
              <a:ext uri="{FF2B5EF4-FFF2-40B4-BE49-F238E27FC236}">
                <a16:creationId xmlns:a16="http://schemas.microsoft.com/office/drawing/2014/main" id="{67A556AF-8386-4F20-877C-ACDF4263B4A4}"/>
              </a:ext>
            </a:extLst>
          </p:cNvPr>
          <p:cNvSpPr>
            <a:spLocks xmlns:a="http://schemas.openxmlformats.org/drawingml/2006/main" noGrp="1"/>
          </p:cNvSpPr>
          <p:nvPr/>
        </p:nvSpPr>
        <p:spPr>
          <a:xfrm xmlns:a="http://schemas.openxmlformats.org/drawingml/2006/main">
            <a:off x="8210550" y="3648075"/>
            <a:ext cx="333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Before: about 57 marks</a:t>
            </a:r>
          </a:p>
        </p:txBody>
      </p:sp>
      <p:sp>
        <p:nvSpPr>
          <p:cNvPr id="9" name="">
            <a:extLst xmlns:a="http://schemas.openxmlformats.org/drawingml/2006/main">
              <a:ext uri="{FF2B5EF4-FFF2-40B4-BE49-F238E27FC236}">
                <a16:creationId xmlns:a16="http://schemas.microsoft.com/office/drawing/2014/main" id="{A6061116-FFB8-4B63-802C-A218195A4C82}"/>
              </a:ext>
            </a:extLst>
          </p:cNvPr>
          <p:cNvSpPr>
            <a:spLocks xmlns:a="http://schemas.openxmlformats.org/drawingml/2006/main" noGrp="1"/>
          </p:cNvSpPr>
          <p:nvPr/>
        </p:nvSpPr>
        <p:spPr>
          <a:xfrm xmlns:a="http://schemas.openxmlformats.org/drawingml/2006/main">
            <a:off x="8210550" y="4457700"/>
            <a:ext cx="3333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73C43"/>
                </a:solidFill>
                <a:latin typeface="Heiti TC"/>
                <a:ea typeface="Heiti TC"/>
                <a:cs typeface="Heiti TC"/>
              </a:defRPr>
            </a:pPr>
            <a:r>
              <a:rPr sz="2100" b="0">
                <a:solidFill>
                  <a:srgbClr val="173C43"/>
                </a:solidFill>
                <a:latin typeface="Heiti TC"/>
                <a:ea typeface="Heiti TC"/>
                <a:cs typeface="Heiti TC"/>
              </a:rPr>
              <a:t>加點後約 62 分</a:t>
            </a:r>
          </a:p>
        </p:txBody>
      </p:sp>
      <p:sp>
        <p:nvSpPr>
          <p:cNvPr id="10" name="">
            <a:extLst xmlns:a="http://schemas.openxmlformats.org/drawingml/2006/main">
              <a:ext uri="{FF2B5EF4-FFF2-40B4-BE49-F238E27FC236}">
                <a16:creationId xmlns:a16="http://schemas.microsoft.com/office/drawing/2014/main" id="{788AE245-BFEA-4E54-AA71-6312E144A668}"/>
              </a:ext>
            </a:extLst>
          </p:cNvPr>
          <p:cNvSpPr>
            <a:spLocks xmlns:a="http://schemas.openxmlformats.org/drawingml/2006/main" noGrp="1"/>
          </p:cNvSpPr>
          <p:nvPr/>
        </p:nvSpPr>
        <p:spPr>
          <a:xfrm xmlns:a="http://schemas.openxmlformats.org/drawingml/2006/main">
            <a:off x="8210550" y="4924425"/>
            <a:ext cx="333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After: about 62 marks</a:t>
            </a:r>
          </a:p>
        </p:txBody>
      </p:sp>
      <p:sp>
        <p:nvSpPr>
          <p:cNvPr id="11" name="">
            <a:extLst xmlns:a="http://schemas.openxmlformats.org/drawingml/2006/main">
              <a:ext uri="{FF2B5EF4-FFF2-40B4-BE49-F238E27FC236}">
                <a16:creationId xmlns:a16="http://schemas.microsoft.com/office/drawing/2014/main" id="{EF805D47-EFB7-488F-AB11-FA3C8BAA0EB6}"/>
              </a:ext>
            </a:extLst>
          </p:cNvPr>
          <p:cNvSpPr>
            <a:spLocks xmlns:a="http://schemas.openxmlformats.org/drawingml/2006/main" noGrp="1"/>
          </p:cNvSpPr>
          <p:nvPr/>
        </p:nvSpPr>
        <p:spPr>
          <a:xfrm xmlns:a="http://schemas.openxmlformats.org/drawingml/2006/main">
            <a:off x="609600" y="6115050"/>
            <a:ext cx="7429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26B70"/>
                </a:solidFill>
                <a:latin typeface="Heiti TC"/>
                <a:ea typeface="Heiti TC"/>
                <a:cs typeface="Heiti TC"/>
              </a:defRPr>
            </a:pPr>
            <a:r>
              <a:rPr sz="1500" b="0">
                <a:solidFill>
                  <a:srgbClr val="526B70"/>
                </a:solidFill>
                <a:latin typeface="Heiti TC"/>
                <a:ea typeface="Heiti TC"/>
                <a:cs typeface="Heiti TC"/>
              </a:rPr>
              <a:t>橙：原來 / Orange: before    紫：加點後 / Purple: after</a:t>
            </a:r>
          </a:p>
        </p:txBody>
      </p:sp>
    </p:spTree>
    <p:extLst>
      <p:ext uri="{BB962C8B-B14F-4D97-AF65-F5344CB8AC3E}">
        <p14:creationId xmlns:p14="http://schemas.microsoft.com/office/powerpoint/2010/main" val="2019773801"/>
      </p:ext>
    </p:extLst>
  </p:cSld>
</p:sld>
</file>

<file path=ppt/slides/slide12.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46B9AC7-93C4-4005-9B03-D35909E08292}"/>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錯誤訊息是提示，不是評分</a:t>
            </a:r>
          </a:p>
        </p:txBody>
      </p:sp>
      <p:sp>
        <p:nvSpPr>
          <p:cNvPr id="2" name="">
            <a:extLst xmlns:a="http://schemas.openxmlformats.org/drawingml/2006/main">
              <a:ext uri="{FF2B5EF4-FFF2-40B4-BE49-F238E27FC236}">
                <a16:creationId xmlns:a16="http://schemas.microsoft.com/office/drawing/2014/main" id="{C76A5106-ED8F-4BBA-8DCF-BBF7FAD32AF1}"/>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An error message is a clue, not a grade</a:t>
            </a:r>
          </a:p>
        </p:txBody>
      </p:sp>
      <p:sp>
        <p:nvSpPr>
          <p:cNvPr id="3" name="">
            <a:extLst xmlns:a="http://schemas.openxmlformats.org/drawingml/2006/main">
              <a:ext uri="{FF2B5EF4-FFF2-40B4-BE49-F238E27FC236}">
                <a16:creationId xmlns:a16="http://schemas.microsoft.com/office/drawing/2014/main" id="{35095E8C-3C50-4168-9FE2-AD7A8D009A3A}"/>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12</a:t>
            </a:r>
          </a:p>
        </p:txBody>
      </p:sp>
      <p:sp>
        <p:nvSpPr>
          <p:cNvPr id="4" name="">
            <a:extLst xmlns:a="http://schemas.openxmlformats.org/drawingml/2006/main">
              <a:ext uri="{FF2B5EF4-FFF2-40B4-BE49-F238E27FC236}">
                <a16:creationId xmlns:a16="http://schemas.microsoft.com/office/drawing/2014/main" id="{7D25AA02-D0B9-4E91-9944-0E39583BF91C}"/>
              </a:ext>
            </a:extLst>
          </p:cNvPr>
          <p:cNvSpPr>
            <a:spLocks xmlns:a="http://schemas.openxmlformats.org/drawingml/2006/main" noGrp="1"/>
          </p:cNvSpPr>
          <p:nvPr/>
        </p:nvSpPr>
        <p:spPr>
          <a:xfrm xmlns:a="http://schemas.openxmlformats.org/drawingml/2006/main">
            <a:off x="609600" y="1809750"/>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75" b="0">
                <a:solidFill>
                  <a:srgbClr val="173C43"/>
                </a:solidFill>
                <a:latin typeface="Heiti TC"/>
                <a:ea typeface="Heiti TC"/>
                <a:cs typeface="Heiti TC"/>
              </a:defRPr>
            </a:pPr>
            <a:r>
              <a:rPr sz="2475" b="0">
                <a:solidFill>
                  <a:srgbClr val="173C43"/>
                </a:solidFill>
                <a:latin typeface="Heiti TC"/>
                <a:ea typeface="Heiti TC"/>
                <a:cs typeface="Heiti TC"/>
              </a:rPr>
              <a:t>先看最後一行提示，再檢查是否漏了逗號或引號</a:t>
            </a:r>
          </a:p>
        </p:txBody>
      </p:sp>
      <p:sp>
        <p:nvSpPr>
          <p:cNvPr id="5" name="">
            <a:extLst xmlns:a="http://schemas.openxmlformats.org/drawingml/2006/main">
              <a:ext uri="{FF2B5EF4-FFF2-40B4-BE49-F238E27FC236}">
                <a16:creationId xmlns:a16="http://schemas.microsoft.com/office/drawing/2014/main" id="{3C19C1AA-C206-4872-A763-B43F26B09664}"/>
              </a:ext>
            </a:extLst>
          </p:cNvPr>
          <p:cNvSpPr>
            <a:spLocks xmlns:a="http://schemas.openxmlformats.org/drawingml/2006/main" noGrp="1"/>
          </p:cNvSpPr>
          <p:nvPr/>
        </p:nvSpPr>
        <p:spPr>
          <a:xfrm xmlns:a="http://schemas.openxmlformats.org/drawingml/2006/main">
            <a:off x="609600" y="227647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26B70"/>
                </a:solidFill>
                <a:latin typeface="Arial"/>
                <a:ea typeface="Arial"/>
                <a:cs typeface="Arial"/>
              </a:defRPr>
            </a:pPr>
            <a:r>
              <a:rPr sz="1875" b="0">
                <a:solidFill>
                  <a:srgbClr val="526B70"/>
                </a:solidFill>
                <a:latin typeface="Arial"/>
                <a:ea typeface="Arial"/>
                <a:cs typeface="Arial"/>
              </a:rPr>
              <a:t>Read the last clue. Check commas and quotes</a:t>
            </a:r>
          </a:p>
        </p:txBody>
      </p:sp>
      <p:sp>
        <p:nvSpPr>
          <p:cNvPr id="6" name="">
            <a:extLst xmlns:a="http://schemas.openxmlformats.org/drawingml/2006/main">
              <a:ext uri="{FF2B5EF4-FFF2-40B4-BE49-F238E27FC236}">
                <a16:creationId xmlns:a16="http://schemas.microsoft.com/office/drawing/2014/main" id="{0328283E-5E84-446E-A8D6-A618CFE66766}"/>
              </a:ext>
            </a:extLst>
          </p:cNvPr>
          <p:cNvSpPr>
            <a:spLocks xmlns:a="http://schemas.openxmlformats.org/drawingml/2006/main" noGrp="1"/>
          </p:cNvSpPr>
          <p:nvPr/>
        </p:nvSpPr>
        <p:spPr>
          <a:xfrm xmlns:a="http://schemas.openxmlformats.org/drawingml/2006/main">
            <a:off x="609600" y="3190875"/>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73C43"/>
                </a:solidFill>
                <a:latin typeface="Heiti TC"/>
                <a:ea typeface="Heiti TC"/>
                <a:cs typeface="Heiti TC"/>
              </a:defRPr>
            </a:pPr>
            <a:r>
              <a:rPr sz="2400" b="0">
                <a:solidFill>
                  <a:srgbClr val="173C43"/>
                </a:solidFill>
                <a:latin typeface="Heiti TC"/>
                <a:ea typeface="Heiti TC"/>
                <a:cs typeface="Heiti TC"/>
              </a:rPr>
              <a:t>改過原數據？先重跑數據和建立模型的格子</a:t>
            </a:r>
          </a:p>
        </p:txBody>
      </p:sp>
      <p:sp>
        <p:nvSpPr>
          <p:cNvPr id="7" name="">
            <a:extLst xmlns:a="http://schemas.openxmlformats.org/drawingml/2006/main">
              <a:ext uri="{FF2B5EF4-FFF2-40B4-BE49-F238E27FC236}">
                <a16:creationId xmlns:a16="http://schemas.microsoft.com/office/drawing/2014/main" id="{9CAAD61A-ABBA-4F9D-8B77-6CE8555195B4}"/>
              </a:ext>
            </a:extLst>
          </p:cNvPr>
          <p:cNvSpPr>
            <a:spLocks xmlns:a="http://schemas.openxmlformats.org/drawingml/2006/main" noGrp="1"/>
          </p:cNvSpPr>
          <p:nvPr/>
        </p:nvSpPr>
        <p:spPr>
          <a:xfrm xmlns:a="http://schemas.openxmlformats.org/drawingml/2006/main">
            <a:off x="609600" y="365760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Edited the original data? Rerun the data and model cells first</a:t>
            </a:r>
          </a:p>
        </p:txBody>
      </p:sp>
      <p:sp>
        <p:nvSpPr>
          <p:cNvPr id="8" name="">
            <a:extLst xmlns:a="http://schemas.openxmlformats.org/drawingml/2006/main">
              <a:ext uri="{FF2B5EF4-FFF2-40B4-BE49-F238E27FC236}">
                <a16:creationId xmlns:a16="http://schemas.microsoft.com/office/drawing/2014/main" id="{A5A845D8-66CC-4783-BEDF-55DA7A498CAA}"/>
              </a:ext>
            </a:extLst>
          </p:cNvPr>
          <p:cNvSpPr>
            <a:spLocks xmlns:a="http://schemas.openxmlformats.org/drawingml/2006/main" noGrp="1"/>
          </p:cNvSpPr>
          <p:nvPr/>
        </p:nvSpPr>
        <p:spPr>
          <a:xfrm xmlns:a="http://schemas.openxmlformats.org/drawingml/2006/main">
            <a:off x="609600" y="4572000"/>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73C43"/>
                </a:solidFill>
                <a:latin typeface="Heiti TC"/>
                <a:ea typeface="Heiti TC"/>
                <a:cs typeface="Heiti TC"/>
              </a:defRPr>
            </a:pPr>
            <a:r>
              <a:rPr sz="2400" b="0">
                <a:solidFill>
                  <a:srgbClr val="173C43"/>
                </a:solidFill>
                <a:latin typeface="Heiti TC"/>
                <a:ea typeface="Heiti TC"/>
                <a:cs typeface="Heiti TC"/>
              </a:rPr>
              <a:t>不必亂改。先復原剛才的改動，或請同伴／老師幫忙</a:t>
            </a:r>
          </a:p>
        </p:txBody>
      </p:sp>
      <p:sp>
        <p:nvSpPr>
          <p:cNvPr id="9" name="">
            <a:extLst xmlns:a="http://schemas.openxmlformats.org/drawingml/2006/main">
              <a:ext uri="{FF2B5EF4-FFF2-40B4-BE49-F238E27FC236}">
                <a16:creationId xmlns:a16="http://schemas.microsoft.com/office/drawing/2014/main" id="{7BECB683-D7EB-4B9E-9237-B572D14D2F38}"/>
              </a:ext>
            </a:extLst>
          </p:cNvPr>
          <p:cNvSpPr>
            <a:spLocks xmlns:a="http://schemas.openxmlformats.org/drawingml/2006/main" noGrp="1"/>
          </p:cNvSpPr>
          <p:nvPr/>
        </p:nvSpPr>
        <p:spPr>
          <a:xfrm xmlns:a="http://schemas.openxmlformats.org/drawingml/2006/main">
            <a:off x="609600" y="50387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Avoid random edits. Undo your last change or ask for help</a:t>
            </a:r>
          </a:p>
        </p:txBody>
      </p:sp>
    </p:spTree>
    <p:extLst>
      <p:ext uri="{BB962C8B-B14F-4D97-AF65-F5344CB8AC3E}">
        <p14:creationId xmlns:p14="http://schemas.microsoft.com/office/powerpoint/2010/main" val="1920475472"/>
      </p:ext>
    </p:extLst>
  </p:cSld>
</p:sld>
</file>

<file path=ppt/slides/slide13.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0314CC9-FD8C-4136-94E1-60A036B2AE89}"/>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這和 AI 有甚麼關係？</a:t>
            </a:r>
          </a:p>
        </p:txBody>
      </p:sp>
      <p:sp>
        <p:nvSpPr>
          <p:cNvPr id="2" name="">
            <a:extLst xmlns:a="http://schemas.openxmlformats.org/drawingml/2006/main">
              <a:ext uri="{FF2B5EF4-FFF2-40B4-BE49-F238E27FC236}">
                <a16:creationId xmlns:a16="http://schemas.microsoft.com/office/drawing/2014/main" id="{834C12A5-EF7A-4646-8FE3-1D1A33ECB93B}"/>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How does this connect to AI?</a:t>
            </a:r>
          </a:p>
        </p:txBody>
      </p:sp>
      <p:sp>
        <p:nvSpPr>
          <p:cNvPr id="3" name="">
            <a:extLst xmlns:a="http://schemas.openxmlformats.org/drawingml/2006/main">
              <a:ext uri="{FF2B5EF4-FFF2-40B4-BE49-F238E27FC236}">
                <a16:creationId xmlns:a16="http://schemas.microsoft.com/office/drawing/2014/main" id="{822E28CD-8D8A-44F3-9984-F6DFAFC5F854}"/>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13</a:t>
            </a:r>
          </a:p>
        </p:txBody>
      </p:sp>
      <p:sp>
        <p:nvSpPr>
          <p:cNvPr id="4" name="">
            <a:extLst xmlns:a="http://schemas.openxmlformats.org/drawingml/2006/main">
              <a:ext uri="{FF2B5EF4-FFF2-40B4-BE49-F238E27FC236}">
                <a16:creationId xmlns:a16="http://schemas.microsoft.com/office/drawing/2014/main" id="{232C62AC-80F4-4545-B6E9-FC1E51C90800}"/>
              </a:ext>
            </a:extLst>
          </p:cNvPr>
          <p:cNvSpPr>
            <a:spLocks xmlns:a="http://schemas.openxmlformats.org/drawingml/2006/main" noGrp="1"/>
          </p:cNvSpPr>
          <p:nvPr/>
        </p:nvSpPr>
        <p:spPr>
          <a:xfrm xmlns:a="http://schemas.openxmlformats.org/drawingml/2006/main">
            <a:off x="609600" y="1714500"/>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75" b="0">
                <a:solidFill>
                  <a:srgbClr val="173C43"/>
                </a:solidFill>
                <a:latin typeface="Heiti TC"/>
                <a:ea typeface="Heiti TC"/>
                <a:cs typeface="Heiti TC"/>
              </a:defRPr>
            </a:pPr>
            <a:r>
              <a:rPr sz="2475" b="0">
                <a:solidFill>
                  <a:srgbClr val="173C43"/>
                </a:solidFill>
                <a:latin typeface="Heiti TC"/>
                <a:ea typeface="Heiti TC"/>
                <a:cs typeface="Heiti TC"/>
              </a:rPr>
              <a:t>我們提供例子，工具從例子建立模型</a:t>
            </a:r>
          </a:p>
        </p:txBody>
      </p:sp>
      <p:sp>
        <p:nvSpPr>
          <p:cNvPr id="5" name="">
            <a:extLst xmlns:a="http://schemas.openxmlformats.org/drawingml/2006/main">
              <a:ext uri="{FF2B5EF4-FFF2-40B4-BE49-F238E27FC236}">
                <a16:creationId xmlns:a16="http://schemas.microsoft.com/office/drawing/2014/main" id="{EDAEFC4B-1C7A-495A-8F90-5FE35DBB0773}"/>
              </a:ext>
            </a:extLst>
          </p:cNvPr>
          <p:cNvSpPr>
            <a:spLocks xmlns:a="http://schemas.openxmlformats.org/drawingml/2006/main" noGrp="1"/>
          </p:cNvSpPr>
          <p:nvPr/>
        </p:nvSpPr>
        <p:spPr>
          <a:xfrm xmlns:a="http://schemas.openxmlformats.org/drawingml/2006/main">
            <a:off x="609600" y="21812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26B70"/>
                </a:solidFill>
                <a:latin typeface="Arial"/>
                <a:ea typeface="Arial"/>
                <a:cs typeface="Arial"/>
              </a:defRPr>
            </a:pPr>
            <a:r>
              <a:rPr sz="1875" b="0">
                <a:solidFill>
                  <a:srgbClr val="526B70"/>
                </a:solidFill>
                <a:latin typeface="Arial"/>
                <a:ea typeface="Arial"/>
                <a:cs typeface="Arial"/>
              </a:rPr>
              <a:t>We provide examples; the tool fits a model from them</a:t>
            </a:r>
          </a:p>
        </p:txBody>
      </p:sp>
      <p:sp>
        <p:nvSpPr>
          <p:cNvPr id="6" name="">
            <a:extLst xmlns:a="http://schemas.openxmlformats.org/drawingml/2006/main">
              <a:ext uri="{FF2B5EF4-FFF2-40B4-BE49-F238E27FC236}">
                <a16:creationId xmlns:a16="http://schemas.microsoft.com/office/drawing/2014/main" id="{E601EAE2-5F13-4096-9E9D-769B341AD34F}"/>
              </a:ext>
            </a:extLst>
          </p:cNvPr>
          <p:cNvSpPr>
            <a:spLocks xmlns:a="http://schemas.openxmlformats.org/drawingml/2006/main" noGrp="1"/>
          </p:cNvSpPr>
          <p:nvPr/>
        </p:nvSpPr>
        <p:spPr>
          <a:xfrm xmlns:a="http://schemas.openxmlformats.org/drawingml/2006/main">
            <a:off x="609600" y="3057525"/>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73C43"/>
                </a:solidFill>
                <a:latin typeface="Heiti TC"/>
                <a:ea typeface="Heiti TC"/>
                <a:cs typeface="Heiti TC"/>
              </a:defRPr>
            </a:pPr>
            <a:r>
              <a:rPr sz="2550" b="0">
                <a:solidFill>
                  <a:srgbClr val="173C43"/>
                </a:solidFill>
                <a:latin typeface="Heiti TC"/>
                <a:ea typeface="Heiti TC"/>
                <a:cs typeface="Heiti TC"/>
              </a:rPr>
              <a:t>改變數據，模型的預測可能改變</a:t>
            </a:r>
          </a:p>
        </p:txBody>
      </p:sp>
      <p:sp>
        <p:nvSpPr>
          <p:cNvPr id="7" name="">
            <a:extLst xmlns:a="http://schemas.openxmlformats.org/drawingml/2006/main">
              <a:ext uri="{FF2B5EF4-FFF2-40B4-BE49-F238E27FC236}">
                <a16:creationId xmlns:a16="http://schemas.microsoft.com/office/drawing/2014/main" id="{5A9571A7-D151-42EA-9E25-9D366DD90E53}"/>
              </a:ext>
            </a:extLst>
          </p:cNvPr>
          <p:cNvSpPr>
            <a:spLocks xmlns:a="http://schemas.openxmlformats.org/drawingml/2006/main" noGrp="1"/>
          </p:cNvSpPr>
          <p:nvPr/>
        </p:nvSpPr>
        <p:spPr>
          <a:xfrm xmlns:a="http://schemas.openxmlformats.org/drawingml/2006/main">
            <a:off x="609600" y="35242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526B70"/>
                </a:solidFill>
                <a:latin typeface="Arial"/>
                <a:ea typeface="Arial"/>
                <a:cs typeface="Arial"/>
              </a:defRPr>
            </a:pPr>
            <a:r>
              <a:rPr sz="1950" b="0">
                <a:solidFill>
                  <a:srgbClr val="526B70"/>
                </a:solidFill>
                <a:latin typeface="Arial"/>
                <a:ea typeface="Arial"/>
                <a:cs typeface="Arial"/>
              </a:rPr>
              <a:t>Change the data, and predictions may change</a:t>
            </a:r>
          </a:p>
        </p:txBody>
      </p:sp>
      <p:sp>
        <p:nvSpPr>
          <p:cNvPr id="8" name="">
            <a:extLst xmlns:a="http://schemas.openxmlformats.org/drawingml/2006/main">
              <a:ext uri="{FF2B5EF4-FFF2-40B4-BE49-F238E27FC236}">
                <a16:creationId xmlns:a16="http://schemas.microsoft.com/office/drawing/2014/main" id="{C9A01980-7817-4082-A343-544D4FC268E3}"/>
              </a:ext>
            </a:extLst>
          </p:cNvPr>
          <p:cNvSpPr>
            <a:spLocks xmlns:a="http://schemas.openxmlformats.org/drawingml/2006/main" noGrp="1"/>
          </p:cNvSpPr>
          <p:nvPr/>
        </p:nvSpPr>
        <p:spPr>
          <a:xfrm xmlns:a="http://schemas.openxmlformats.org/drawingml/2006/main">
            <a:off x="609600" y="4400550"/>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73C43"/>
                </a:solidFill>
                <a:latin typeface="Heiti TC"/>
                <a:ea typeface="Heiti TC"/>
                <a:cs typeface="Heiti TC"/>
              </a:defRPr>
            </a:pPr>
            <a:r>
              <a:rPr sz="2550" b="0">
                <a:solidFill>
                  <a:srgbClr val="173C43"/>
                </a:solidFill>
                <a:latin typeface="Heiti TC"/>
                <a:ea typeface="Heiti TC"/>
                <a:cs typeface="Heiti TC"/>
              </a:rPr>
              <a:t>程式能執行，不代表模型的答案一定正確</a:t>
            </a:r>
          </a:p>
        </p:txBody>
      </p:sp>
      <p:sp>
        <p:nvSpPr>
          <p:cNvPr id="9" name="">
            <a:extLst xmlns:a="http://schemas.openxmlformats.org/drawingml/2006/main">
              <a:ext uri="{FF2B5EF4-FFF2-40B4-BE49-F238E27FC236}">
                <a16:creationId xmlns:a16="http://schemas.microsoft.com/office/drawing/2014/main" id="{78E68BEE-C0E0-44A4-8394-8C75955BC4E1}"/>
              </a:ext>
            </a:extLst>
          </p:cNvPr>
          <p:cNvSpPr>
            <a:spLocks xmlns:a="http://schemas.openxmlformats.org/drawingml/2006/main" noGrp="1"/>
          </p:cNvSpPr>
          <p:nvPr/>
        </p:nvSpPr>
        <p:spPr>
          <a:xfrm xmlns:a="http://schemas.openxmlformats.org/drawingml/2006/main">
            <a:off x="609600" y="486727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526B70"/>
                </a:solidFill>
                <a:latin typeface="Arial"/>
                <a:ea typeface="Arial"/>
                <a:cs typeface="Arial"/>
              </a:defRPr>
            </a:pPr>
            <a:r>
              <a:rPr sz="1950" b="0">
                <a:solidFill>
                  <a:srgbClr val="526B70"/>
                </a:solidFill>
                <a:latin typeface="Arial"/>
                <a:ea typeface="Arial"/>
                <a:cs typeface="Arial"/>
              </a:rPr>
              <a:t>Working code does not guarantee a correct prediction</a:t>
            </a:r>
          </a:p>
        </p:txBody>
      </p:sp>
    </p:spTree>
    <p:extLst>
      <p:ext uri="{BB962C8B-B14F-4D97-AF65-F5344CB8AC3E}">
        <p14:creationId xmlns:p14="http://schemas.microsoft.com/office/powerpoint/2010/main" val="1464759993"/>
      </p:ext>
    </p:extLst>
  </p:cSld>
</p:sld>
</file>

<file path=ppt/slides/slide14.xml><?xml version="1.0" encoding="utf-8"?>
<p:sld xmlns:p="http://schemas.openxmlformats.org/presentationml/2006/main">
  <p:cSld>
    <p:bg>
      <p:bgPr>
        <a:solidFill xmlns:a="http://schemas.openxmlformats.org/drawingml/2006/main">
          <a:srgbClr val="F5F7F4"/>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30AF659-7B84-4DA5-9FED-576D6FDA8D44}"/>
              </a:ext>
            </a:extLst>
          </p:cNvPr>
          <p:cNvSpPr>
            <a:spLocks xmlns:a="http://schemas.openxmlformats.org/drawingml/2006/main" noGrp="1"/>
          </p:cNvSpPr>
          <p:nvPr/>
        </p:nvSpPr>
        <p:spPr>
          <a:xfrm xmlns:a="http://schemas.openxmlformats.org/drawingml/2006/main">
            <a:off x="609600" y="400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173C43"/>
                </a:solidFill>
                <a:latin typeface="Heiti TC"/>
                <a:ea typeface="Heiti TC"/>
                <a:cs typeface="Heiti TC"/>
              </a:defRPr>
            </a:pPr>
            <a:r>
              <a:rPr sz="3300" b="0">
                <a:solidFill>
                  <a:srgbClr val="173C43"/>
                </a:solidFill>
                <a:latin typeface="Heiti TC"/>
                <a:ea typeface="Heiti TC"/>
                <a:cs typeface="Heiti TC"/>
              </a:rPr>
              <a:t>把你的發現交給下一位偵探</a:t>
            </a:r>
          </a:p>
        </p:txBody>
      </p:sp>
      <p:sp>
        <p:nvSpPr>
          <p:cNvPr id="2" name="">
            <a:extLst xmlns:a="http://schemas.openxmlformats.org/drawingml/2006/main">
              <a:ext uri="{FF2B5EF4-FFF2-40B4-BE49-F238E27FC236}">
                <a16:creationId xmlns:a16="http://schemas.microsoft.com/office/drawing/2014/main" id="{CE81F1F5-EF88-4964-8134-F46151B6154E}"/>
              </a:ext>
            </a:extLst>
          </p:cNvPr>
          <p:cNvSpPr>
            <a:spLocks xmlns:a="http://schemas.openxmlformats.org/drawingml/2006/main" noGrp="1"/>
          </p:cNvSpPr>
          <p:nvPr/>
        </p:nvSpPr>
        <p:spPr>
          <a:xfrm xmlns:a="http://schemas.openxmlformats.org/drawingml/2006/main">
            <a:off x="609600" y="8667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526B70"/>
                </a:solidFill>
                <a:latin typeface="Arial"/>
                <a:ea typeface="Arial"/>
                <a:cs typeface="Arial"/>
              </a:defRPr>
            </a:pPr>
            <a:r>
              <a:rPr sz="2700" b="0">
                <a:solidFill>
                  <a:srgbClr val="526B70"/>
                </a:solidFill>
                <a:latin typeface="Arial"/>
                <a:ea typeface="Arial"/>
                <a:cs typeface="Arial"/>
              </a:rPr>
              <a:t>Share your discovery with another detective</a:t>
            </a:r>
          </a:p>
        </p:txBody>
      </p:sp>
      <p:sp>
        <p:nvSpPr>
          <p:cNvPr id="3" name="">
            <a:extLst xmlns:a="http://schemas.openxmlformats.org/drawingml/2006/main">
              <a:ext uri="{FF2B5EF4-FFF2-40B4-BE49-F238E27FC236}">
                <a16:creationId xmlns:a16="http://schemas.microsoft.com/office/drawing/2014/main" id="{5C3876D5-1092-4147-B092-D37BDFC8C757}"/>
              </a:ext>
            </a:extLst>
          </p:cNvPr>
          <p:cNvSpPr>
            <a:spLocks xmlns:a="http://schemas.openxmlformats.org/drawingml/2006/main" noGrp="1"/>
          </p:cNvSpPr>
          <p:nvPr/>
        </p:nvSpPr>
        <p:spPr>
          <a:xfrm xmlns:a="http://schemas.openxmlformats.org/drawingml/2006/main">
            <a:off x="11144250" y="63817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26B70"/>
                </a:solidFill>
                <a:latin typeface="Arial"/>
                <a:ea typeface="Arial"/>
                <a:cs typeface="Arial"/>
              </a:defRPr>
            </a:pPr>
            <a:r>
              <a:rPr sz="1350" b="0">
                <a:solidFill>
                  <a:srgbClr val="526B70"/>
                </a:solidFill>
                <a:latin typeface="Arial"/>
                <a:ea typeface="Arial"/>
                <a:cs typeface="Arial"/>
              </a:rPr>
              <a:t>14</a:t>
            </a:r>
          </a:p>
        </p:txBody>
      </p:sp>
      <p:sp>
        <p:nvSpPr>
          <p:cNvPr id="4" name="">
            <a:extLst xmlns:a="http://schemas.openxmlformats.org/drawingml/2006/main">
              <a:ext uri="{FF2B5EF4-FFF2-40B4-BE49-F238E27FC236}">
                <a16:creationId xmlns:a16="http://schemas.microsoft.com/office/drawing/2014/main" id="{373C5E57-0AD4-4A0D-8BD2-894571C472D6}"/>
              </a:ext>
            </a:extLst>
          </p:cNvPr>
          <p:cNvSpPr>
            <a:spLocks xmlns:a="http://schemas.openxmlformats.org/drawingml/2006/main" noGrp="1"/>
          </p:cNvSpPr>
          <p:nvPr/>
        </p:nvSpPr>
        <p:spPr>
          <a:xfrm xmlns:a="http://schemas.openxmlformats.org/drawingml/2006/main">
            <a:off x="609600" y="1809750"/>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0">
                <a:solidFill>
                  <a:srgbClr val="173C43"/>
                </a:solidFill>
                <a:latin typeface="Heiti TC"/>
                <a:ea typeface="Heiti TC"/>
                <a:cs typeface="Heiti TC"/>
              </a:defRPr>
            </a:pPr>
            <a:r>
              <a:rPr sz="2625" b="0">
                <a:solidFill>
                  <a:srgbClr val="173C43"/>
                </a:solidFill>
                <a:latin typeface="Heiti TC"/>
                <a:ea typeface="Heiti TC"/>
                <a:cs typeface="Heiti TC"/>
              </a:rPr>
              <a:t>你成功改了甚麼？結果有甚麼變化？</a:t>
            </a:r>
          </a:p>
        </p:txBody>
      </p:sp>
      <p:sp>
        <p:nvSpPr>
          <p:cNvPr id="5" name="">
            <a:extLst xmlns:a="http://schemas.openxmlformats.org/drawingml/2006/main">
              <a:ext uri="{FF2B5EF4-FFF2-40B4-BE49-F238E27FC236}">
                <a16:creationId xmlns:a16="http://schemas.microsoft.com/office/drawing/2014/main" id="{48DE3504-AA3B-461F-9850-3E19011E6E68}"/>
              </a:ext>
            </a:extLst>
          </p:cNvPr>
          <p:cNvSpPr>
            <a:spLocks xmlns:a="http://schemas.openxmlformats.org/drawingml/2006/main" noGrp="1"/>
          </p:cNvSpPr>
          <p:nvPr/>
        </p:nvSpPr>
        <p:spPr>
          <a:xfrm xmlns:a="http://schemas.openxmlformats.org/drawingml/2006/main">
            <a:off x="609600" y="227647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526B70"/>
                </a:solidFill>
                <a:latin typeface="Arial"/>
                <a:ea typeface="Arial"/>
                <a:cs typeface="Arial"/>
              </a:defRPr>
            </a:pPr>
            <a:r>
              <a:rPr sz="2025" b="0">
                <a:solidFill>
                  <a:srgbClr val="526B70"/>
                </a:solidFill>
                <a:latin typeface="Arial"/>
                <a:ea typeface="Arial"/>
                <a:cs typeface="Arial"/>
              </a:rPr>
              <a:t>What did you change successfully? What happened?</a:t>
            </a:r>
          </a:p>
        </p:txBody>
      </p:sp>
      <p:sp>
        <p:nvSpPr>
          <p:cNvPr id="6" name="">
            <a:extLst xmlns:a="http://schemas.openxmlformats.org/drawingml/2006/main">
              <a:ext uri="{FF2B5EF4-FFF2-40B4-BE49-F238E27FC236}">
                <a16:creationId xmlns:a16="http://schemas.microsoft.com/office/drawing/2014/main" id="{D739F70D-90AA-4191-83CF-B7D8F4A93C90}"/>
              </a:ext>
            </a:extLst>
          </p:cNvPr>
          <p:cNvSpPr>
            <a:spLocks xmlns:a="http://schemas.openxmlformats.org/drawingml/2006/main" noGrp="1"/>
          </p:cNvSpPr>
          <p:nvPr/>
        </p:nvSpPr>
        <p:spPr>
          <a:xfrm xmlns:a="http://schemas.openxmlformats.org/drawingml/2006/main">
            <a:off x="609600" y="3190875"/>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0">
                <a:solidFill>
                  <a:srgbClr val="173C43"/>
                </a:solidFill>
                <a:latin typeface="Heiti TC"/>
                <a:ea typeface="Heiti TC"/>
                <a:cs typeface="Heiti TC"/>
              </a:defRPr>
            </a:pPr>
            <a:r>
              <a:rPr sz="2625" b="0">
                <a:solidFill>
                  <a:srgbClr val="173C43"/>
                </a:solidFill>
                <a:latin typeface="Heiti TC"/>
                <a:ea typeface="Heiti TC"/>
                <a:cs typeface="Heiti TC"/>
              </a:rPr>
              <a:t>你較信賴哪個預測？為甚麼？</a:t>
            </a:r>
          </a:p>
        </p:txBody>
      </p:sp>
      <p:sp>
        <p:nvSpPr>
          <p:cNvPr id="7" name="">
            <a:extLst xmlns:a="http://schemas.openxmlformats.org/drawingml/2006/main">
              <a:ext uri="{FF2B5EF4-FFF2-40B4-BE49-F238E27FC236}">
                <a16:creationId xmlns:a16="http://schemas.microsoft.com/office/drawing/2014/main" id="{34D619D5-2F34-4CE3-AF3A-3BDDD76DA6B1}"/>
              </a:ext>
            </a:extLst>
          </p:cNvPr>
          <p:cNvSpPr>
            <a:spLocks xmlns:a="http://schemas.openxmlformats.org/drawingml/2006/main" noGrp="1"/>
          </p:cNvSpPr>
          <p:nvPr/>
        </p:nvSpPr>
        <p:spPr>
          <a:xfrm xmlns:a="http://schemas.openxmlformats.org/drawingml/2006/main">
            <a:off x="609600" y="365760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526B70"/>
                </a:solidFill>
                <a:latin typeface="Arial"/>
                <a:ea typeface="Arial"/>
                <a:cs typeface="Arial"/>
              </a:defRPr>
            </a:pPr>
            <a:r>
              <a:rPr sz="2025" b="0">
                <a:solidFill>
                  <a:srgbClr val="526B70"/>
                </a:solidFill>
                <a:latin typeface="Arial"/>
                <a:ea typeface="Arial"/>
                <a:cs typeface="Arial"/>
              </a:rPr>
              <a:t>Which prediction do you trust more? Why?</a:t>
            </a:r>
          </a:p>
        </p:txBody>
      </p:sp>
      <p:sp>
        <p:nvSpPr>
          <p:cNvPr id="8" name="">
            <a:extLst xmlns:a="http://schemas.openxmlformats.org/drawingml/2006/main">
              <a:ext uri="{FF2B5EF4-FFF2-40B4-BE49-F238E27FC236}">
                <a16:creationId xmlns:a16="http://schemas.microsoft.com/office/drawing/2014/main" id="{48D5E75A-E785-44C6-9123-5FC2E06B4CF7}"/>
              </a:ext>
            </a:extLst>
          </p:cNvPr>
          <p:cNvSpPr>
            <a:spLocks xmlns:a="http://schemas.openxmlformats.org/drawingml/2006/main" noGrp="1"/>
          </p:cNvSpPr>
          <p:nvPr/>
        </p:nvSpPr>
        <p:spPr>
          <a:xfrm xmlns:a="http://schemas.openxmlformats.org/drawingml/2006/main">
            <a:off x="609600" y="4572000"/>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73C43"/>
                </a:solidFill>
                <a:latin typeface="Heiti TC"/>
                <a:ea typeface="Heiti TC"/>
                <a:cs typeface="Heiti TC"/>
              </a:defRPr>
            </a:pPr>
            <a:r>
              <a:rPr sz="2325" b="0">
                <a:solidFill>
                  <a:srgbClr val="173C43"/>
                </a:solidFill>
                <a:latin typeface="Heiti TC"/>
                <a:ea typeface="Heiti TC"/>
                <a:cs typeface="Heiti TC"/>
              </a:rPr>
              <a:t>下一堂：讓電腦猜「是哪一類」，而不是「幾多分」</a:t>
            </a:r>
          </a:p>
        </p:txBody>
      </p:sp>
      <p:sp>
        <p:nvSpPr>
          <p:cNvPr id="9" name="">
            <a:extLst xmlns:a="http://schemas.openxmlformats.org/drawingml/2006/main">
              <a:ext uri="{FF2B5EF4-FFF2-40B4-BE49-F238E27FC236}">
                <a16:creationId xmlns:a16="http://schemas.microsoft.com/office/drawing/2014/main" id="{F5FFFF5B-F55E-449D-9355-33D7FA28A719}"/>
              </a:ext>
            </a:extLst>
          </p:cNvPr>
          <p:cNvSpPr>
            <a:spLocks xmlns:a="http://schemas.openxmlformats.org/drawingml/2006/main" noGrp="1"/>
          </p:cNvSpPr>
          <p:nvPr/>
        </p:nvSpPr>
        <p:spPr>
          <a:xfrm xmlns:a="http://schemas.openxmlformats.org/drawingml/2006/main">
            <a:off x="609600" y="50387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B70"/>
                </a:solidFill>
                <a:latin typeface="Arial"/>
                <a:ea typeface="Arial"/>
                <a:cs typeface="Arial"/>
              </a:defRPr>
            </a:pPr>
            <a:r>
              <a:rPr sz="1800" b="0">
                <a:solidFill>
                  <a:srgbClr val="526B70"/>
                </a:solidFill>
                <a:latin typeface="Arial"/>
                <a:ea typeface="Arial"/>
                <a:cs typeface="Arial"/>
              </a:rPr>
              <a:t>Next time: predict which class, instead of how many marks</a:t>
            </a:r>
          </a:p>
        </p:txBody>
      </p:sp>
    </p:spTree>
    <p:extLst>
      <p:ext uri="{BB962C8B-B14F-4D97-AF65-F5344CB8AC3E}">
        <p14:creationId xmlns:p14="http://schemas.microsoft.com/office/powerpoint/2010/main" val="151577497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2026-10-06T04:12:52.4590000Z</dcterms:created>
  <dcterms:modified xsi:type="dcterms:W3CDTF">2026-10-06T04:12:52.4590000Z</dcterms:modified>
</coreProperties>
</file>