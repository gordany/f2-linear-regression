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d12eb427124bf7" /><Relationship Type="http://schemas.openxmlformats.org/officeDocument/2006/relationships/extended-properties" Target="/docProps/app.xml" Id="R6d17a1f2eda24b0a" /><Relationship Type="http://schemas.openxmlformats.org/officeDocument/2006/relationships/officeDocument" Target="/ppt/presentation.xml" Id="Rbed42765414f4145" /></Relationships>
</file>

<file path=ppt/presentation.xml><?xml version="1.0" encoding="utf-8"?>
<p:presentation xmlns:p="http://schemas.openxmlformats.org/presentationml/2006/main">
  <p:sldMasterIdLst>
    <p:sldMasterId xmlns:r="http://schemas.openxmlformats.org/officeDocument/2006/relationships" id="2147483648" r:id="R5301a8e4ae464680"/>
  </p:sldMasterIdLst>
  <p:notesMasterIdLst>
    <p:notesMasterId xmlns:r="http://schemas.openxmlformats.org/officeDocument/2006/relationships" r:id="Rf55e129dc708490c"/>
  </p:notesMasterIdLst>
  <p:sldIdLst>
    <p:sldId xmlns:r="http://schemas.openxmlformats.org/officeDocument/2006/relationships" id="256" r:id="Ree7cb05afb3f4a17"/>
    <p:sldId xmlns:r="http://schemas.openxmlformats.org/officeDocument/2006/relationships" id="257" r:id="R7438b42be2944a2a"/>
    <p:sldId xmlns:r="http://schemas.openxmlformats.org/officeDocument/2006/relationships" id="258" r:id="Rcd6cb5f384744f1d"/>
    <p:sldId xmlns:r="http://schemas.openxmlformats.org/officeDocument/2006/relationships" id="259" r:id="Rad44f21b13904d6d"/>
    <p:sldId xmlns:r="http://schemas.openxmlformats.org/officeDocument/2006/relationships" id="260" r:id="Rd92ff10cd89c4f99"/>
    <p:sldId xmlns:r="http://schemas.openxmlformats.org/officeDocument/2006/relationships" id="261" r:id="R6b8280ed2b8b43c4"/>
    <p:sldId xmlns:r="http://schemas.openxmlformats.org/officeDocument/2006/relationships" id="262" r:id="R5c24b4fc9335422e"/>
    <p:sldId xmlns:r="http://schemas.openxmlformats.org/officeDocument/2006/relationships" id="263" r:id="R81b5f014989e4e88"/>
    <p:sldId xmlns:r="http://schemas.openxmlformats.org/officeDocument/2006/relationships" id="264" r:id="Rb5ac4cd33181423a"/>
    <p:sldId xmlns:r="http://schemas.openxmlformats.org/officeDocument/2006/relationships" id="265" r:id="R221f8ba3ef954f8a"/>
    <p:sldId xmlns:r="http://schemas.openxmlformats.org/officeDocument/2006/relationships" id="266" r:id="Rbcd25fe2089c400c"/>
    <p:sldId xmlns:r="http://schemas.openxmlformats.org/officeDocument/2006/relationships" id="267" r:id="R0978b8c40dc94543"/>
    <p:sldId xmlns:r="http://schemas.openxmlformats.org/officeDocument/2006/relationships" id="268" r:id="R686530773a094c04"/>
    <p:sldId xmlns:r="http://schemas.openxmlformats.org/officeDocument/2006/relationships" id="269" r:id="R786a7e65248a4ff8"/>
    <p:sldId xmlns:r="http://schemas.openxmlformats.org/officeDocument/2006/relationships" id="270" r:id="Rd5ce9875e0cd41e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93edfbd6f24bac" /><Relationship Type="http://schemas.openxmlformats.org/officeDocument/2006/relationships/slideMaster" Target="/ppt/slideMasters/slideMaster1.xml" Id="R5301a8e4ae464680" /><Relationship Type="http://schemas.openxmlformats.org/officeDocument/2006/relationships/notesMaster" Target="/ppt/notesMasters/notesMaster1.xml" Id="Rf55e129dc708490c" /><Relationship Type="http://schemas.openxmlformats.org/officeDocument/2006/relationships/presProps" Target="/ppt/presProps.xml" Id="R814aa26a30ee4a75" /><Relationship Type="http://schemas.openxmlformats.org/officeDocument/2006/relationships/tableStyles" Target="/ppt/tableStyles.xml" Id="Rbaff192167ad401a" /><Relationship Type="http://schemas.openxmlformats.org/officeDocument/2006/relationships/slide" Target="/ppt/slides/slide1.xml" Id="Ree7cb05afb3f4a17" /><Relationship Type="http://schemas.openxmlformats.org/officeDocument/2006/relationships/slide" Target="/ppt/slides/slide2.xml" Id="R7438b42be2944a2a" /><Relationship Type="http://schemas.openxmlformats.org/officeDocument/2006/relationships/slide" Target="/ppt/slides/slide3.xml" Id="Rcd6cb5f384744f1d" /><Relationship Type="http://schemas.openxmlformats.org/officeDocument/2006/relationships/slide" Target="/ppt/slides/slide4.xml" Id="Rad44f21b13904d6d" /><Relationship Type="http://schemas.openxmlformats.org/officeDocument/2006/relationships/slide" Target="/ppt/slides/slide5.xml" Id="Rd92ff10cd89c4f99" /><Relationship Type="http://schemas.openxmlformats.org/officeDocument/2006/relationships/slide" Target="/ppt/slides/slide6.xml" Id="R6b8280ed2b8b43c4" /><Relationship Type="http://schemas.openxmlformats.org/officeDocument/2006/relationships/slide" Target="/ppt/slides/slide7.xml" Id="R5c24b4fc9335422e" /><Relationship Type="http://schemas.openxmlformats.org/officeDocument/2006/relationships/slide" Target="/ppt/slides/slide8.xml" Id="R81b5f014989e4e88" /><Relationship Type="http://schemas.openxmlformats.org/officeDocument/2006/relationships/slide" Target="/ppt/slides/slide9.xml" Id="Rb5ac4cd33181423a" /><Relationship Type="http://schemas.openxmlformats.org/officeDocument/2006/relationships/slide" Target="/ppt/slides/slide10.xml" Id="R221f8ba3ef954f8a" /><Relationship Type="http://schemas.openxmlformats.org/officeDocument/2006/relationships/slide" Target="/ppt/slides/slide11.xml" Id="Rbcd25fe2089c400c" /><Relationship Type="http://schemas.openxmlformats.org/officeDocument/2006/relationships/slide" Target="/ppt/slides/slide12.xml" Id="R0978b8c40dc94543" /><Relationship Type="http://schemas.openxmlformats.org/officeDocument/2006/relationships/slide" Target="/ppt/slides/slide13.xml" Id="R686530773a094c04" /><Relationship Type="http://schemas.openxmlformats.org/officeDocument/2006/relationships/slide" Target="/ppt/slides/slide14.xml" Id="R786a7e65248a4ff8" /><Relationship Type="http://schemas.openxmlformats.org/officeDocument/2006/relationships/slide" Target="/ppt/slides/slide15.xml" Id="Rd5ce9875e0cd41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86e206cdf540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21fa45e430480e" /><Relationship Type="http://schemas.openxmlformats.org/officeDocument/2006/relationships/notesMaster" Target="/ppt/notesMasters/notesMaster1.xml" Id="R4a4d5133b2754d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8bc13142884c88" /><Relationship Type="http://schemas.openxmlformats.org/officeDocument/2006/relationships/notesMaster" Target="/ppt/notesMasters/notesMaster1.xml" Id="Ra07d60bafd0348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85b9e78b334b0d" /><Relationship Type="http://schemas.openxmlformats.org/officeDocument/2006/relationships/notesMaster" Target="/ppt/notesMasters/notesMaster1.xml" Id="Rc73309c686284c9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dc15a90721e43a4" /><Relationship Type="http://schemas.openxmlformats.org/officeDocument/2006/relationships/notesMaster" Target="/ppt/notesMasters/notesMaster1.xml" Id="R57ee075a630945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739682098d4b4f" /><Relationship Type="http://schemas.openxmlformats.org/officeDocument/2006/relationships/notesMaster" Target="/ppt/notesMasters/notesMaster1.xml" Id="R59a4aa7e67d6433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c55eb68c0f4b94" /><Relationship Type="http://schemas.openxmlformats.org/officeDocument/2006/relationships/notesMaster" Target="/ppt/notesMasters/notesMaster1.xml" Id="R1577c20e985043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310381365d41bd" /><Relationship Type="http://schemas.openxmlformats.org/officeDocument/2006/relationships/notesMaster" Target="/ppt/notesMasters/notesMaster1.xml" Id="Rb7615ad5bd284e8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efd5b9d8903474d" /><Relationship Type="http://schemas.openxmlformats.org/officeDocument/2006/relationships/notesMaster" Target="/ppt/notesMasters/notesMaster1.xml" Id="Rc7486b3dcb514d2b" /></Relationships>
</file>

<file path=ppt/notesSlides/_rels/notesSlide9.xml.rels>&#65279;<?xml version="1.0" encoding="utf-8"?><Relationships xmlns="http://schemas.openxmlformats.org/package/2006/relationships"><Relationship Type="http://schemas.openxmlformats.org/officeDocument/2006/relationships/slide" Target="/ppt/slides/slide9.xml" Id="R5e99e15c54034cd3" /><Relationship Type="http://schemas.openxmlformats.org/officeDocument/2006/relationships/notesMaster" Target="/ppt/notesMasters/notesMaster1.xml" Id="Rc604fdb0fc0f4b2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246e90a9474974" /><Relationship Type="http://schemas.openxmlformats.org/officeDocument/2006/relationships/notesMaster" Target="/ppt/notesMasters/notesMaster1.xml" Id="R1887045a4af146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4f70288c1ab4c25" /><Relationship Type="http://schemas.openxmlformats.org/officeDocument/2006/relationships/notesMaster" Target="/ppt/notesMasters/notesMaster1.xml" Id="R4f00f3bd733546f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a6efa67423f460b" /><Relationship Type="http://schemas.openxmlformats.org/officeDocument/2006/relationships/notesMaster" Target="/ppt/notesMasters/notesMaster1.xml" Id="R6584cd5f4e264ab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8910e5c8ba546b8" /><Relationship Type="http://schemas.openxmlformats.org/officeDocument/2006/relationships/notesMaster" Target="/ppt/notesMasters/notesMaster1.xml" Id="Ra01048f876de401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a9bbbe8645742e5" /><Relationship Type="http://schemas.openxmlformats.org/officeDocument/2006/relationships/notesMaster" Target="/ppt/notesMasters/notesMaster1.xml" Id="Rc5e027b4cbe9495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97e4bd41dda4d8c" /><Relationship Type="http://schemas.openxmlformats.org/officeDocument/2006/relationships/notesMaster" Target="/ppt/notesMasters/notesMaster1.xml" Id="R2294a57380ae4c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8-minute introductory game. Teacher holds a pen or eraser partly behind paper; show a little more after guesses. Physical objects, no model yet. Ask what visual clues helped: colour, edge, shape. Do not say a model sees/understands as humans 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warm-up. Show the same object against two backgrounds or at two angles. Ask whether a computer trained only on one view might struggle. Students write a prediction before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setup. Define the allowed classes: Pen, Eraser, Empty background. Empty means background only with no object present, not a universal unknown category.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Link the first two workshops to the third. Do not derive either algorithm. A classification score is not a measured evaluation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one minute. Explain pixels as small coloured pieces. A digital image is represented numerically; the model does not receive the physical object. Teacher may zoom a photo on screen or use the webcam preview, without teaching pixel calculations.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CNN stands for convolutional neural network. Mention the name only once. It can learn local patterns and combine them across layers. Edges/textures are examples, not hand-coded rules for every CNN. No convolution arithmetic or architecture specification. Source: https://www.tensorflow.org/tutorials/images/cnn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transfer learning in plain language. Current Teachable Machine image models build on pretrained MobileNet and train a classifier with the user’s labelled examples. Not building a full CNN from scratch. Sources: https://github.com/googlecreativelab/teachablemachine-community/tree/master/libraries/image and https://www.tensorflow.org/tutorials/images/transfer_learning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official current UI screenshot as a locating aid, not a training result. Choose Image Project and Standard image model; rename classes and add a third. Webcam or Upload are alternatives. Use object pictures, not faces. Teacher checks camera permissions or prepares object photos. Source: https://teachablemachine.withgoogle.com/train/image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15-minute gather/train block. Aim20+ varied images/class, similar counts. This is a classroom target, not a product minimum. Repeated adjacent video frames are not20 independent views; vary views deliberately. Both object classes should appear on multiple backgrounds.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teacher-prepared sets A and B, each4 images/class=12, not added to training. Use similar conditions/difficulty in the two sets. TestA guides improvements. After those improvements, A is no longer independent evidence; test freshB. Teacher prepares and distributes clearly named A and B folders before class. Each contains four fresh images per class under matching conditions; B remains closed until the final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sufficient varied samples, click Train Model and wait until it finishes before using Preview. Do not change advanced settings for this beginner workshop. UI presence verified, no claim of classroom model training or webcam tests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percentages, not an actual run. Hold an eraser and imagine a displayed Pen90/Eraser7/Empty3. Highest output score means strongest model preference among its classes, not90% measured accuracy or a guarantee. Student compares with known actual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20-minute test/improve block. Use worksheet counts, not percentage arithmetic. A mistake may suggest poor examples, background clues or unseen views; do not assume a single cause without checking. Add varied training images, retrain, then evaluate unusedB. B was not used to make the model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Try a bottle or ruler not used in training. The model still outputs only the chosen classes; high score does not create knowledge of a missing class. Empty background is learned background examples, not universal other/unknown. This is classification, not a general detector of everything.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Final5 minutes. Students complete reflection without mathematical theory. Accept honest errors and explanations. Optional show another group one surprising failure; no public model upload is required. Save a teacher-approved local project if available; avoid promising a successful export unless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57c0fb406e43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6a3a99963049a5" /><Relationship Type="http://schemas.openxmlformats.org/officeDocument/2006/relationships/slideLayout" Target="/ppt/slideLayouts/slideLayout1.xml" Id="R701d298beca948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1d298beca948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a8f9265ece447f8" /><Relationship Type="http://schemas.openxmlformats.org/officeDocument/2006/relationships/notesSlide" Target="/ppt/notesSlides/notesSlide1.xml" Id="Rc57e9fa0aee646a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0800f045070494f" /><Relationship Type="http://schemas.openxmlformats.org/officeDocument/2006/relationships/notesSlide" Target="/ppt/notesSlides/notesSlide2.xml" Id="R95cc82b061c944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f36c3af159e4cf6" /><Relationship Type="http://schemas.openxmlformats.org/officeDocument/2006/relationships/notesSlide" Target="/ppt/notesSlides/notesSlide3.xml" Id="R79937cd9f886438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7457ab9bc144cf1" /><Relationship Type="http://schemas.openxmlformats.org/officeDocument/2006/relationships/notesSlide" Target="/ppt/notesSlides/notesSlide4.xml" Id="R267a38ae9aa845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57bd7c33562429c" /><Relationship Type="http://schemas.openxmlformats.org/officeDocument/2006/relationships/notesSlide" Target="/ppt/notesSlides/notesSlide5.xml" Id="Rdc4ddd533983422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c175c36dbf349d4" /><Relationship Type="http://schemas.openxmlformats.org/officeDocument/2006/relationships/notesSlide" Target="/ppt/notesSlides/notesSlide6.xml" Id="R1395dc79df33499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78aa8ebeccd42d9" /><Relationship Type="http://schemas.openxmlformats.org/officeDocument/2006/relationships/notesSlide" Target="/ppt/notesSlides/notesSlide7.xml" Id="Rf7489127ecbb49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2bd56bfb5e54e99" /><Relationship Type="http://schemas.openxmlformats.org/officeDocument/2006/relationships/image" Target="/ppt/media/image.png" Id="R0f7731e05c5542ee" /><Relationship Type="http://schemas.openxmlformats.org/officeDocument/2006/relationships/notesSlide" Target="/ppt/notesSlides/notesSlide8.xml" Id="R9220a8355496427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6606ca6275e43b5" /><Relationship Type="http://schemas.openxmlformats.org/officeDocument/2006/relationships/notesSlide" Target="/ppt/notesSlides/notesSlide9.xml" Id="R8766bc18f7024e5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fff2c6d7c0c42db" /><Relationship Type="http://schemas.openxmlformats.org/officeDocument/2006/relationships/notesSlide" Target="/ppt/notesSlides/notesSlide10.xml" Id="Rfad7f4102e6a468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1d9a57312f948f4" /><Relationship Type="http://schemas.openxmlformats.org/officeDocument/2006/relationships/notesSlide" Target="/ppt/notesSlides/notesSlide11.xml" Id="Rddc0d93ace9d42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f653953b6a04148" /><Relationship Type="http://schemas.openxmlformats.org/officeDocument/2006/relationships/chart" Target="/ppt/slides/charts/chart1.xml" Id="R4d456a2e34174517" /><Relationship Type="http://schemas.openxmlformats.org/officeDocument/2006/relationships/notesSlide" Target="/ppt/notesSlides/notesSlide12.xml" Id="R5922c0ff741f4c8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6ba2b1a68db4e39" /><Relationship Type="http://schemas.openxmlformats.org/officeDocument/2006/relationships/notesSlide" Target="/ppt/notesSlides/notesSlide13.xml" Id="R7703c83aefc048b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170dd447a2746c8" /><Relationship Type="http://schemas.openxmlformats.org/officeDocument/2006/relationships/notesSlide" Target="/ppt/notesSlides/notesSlide14.xml" Id="Red7391e7990f4cd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233b20803494cf1" /><Relationship Type="http://schemas.openxmlformats.org/officeDocument/2006/relationships/notesSlide" Target="/ppt/notesSlides/notesSlide15.xml" Id="R1a34d380c4ba4037" /></Relationships>
</file>

<file path=ppt/slides/charts/chart1.xml><?xml version="1.0" encoding="utf-8"?>
<c:chartSpace xmlns:c="http://schemas.openxmlformats.org/drawingml/2006/chart">
  <c:lang val="en-US"/>
  <c:chart>
    <c:plotArea>
      <c:barChart>
        <c:barDir val="col"/>
        <c:varyColors val="0"/>
        <c:ser>
          <c:idx val="0"/>
          <c:order val="0"/>
          <c:tx>
            <c:v>示例分數 / Illustrative scores</c:v>
          </c:tx>
          <c:spPr>
            <a:solidFill xmlns:a="http://schemas.openxmlformats.org/drawingml/2006/main">
              <a:srgbClr val="086C61"/>
            </a:solidFill>
          </c:spPr>
          <c:cat>
            <c:strLit>
              <c:ptCount val="3"/>
              <c:pt idx="0">
                <c:v>Pen / 筆</c:v>
              </c:pt>
              <c:pt idx="1">
                <c:v>Eraser / 擦膠</c:v>
              </c:pt>
              <c:pt idx="2">
                <c:v>Empty / 空背景</c:v>
              </c:pt>
            </c:strLit>
          </c:cat>
          <c:val>
            <c:numLit>
              <c:formatCode>0"%"</c:formatCode>
              <c:ptCount val="3"/>
              <c:pt idx="0">
                <c:v>90</c:v>
              </c:pt>
              <c:pt idx="1">
                <c:v>7</c:v>
              </c:pt>
              <c:pt idx="2">
                <c:v>3</c:v>
              </c:pt>
            </c:numLit>
          </c:val>
        </c:ser>
        <c:dLbls>
          <c:txPr>
            <a:bodyPr xmlns:a="http://schemas.openxmlformats.org/drawingml/2006/main" anchorCtr="1"/>
            <a:lstStyle xmlns:a="http://schemas.openxmlformats.org/drawingml/2006/main"/>
            <a:p xmlns:a="http://schemas.openxmlformats.org/drawingml/2006/main">
              <a:pPr>
                <a:defRPr sz="1800">
                  <a:latin typeface="Heiti TC"/>
                  <a:ea typeface="Heiti TC"/>
                  <a:cs typeface="Heiti TC"/>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Heiti TC"/>
                <a:ea typeface="Heiti TC"/>
                <a:cs typeface="Heiti TC"/>
              </a:defRPr>
            </a:pPr>
          </a:p>
        </c:txPr>
        <c:crossAx val="48672768"/>
      </c:catAx>
      <c:valAx>
        <c:axId val="48672768"/>
        <c:scaling>
          <c:orientation val="minMax"/>
          <c:max val="100"/>
          <c:min val="0"/>
        </c:scaling>
        <c:delete val="0"/>
        <c:axPos val="l"/>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iti TC"/>
                <a:ea typeface="Heiti TC"/>
                <a:cs typeface="Heiti TC"/>
              </a:defRPr>
            </a:pPr>
          </a:p>
        </c:txPr>
        <c:crossAx val="48650112"/>
        <c:crossBetween val="between"/>
        <c:majorUnit val="20"/>
      </c:valAx>
    </c:plotArea>
    <c:plotVisOnly val="1"/>
  </c:chart>
  <c:spPr>
    <a:solidFill xmlns:a="http://schemas.openxmlformats.org/drawingml/2006/main">
      <a:srgbClr val="F5F7F4"/>
    </a:solidFill>
  </c:spPr>
</c:chartSpace>
</file>

<file path=ppt/slides/slide1.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F2254E2-D3D9-432A-85F7-715C25A22EB5}"/>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只看一小角，你猜得中嗎？</a:t>
            </a:r>
          </a:p>
        </p:txBody>
      </p:sp>
      <p:sp>
        <p:nvSpPr>
          <p:cNvPr id="2" name="">
            <a:extLst xmlns:a="http://schemas.openxmlformats.org/drawingml/2006/main">
              <a:ext uri="{FF2B5EF4-FFF2-40B4-BE49-F238E27FC236}">
                <a16:creationId xmlns:a16="http://schemas.microsoft.com/office/drawing/2014/main" id="{9D34D975-9041-4EE0-B34F-357160B9B9A8}"/>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Can you guess from just one corner?</a:t>
            </a:r>
          </a:p>
        </p:txBody>
      </p:sp>
      <p:sp>
        <p:nvSpPr>
          <p:cNvPr id="3" name="">
            <a:extLst xmlns:a="http://schemas.openxmlformats.org/drawingml/2006/main">
              <a:ext uri="{FF2B5EF4-FFF2-40B4-BE49-F238E27FC236}">
                <a16:creationId xmlns:a16="http://schemas.microsoft.com/office/drawing/2014/main" id="{12CE16AD-1E35-4BCD-BB74-C234C7E6416A}"/>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D688AC4A-90ED-4C3E-BA76-D13B7302E540}"/>
              </a:ext>
            </a:extLst>
          </p:cNvPr>
          <p:cNvSpPr>
            <a:spLocks xmlns:a="http://schemas.openxmlformats.org/drawingml/2006/main" noGrp="1"/>
          </p:cNvSpPr>
          <p:nvPr/>
        </p:nvSpPr>
        <p:spPr>
          <a:xfrm xmlns:a="http://schemas.openxmlformats.org/drawingml/2006/main">
            <a:off x="609600" y="18383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73C43"/>
                </a:solidFill>
                <a:latin typeface="Heiti TC"/>
                <a:ea typeface="Heiti TC"/>
                <a:cs typeface="Heiti TC"/>
              </a:defRPr>
            </a:pPr>
            <a:r>
              <a:rPr sz="2625" b="0">
                <a:solidFill>
                  <a:srgbClr val="173C43"/>
                </a:solidFill>
                <a:latin typeface="Heiti TC"/>
                <a:ea typeface="Heiti TC"/>
                <a:cs typeface="Heiti TC"/>
              </a:rPr>
              <a:t>老師藏起一件物件，只露出一小角</a:t>
            </a:r>
          </a:p>
        </p:txBody>
      </p:sp>
      <p:sp>
        <p:nvSpPr>
          <p:cNvPr id="5" name="">
            <a:extLst xmlns:a="http://schemas.openxmlformats.org/drawingml/2006/main">
              <a:ext uri="{FF2B5EF4-FFF2-40B4-BE49-F238E27FC236}">
                <a16:creationId xmlns:a16="http://schemas.microsoft.com/office/drawing/2014/main" id="{60910C80-4E7C-462A-A2A9-42DBBEF0DD78}"/>
              </a:ext>
            </a:extLst>
          </p:cNvPr>
          <p:cNvSpPr>
            <a:spLocks xmlns:a="http://schemas.openxmlformats.org/drawingml/2006/main" noGrp="1"/>
          </p:cNvSpPr>
          <p:nvPr/>
        </p:nvSpPr>
        <p:spPr>
          <a:xfrm xmlns:a="http://schemas.openxmlformats.org/drawingml/2006/main">
            <a:off x="609600" y="23050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B70"/>
                </a:solidFill>
                <a:latin typeface="Arial"/>
                <a:ea typeface="Arial"/>
                <a:cs typeface="Arial"/>
              </a:defRPr>
            </a:pPr>
            <a:r>
              <a:rPr sz="2025" b="0">
                <a:solidFill>
                  <a:srgbClr val="526B70"/>
                </a:solidFill>
                <a:latin typeface="Arial"/>
                <a:ea typeface="Arial"/>
                <a:cs typeface="Arial"/>
              </a:rPr>
              <a:t>The teacher hides an object and shows just one corner</a:t>
            </a:r>
          </a:p>
        </p:txBody>
      </p:sp>
      <p:sp>
        <p:nvSpPr>
          <p:cNvPr id="6" name="">
            <a:extLst xmlns:a="http://schemas.openxmlformats.org/drawingml/2006/main">
              <a:ext uri="{FF2B5EF4-FFF2-40B4-BE49-F238E27FC236}">
                <a16:creationId xmlns:a16="http://schemas.microsoft.com/office/drawing/2014/main" id="{49A36C9C-A608-40CB-8C57-FAE88739DA00}"/>
              </a:ext>
            </a:extLst>
          </p:cNvPr>
          <p:cNvSpPr>
            <a:spLocks xmlns:a="http://schemas.openxmlformats.org/drawingml/2006/main" noGrp="1"/>
          </p:cNvSpPr>
          <p:nvPr/>
        </p:nvSpPr>
        <p:spPr>
          <a:xfrm xmlns:a="http://schemas.openxmlformats.org/drawingml/2006/main">
            <a:off x="609600" y="32480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73C43"/>
                </a:solidFill>
                <a:latin typeface="Heiti TC"/>
                <a:ea typeface="Heiti TC"/>
                <a:cs typeface="Heiti TC"/>
              </a:defRPr>
            </a:pPr>
            <a:r>
              <a:rPr sz="2625" b="0">
                <a:solidFill>
                  <a:srgbClr val="173C43"/>
                </a:solidFill>
                <a:latin typeface="Heiti TC"/>
                <a:ea typeface="Heiti TC"/>
                <a:cs typeface="Heiti TC"/>
              </a:rPr>
              <a:t>是筆？擦膠？還是……猜錯也沒關係！</a:t>
            </a:r>
          </a:p>
        </p:txBody>
      </p:sp>
      <p:sp>
        <p:nvSpPr>
          <p:cNvPr id="7" name="">
            <a:extLst xmlns:a="http://schemas.openxmlformats.org/drawingml/2006/main">
              <a:ext uri="{FF2B5EF4-FFF2-40B4-BE49-F238E27FC236}">
                <a16:creationId xmlns:a16="http://schemas.microsoft.com/office/drawing/2014/main" id="{75C35996-4B52-4429-B3C7-11165FE5399B}"/>
              </a:ext>
            </a:extLst>
          </p:cNvPr>
          <p:cNvSpPr>
            <a:spLocks xmlns:a="http://schemas.openxmlformats.org/drawingml/2006/main" noGrp="1"/>
          </p:cNvSpPr>
          <p:nvPr/>
        </p:nvSpPr>
        <p:spPr>
          <a:xfrm xmlns:a="http://schemas.openxmlformats.org/drawingml/2006/main">
            <a:off x="609600" y="37147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B70"/>
                </a:solidFill>
                <a:latin typeface="Arial"/>
                <a:ea typeface="Arial"/>
                <a:cs typeface="Arial"/>
              </a:defRPr>
            </a:pPr>
            <a:r>
              <a:rPr sz="2025" b="0">
                <a:solidFill>
                  <a:srgbClr val="526B70"/>
                </a:solidFill>
                <a:latin typeface="Arial"/>
                <a:ea typeface="Arial"/>
                <a:cs typeface="Arial"/>
              </a:rPr>
              <a:t>A pen? An eraser? A wrong guess is welcome!</a:t>
            </a:r>
          </a:p>
        </p:txBody>
      </p:sp>
      <p:sp>
        <p:nvSpPr>
          <p:cNvPr id="8" name="">
            <a:extLst xmlns:a="http://schemas.openxmlformats.org/drawingml/2006/main">
              <a:ext uri="{FF2B5EF4-FFF2-40B4-BE49-F238E27FC236}">
                <a16:creationId xmlns:a16="http://schemas.microsoft.com/office/drawing/2014/main" id="{A064804A-04AF-4DFF-A306-34A974C97476}"/>
              </a:ext>
            </a:extLst>
          </p:cNvPr>
          <p:cNvSpPr>
            <a:spLocks xmlns:a="http://schemas.openxmlformats.org/drawingml/2006/main" noGrp="1"/>
          </p:cNvSpPr>
          <p:nvPr/>
        </p:nvSpPr>
        <p:spPr>
          <a:xfrm xmlns:a="http://schemas.openxmlformats.org/drawingml/2006/main">
            <a:off x="609600" y="46577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C43"/>
                </a:solidFill>
                <a:latin typeface="Heiti TC"/>
                <a:ea typeface="Heiti TC"/>
                <a:cs typeface="Heiti TC"/>
              </a:defRPr>
            </a:pPr>
            <a:r>
              <a:rPr sz="2550" b="0">
                <a:solidFill>
                  <a:srgbClr val="173C43"/>
                </a:solidFill>
                <a:latin typeface="Heiti TC"/>
                <a:ea typeface="Heiti TC"/>
                <a:cs typeface="Heiti TC"/>
              </a:rPr>
              <a:t>你用了甚麼線索：顏色、邊緣、形狀？</a:t>
            </a:r>
          </a:p>
        </p:txBody>
      </p:sp>
      <p:sp>
        <p:nvSpPr>
          <p:cNvPr id="9" name="">
            <a:extLst xmlns:a="http://schemas.openxmlformats.org/drawingml/2006/main">
              <a:ext uri="{FF2B5EF4-FFF2-40B4-BE49-F238E27FC236}">
                <a16:creationId xmlns:a16="http://schemas.microsoft.com/office/drawing/2014/main" id="{B3E1D612-643D-453A-9229-43AD5D67A1A5}"/>
              </a:ext>
            </a:extLst>
          </p:cNvPr>
          <p:cNvSpPr>
            <a:spLocks xmlns:a="http://schemas.openxmlformats.org/drawingml/2006/main" noGrp="1"/>
          </p:cNvSpPr>
          <p:nvPr/>
        </p:nvSpPr>
        <p:spPr>
          <a:xfrm xmlns:a="http://schemas.openxmlformats.org/drawingml/2006/main">
            <a:off x="609600" y="51244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B70"/>
                </a:solidFill>
                <a:latin typeface="Arial"/>
                <a:ea typeface="Arial"/>
                <a:cs typeface="Arial"/>
              </a:defRPr>
            </a:pPr>
            <a:r>
              <a:rPr sz="1950" b="0">
                <a:solidFill>
                  <a:srgbClr val="526B70"/>
                </a:solidFill>
                <a:latin typeface="Arial"/>
                <a:ea typeface="Arial"/>
                <a:cs typeface="Arial"/>
              </a:rPr>
              <a:t>Which clues helped: colour, edges or shape?</a:t>
            </a:r>
          </a:p>
        </p:txBody>
      </p:sp>
    </p:spTree>
    <p:extLst>
      <p:ext uri="{BB962C8B-B14F-4D97-AF65-F5344CB8AC3E}">
        <p14:creationId xmlns:p14="http://schemas.microsoft.com/office/powerpoint/2010/main" val="571881509"/>
      </p:ext>
    </p:extLst>
  </p:cSld>
</p:sld>
</file>

<file path=ppt/slides/slide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16CCCA4-C76D-4177-B074-FEE761A07B1B}"/>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換個背景，還認得到嗎？</a:t>
            </a:r>
          </a:p>
        </p:txBody>
      </p:sp>
      <p:sp>
        <p:nvSpPr>
          <p:cNvPr id="2" name="">
            <a:extLst xmlns:a="http://schemas.openxmlformats.org/drawingml/2006/main">
              <a:ext uri="{FF2B5EF4-FFF2-40B4-BE49-F238E27FC236}">
                <a16:creationId xmlns:a16="http://schemas.microsoft.com/office/drawing/2014/main" id="{2B521AF2-70DD-44FA-9016-B583079F3BA7}"/>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A new background: still recognisable?</a:t>
            </a:r>
          </a:p>
        </p:txBody>
      </p:sp>
      <p:sp>
        <p:nvSpPr>
          <p:cNvPr id="3" name="">
            <a:extLst xmlns:a="http://schemas.openxmlformats.org/drawingml/2006/main">
              <a:ext uri="{FF2B5EF4-FFF2-40B4-BE49-F238E27FC236}">
                <a16:creationId xmlns:a16="http://schemas.microsoft.com/office/drawing/2014/main" id="{1C6412A8-4125-45C2-A84C-0427F6DE1154}"/>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21E090D5-18B6-430D-B611-0052748E894F}"/>
              </a:ext>
            </a:extLst>
          </p:cNvPr>
          <p:cNvSpPr>
            <a:spLocks xmlns:a="http://schemas.openxmlformats.org/drawingml/2006/main" noGrp="1"/>
          </p:cNvSpPr>
          <p:nvPr/>
        </p:nvSpPr>
        <p:spPr>
          <a:xfrm xmlns:a="http://schemas.openxmlformats.org/drawingml/2006/main">
            <a:off x="609600" y="18383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3C43"/>
                </a:solidFill>
                <a:latin typeface="Heiti TC"/>
                <a:ea typeface="Heiti TC"/>
                <a:cs typeface="Heiti TC"/>
              </a:defRPr>
            </a:pPr>
            <a:r>
              <a:rPr sz="2475" b="0">
                <a:solidFill>
                  <a:srgbClr val="173C43"/>
                </a:solidFill>
                <a:latin typeface="Heiti TC"/>
                <a:ea typeface="Heiti TC"/>
                <a:cs typeface="Heiti TC"/>
              </a:rPr>
              <a:t>同一支筆，換背景、轉角度、拉遠一點</a:t>
            </a:r>
          </a:p>
        </p:txBody>
      </p:sp>
      <p:sp>
        <p:nvSpPr>
          <p:cNvPr id="5" name="">
            <a:extLst xmlns:a="http://schemas.openxmlformats.org/drawingml/2006/main">
              <a:ext uri="{FF2B5EF4-FFF2-40B4-BE49-F238E27FC236}">
                <a16:creationId xmlns:a16="http://schemas.microsoft.com/office/drawing/2014/main" id="{6BDDDE6B-CCDC-45BA-9961-B5EA3861C014}"/>
              </a:ext>
            </a:extLst>
          </p:cNvPr>
          <p:cNvSpPr>
            <a:spLocks xmlns:a="http://schemas.openxmlformats.org/drawingml/2006/main" noGrp="1"/>
          </p:cNvSpPr>
          <p:nvPr/>
        </p:nvSpPr>
        <p:spPr>
          <a:xfrm xmlns:a="http://schemas.openxmlformats.org/drawingml/2006/main">
            <a:off x="609600" y="23050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B70"/>
                </a:solidFill>
                <a:latin typeface="Arial"/>
                <a:ea typeface="Arial"/>
                <a:cs typeface="Arial"/>
              </a:defRPr>
            </a:pPr>
            <a:r>
              <a:rPr sz="1875" b="0">
                <a:solidFill>
                  <a:srgbClr val="526B70"/>
                </a:solidFill>
                <a:latin typeface="Arial"/>
                <a:ea typeface="Arial"/>
                <a:cs typeface="Arial"/>
              </a:rPr>
              <a:t>The same pen: change its background, angle or distance</a:t>
            </a:r>
          </a:p>
        </p:txBody>
      </p:sp>
      <p:sp>
        <p:nvSpPr>
          <p:cNvPr id="6" name="">
            <a:extLst xmlns:a="http://schemas.openxmlformats.org/drawingml/2006/main">
              <a:ext uri="{FF2B5EF4-FFF2-40B4-BE49-F238E27FC236}">
                <a16:creationId xmlns:a16="http://schemas.microsoft.com/office/drawing/2014/main" id="{7B7AA6B4-CC12-4FC1-A961-858A2A013C71}"/>
              </a:ext>
            </a:extLst>
          </p:cNvPr>
          <p:cNvSpPr>
            <a:spLocks xmlns:a="http://schemas.openxmlformats.org/drawingml/2006/main" noGrp="1"/>
          </p:cNvSpPr>
          <p:nvPr/>
        </p:nvSpPr>
        <p:spPr>
          <a:xfrm xmlns:a="http://schemas.openxmlformats.org/drawingml/2006/main">
            <a:off x="609600" y="32480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C43"/>
                </a:solidFill>
                <a:latin typeface="Heiti TC"/>
                <a:ea typeface="Heiti TC"/>
                <a:cs typeface="Heiti TC"/>
              </a:defRPr>
            </a:pPr>
            <a:r>
              <a:rPr sz="2325" b="0">
                <a:solidFill>
                  <a:srgbClr val="173C43"/>
                </a:solidFill>
                <a:latin typeface="Heiti TC"/>
                <a:ea typeface="Heiti TC"/>
                <a:cs typeface="Heiti TC"/>
              </a:rPr>
              <a:t>你仍認得，但模型的預測會一樣嗎？</a:t>
            </a:r>
          </a:p>
        </p:txBody>
      </p:sp>
      <p:sp>
        <p:nvSpPr>
          <p:cNvPr id="7" name="">
            <a:extLst xmlns:a="http://schemas.openxmlformats.org/drawingml/2006/main">
              <a:ext uri="{FF2B5EF4-FFF2-40B4-BE49-F238E27FC236}">
                <a16:creationId xmlns:a16="http://schemas.microsoft.com/office/drawing/2014/main" id="{C1CF76AD-84B8-4CC0-922B-C3241E38DC72}"/>
              </a:ext>
            </a:extLst>
          </p:cNvPr>
          <p:cNvSpPr>
            <a:spLocks xmlns:a="http://schemas.openxmlformats.org/drawingml/2006/main" noGrp="1"/>
          </p:cNvSpPr>
          <p:nvPr/>
        </p:nvSpPr>
        <p:spPr>
          <a:xfrm xmlns:a="http://schemas.openxmlformats.org/drawingml/2006/main">
            <a:off x="609600" y="37147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You still recognise it. Will the model give the same prediction?</a:t>
            </a:r>
          </a:p>
        </p:txBody>
      </p:sp>
      <p:sp>
        <p:nvSpPr>
          <p:cNvPr id="8" name="">
            <a:extLst xmlns:a="http://schemas.openxmlformats.org/drawingml/2006/main">
              <a:ext uri="{FF2B5EF4-FFF2-40B4-BE49-F238E27FC236}">
                <a16:creationId xmlns:a16="http://schemas.microsoft.com/office/drawing/2014/main" id="{DFE55985-FAD0-47ED-B233-91FE7653C921}"/>
              </a:ext>
            </a:extLst>
          </p:cNvPr>
          <p:cNvSpPr>
            <a:spLocks xmlns:a="http://schemas.openxmlformats.org/drawingml/2006/main" noGrp="1"/>
          </p:cNvSpPr>
          <p:nvPr/>
        </p:nvSpPr>
        <p:spPr>
          <a:xfrm xmlns:a="http://schemas.openxmlformats.org/drawingml/2006/main">
            <a:off x="609600" y="46577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C43"/>
                </a:solidFill>
                <a:latin typeface="Heiti TC"/>
                <a:ea typeface="Heiti TC"/>
                <a:cs typeface="Heiti TC"/>
              </a:defRPr>
            </a:pPr>
            <a:r>
              <a:rPr sz="2550" b="0">
                <a:solidFill>
                  <a:srgbClr val="173C43"/>
                </a:solidFill>
                <a:latin typeface="Heiti TC"/>
                <a:ea typeface="Heiti TC"/>
                <a:cs typeface="Heiti TC"/>
              </a:rPr>
              <a:t>先寫下你的猜測，稍後來「考考」模型</a:t>
            </a:r>
          </a:p>
        </p:txBody>
      </p:sp>
      <p:sp>
        <p:nvSpPr>
          <p:cNvPr id="9" name="">
            <a:extLst xmlns:a="http://schemas.openxmlformats.org/drawingml/2006/main">
              <a:ext uri="{FF2B5EF4-FFF2-40B4-BE49-F238E27FC236}">
                <a16:creationId xmlns:a16="http://schemas.microsoft.com/office/drawing/2014/main" id="{10187A9E-1C42-448D-8D37-1005A6E12C90}"/>
              </a:ext>
            </a:extLst>
          </p:cNvPr>
          <p:cNvSpPr>
            <a:spLocks xmlns:a="http://schemas.openxmlformats.org/drawingml/2006/main" noGrp="1"/>
          </p:cNvSpPr>
          <p:nvPr/>
        </p:nvSpPr>
        <p:spPr>
          <a:xfrm xmlns:a="http://schemas.openxmlformats.org/drawingml/2006/main">
            <a:off x="609600" y="51244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B70"/>
                </a:solidFill>
                <a:latin typeface="Arial"/>
                <a:ea typeface="Arial"/>
                <a:cs typeface="Arial"/>
              </a:defRPr>
            </a:pPr>
            <a:r>
              <a:rPr sz="1950" b="0">
                <a:solidFill>
                  <a:srgbClr val="526B70"/>
                </a:solidFill>
                <a:latin typeface="Arial"/>
                <a:ea typeface="Arial"/>
                <a:cs typeface="Arial"/>
              </a:rPr>
              <a:t>Write your guess. We will challenge the model later</a:t>
            </a:r>
          </a:p>
        </p:txBody>
      </p:sp>
    </p:spTree>
    <p:extLst>
      <p:ext uri="{BB962C8B-B14F-4D97-AF65-F5344CB8AC3E}">
        <p14:creationId xmlns:p14="http://schemas.microsoft.com/office/powerpoint/2010/main" val="1635891248"/>
      </p:ext>
    </p:extLst>
  </p:cSld>
</p:sld>
</file>

<file path=ppt/slides/slide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7CCD54D-0B97-4894-878B-5CEAD6F0BD20}"/>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今天教電腦認識三個類別</a:t>
            </a:r>
          </a:p>
        </p:txBody>
      </p:sp>
      <p:sp>
        <p:nvSpPr>
          <p:cNvPr id="2" name="">
            <a:extLst xmlns:a="http://schemas.openxmlformats.org/drawingml/2006/main">
              <a:ext uri="{FF2B5EF4-FFF2-40B4-BE49-F238E27FC236}">
                <a16:creationId xmlns:a16="http://schemas.microsoft.com/office/drawing/2014/main" id="{16450E4B-53BD-4FF9-932D-17338E9430EA}"/>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Today we teach three classes</a:t>
            </a:r>
          </a:p>
        </p:txBody>
      </p:sp>
      <p:sp>
        <p:nvSpPr>
          <p:cNvPr id="3" name="">
            <a:extLst xmlns:a="http://schemas.openxmlformats.org/drawingml/2006/main">
              <a:ext uri="{FF2B5EF4-FFF2-40B4-BE49-F238E27FC236}">
                <a16:creationId xmlns:a16="http://schemas.microsoft.com/office/drawing/2014/main" id="{43C259C0-076C-4B9E-9FA8-786B4AB82398}"/>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19C99B8B-03D3-4A1E-A2D6-C3524F6C5DD7}"/>
              </a:ext>
            </a:extLst>
          </p:cNvPr>
          <p:cNvSpPr>
            <a:spLocks xmlns:a="http://schemas.openxmlformats.org/drawingml/2006/main" noGrp="1"/>
          </p:cNvSpPr>
          <p:nvPr/>
        </p:nvSpPr>
        <p:spPr>
          <a:xfrm xmlns:a="http://schemas.openxmlformats.org/drawingml/2006/main">
            <a:off x="609600" y="17145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173C43"/>
                </a:solidFill>
                <a:latin typeface="Heiti TC"/>
                <a:ea typeface="Heiti TC"/>
                <a:cs typeface="Heiti TC"/>
              </a:defRPr>
            </a:pPr>
            <a:r>
              <a:rPr sz="3150" b="0">
                <a:solidFill>
                  <a:srgbClr val="173C43"/>
                </a:solidFill>
                <a:latin typeface="Heiti TC"/>
                <a:ea typeface="Heiti TC"/>
                <a:cs typeface="Heiti TC"/>
              </a:rPr>
              <a:t>筆、擦膠、空背景</a:t>
            </a:r>
          </a:p>
        </p:txBody>
      </p:sp>
      <p:sp>
        <p:nvSpPr>
          <p:cNvPr id="5" name="">
            <a:extLst xmlns:a="http://schemas.openxmlformats.org/drawingml/2006/main">
              <a:ext uri="{FF2B5EF4-FFF2-40B4-BE49-F238E27FC236}">
                <a16:creationId xmlns:a16="http://schemas.microsoft.com/office/drawing/2014/main" id="{E734B3B6-373C-493E-90CA-B523447C69CE}"/>
              </a:ext>
            </a:extLst>
          </p:cNvPr>
          <p:cNvSpPr>
            <a:spLocks xmlns:a="http://schemas.openxmlformats.org/drawingml/2006/main" noGrp="1"/>
          </p:cNvSpPr>
          <p:nvPr/>
        </p:nvSpPr>
        <p:spPr>
          <a:xfrm xmlns:a="http://schemas.openxmlformats.org/drawingml/2006/main">
            <a:off x="609600" y="21812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526B70"/>
                </a:solidFill>
                <a:latin typeface="Arial"/>
                <a:ea typeface="Arial"/>
                <a:cs typeface="Arial"/>
              </a:defRPr>
            </a:pPr>
            <a:r>
              <a:rPr sz="2550" b="0">
                <a:solidFill>
                  <a:srgbClr val="526B70"/>
                </a:solidFill>
                <a:latin typeface="Arial"/>
                <a:ea typeface="Arial"/>
                <a:cs typeface="Arial"/>
              </a:rPr>
              <a:t>Pen, eraser, empty background</a:t>
            </a:r>
          </a:p>
        </p:txBody>
      </p:sp>
      <p:sp>
        <p:nvSpPr>
          <p:cNvPr id="6" name="">
            <a:extLst xmlns:a="http://schemas.openxmlformats.org/drawingml/2006/main">
              <a:ext uri="{FF2B5EF4-FFF2-40B4-BE49-F238E27FC236}">
                <a16:creationId xmlns:a16="http://schemas.microsoft.com/office/drawing/2014/main" id="{84FD26E2-3390-4C03-B735-826A65456CAA}"/>
              </a:ext>
            </a:extLst>
          </p:cNvPr>
          <p:cNvSpPr>
            <a:spLocks xmlns:a="http://schemas.openxmlformats.org/drawingml/2006/main" noGrp="1"/>
          </p:cNvSpPr>
          <p:nvPr/>
        </p:nvSpPr>
        <p:spPr>
          <a:xfrm xmlns:a="http://schemas.openxmlformats.org/drawingml/2006/main">
            <a:off x="609600" y="31146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C43"/>
                </a:solidFill>
                <a:latin typeface="Heiti TC"/>
                <a:ea typeface="Heiti TC"/>
                <a:cs typeface="Heiti TC"/>
              </a:defRPr>
            </a:pPr>
            <a:r>
              <a:rPr sz="2550" b="0">
                <a:solidFill>
                  <a:srgbClr val="173C43"/>
                </a:solidFill>
                <a:latin typeface="Heiti TC"/>
                <a:ea typeface="Heiti TC"/>
                <a:cs typeface="Heiti TC"/>
              </a:rPr>
              <a:t>用貼好標籤的相片，教模型分辨這三類</a:t>
            </a:r>
          </a:p>
        </p:txBody>
      </p:sp>
      <p:sp>
        <p:nvSpPr>
          <p:cNvPr id="7" name="">
            <a:extLst xmlns:a="http://schemas.openxmlformats.org/drawingml/2006/main">
              <a:ext uri="{FF2B5EF4-FFF2-40B4-BE49-F238E27FC236}">
                <a16:creationId xmlns:a16="http://schemas.microsoft.com/office/drawing/2014/main" id="{86F44A04-7F48-49C0-8A95-19ECDBE8CE39}"/>
              </a:ext>
            </a:extLst>
          </p:cNvPr>
          <p:cNvSpPr>
            <a:spLocks xmlns:a="http://schemas.openxmlformats.org/drawingml/2006/main" noGrp="1"/>
          </p:cNvSpPr>
          <p:nvPr/>
        </p:nvSpPr>
        <p:spPr>
          <a:xfrm xmlns:a="http://schemas.openxmlformats.org/drawingml/2006/main">
            <a:off x="609600" y="35814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B70"/>
                </a:solidFill>
                <a:latin typeface="Arial"/>
                <a:ea typeface="Arial"/>
                <a:cs typeface="Arial"/>
              </a:defRPr>
            </a:pPr>
            <a:r>
              <a:rPr sz="1950" b="0">
                <a:solidFill>
                  <a:srgbClr val="526B70"/>
                </a:solidFill>
                <a:latin typeface="Arial"/>
                <a:ea typeface="Arial"/>
                <a:cs typeface="Arial"/>
              </a:rPr>
              <a:t>Teach these classes with labelled images</a:t>
            </a:r>
          </a:p>
        </p:txBody>
      </p:sp>
      <p:sp>
        <p:nvSpPr>
          <p:cNvPr id="8" name="">
            <a:extLst xmlns:a="http://schemas.openxmlformats.org/drawingml/2006/main">
              <a:ext uri="{FF2B5EF4-FFF2-40B4-BE49-F238E27FC236}">
                <a16:creationId xmlns:a16="http://schemas.microsoft.com/office/drawing/2014/main" id="{4A10A197-9B43-4DC3-9759-0FD318709B57}"/>
              </a:ext>
            </a:extLst>
          </p:cNvPr>
          <p:cNvSpPr>
            <a:spLocks xmlns:a="http://schemas.openxmlformats.org/drawingml/2006/main" noGrp="1"/>
          </p:cNvSpPr>
          <p:nvPr/>
        </p:nvSpPr>
        <p:spPr>
          <a:xfrm xmlns:a="http://schemas.openxmlformats.org/drawingml/2006/main">
            <a:off x="609600" y="45148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C43"/>
                </a:solidFill>
                <a:latin typeface="Heiti TC"/>
                <a:ea typeface="Heiti TC"/>
                <a:cs typeface="Heiti TC"/>
              </a:defRPr>
            </a:pPr>
            <a:r>
              <a:rPr sz="2550" b="0">
                <a:solidFill>
                  <a:srgbClr val="173C43"/>
                </a:solidFill>
                <a:latin typeface="Heiti TC"/>
                <a:ea typeface="Heiti TC"/>
                <a:cs typeface="Heiti TC"/>
              </a:rPr>
              <a:t>模型只會在我們設定的類別中作選擇</a:t>
            </a:r>
          </a:p>
        </p:txBody>
      </p:sp>
      <p:sp>
        <p:nvSpPr>
          <p:cNvPr id="9" name="">
            <a:extLst xmlns:a="http://schemas.openxmlformats.org/drawingml/2006/main">
              <a:ext uri="{FF2B5EF4-FFF2-40B4-BE49-F238E27FC236}">
                <a16:creationId xmlns:a16="http://schemas.microsoft.com/office/drawing/2014/main" id="{FC05991F-52D0-4217-85F7-81558C311B7C}"/>
              </a:ext>
            </a:extLst>
          </p:cNvPr>
          <p:cNvSpPr>
            <a:spLocks xmlns:a="http://schemas.openxmlformats.org/drawingml/2006/main" noGrp="1"/>
          </p:cNvSpPr>
          <p:nvPr/>
        </p:nvSpPr>
        <p:spPr>
          <a:xfrm xmlns:a="http://schemas.openxmlformats.org/drawingml/2006/main">
            <a:off x="609600" y="49815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B70"/>
                </a:solidFill>
                <a:latin typeface="Arial"/>
                <a:ea typeface="Arial"/>
                <a:cs typeface="Arial"/>
              </a:defRPr>
            </a:pPr>
            <a:r>
              <a:rPr sz="1950" b="0">
                <a:solidFill>
                  <a:srgbClr val="526B70"/>
                </a:solidFill>
                <a:latin typeface="Arial"/>
                <a:ea typeface="Arial"/>
                <a:cs typeface="Arial"/>
              </a:rPr>
              <a:t>The model chooses among the classes we set</a:t>
            </a:r>
          </a:p>
        </p:txBody>
      </p:sp>
    </p:spTree>
    <p:extLst>
      <p:ext uri="{BB962C8B-B14F-4D97-AF65-F5344CB8AC3E}">
        <p14:creationId xmlns:p14="http://schemas.microsoft.com/office/powerpoint/2010/main" val="162669419"/>
      </p:ext>
    </p:extLst>
  </p:cSld>
</p:sld>
</file>

<file path=ppt/slides/slide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37B4E9C-CC02-4901-8FE6-475B20EA33B0}"/>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回歸猜數值，分類猜類別</a:t>
            </a:r>
          </a:p>
        </p:txBody>
      </p:sp>
      <p:sp>
        <p:nvSpPr>
          <p:cNvPr id="2" name="">
            <a:extLst xmlns:a="http://schemas.openxmlformats.org/drawingml/2006/main">
              <a:ext uri="{FF2B5EF4-FFF2-40B4-BE49-F238E27FC236}">
                <a16:creationId xmlns:a16="http://schemas.microsoft.com/office/drawing/2014/main" id="{5781BDEA-5363-440D-AB0E-08F2ADEECBC3}"/>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Regression predicts a number; classification predicts a class</a:t>
            </a:r>
          </a:p>
        </p:txBody>
      </p:sp>
      <p:sp>
        <p:nvSpPr>
          <p:cNvPr id="3" name="">
            <a:extLst xmlns:a="http://schemas.openxmlformats.org/drawingml/2006/main">
              <a:ext uri="{FF2B5EF4-FFF2-40B4-BE49-F238E27FC236}">
                <a16:creationId xmlns:a16="http://schemas.microsoft.com/office/drawing/2014/main" id="{D20CBD4F-807C-4DDE-A77D-9B2410015B3F}"/>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4</a:t>
            </a:r>
          </a:p>
        </p:txBody>
      </p:sp>
      <p:sp>
        <p:nvSpPr>
          <p:cNvPr id="4" name="">
            <a:extLst xmlns:a="http://schemas.openxmlformats.org/drawingml/2006/main">
              <a:ext uri="{FF2B5EF4-FFF2-40B4-BE49-F238E27FC236}">
                <a16:creationId xmlns:a16="http://schemas.microsoft.com/office/drawing/2014/main" id="{64A06DBF-57AC-42FA-8458-1E890FA0FFB0}"/>
              </a:ext>
            </a:extLst>
          </p:cNvPr>
          <p:cNvSpPr>
            <a:spLocks xmlns:a="http://schemas.openxmlformats.org/drawingml/2006/main" noGrp="1"/>
          </p:cNvSpPr>
          <p:nvPr/>
        </p:nvSpPr>
        <p:spPr>
          <a:xfrm xmlns:a="http://schemas.openxmlformats.org/drawingml/2006/main">
            <a:off x="609600" y="18288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C43"/>
                </a:solidFill>
                <a:latin typeface="Heiti TC"/>
                <a:ea typeface="Heiti TC"/>
                <a:cs typeface="Heiti TC"/>
              </a:defRPr>
            </a:pPr>
            <a:r>
              <a:rPr sz="2550" b="0">
                <a:solidFill>
                  <a:srgbClr val="173C43"/>
                </a:solidFill>
                <a:latin typeface="Heiti TC"/>
                <a:ea typeface="Heiti TC"/>
                <a:cs typeface="Heiti TC"/>
              </a:rPr>
              <a:t>上兩堂：每天溫習時間，預測考試成績</a:t>
            </a:r>
          </a:p>
        </p:txBody>
      </p:sp>
      <p:sp>
        <p:nvSpPr>
          <p:cNvPr id="5" name="">
            <a:extLst xmlns:a="http://schemas.openxmlformats.org/drawingml/2006/main">
              <a:ext uri="{FF2B5EF4-FFF2-40B4-BE49-F238E27FC236}">
                <a16:creationId xmlns:a16="http://schemas.microsoft.com/office/drawing/2014/main" id="{86350FFB-6DCA-4CA4-B4EF-82C3C03C655E}"/>
              </a:ext>
            </a:extLst>
          </p:cNvPr>
          <p:cNvSpPr>
            <a:spLocks xmlns:a="http://schemas.openxmlformats.org/drawingml/2006/main" noGrp="1"/>
          </p:cNvSpPr>
          <p:nvPr/>
        </p:nvSpPr>
        <p:spPr>
          <a:xfrm xmlns:a="http://schemas.openxmlformats.org/drawingml/2006/main">
            <a:off x="609600" y="22955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B70"/>
                </a:solidFill>
                <a:latin typeface="Arial"/>
                <a:ea typeface="Arial"/>
                <a:cs typeface="Arial"/>
              </a:defRPr>
            </a:pPr>
            <a:r>
              <a:rPr sz="1950" b="0">
                <a:solidFill>
                  <a:srgbClr val="526B70"/>
                </a:solidFill>
                <a:latin typeface="Arial"/>
                <a:ea typeface="Arial"/>
                <a:cs typeface="Arial"/>
              </a:rPr>
              <a:t>Previously: study time predicts an exam score</a:t>
            </a:r>
          </a:p>
        </p:txBody>
      </p:sp>
      <p:sp>
        <p:nvSpPr>
          <p:cNvPr id="6" name="">
            <a:extLst xmlns:a="http://schemas.openxmlformats.org/drawingml/2006/main">
              <a:ext uri="{FF2B5EF4-FFF2-40B4-BE49-F238E27FC236}">
                <a16:creationId xmlns:a16="http://schemas.microsoft.com/office/drawing/2014/main" id="{518F6009-68C1-455B-B74A-1A79637B18A0}"/>
              </a:ext>
            </a:extLst>
          </p:cNvPr>
          <p:cNvSpPr>
            <a:spLocks xmlns:a="http://schemas.openxmlformats.org/drawingml/2006/main" noGrp="1"/>
          </p:cNvSpPr>
          <p:nvPr/>
        </p:nvSpPr>
        <p:spPr>
          <a:xfrm xmlns:a="http://schemas.openxmlformats.org/drawingml/2006/main">
            <a:off x="609600" y="32385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3C43"/>
                </a:solidFill>
                <a:latin typeface="Heiti TC"/>
                <a:ea typeface="Heiti TC"/>
                <a:cs typeface="Heiti TC"/>
              </a:defRPr>
            </a:pPr>
            <a:r>
              <a:rPr sz="2475" b="0">
                <a:solidFill>
                  <a:srgbClr val="173C43"/>
                </a:solidFill>
                <a:latin typeface="Heiti TC"/>
                <a:ea typeface="Heiti TC"/>
                <a:cs typeface="Heiti TC"/>
              </a:rPr>
              <a:t>今堂：輸入一張圖片，預測「筆／擦膠／空背景」</a:t>
            </a:r>
          </a:p>
        </p:txBody>
      </p:sp>
      <p:sp>
        <p:nvSpPr>
          <p:cNvPr id="7" name="">
            <a:extLst xmlns:a="http://schemas.openxmlformats.org/drawingml/2006/main">
              <a:ext uri="{FF2B5EF4-FFF2-40B4-BE49-F238E27FC236}">
                <a16:creationId xmlns:a16="http://schemas.microsoft.com/office/drawing/2014/main" id="{93153F99-EBCA-4F24-A150-64BA37F7D52B}"/>
              </a:ext>
            </a:extLst>
          </p:cNvPr>
          <p:cNvSpPr>
            <a:spLocks xmlns:a="http://schemas.openxmlformats.org/drawingml/2006/main" noGrp="1"/>
          </p:cNvSpPr>
          <p:nvPr/>
        </p:nvSpPr>
        <p:spPr>
          <a:xfrm xmlns:a="http://schemas.openxmlformats.org/drawingml/2006/main">
            <a:off x="609600" y="37052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B70"/>
                </a:solidFill>
                <a:latin typeface="Arial"/>
                <a:ea typeface="Arial"/>
                <a:cs typeface="Arial"/>
              </a:defRPr>
            </a:pPr>
            <a:r>
              <a:rPr sz="1875" b="0">
                <a:solidFill>
                  <a:srgbClr val="526B70"/>
                </a:solidFill>
                <a:latin typeface="Arial"/>
                <a:ea typeface="Arial"/>
                <a:cs typeface="Arial"/>
              </a:rPr>
              <a:t>Today: an image predicts pen, eraser or empty background</a:t>
            </a:r>
          </a:p>
        </p:txBody>
      </p:sp>
      <p:sp>
        <p:nvSpPr>
          <p:cNvPr id="8" name="">
            <a:extLst xmlns:a="http://schemas.openxmlformats.org/drawingml/2006/main">
              <a:ext uri="{FF2B5EF4-FFF2-40B4-BE49-F238E27FC236}">
                <a16:creationId xmlns:a16="http://schemas.microsoft.com/office/drawing/2014/main" id="{D61043C2-4A8E-4429-88BA-A1F6E5657516}"/>
              </a:ext>
            </a:extLst>
          </p:cNvPr>
          <p:cNvSpPr>
            <a:spLocks xmlns:a="http://schemas.openxmlformats.org/drawingml/2006/main" noGrp="1"/>
          </p:cNvSpPr>
          <p:nvPr/>
        </p:nvSpPr>
        <p:spPr>
          <a:xfrm xmlns:a="http://schemas.openxmlformats.org/drawingml/2006/main">
            <a:off x="609600" y="4648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73C43"/>
                </a:solidFill>
                <a:latin typeface="Heiti TC"/>
                <a:ea typeface="Heiti TC"/>
                <a:cs typeface="Heiti TC"/>
              </a:defRPr>
            </a:pPr>
            <a:r>
              <a:rPr sz="2625" b="0">
                <a:solidFill>
                  <a:srgbClr val="173C43"/>
                </a:solidFill>
                <a:latin typeface="Heiti TC"/>
                <a:ea typeface="Heiti TC"/>
                <a:cs typeface="Heiti TC"/>
              </a:rPr>
              <a:t>一個輸出是數值，另一個輸出是類別</a:t>
            </a:r>
          </a:p>
        </p:txBody>
      </p:sp>
      <p:sp>
        <p:nvSpPr>
          <p:cNvPr id="9" name="">
            <a:extLst xmlns:a="http://schemas.openxmlformats.org/drawingml/2006/main">
              <a:ext uri="{FF2B5EF4-FFF2-40B4-BE49-F238E27FC236}">
                <a16:creationId xmlns:a16="http://schemas.microsoft.com/office/drawing/2014/main" id="{30DEEDD5-44FF-43F1-AC7D-3626223EB674}"/>
              </a:ext>
            </a:extLst>
          </p:cNvPr>
          <p:cNvSpPr>
            <a:spLocks xmlns:a="http://schemas.openxmlformats.org/drawingml/2006/main" noGrp="1"/>
          </p:cNvSpPr>
          <p:nvPr/>
        </p:nvSpPr>
        <p:spPr>
          <a:xfrm xmlns:a="http://schemas.openxmlformats.org/drawingml/2006/main">
            <a:off x="609600" y="51149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B70"/>
                </a:solidFill>
                <a:latin typeface="Arial"/>
                <a:ea typeface="Arial"/>
                <a:cs typeface="Arial"/>
              </a:defRPr>
            </a:pPr>
            <a:r>
              <a:rPr sz="2025" b="0">
                <a:solidFill>
                  <a:srgbClr val="526B70"/>
                </a:solidFill>
                <a:latin typeface="Arial"/>
                <a:ea typeface="Arial"/>
                <a:cs typeface="Arial"/>
              </a:rPr>
              <a:t>One output is a number; the other is a class</a:t>
            </a:r>
          </a:p>
        </p:txBody>
      </p:sp>
    </p:spTree>
    <p:extLst>
      <p:ext uri="{BB962C8B-B14F-4D97-AF65-F5344CB8AC3E}">
        <p14:creationId xmlns:p14="http://schemas.microsoft.com/office/powerpoint/2010/main" val="910559420"/>
      </p:ext>
    </p:extLst>
  </p:cSld>
</p:sld>
</file>

<file path=ppt/slides/slide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93E7C17-FD2D-48EB-88F3-A232CB8320BD}"/>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圖片也是數據</a:t>
            </a:r>
          </a:p>
        </p:txBody>
      </p:sp>
      <p:sp>
        <p:nvSpPr>
          <p:cNvPr id="2" name="">
            <a:extLst xmlns:a="http://schemas.openxmlformats.org/drawingml/2006/main">
              <a:ext uri="{FF2B5EF4-FFF2-40B4-BE49-F238E27FC236}">
                <a16:creationId xmlns:a16="http://schemas.microsoft.com/office/drawing/2014/main" id="{26E553B7-67F6-4DFB-A9FF-7A9586387317}"/>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A picture is data too</a:t>
            </a:r>
          </a:p>
        </p:txBody>
      </p:sp>
      <p:sp>
        <p:nvSpPr>
          <p:cNvPr id="3" name="">
            <a:extLst xmlns:a="http://schemas.openxmlformats.org/drawingml/2006/main">
              <a:ext uri="{FF2B5EF4-FFF2-40B4-BE49-F238E27FC236}">
                <a16:creationId xmlns:a16="http://schemas.microsoft.com/office/drawing/2014/main" id="{1B362C20-5AC7-4013-BCAA-26C4DD7C2DBD}"/>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5</a:t>
            </a:r>
          </a:p>
        </p:txBody>
      </p:sp>
      <p:sp>
        <p:nvSpPr>
          <p:cNvPr id="4" name="">
            <a:extLst xmlns:a="http://schemas.openxmlformats.org/drawingml/2006/main">
              <a:ext uri="{FF2B5EF4-FFF2-40B4-BE49-F238E27FC236}">
                <a16:creationId xmlns:a16="http://schemas.microsoft.com/office/drawing/2014/main" id="{9C72B083-7BAD-4AF0-B4AD-9E2366188231}"/>
              </a:ext>
            </a:extLst>
          </p:cNvPr>
          <p:cNvSpPr>
            <a:spLocks xmlns:a="http://schemas.openxmlformats.org/drawingml/2006/main" noGrp="1"/>
          </p:cNvSpPr>
          <p:nvPr/>
        </p:nvSpPr>
        <p:spPr>
          <a:xfrm xmlns:a="http://schemas.openxmlformats.org/drawingml/2006/main">
            <a:off x="609600" y="17621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C43"/>
                </a:solidFill>
                <a:latin typeface="Heiti TC"/>
                <a:ea typeface="Heiti TC"/>
                <a:cs typeface="Heiti TC"/>
              </a:defRPr>
            </a:pPr>
            <a:r>
              <a:rPr sz="2400" b="0">
                <a:solidFill>
                  <a:srgbClr val="173C43"/>
                </a:solidFill>
                <a:latin typeface="Heiti TC"/>
                <a:ea typeface="Heiti TC"/>
                <a:cs typeface="Heiti TC"/>
              </a:rPr>
              <a:t>數位圖片由很多小色點組成，稱為「像素」</a:t>
            </a:r>
          </a:p>
        </p:txBody>
      </p:sp>
      <p:sp>
        <p:nvSpPr>
          <p:cNvPr id="5" name="">
            <a:extLst xmlns:a="http://schemas.openxmlformats.org/drawingml/2006/main">
              <a:ext uri="{FF2B5EF4-FFF2-40B4-BE49-F238E27FC236}">
                <a16:creationId xmlns:a16="http://schemas.microsoft.com/office/drawing/2014/main" id="{C1FC0BE5-AF84-4AE8-8282-85E862776185}"/>
              </a:ext>
            </a:extLst>
          </p:cNvPr>
          <p:cNvSpPr>
            <a:spLocks xmlns:a="http://schemas.openxmlformats.org/drawingml/2006/main" noGrp="1"/>
          </p:cNvSpPr>
          <p:nvPr/>
        </p:nvSpPr>
        <p:spPr>
          <a:xfrm xmlns:a="http://schemas.openxmlformats.org/drawingml/2006/main">
            <a:off x="609600" y="2228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A digital image contains tiny coloured pieces called pixels</a:t>
            </a:r>
          </a:p>
        </p:txBody>
      </p:sp>
      <p:sp>
        <p:nvSpPr>
          <p:cNvPr id="6" name="">
            <a:extLst xmlns:a="http://schemas.openxmlformats.org/drawingml/2006/main">
              <a:ext uri="{FF2B5EF4-FFF2-40B4-BE49-F238E27FC236}">
                <a16:creationId xmlns:a16="http://schemas.microsoft.com/office/drawing/2014/main" id="{1B13DEA3-0D82-48D1-ACE3-260161ABBE10}"/>
              </a:ext>
            </a:extLst>
          </p:cNvPr>
          <p:cNvSpPr>
            <a:spLocks xmlns:a="http://schemas.openxmlformats.org/drawingml/2006/main" noGrp="1"/>
          </p:cNvSpPr>
          <p:nvPr/>
        </p:nvSpPr>
        <p:spPr>
          <a:xfrm xmlns:a="http://schemas.openxmlformats.org/drawingml/2006/main">
            <a:off x="609600" y="31527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C43"/>
                </a:solidFill>
                <a:latin typeface="Heiti TC"/>
                <a:ea typeface="Heiti TC"/>
                <a:cs typeface="Heiti TC"/>
              </a:defRPr>
            </a:pPr>
            <a:r>
              <a:rPr sz="2550" b="0">
                <a:solidFill>
                  <a:srgbClr val="173C43"/>
                </a:solidFill>
                <a:latin typeface="Heiti TC"/>
                <a:ea typeface="Heiti TC"/>
                <a:cs typeface="Heiti TC"/>
              </a:rPr>
              <a:t>你看見一支筆；電腦接收的是圖像數據</a:t>
            </a:r>
          </a:p>
        </p:txBody>
      </p:sp>
      <p:sp>
        <p:nvSpPr>
          <p:cNvPr id="7" name="">
            <a:extLst xmlns:a="http://schemas.openxmlformats.org/drawingml/2006/main">
              <a:ext uri="{FF2B5EF4-FFF2-40B4-BE49-F238E27FC236}">
                <a16:creationId xmlns:a16="http://schemas.microsoft.com/office/drawing/2014/main" id="{84BE6B3F-65EF-4F8D-A181-F3F11EE86A0E}"/>
              </a:ext>
            </a:extLst>
          </p:cNvPr>
          <p:cNvSpPr>
            <a:spLocks xmlns:a="http://schemas.openxmlformats.org/drawingml/2006/main" noGrp="1"/>
          </p:cNvSpPr>
          <p:nvPr/>
        </p:nvSpPr>
        <p:spPr>
          <a:xfrm xmlns:a="http://schemas.openxmlformats.org/drawingml/2006/main">
            <a:off x="609600" y="36195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B70"/>
                </a:solidFill>
                <a:latin typeface="Arial"/>
                <a:ea typeface="Arial"/>
                <a:cs typeface="Arial"/>
              </a:defRPr>
            </a:pPr>
            <a:r>
              <a:rPr sz="1950" b="0">
                <a:solidFill>
                  <a:srgbClr val="526B70"/>
                </a:solidFill>
                <a:latin typeface="Arial"/>
                <a:ea typeface="Arial"/>
                <a:cs typeface="Arial"/>
              </a:rPr>
              <a:t>You see a pen; the computer receives image data</a:t>
            </a:r>
          </a:p>
        </p:txBody>
      </p:sp>
      <p:sp>
        <p:nvSpPr>
          <p:cNvPr id="8" name="">
            <a:extLst xmlns:a="http://schemas.openxmlformats.org/drawingml/2006/main">
              <a:ext uri="{FF2B5EF4-FFF2-40B4-BE49-F238E27FC236}">
                <a16:creationId xmlns:a16="http://schemas.microsoft.com/office/drawing/2014/main" id="{3AC487BF-449F-4144-AA31-0FEB9E96235F}"/>
              </a:ext>
            </a:extLst>
          </p:cNvPr>
          <p:cNvSpPr>
            <a:spLocks xmlns:a="http://schemas.openxmlformats.org/drawingml/2006/main" noGrp="1"/>
          </p:cNvSpPr>
          <p:nvPr/>
        </p:nvSpPr>
        <p:spPr>
          <a:xfrm xmlns:a="http://schemas.openxmlformats.org/drawingml/2006/main">
            <a:off x="609600" y="45434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C43"/>
                </a:solidFill>
                <a:latin typeface="Heiti TC"/>
                <a:ea typeface="Heiti TC"/>
                <a:cs typeface="Heiti TC"/>
              </a:defRPr>
            </a:pPr>
            <a:r>
              <a:rPr sz="2400" b="0">
                <a:solidFill>
                  <a:srgbClr val="173C43"/>
                </a:solidFill>
                <a:latin typeface="Heiti TC"/>
                <a:ea typeface="Heiti TC"/>
                <a:cs typeface="Heiti TC"/>
              </a:rPr>
              <a:t>改角度或背景，收到的圖像數據也會改變</a:t>
            </a:r>
          </a:p>
        </p:txBody>
      </p:sp>
      <p:sp>
        <p:nvSpPr>
          <p:cNvPr id="9" name="">
            <a:extLst xmlns:a="http://schemas.openxmlformats.org/drawingml/2006/main">
              <a:ext uri="{FF2B5EF4-FFF2-40B4-BE49-F238E27FC236}">
                <a16:creationId xmlns:a16="http://schemas.microsoft.com/office/drawing/2014/main" id="{369B8AB7-9E05-46E2-A11B-C95479728FD7}"/>
              </a:ext>
            </a:extLst>
          </p:cNvPr>
          <p:cNvSpPr>
            <a:spLocks xmlns:a="http://schemas.openxmlformats.org/drawingml/2006/main" noGrp="1"/>
          </p:cNvSpPr>
          <p:nvPr/>
        </p:nvSpPr>
        <p:spPr>
          <a:xfrm xmlns:a="http://schemas.openxmlformats.org/drawingml/2006/main">
            <a:off x="609600" y="50101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Change the angle or background, and the image data changes</a:t>
            </a:r>
          </a:p>
        </p:txBody>
      </p:sp>
    </p:spTree>
    <p:extLst>
      <p:ext uri="{BB962C8B-B14F-4D97-AF65-F5344CB8AC3E}">
        <p14:creationId xmlns:p14="http://schemas.microsoft.com/office/powerpoint/2010/main" val="913438482"/>
      </p:ext>
    </p:extLst>
  </p:cSld>
</p:sld>
</file>

<file path=ppt/slides/slide6.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8C4FC2F-8548-4DB6-A3DC-27E50EB83E44}"/>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CNN：從局部圖像學習模式</a:t>
            </a:r>
          </a:p>
        </p:txBody>
      </p:sp>
      <p:sp>
        <p:nvSpPr>
          <p:cNvPr id="2" name="">
            <a:extLst xmlns:a="http://schemas.openxmlformats.org/drawingml/2006/main">
              <a:ext uri="{FF2B5EF4-FFF2-40B4-BE49-F238E27FC236}">
                <a16:creationId xmlns:a16="http://schemas.microsoft.com/office/drawing/2014/main" id="{87320C91-ED52-4DBB-A9DA-C839525EC273}"/>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CNN: learning patterns from parts of an image</a:t>
            </a:r>
          </a:p>
        </p:txBody>
      </p:sp>
      <p:sp>
        <p:nvSpPr>
          <p:cNvPr id="3" name="">
            <a:extLst xmlns:a="http://schemas.openxmlformats.org/drawingml/2006/main">
              <a:ext uri="{FF2B5EF4-FFF2-40B4-BE49-F238E27FC236}">
                <a16:creationId xmlns:a16="http://schemas.microsoft.com/office/drawing/2014/main" id="{31D83A8C-4C34-4466-80A4-68D599E61C51}"/>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6</a:t>
            </a:r>
          </a:p>
        </p:txBody>
      </p:sp>
      <p:sp>
        <p:nvSpPr>
          <p:cNvPr id="4" name="">
            <a:extLst xmlns:a="http://schemas.openxmlformats.org/drawingml/2006/main">
              <a:ext uri="{FF2B5EF4-FFF2-40B4-BE49-F238E27FC236}">
                <a16:creationId xmlns:a16="http://schemas.microsoft.com/office/drawing/2014/main" id="{22D97753-2E07-4454-9879-3AA8FF4D5022}"/>
              </a:ext>
            </a:extLst>
          </p:cNvPr>
          <p:cNvSpPr>
            <a:spLocks xmlns:a="http://schemas.openxmlformats.org/drawingml/2006/main" noGrp="1"/>
          </p:cNvSpPr>
          <p:nvPr/>
        </p:nvSpPr>
        <p:spPr>
          <a:xfrm xmlns:a="http://schemas.openxmlformats.org/drawingml/2006/main">
            <a:off x="609600" y="17145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C43"/>
                </a:solidFill>
                <a:latin typeface="Heiti TC"/>
                <a:ea typeface="Heiti TC"/>
                <a:cs typeface="Heiti TC"/>
              </a:defRPr>
            </a:pPr>
            <a:r>
              <a:rPr sz="2400" b="0">
                <a:solidFill>
                  <a:srgbClr val="173C43"/>
                </a:solidFill>
                <a:latin typeface="Heiti TC"/>
                <a:ea typeface="Heiti TC"/>
                <a:cs typeface="Heiti TC"/>
              </a:rPr>
              <a:t>先看局部圖像，可能學到邊緣、紋理等模式</a:t>
            </a:r>
          </a:p>
        </p:txBody>
      </p:sp>
      <p:sp>
        <p:nvSpPr>
          <p:cNvPr id="5" name="">
            <a:extLst xmlns:a="http://schemas.openxmlformats.org/drawingml/2006/main">
              <a:ext uri="{FF2B5EF4-FFF2-40B4-BE49-F238E27FC236}">
                <a16:creationId xmlns:a16="http://schemas.microsoft.com/office/drawing/2014/main" id="{7953B26A-40EA-4CD7-99FE-D8D8C868C369}"/>
              </a:ext>
            </a:extLst>
          </p:cNvPr>
          <p:cNvSpPr>
            <a:spLocks xmlns:a="http://schemas.openxmlformats.org/drawingml/2006/main" noGrp="1"/>
          </p:cNvSpPr>
          <p:nvPr/>
        </p:nvSpPr>
        <p:spPr>
          <a:xfrm xmlns:a="http://schemas.openxmlformats.org/drawingml/2006/main">
            <a:off x="609600" y="21812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Local parts can reveal patterns such as edges and textures</a:t>
            </a:r>
          </a:p>
        </p:txBody>
      </p:sp>
      <p:sp>
        <p:nvSpPr>
          <p:cNvPr id="6" name="">
            <a:extLst xmlns:a="http://schemas.openxmlformats.org/drawingml/2006/main">
              <a:ext uri="{FF2B5EF4-FFF2-40B4-BE49-F238E27FC236}">
                <a16:creationId xmlns:a16="http://schemas.microsoft.com/office/drawing/2014/main" id="{C47A104A-70A7-4EF3-9291-80D447803231}"/>
              </a:ext>
            </a:extLst>
          </p:cNvPr>
          <p:cNvSpPr>
            <a:spLocks xmlns:a="http://schemas.openxmlformats.org/drawingml/2006/main" noGrp="1"/>
          </p:cNvSpPr>
          <p:nvPr/>
        </p:nvSpPr>
        <p:spPr>
          <a:xfrm xmlns:a="http://schemas.openxmlformats.org/drawingml/2006/main">
            <a:off x="609600" y="31146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73C43"/>
                </a:solidFill>
                <a:latin typeface="Heiti TC"/>
                <a:ea typeface="Heiti TC"/>
                <a:cs typeface="Heiti TC"/>
              </a:defRPr>
            </a:pPr>
            <a:r>
              <a:rPr sz="2625" b="0">
                <a:solidFill>
                  <a:srgbClr val="173C43"/>
                </a:solidFill>
                <a:latin typeface="Heiti TC"/>
                <a:ea typeface="Heiti TC"/>
                <a:cs typeface="Heiti TC"/>
              </a:rPr>
              <a:t>把不同模式組合起來，幫助作分類</a:t>
            </a:r>
          </a:p>
        </p:txBody>
      </p:sp>
      <p:sp>
        <p:nvSpPr>
          <p:cNvPr id="7" name="">
            <a:extLst xmlns:a="http://schemas.openxmlformats.org/drawingml/2006/main">
              <a:ext uri="{FF2B5EF4-FFF2-40B4-BE49-F238E27FC236}">
                <a16:creationId xmlns:a16="http://schemas.microsoft.com/office/drawing/2014/main" id="{3E5CD8A9-0978-485B-B9DA-6DF9AB21C91A}"/>
              </a:ext>
            </a:extLst>
          </p:cNvPr>
          <p:cNvSpPr>
            <a:spLocks xmlns:a="http://schemas.openxmlformats.org/drawingml/2006/main" noGrp="1"/>
          </p:cNvSpPr>
          <p:nvPr/>
        </p:nvSpPr>
        <p:spPr>
          <a:xfrm xmlns:a="http://schemas.openxmlformats.org/drawingml/2006/main">
            <a:off x="609600" y="35814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B70"/>
                </a:solidFill>
                <a:latin typeface="Arial"/>
                <a:ea typeface="Arial"/>
                <a:cs typeface="Arial"/>
              </a:defRPr>
            </a:pPr>
            <a:r>
              <a:rPr sz="2025" b="0">
                <a:solidFill>
                  <a:srgbClr val="526B70"/>
                </a:solidFill>
                <a:latin typeface="Arial"/>
                <a:ea typeface="Arial"/>
                <a:cs typeface="Arial"/>
              </a:rPr>
              <a:t>Combining patterns helps classify images</a:t>
            </a:r>
          </a:p>
        </p:txBody>
      </p:sp>
      <p:sp>
        <p:nvSpPr>
          <p:cNvPr id="8" name="">
            <a:extLst xmlns:a="http://schemas.openxmlformats.org/drawingml/2006/main">
              <a:ext uri="{FF2B5EF4-FFF2-40B4-BE49-F238E27FC236}">
                <a16:creationId xmlns:a16="http://schemas.microsoft.com/office/drawing/2014/main" id="{FC78F648-BD03-49D6-B211-7700D7EFDA75}"/>
              </a:ext>
            </a:extLst>
          </p:cNvPr>
          <p:cNvSpPr>
            <a:spLocks xmlns:a="http://schemas.openxmlformats.org/drawingml/2006/main" noGrp="1"/>
          </p:cNvSpPr>
          <p:nvPr/>
        </p:nvSpPr>
        <p:spPr>
          <a:xfrm xmlns:a="http://schemas.openxmlformats.org/drawingml/2006/main">
            <a:off x="609600" y="45148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C43"/>
                </a:solidFill>
                <a:latin typeface="Heiti TC"/>
                <a:ea typeface="Heiti TC"/>
                <a:cs typeface="Heiti TC"/>
              </a:defRPr>
            </a:pPr>
            <a:r>
              <a:rPr sz="2400" b="0">
                <a:solidFill>
                  <a:srgbClr val="173C43"/>
                </a:solidFill>
                <a:latin typeface="Heiti TC"/>
                <a:ea typeface="Heiti TC"/>
                <a:cs typeface="Heiti TC"/>
              </a:rPr>
              <a:t>我們只需理解想法，不需計算像素或推導公式</a:t>
            </a:r>
          </a:p>
        </p:txBody>
      </p:sp>
      <p:sp>
        <p:nvSpPr>
          <p:cNvPr id="9" name="">
            <a:extLst xmlns:a="http://schemas.openxmlformats.org/drawingml/2006/main">
              <a:ext uri="{FF2B5EF4-FFF2-40B4-BE49-F238E27FC236}">
                <a16:creationId xmlns:a16="http://schemas.microsoft.com/office/drawing/2014/main" id="{7E58CD4B-CE01-47EB-A3F6-E89C6398DA51}"/>
              </a:ext>
            </a:extLst>
          </p:cNvPr>
          <p:cNvSpPr>
            <a:spLocks xmlns:a="http://schemas.openxmlformats.org/drawingml/2006/main" noGrp="1"/>
          </p:cNvSpPr>
          <p:nvPr/>
        </p:nvSpPr>
        <p:spPr>
          <a:xfrm xmlns:a="http://schemas.openxmlformats.org/drawingml/2006/main">
            <a:off x="609600" y="49815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Understand the idea. No pixel calculations or formulas needed</a:t>
            </a:r>
          </a:p>
        </p:txBody>
      </p:sp>
    </p:spTree>
    <p:extLst>
      <p:ext uri="{BB962C8B-B14F-4D97-AF65-F5344CB8AC3E}">
        <p14:creationId xmlns:p14="http://schemas.microsoft.com/office/powerpoint/2010/main" val="2056014836"/>
      </p:ext>
    </p:extLst>
  </p:cSld>
</p:sld>
</file>

<file path=ppt/slides/slide7.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ECF44B1-B3D6-417C-AD81-2CAF3351F4F4}"/>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借用一個已學過圖像的模型</a:t>
            </a:r>
          </a:p>
        </p:txBody>
      </p:sp>
      <p:sp>
        <p:nvSpPr>
          <p:cNvPr id="2" name="">
            <a:extLst xmlns:a="http://schemas.openxmlformats.org/drawingml/2006/main">
              <a:ext uri="{FF2B5EF4-FFF2-40B4-BE49-F238E27FC236}">
                <a16:creationId xmlns:a16="http://schemas.microsoft.com/office/drawing/2014/main" id="{3471A0EE-5F69-4DB8-B9AC-CED317226464}"/>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Reuse a model that has already learned image features</a:t>
            </a:r>
          </a:p>
        </p:txBody>
      </p:sp>
      <p:sp>
        <p:nvSpPr>
          <p:cNvPr id="3" name="">
            <a:extLst xmlns:a="http://schemas.openxmlformats.org/drawingml/2006/main">
              <a:ext uri="{FF2B5EF4-FFF2-40B4-BE49-F238E27FC236}">
                <a16:creationId xmlns:a16="http://schemas.microsoft.com/office/drawing/2014/main" id="{C6EB5F00-E227-4B80-837F-8FA33DCC56FD}"/>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7</a:t>
            </a:r>
          </a:p>
        </p:txBody>
      </p:sp>
      <p:sp>
        <p:nvSpPr>
          <p:cNvPr id="4" name="">
            <a:extLst xmlns:a="http://schemas.openxmlformats.org/drawingml/2006/main">
              <a:ext uri="{FF2B5EF4-FFF2-40B4-BE49-F238E27FC236}">
                <a16:creationId xmlns:a16="http://schemas.microsoft.com/office/drawing/2014/main" id="{824ADF79-C188-4A20-90E9-9B9CC93CF3BA}"/>
              </a:ext>
            </a:extLst>
          </p:cNvPr>
          <p:cNvSpPr>
            <a:spLocks xmlns:a="http://schemas.openxmlformats.org/drawingml/2006/main" noGrp="1"/>
          </p:cNvSpPr>
          <p:nvPr/>
        </p:nvSpPr>
        <p:spPr>
          <a:xfrm xmlns:a="http://schemas.openxmlformats.org/drawingml/2006/main">
            <a:off x="609600" y="17621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3C43"/>
                </a:solidFill>
                <a:latin typeface="Heiti TC"/>
                <a:ea typeface="Heiti TC"/>
                <a:cs typeface="Heiti TC"/>
              </a:defRPr>
            </a:pPr>
            <a:r>
              <a:rPr sz="2475" b="0">
                <a:solidFill>
                  <a:srgbClr val="173C43"/>
                </a:solidFill>
                <a:latin typeface="Heiti TC"/>
                <a:ea typeface="Heiti TC"/>
                <a:cs typeface="Heiti TC"/>
              </a:rPr>
              <a:t>Teachable Machine 借用已訓練的圖像模型</a:t>
            </a:r>
          </a:p>
        </p:txBody>
      </p:sp>
      <p:sp>
        <p:nvSpPr>
          <p:cNvPr id="5" name="">
            <a:extLst xmlns:a="http://schemas.openxmlformats.org/drawingml/2006/main">
              <a:ext uri="{FF2B5EF4-FFF2-40B4-BE49-F238E27FC236}">
                <a16:creationId xmlns:a16="http://schemas.microsoft.com/office/drawing/2014/main" id="{9F9C2248-B4AF-4003-8958-6E2E8CEDAC6A}"/>
              </a:ext>
            </a:extLst>
          </p:cNvPr>
          <p:cNvSpPr>
            <a:spLocks xmlns:a="http://schemas.openxmlformats.org/drawingml/2006/main" noGrp="1"/>
          </p:cNvSpPr>
          <p:nvPr/>
        </p:nvSpPr>
        <p:spPr>
          <a:xfrm xmlns:a="http://schemas.openxmlformats.org/drawingml/2006/main">
            <a:off x="609600" y="2228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B70"/>
                </a:solidFill>
                <a:latin typeface="Arial"/>
                <a:ea typeface="Arial"/>
                <a:cs typeface="Arial"/>
              </a:defRPr>
            </a:pPr>
            <a:r>
              <a:rPr sz="1875" b="0">
                <a:solidFill>
                  <a:srgbClr val="526B70"/>
                </a:solidFill>
                <a:latin typeface="Arial"/>
                <a:ea typeface="Arial"/>
                <a:cs typeface="Arial"/>
              </a:rPr>
              <a:t>Teachable Machine reuses a trained image model</a:t>
            </a:r>
          </a:p>
        </p:txBody>
      </p:sp>
      <p:sp>
        <p:nvSpPr>
          <p:cNvPr id="6" name="">
            <a:extLst xmlns:a="http://schemas.openxmlformats.org/drawingml/2006/main">
              <a:ext uri="{FF2B5EF4-FFF2-40B4-BE49-F238E27FC236}">
                <a16:creationId xmlns:a16="http://schemas.microsoft.com/office/drawing/2014/main" id="{CD660D3D-F41C-4781-AE67-698274640C51}"/>
              </a:ext>
            </a:extLst>
          </p:cNvPr>
          <p:cNvSpPr>
            <a:spLocks xmlns:a="http://schemas.openxmlformats.org/drawingml/2006/main" noGrp="1"/>
          </p:cNvSpPr>
          <p:nvPr/>
        </p:nvSpPr>
        <p:spPr>
          <a:xfrm xmlns:a="http://schemas.openxmlformats.org/drawingml/2006/main">
            <a:off x="609600" y="31527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3C43"/>
                </a:solidFill>
                <a:latin typeface="Heiti TC"/>
                <a:ea typeface="Heiti TC"/>
                <a:cs typeface="Heiti TC"/>
              </a:defRPr>
            </a:pPr>
            <a:r>
              <a:rPr sz="2475" b="0">
                <a:solidFill>
                  <a:srgbClr val="173C43"/>
                </a:solidFill>
                <a:latin typeface="Heiti TC"/>
                <a:ea typeface="Heiti TC"/>
                <a:cs typeface="Heiti TC"/>
              </a:rPr>
              <a:t>再用我們的相片，建立自己的分類部分</a:t>
            </a:r>
          </a:p>
        </p:txBody>
      </p:sp>
      <p:sp>
        <p:nvSpPr>
          <p:cNvPr id="7" name="">
            <a:extLst xmlns:a="http://schemas.openxmlformats.org/drawingml/2006/main">
              <a:ext uri="{FF2B5EF4-FFF2-40B4-BE49-F238E27FC236}">
                <a16:creationId xmlns:a16="http://schemas.microsoft.com/office/drawing/2014/main" id="{2661C9D7-585D-44EA-9D95-C214D0D97659}"/>
              </a:ext>
            </a:extLst>
          </p:cNvPr>
          <p:cNvSpPr>
            <a:spLocks xmlns:a="http://schemas.openxmlformats.org/drawingml/2006/main" noGrp="1"/>
          </p:cNvSpPr>
          <p:nvPr/>
        </p:nvSpPr>
        <p:spPr>
          <a:xfrm xmlns:a="http://schemas.openxmlformats.org/drawingml/2006/main">
            <a:off x="609600" y="36195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B70"/>
                </a:solidFill>
                <a:latin typeface="Arial"/>
                <a:ea typeface="Arial"/>
                <a:cs typeface="Arial"/>
              </a:defRPr>
            </a:pPr>
            <a:r>
              <a:rPr sz="1875" b="0">
                <a:solidFill>
                  <a:srgbClr val="526B70"/>
                </a:solidFill>
                <a:latin typeface="Arial"/>
                <a:ea typeface="Arial"/>
                <a:cs typeface="Arial"/>
              </a:rPr>
              <a:t>Our images teach the classifier our chosen classes</a:t>
            </a:r>
          </a:p>
        </p:txBody>
      </p:sp>
      <p:sp>
        <p:nvSpPr>
          <p:cNvPr id="8" name="">
            <a:extLst xmlns:a="http://schemas.openxmlformats.org/drawingml/2006/main">
              <a:ext uri="{FF2B5EF4-FFF2-40B4-BE49-F238E27FC236}">
                <a16:creationId xmlns:a16="http://schemas.microsoft.com/office/drawing/2014/main" id="{392BABB5-83A9-4F4A-A041-E3D3FD985262}"/>
              </a:ext>
            </a:extLst>
          </p:cNvPr>
          <p:cNvSpPr>
            <a:spLocks xmlns:a="http://schemas.openxmlformats.org/drawingml/2006/main" noGrp="1"/>
          </p:cNvSpPr>
          <p:nvPr/>
        </p:nvSpPr>
        <p:spPr>
          <a:xfrm xmlns:a="http://schemas.openxmlformats.org/drawingml/2006/main">
            <a:off x="609600" y="45434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C43"/>
                </a:solidFill>
                <a:latin typeface="Heiti TC"/>
                <a:ea typeface="Heiti TC"/>
                <a:cs typeface="Heiti TC"/>
              </a:defRPr>
            </a:pPr>
            <a:r>
              <a:rPr sz="2250" b="0">
                <a:solidFill>
                  <a:srgbClr val="173C43"/>
                </a:solidFill>
                <a:latin typeface="Heiti TC"/>
                <a:ea typeface="Heiti TC"/>
                <a:cs typeface="Heiti TC"/>
              </a:rPr>
              <a:t>今天要花心思選好例子，不需從零編寫 CNN</a:t>
            </a:r>
          </a:p>
        </p:txBody>
      </p:sp>
      <p:sp>
        <p:nvSpPr>
          <p:cNvPr id="9" name="">
            <a:extLst xmlns:a="http://schemas.openxmlformats.org/drawingml/2006/main">
              <a:ext uri="{FF2B5EF4-FFF2-40B4-BE49-F238E27FC236}">
                <a16:creationId xmlns:a16="http://schemas.microsoft.com/office/drawing/2014/main" id="{1719875A-2CB8-4B9B-BF01-39814DA2044F}"/>
              </a:ext>
            </a:extLst>
          </p:cNvPr>
          <p:cNvSpPr>
            <a:spLocks xmlns:a="http://schemas.openxmlformats.org/drawingml/2006/main" noGrp="1"/>
          </p:cNvSpPr>
          <p:nvPr/>
        </p:nvSpPr>
        <p:spPr>
          <a:xfrm xmlns:a="http://schemas.openxmlformats.org/drawingml/2006/main">
            <a:off x="609600" y="50101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Today we focus on good examples, without coding a CNN from scratch</a:t>
            </a:r>
          </a:p>
        </p:txBody>
      </p:sp>
    </p:spTree>
    <p:extLst>
      <p:ext uri="{BB962C8B-B14F-4D97-AF65-F5344CB8AC3E}">
        <p14:creationId xmlns:p14="http://schemas.microsoft.com/office/powerpoint/2010/main" val="1296098562"/>
      </p:ext>
    </p:extLst>
  </p:cSld>
</p:sld>
</file>

<file path=ppt/slides/slide8.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D81BD2E-1F8A-4DB3-B0D4-0131A321355D}"/>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開啟你的圖像專案</a:t>
            </a:r>
          </a:p>
        </p:txBody>
      </p:sp>
      <p:sp>
        <p:nvSpPr>
          <p:cNvPr id="2" name="">
            <a:extLst xmlns:a="http://schemas.openxmlformats.org/drawingml/2006/main">
              <a:ext uri="{FF2B5EF4-FFF2-40B4-BE49-F238E27FC236}">
                <a16:creationId xmlns:a16="http://schemas.microsoft.com/office/drawing/2014/main" id="{E527BDE4-025C-48AA-93C6-327006FB5826}"/>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Open your image project</a:t>
            </a:r>
          </a:p>
        </p:txBody>
      </p:sp>
      <p:sp>
        <p:nvSpPr>
          <p:cNvPr id="3" name="">
            <a:extLst xmlns:a="http://schemas.openxmlformats.org/drawingml/2006/main">
              <a:ext uri="{FF2B5EF4-FFF2-40B4-BE49-F238E27FC236}">
                <a16:creationId xmlns:a16="http://schemas.microsoft.com/office/drawing/2014/main" id="{00325675-79B5-430D-9949-FDAEC20D436E}"/>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8</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f7731e05c5542ee"/>
          <a:stretch xmlns:a="http://schemas.openxmlformats.org/drawingml/2006/main"/>
        </p:blipFill>
        <p:spPr>
          <a:xfrm xmlns:a="http://schemas.openxmlformats.org/drawingml/2006/main">
            <a:off x="939165" y="1609725"/>
            <a:ext cx="7056120" cy="44100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9D2B711-9654-4A5A-9B64-A01AE71AD899}"/>
              </a:ext>
            </a:extLst>
          </p:cNvPr>
          <p:cNvSpPr>
            <a:spLocks xmlns:a="http://schemas.openxmlformats.org/drawingml/2006/main" noGrp="1"/>
          </p:cNvSpPr>
          <p:nvPr/>
        </p:nvSpPr>
        <p:spPr>
          <a:xfrm xmlns:a="http://schemas.openxmlformats.org/drawingml/2006/main">
            <a:off x="8715375" y="18097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C43"/>
                </a:solidFill>
                <a:latin typeface="Heiti TC"/>
                <a:ea typeface="Heiti TC"/>
                <a:cs typeface="Heiti TC"/>
              </a:defRPr>
            </a:pPr>
            <a:r>
              <a:rPr sz="2325" b="0">
                <a:solidFill>
                  <a:srgbClr val="173C43"/>
                </a:solidFill>
                <a:latin typeface="Heiti TC"/>
                <a:ea typeface="Heiti TC"/>
                <a:cs typeface="Heiti TC"/>
              </a:rPr>
              <a:t>三個類別</a:t>
            </a:r>
          </a:p>
        </p:txBody>
      </p:sp>
      <p:sp>
        <p:nvSpPr>
          <p:cNvPr id="6" name="">
            <a:extLst xmlns:a="http://schemas.openxmlformats.org/drawingml/2006/main">
              <a:ext uri="{FF2B5EF4-FFF2-40B4-BE49-F238E27FC236}">
                <a16:creationId xmlns:a16="http://schemas.microsoft.com/office/drawing/2014/main" id="{90108515-0487-4259-B6D1-CBCF1867DDA7}"/>
              </a:ext>
            </a:extLst>
          </p:cNvPr>
          <p:cNvSpPr>
            <a:spLocks xmlns:a="http://schemas.openxmlformats.org/drawingml/2006/main" noGrp="1"/>
          </p:cNvSpPr>
          <p:nvPr/>
        </p:nvSpPr>
        <p:spPr>
          <a:xfrm xmlns:a="http://schemas.openxmlformats.org/drawingml/2006/main">
            <a:off x="8715375" y="227647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Three classes</a:t>
            </a:r>
          </a:p>
        </p:txBody>
      </p:sp>
      <p:sp>
        <p:nvSpPr>
          <p:cNvPr id="7" name="">
            <a:extLst xmlns:a="http://schemas.openxmlformats.org/drawingml/2006/main">
              <a:ext uri="{FF2B5EF4-FFF2-40B4-BE49-F238E27FC236}">
                <a16:creationId xmlns:a16="http://schemas.microsoft.com/office/drawing/2014/main" id="{EB305EA6-7CDB-42E0-858B-E81A16C65A2D}"/>
              </a:ext>
            </a:extLst>
          </p:cNvPr>
          <p:cNvSpPr>
            <a:spLocks xmlns:a="http://schemas.openxmlformats.org/drawingml/2006/main" noGrp="1"/>
          </p:cNvSpPr>
          <p:nvPr/>
        </p:nvSpPr>
        <p:spPr>
          <a:xfrm xmlns:a="http://schemas.openxmlformats.org/drawingml/2006/main">
            <a:off x="8715375" y="31051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C43"/>
                </a:solidFill>
                <a:latin typeface="Heiti TC"/>
                <a:ea typeface="Heiti TC"/>
                <a:cs typeface="Heiti TC"/>
              </a:defRPr>
            </a:pPr>
            <a:r>
              <a:rPr sz="2325" b="0">
                <a:solidFill>
                  <a:srgbClr val="173C43"/>
                </a:solidFill>
                <a:latin typeface="Heiti TC"/>
                <a:ea typeface="Heiti TC"/>
                <a:cs typeface="Heiti TC"/>
              </a:rPr>
              <a:t>加相片</a:t>
            </a:r>
          </a:p>
        </p:txBody>
      </p:sp>
      <p:sp>
        <p:nvSpPr>
          <p:cNvPr id="8" name="">
            <a:extLst xmlns:a="http://schemas.openxmlformats.org/drawingml/2006/main">
              <a:ext uri="{FF2B5EF4-FFF2-40B4-BE49-F238E27FC236}">
                <a16:creationId xmlns:a16="http://schemas.microsoft.com/office/drawing/2014/main" id="{EB5C613A-1230-4317-8BA1-EEDA0A78B9DA}"/>
              </a:ext>
            </a:extLst>
          </p:cNvPr>
          <p:cNvSpPr>
            <a:spLocks xmlns:a="http://schemas.openxmlformats.org/drawingml/2006/main" noGrp="1"/>
          </p:cNvSpPr>
          <p:nvPr/>
        </p:nvSpPr>
        <p:spPr>
          <a:xfrm xmlns:a="http://schemas.openxmlformats.org/drawingml/2006/main">
            <a:off x="8715375" y="357187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Add images</a:t>
            </a:r>
          </a:p>
        </p:txBody>
      </p:sp>
      <p:sp>
        <p:nvSpPr>
          <p:cNvPr id="9" name="">
            <a:extLst xmlns:a="http://schemas.openxmlformats.org/drawingml/2006/main">
              <a:ext uri="{FF2B5EF4-FFF2-40B4-BE49-F238E27FC236}">
                <a16:creationId xmlns:a16="http://schemas.microsoft.com/office/drawing/2014/main" id="{2F8C7680-910C-4154-83EC-B74C1CDF7C4F}"/>
              </a:ext>
            </a:extLst>
          </p:cNvPr>
          <p:cNvSpPr>
            <a:spLocks xmlns:a="http://schemas.openxmlformats.org/drawingml/2006/main" noGrp="1"/>
          </p:cNvSpPr>
          <p:nvPr/>
        </p:nvSpPr>
        <p:spPr>
          <a:xfrm xmlns:a="http://schemas.openxmlformats.org/drawingml/2006/main">
            <a:off x="8715375" y="44005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C43"/>
                </a:solidFill>
                <a:latin typeface="Heiti TC"/>
                <a:ea typeface="Heiti TC"/>
                <a:cs typeface="Heiti TC"/>
              </a:defRPr>
            </a:pPr>
            <a:r>
              <a:rPr sz="2100" b="0">
                <a:solidFill>
                  <a:srgbClr val="173C43"/>
                </a:solidFill>
                <a:latin typeface="Heiti TC"/>
                <a:ea typeface="Heiti TC"/>
                <a:cs typeface="Heiti TC"/>
              </a:rPr>
              <a:t>訓練，再預覽</a:t>
            </a:r>
          </a:p>
        </p:txBody>
      </p:sp>
      <p:sp>
        <p:nvSpPr>
          <p:cNvPr id="10" name="">
            <a:extLst xmlns:a="http://schemas.openxmlformats.org/drawingml/2006/main">
              <a:ext uri="{FF2B5EF4-FFF2-40B4-BE49-F238E27FC236}">
                <a16:creationId xmlns:a16="http://schemas.microsoft.com/office/drawing/2014/main" id="{4BDE7037-8652-4CFB-9468-07051D8D512E}"/>
              </a:ext>
            </a:extLst>
          </p:cNvPr>
          <p:cNvSpPr>
            <a:spLocks xmlns:a="http://schemas.openxmlformats.org/drawingml/2006/main" noGrp="1"/>
          </p:cNvSpPr>
          <p:nvPr/>
        </p:nvSpPr>
        <p:spPr>
          <a:xfrm xmlns:a="http://schemas.openxmlformats.org/drawingml/2006/main">
            <a:off x="8715375" y="486727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Train, then preview</a:t>
            </a:r>
          </a:p>
        </p:txBody>
      </p:sp>
      <p:sp>
        <p:nvSpPr>
          <p:cNvPr id="11" name="">
            <a:extLst xmlns:a="http://schemas.openxmlformats.org/drawingml/2006/main">
              <a:ext uri="{FF2B5EF4-FFF2-40B4-BE49-F238E27FC236}">
                <a16:creationId xmlns:a16="http://schemas.microsoft.com/office/drawing/2014/main" id="{C39A7ABA-B1B8-4305-BE12-6C5C0C93261A}"/>
              </a:ext>
            </a:extLst>
          </p:cNvPr>
          <p:cNvSpPr>
            <a:spLocks xmlns:a="http://schemas.openxmlformats.org/drawingml/2006/main" noGrp="1"/>
          </p:cNvSpPr>
          <p:nvPr/>
        </p:nvSpPr>
        <p:spPr>
          <a:xfrm xmlns:a="http://schemas.openxmlformats.org/drawingml/2006/main">
            <a:off x="609600" y="61722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086C61"/>
                </a:solidFill>
                <a:latin typeface="Heiti TC"/>
                <a:ea typeface="Heiti TC"/>
                <a:cs typeface="Heiti TC"/>
              </a:defRPr>
            </a:pPr>
            <a:r>
              <a:rPr sz="1575" b="0">
                <a:solidFill>
                  <a:srgbClr val="086C61"/>
                </a:solidFill>
                <a:latin typeface="Heiti TC"/>
                <a:ea typeface="Heiti TC"/>
                <a:cs typeface="Heiti TC"/>
              </a:rPr>
              <a:t>網站 / Website: teachablemachine.withgoogle.com</a:t>
            </a:r>
          </a:p>
        </p:txBody>
      </p:sp>
    </p:spTree>
    <p:extLst>
      <p:ext uri="{BB962C8B-B14F-4D97-AF65-F5344CB8AC3E}">
        <p14:creationId xmlns:p14="http://schemas.microsoft.com/office/powerpoint/2010/main" val="1649623722"/>
      </p:ext>
    </p:extLst>
  </p:cSld>
</p:sld>
</file>

<file path=ppt/slides/slide9.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8C8ADFD-F3EF-4FAB-89A1-60E678B5DA6F}"/>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訓練相片的「食譜」</a:t>
            </a:r>
          </a:p>
        </p:txBody>
      </p:sp>
      <p:sp>
        <p:nvSpPr>
          <p:cNvPr id="2" name="">
            <a:extLst xmlns:a="http://schemas.openxmlformats.org/drawingml/2006/main">
              <a:ext uri="{FF2B5EF4-FFF2-40B4-BE49-F238E27FC236}">
                <a16:creationId xmlns:a16="http://schemas.microsoft.com/office/drawing/2014/main" id="{C68E9BD4-0C34-4B70-AD53-76E4F7073082}"/>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A recipe for training images</a:t>
            </a:r>
          </a:p>
        </p:txBody>
      </p:sp>
      <p:sp>
        <p:nvSpPr>
          <p:cNvPr id="3" name="">
            <a:extLst xmlns:a="http://schemas.openxmlformats.org/drawingml/2006/main">
              <a:ext uri="{FF2B5EF4-FFF2-40B4-BE49-F238E27FC236}">
                <a16:creationId xmlns:a16="http://schemas.microsoft.com/office/drawing/2014/main" id="{28E9E553-8F65-4CCF-91C1-F6E56989B919}"/>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9</a:t>
            </a:r>
          </a:p>
        </p:txBody>
      </p:sp>
      <p:sp>
        <p:nvSpPr>
          <p:cNvPr id="4" name="">
            <a:extLst xmlns:a="http://schemas.openxmlformats.org/drawingml/2006/main">
              <a:ext uri="{FF2B5EF4-FFF2-40B4-BE49-F238E27FC236}">
                <a16:creationId xmlns:a16="http://schemas.microsoft.com/office/drawing/2014/main" id="{9D3BDB95-93DA-4075-B434-4F608C36A483}"/>
              </a:ext>
            </a:extLst>
          </p:cNvPr>
          <p:cNvSpPr>
            <a:spLocks xmlns:a="http://schemas.openxmlformats.org/drawingml/2006/main" noGrp="1"/>
          </p:cNvSpPr>
          <p:nvPr/>
        </p:nvSpPr>
        <p:spPr>
          <a:xfrm xmlns:a="http://schemas.openxmlformats.org/drawingml/2006/main">
            <a:off x="609600" y="17145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C43"/>
                </a:solidFill>
                <a:latin typeface="Heiti TC"/>
                <a:ea typeface="Heiti TC"/>
                <a:cs typeface="Heiti TC"/>
              </a:defRPr>
            </a:pPr>
            <a:r>
              <a:rPr sz="2550" b="0">
                <a:solidFill>
                  <a:srgbClr val="173C43"/>
                </a:solidFill>
                <a:latin typeface="Heiti TC"/>
                <a:ea typeface="Heiti TC"/>
                <a:cs typeface="Heiti TC"/>
              </a:rPr>
              <a:t>每類目標至少 20 張，數量大致相近</a:t>
            </a:r>
          </a:p>
        </p:txBody>
      </p:sp>
      <p:sp>
        <p:nvSpPr>
          <p:cNvPr id="5" name="">
            <a:extLst xmlns:a="http://schemas.openxmlformats.org/drawingml/2006/main">
              <a:ext uri="{FF2B5EF4-FFF2-40B4-BE49-F238E27FC236}">
                <a16:creationId xmlns:a16="http://schemas.microsoft.com/office/drawing/2014/main" id="{85BE981E-D2D8-432E-B700-517C53E1A3EC}"/>
              </a:ext>
            </a:extLst>
          </p:cNvPr>
          <p:cNvSpPr>
            <a:spLocks xmlns:a="http://schemas.openxmlformats.org/drawingml/2006/main" noGrp="1"/>
          </p:cNvSpPr>
          <p:nvPr/>
        </p:nvSpPr>
        <p:spPr>
          <a:xfrm xmlns:a="http://schemas.openxmlformats.org/drawingml/2006/main">
            <a:off x="609600" y="21812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B70"/>
                </a:solidFill>
                <a:latin typeface="Arial"/>
                <a:ea typeface="Arial"/>
                <a:cs typeface="Arial"/>
              </a:defRPr>
            </a:pPr>
            <a:r>
              <a:rPr sz="1950" b="0">
                <a:solidFill>
                  <a:srgbClr val="526B70"/>
                </a:solidFill>
                <a:latin typeface="Arial"/>
                <a:ea typeface="Arial"/>
                <a:cs typeface="Arial"/>
              </a:rPr>
              <a:t>Aim for 20 or more per class, with similar counts</a:t>
            </a:r>
          </a:p>
        </p:txBody>
      </p:sp>
      <p:sp>
        <p:nvSpPr>
          <p:cNvPr id="6" name="">
            <a:extLst xmlns:a="http://schemas.openxmlformats.org/drawingml/2006/main">
              <a:ext uri="{FF2B5EF4-FFF2-40B4-BE49-F238E27FC236}">
                <a16:creationId xmlns:a16="http://schemas.microsoft.com/office/drawing/2014/main" id="{1BACF9C9-2DF2-4031-B866-EB3EE3A5096B}"/>
              </a:ext>
            </a:extLst>
          </p:cNvPr>
          <p:cNvSpPr>
            <a:spLocks xmlns:a="http://schemas.openxmlformats.org/drawingml/2006/main" noGrp="1"/>
          </p:cNvSpPr>
          <p:nvPr/>
        </p:nvSpPr>
        <p:spPr>
          <a:xfrm xmlns:a="http://schemas.openxmlformats.org/drawingml/2006/main">
            <a:off x="609600" y="31146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C43"/>
                </a:solidFill>
                <a:latin typeface="Heiti TC"/>
                <a:ea typeface="Heiti TC"/>
                <a:cs typeface="Heiti TC"/>
              </a:defRPr>
            </a:pPr>
            <a:r>
              <a:rPr sz="2325" b="0">
                <a:solidFill>
                  <a:srgbClr val="173C43"/>
                </a:solidFill>
                <a:latin typeface="Heiti TC"/>
                <a:ea typeface="Heiti TC"/>
                <a:cs typeface="Heiti TC"/>
              </a:rPr>
              <a:t>改角度、距離、背景；試不同的筆和擦膠</a:t>
            </a:r>
          </a:p>
        </p:txBody>
      </p:sp>
      <p:sp>
        <p:nvSpPr>
          <p:cNvPr id="7" name="">
            <a:extLst xmlns:a="http://schemas.openxmlformats.org/drawingml/2006/main">
              <a:ext uri="{FF2B5EF4-FFF2-40B4-BE49-F238E27FC236}">
                <a16:creationId xmlns:a16="http://schemas.microsoft.com/office/drawing/2014/main" id="{88193E70-83FF-4870-9E32-1413581E1BFB}"/>
              </a:ext>
            </a:extLst>
          </p:cNvPr>
          <p:cNvSpPr>
            <a:spLocks xmlns:a="http://schemas.openxmlformats.org/drawingml/2006/main" noGrp="1"/>
          </p:cNvSpPr>
          <p:nvPr/>
        </p:nvSpPr>
        <p:spPr>
          <a:xfrm xmlns:a="http://schemas.openxmlformats.org/drawingml/2006/main">
            <a:off x="609600" y="35814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Vary angle, distance and background; try different pens and erasers</a:t>
            </a:r>
          </a:p>
        </p:txBody>
      </p:sp>
      <p:sp>
        <p:nvSpPr>
          <p:cNvPr id="8" name="">
            <a:extLst xmlns:a="http://schemas.openxmlformats.org/drawingml/2006/main">
              <a:ext uri="{FF2B5EF4-FFF2-40B4-BE49-F238E27FC236}">
                <a16:creationId xmlns:a16="http://schemas.microsoft.com/office/drawing/2014/main" id="{8609F00B-2BC7-48E0-94DB-9720901FEB68}"/>
              </a:ext>
            </a:extLst>
          </p:cNvPr>
          <p:cNvSpPr>
            <a:spLocks xmlns:a="http://schemas.openxmlformats.org/drawingml/2006/main" noGrp="1"/>
          </p:cNvSpPr>
          <p:nvPr/>
        </p:nvSpPr>
        <p:spPr>
          <a:xfrm xmlns:a="http://schemas.openxmlformats.org/drawingml/2006/main">
            <a:off x="609600" y="45148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3C43"/>
                </a:solidFill>
                <a:latin typeface="Heiti TC"/>
                <a:ea typeface="Heiti TC"/>
                <a:cs typeface="Heiti TC"/>
              </a:defRPr>
            </a:pPr>
            <a:r>
              <a:rPr sz="2475" b="0">
                <a:solidFill>
                  <a:srgbClr val="173C43"/>
                </a:solidFill>
                <a:latin typeface="Heiti TC"/>
                <a:ea typeface="Heiti TC"/>
                <a:cs typeface="Heiti TC"/>
              </a:rPr>
              <a:t>一直拍同一角度，可能只讓模型「背熟那一幕」</a:t>
            </a:r>
          </a:p>
        </p:txBody>
      </p:sp>
      <p:sp>
        <p:nvSpPr>
          <p:cNvPr id="9" name="">
            <a:extLst xmlns:a="http://schemas.openxmlformats.org/drawingml/2006/main">
              <a:ext uri="{FF2B5EF4-FFF2-40B4-BE49-F238E27FC236}">
                <a16:creationId xmlns:a16="http://schemas.microsoft.com/office/drawing/2014/main" id="{79EB012A-0FE9-4373-91A3-ABAFB177AA15}"/>
              </a:ext>
            </a:extLst>
          </p:cNvPr>
          <p:cNvSpPr>
            <a:spLocks xmlns:a="http://schemas.openxmlformats.org/drawingml/2006/main" noGrp="1"/>
          </p:cNvSpPr>
          <p:nvPr/>
        </p:nvSpPr>
        <p:spPr>
          <a:xfrm xmlns:a="http://schemas.openxmlformats.org/drawingml/2006/main">
            <a:off x="609600" y="49815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B70"/>
                </a:solidFill>
                <a:latin typeface="Arial"/>
                <a:ea typeface="Arial"/>
                <a:cs typeface="Arial"/>
              </a:defRPr>
            </a:pPr>
            <a:r>
              <a:rPr sz="1875" b="0">
                <a:solidFill>
                  <a:srgbClr val="526B70"/>
                </a:solidFill>
                <a:latin typeface="Arial"/>
                <a:ea typeface="Arial"/>
                <a:cs typeface="Arial"/>
              </a:rPr>
              <a:t>Repeated identical views may teach only that one scene</a:t>
            </a:r>
          </a:p>
        </p:txBody>
      </p:sp>
    </p:spTree>
    <p:extLst>
      <p:ext uri="{BB962C8B-B14F-4D97-AF65-F5344CB8AC3E}">
        <p14:creationId xmlns:p14="http://schemas.microsoft.com/office/powerpoint/2010/main" val="783777282"/>
      </p:ext>
    </p:extLst>
  </p:cSld>
</p:sld>
</file>

<file path=ppt/slides/slide10.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31C1CB4-CCB1-4D9B-8A6A-7C0515B07CEF}"/>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按訓練之前，先留起測試圖片</a:t>
            </a:r>
          </a:p>
        </p:txBody>
      </p:sp>
      <p:sp>
        <p:nvSpPr>
          <p:cNvPr id="2" name="">
            <a:extLst xmlns:a="http://schemas.openxmlformats.org/drawingml/2006/main">
              <a:ext uri="{FF2B5EF4-FFF2-40B4-BE49-F238E27FC236}">
                <a16:creationId xmlns:a16="http://schemas.microsoft.com/office/drawing/2014/main" id="{BE364EAB-E505-422E-B5F5-7A6960084C46}"/>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Reserve test images before training</a:t>
            </a:r>
          </a:p>
        </p:txBody>
      </p:sp>
      <p:sp>
        <p:nvSpPr>
          <p:cNvPr id="3" name="">
            <a:extLst xmlns:a="http://schemas.openxmlformats.org/drawingml/2006/main">
              <a:ext uri="{FF2B5EF4-FFF2-40B4-BE49-F238E27FC236}">
                <a16:creationId xmlns:a16="http://schemas.microsoft.com/office/drawing/2014/main" id="{CC7923A1-B668-49EE-A766-38D566415CFC}"/>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45CB858B-7F04-4557-8A83-576F3106C6AB}"/>
              </a:ext>
            </a:extLst>
          </p:cNvPr>
          <p:cNvSpPr>
            <a:spLocks xmlns:a="http://schemas.openxmlformats.org/drawingml/2006/main" noGrp="1"/>
          </p:cNvSpPr>
          <p:nvPr/>
        </p:nvSpPr>
        <p:spPr>
          <a:xfrm xmlns:a="http://schemas.openxmlformats.org/drawingml/2006/main">
            <a:off x="609600" y="17145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73C43"/>
                </a:solidFill>
                <a:latin typeface="Heiti TC"/>
                <a:ea typeface="Heiti TC"/>
                <a:cs typeface="Heiti TC"/>
              </a:defRPr>
            </a:pPr>
            <a:r>
              <a:rPr sz="2625" b="0">
                <a:solidFill>
                  <a:srgbClr val="173C43"/>
                </a:solidFill>
                <a:latin typeface="Heiti TC"/>
                <a:ea typeface="Heiti TC"/>
                <a:cs typeface="Heiti TC"/>
              </a:rPr>
              <a:t>訓練圖片：給模型學習</a:t>
            </a:r>
          </a:p>
        </p:txBody>
      </p:sp>
      <p:sp>
        <p:nvSpPr>
          <p:cNvPr id="5" name="">
            <a:extLst xmlns:a="http://schemas.openxmlformats.org/drawingml/2006/main">
              <a:ext uri="{FF2B5EF4-FFF2-40B4-BE49-F238E27FC236}">
                <a16:creationId xmlns:a16="http://schemas.microsoft.com/office/drawing/2014/main" id="{6A6B2B9D-015E-46BC-AFE6-29DE4FE4EB5B}"/>
              </a:ext>
            </a:extLst>
          </p:cNvPr>
          <p:cNvSpPr>
            <a:spLocks xmlns:a="http://schemas.openxmlformats.org/drawingml/2006/main" noGrp="1"/>
          </p:cNvSpPr>
          <p:nvPr/>
        </p:nvSpPr>
        <p:spPr>
          <a:xfrm xmlns:a="http://schemas.openxmlformats.org/drawingml/2006/main">
            <a:off x="609600" y="21812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B70"/>
                </a:solidFill>
                <a:latin typeface="Arial"/>
                <a:ea typeface="Arial"/>
                <a:cs typeface="Arial"/>
              </a:defRPr>
            </a:pPr>
            <a:r>
              <a:rPr sz="2025" b="0">
                <a:solidFill>
                  <a:srgbClr val="526B70"/>
                </a:solidFill>
                <a:latin typeface="Arial"/>
                <a:ea typeface="Arial"/>
                <a:cs typeface="Arial"/>
              </a:rPr>
              <a:t>Training images: examples for learning</a:t>
            </a:r>
          </a:p>
        </p:txBody>
      </p:sp>
      <p:sp>
        <p:nvSpPr>
          <p:cNvPr id="6" name="">
            <a:extLst xmlns:a="http://schemas.openxmlformats.org/drawingml/2006/main">
              <a:ext uri="{FF2B5EF4-FFF2-40B4-BE49-F238E27FC236}">
                <a16:creationId xmlns:a16="http://schemas.microsoft.com/office/drawing/2014/main" id="{809DAF63-5BB4-43EB-B20A-9D7674E01831}"/>
              </a:ext>
            </a:extLst>
          </p:cNvPr>
          <p:cNvSpPr>
            <a:spLocks xmlns:a="http://schemas.openxmlformats.org/drawingml/2006/main" noGrp="1"/>
          </p:cNvSpPr>
          <p:nvPr/>
        </p:nvSpPr>
        <p:spPr>
          <a:xfrm xmlns:a="http://schemas.openxmlformats.org/drawingml/2006/main">
            <a:off x="609600" y="31146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3C43"/>
                </a:solidFill>
                <a:latin typeface="Heiti TC"/>
                <a:ea typeface="Heiti TC"/>
                <a:cs typeface="Heiti TC"/>
              </a:defRPr>
            </a:pPr>
            <a:r>
              <a:rPr sz="2475" b="0">
                <a:solidFill>
                  <a:srgbClr val="173C43"/>
                </a:solidFill>
                <a:latin typeface="Heiti TC"/>
                <a:ea typeface="Heiti TC"/>
                <a:cs typeface="Heiti TC"/>
              </a:rPr>
              <a:t>老師備妥 A：每類 4 張，用來第一次檢查</a:t>
            </a:r>
          </a:p>
        </p:txBody>
      </p:sp>
      <p:sp>
        <p:nvSpPr>
          <p:cNvPr id="7" name="">
            <a:extLst xmlns:a="http://schemas.openxmlformats.org/drawingml/2006/main">
              <a:ext uri="{FF2B5EF4-FFF2-40B4-BE49-F238E27FC236}">
                <a16:creationId xmlns:a16="http://schemas.microsoft.com/office/drawing/2014/main" id="{8E76F400-08BD-4177-8140-B59103B31698}"/>
              </a:ext>
            </a:extLst>
          </p:cNvPr>
          <p:cNvSpPr>
            <a:spLocks xmlns:a="http://schemas.openxmlformats.org/drawingml/2006/main" noGrp="1"/>
          </p:cNvSpPr>
          <p:nvPr/>
        </p:nvSpPr>
        <p:spPr>
          <a:xfrm xmlns:a="http://schemas.openxmlformats.org/drawingml/2006/main">
            <a:off x="609600" y="35814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B70"/>
                </a:solidFill>
                <a:latin typeface="Arial"/>
                <a:ea typeface="Arial"/>
                <a:cs typeface="Arial"/>
              </a:defRPr>
            </a:pPr>
            <a:r>
              <a:rPr sz="1875" b="0">
                <a:solidFill>
                  <a:srgbClr val="526B70"/>
                </a:solidFill>
                <a:latin typeface="Arial"/>
                <a:ea typeface="Arial"/>
                <a:cs typeface="Arial"/>
              </a:rPr>
              <a:t>Teacher prepares A: four new images per class</a:t>
            </a:r>
          </a:p>
        </p:txBody>
      </p:sp>
      <p:sp>
        <p:nvSpPr>
          <p:cNvPr id="8" name="">
            <a:extLst xmlns:a="http://schemas.openxmlformats.org/drawingml/2006/main">
              <a:ext uri="{FF2B5EF4-FFF2-40B4-BE49-F238E27FC236}">
                <a16:creationId xmlns:a16="http://schemas.microsoft.com/office/drawing/2014/main" id="{B31D74AD-36A0-4E5D-89E9-C5707F6745CA}"/>
              </a:ext>
            </a:extLst>
          </p:cNvPr>
          <p:cNvSpPr>
            <a:spLocks xmlns:a="http://schemas.openxmlformats.org/drawingml/2006/main" noGrp="1"/>
          </p:cNvSpPr>
          <p:nvPr/>
        </p:nvSpPr>
        <p:spPr>
          <a:xfrm xmlns:a="http://schemas.openxmlformats.org/drawingml/2006/main">
            <a:off x="609600" y="45148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C43"/>
                </a:solidFill>
                <a:latin typeface="Heiti TC"/>
                <a:ea typeface="Heiti TC"/>
                <a:cs typeface="Heiti TC"/>
              </a:defRPr>
            </a:pPr>
            <a:r>
              <a:rPr sz="2250" b="0">
                <a:solidFill>
                  <a:srgbClr val="173C43"/>
                </a:solidFill>
                <a:latin typeface="Heiti TC"/>
                <a:ea typeface="Heiti TC"/>
                <a:cs typeface="Heiti TC"/>
              </a:rPr>
              <a:t>B：另留每類 4 張，改善後才用；兩批難度相近</a:t>
            </a:r>
          </a:p>
        </p:txBody>
      </p:sp>
      <p:sp>
        <p:nvSpPr>
          <p:cNvPr id="9" name="">
            <a:extLst xmlns:a="http://schemas.openxmlformats.org/drawingml/2006/main">
              <a:ext uri="{FF2B5EF4-FFF2-40B4-BE49-F238E27FC236}">
                <a16:creationId xmlns:a16="http://schemas.microsoft.com/office/drawing/2014/main" id="{6ACCC3ED-62FA-4AB7-8D00-DD8C06E9594B}"/>
              </a:ext>
            </a:extLst>
          </p:cNvPr>
          <p:cNvSpPr>
            <a:spLocks xmlns:a="http://schemas.openxmlformats.org/drawingml/2006/main" noGrp="1"/>
          </p:cNvSpPr>
          <p:nvPr/>
        </p:nvSpPr>
        <p:spPr>
          <a:xfrm xmlns:a="http://schemas.openxmlformats.org/drawingml/2006/main">
            <a:off x="609600" y="49815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B: another four per class, used after improvement; similar difficulty</a:t>
            </a:r>
          </a:p>
        </p:txBody>
      </p:sp>
    </p:spTree>
    <p:extLst>
      <p:ext uri="{BB962C8B-B14F-4D97-AF65-F5344CB8AC3E}">
        <p14:creationId xmlns:p14="http://schemas.microsoft.com/office/powerpoint/2010/main" val="937375990"/>
      </p:ext>
    </p:extLst>
  </p:cSld>
</p:sld>
</file>

<file path=ppt/slides/slide11.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05899A8-7EF7-4E73-BC46-06385D40653D}"/>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Train Model：開始學習你的類別</a:t>
            </a:r>
          </a:p>
        </p:txBody>
      </p:sp>
      <p:sp>
        <p:nvSpPr>
          <p:cNvPr id="2" name="">
            <a:extLst xmlns:a="http://schemas.openxmlformats.org/drawingml/2006/main">
              <a:ext uri="{FF2B5EF4-FFF2-40B4-BE49-F238E27FC236}">
                <a16:creationId xmlns:a16="http://schemas.microsoft.com/office/drawing/2014/main" id="{F3B50217-EBCA-46B2-90BA-C4B599575AB0}"/>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Train Model: learn your classes</a:t>
            </a:r>
          </a:p>
        </p:txBody>
      </p:sp>
      <p:sp>
        <p:nvSpPr>
          <p:cNvPr id="3" name="">
            <a:extLst xmlns:a="http://schemas.openxmlformats.org/drawingml/2006/main">
              <a:ext uri="{FF2B5EF4-FFF2-40B4-BE49-F238E27FC236}">
                <a16:creationId xmlns:a16="http://schemas.microsoft.com/office/drawing/2014/main" id="{22B39A35-941F-4776-9161-C9187E1B1787}"/>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FA771051-2FCB-4641-A6F3-D25235F669E9}"/>
              </a:ext>
            </a:extLst>
          </p:cNvPr>
          <p:cNvSpPr>
            <a:spLocks xmlns:a="http://schemas.openxmlformats.org/drawingml/2006/main" noGrp="1"/>
          </p:cNvSpPr>
          <p:nvPr/>
        </p:nvSpPr>
        <p:spPr>
          <a:xfrm xmlns:a="http://schemas.openxmlformats.org/drawingml/2006/main">
            <a:off x="609600" y="17621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C43"/>
                </a:solidFill>
                <a:latin typeface="Heiti TC"/>
                <a:ea typeface="Heiti TC"/>
                <a:cs typeface="Heiti TC"/>
              </a:defRPr>
            </a:pPr>
            <a:r>
              <a:rPr sz="2400" b="0">
                <a:solidFill>
                  <a:srgbClr val="173C43"/>
                </a:solidFill>
                <a:latin typeface="Heiti TC"/>
                <a:ea typeface="Heiti TC"/>
                <a:cs typeface="Heiti TC"/>
              </a:rPr>
              <a:t>先檢查三類是否都有相片，再按 Train Model</a:t>
            </a:r>
          </a:p>
        </p:txBody>
      </p:sp>
      <p:sp>
        <p:nvSpPr>
          <p:cNvPr id="5" name="">
            <a:extLst xmlns:a="http://schemas.openxmlformats.org/drawingml/2006/main">
              <a:ext uri="{FF2B5EF4-FFF2-40B4-BE49-F238E27FC236}">
                <a16:creationId xmlns:a16="http://schemas.microsoft.com/office/drawing/2014/main" id="{5B90E4D4-1F3D-4E7C-BE73-ECCD8E8104EF}"/>
              </a:ext>
            </a:extLst>
          </p:cNvPr>
          <p:cNvSpPr>
            <a:spLocks xmlns:a="http://schemas.openxmlformats.org/drawingml/2006/main" noGrp="1"/>
          </p:cNvSpPr>
          <p:nvPr/>
        </p:nvSpPr>
        <p:spPr>
          <a:xfrm xmlns:a="http://schemas.openxmlformats.org/drawingml/2006/main">
            <a:off x="609600" y="2228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Check that every class has images, then select Train Model</a:t>
            </a:r>
          </a:p>
        </p:txBody>
      </p:sp>
      <p:sp>
        <p:nvSpPr>
          <p:cNvPr id="6" name="">
            <a:extLst xmlns:a="http://schemas.openxmlformats.org/drawingml/2006/main">
              <a:ext uri="{FF2B5EF4-FFF2-40B4-BE49-F238E27FC236}">
                <a16:creationId xmlns:a16="http://schemas.microsoft.com/office/drawing/2014/main" id="{2E26D81B-685A-49AA-84B2-FFAA07C48488}"/>
              </a:ext>
            </a:extLst>
          </p:cNvPr>
          <p:cNvSpPr>
            <a:spLocks xmlns:a="http://schemas.openxmlformats.org/drawingml/2006/main" noGrp="1"/>
          </p:cNvSpPr>
          <p:nvPr/>
        </p:nvSpPr>
        <p:spPr>
          <a:xfrm xmlns:a="http://schemas.openxmlformats.org/drawingml/2006/main">
            <a:off x="609600" y="31527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3C43"/>
                </a:solidFill>
                <a:latin typeface="Heiti TC"/>
                <a:ea typeface="Heiti TC"/>
                <a:cs typeface="Heiti TC"/>
              </a:defRPr>
            </a:pPr>
            <a:r>
              <a:rPr sz="2475" b="0">
                <a:solidFill>
                  <a:srgbClr val="173C43"/>
                </a:solidFill>
                <a:latin typeface="Heiti TC"/>
                <a:ea typeface="Heiti TC"/>
                <a:cs typeface="Heiti TC"/>
              </a:rPr>
              <a:t>完成後，用 Preview 試 A 的新圖片</a:t>
            </a:r>
          </a:p>
        </p:txBody>
      </p:sp>
      <p:sp>
        <p:nvSpPr>
          <p:cNvPr id="7" name="">
            <a:extLst xmlns:a="http://schemas.openxmlformats.org/drawingml/2006/main">
              <a:ext uri="{FF2B5EF4-FFF2-40B4-BE49-F238E27FC236}">
                <a16:creationId xmlns:a16="http://schemas.microsoft.com/office/drawing/2014/main" id="{9DAF48F8-1F7B-4569-9B03-1E65CCA2E5D2}"/>
              </a:ext>
            </a:extLst>
          </p:cNvPr>
          <p:cNvSpPr>
            <a:spLocks xmlns:a="http://schemas.openxmlformats.org/drawingml/2006/main" noGrp="1"/>
          </p:cNvSpPr>
          <p:nvPr/>
        </p:nvSpPr>
        <p:spPr>
          <a:xfrm xmlns:a="http://schemas.openxmlformats.org/drawingml/2006/main">
            <a:off x="609600" y="36195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B70"/>
                </a:solidFill>
                <a:latin typeface="Arial"/>
                <a:ea typeface="Arial"/>
                <a:cs typeface="Arial"/>
              </a:defRPr>
            </a:pPr>
            <a:r>
              <a:rPr sz="1875" b="0">
                <a:solidFill>
                  <a:srgbClr val="526B70"/>
                </a:solidFill>
                <a:latin typeface="Arial"/>
                <a:ea typeface="Arial"/>
                <a:cs typeface="Arial"/>
              </a:rPr>
              <a:t>After training, use Preview with the new images in set A</a:t>
            </a:r>
          </a:p>
        </p:txBody>
      </p:sp>
      <p:sp>
        <p:nvSpPr>
          <p:cNvPr id="8" name="">
            <a:extLst xmlns:a="http://schemas.openxmlformats.org/drawingml/2006/main">
              <a:ext uri="{FF2B5EF4-FFF2-40B4-BE49-F238E27FC236}">
                <a16:creationId xmlns:a16="http://schemas.microsoft.com/office/drawing/2014/main" id="{A678E454-ACFB-4CE9-98E9-7F7939EF0029}"/>
              </a:ext>
            </a:extLst>
          </p:cNvPr>
          <p:cNvSpPr>
            <a:spLocks xmlns:a="http://schemas.openxmlformats.org/drawingml/2006/main" noGrp="1"/>
          </p:cNvSpPr>
          <p:nvPr/>
        </p:nvSpPr>
        <p:spPr>
          <a:xfrm xmlns:a="http://schemas.openxmlformats.org/drawingml/2006/main">
            <a:off x="609600" y="45434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C43"/>
                </a:solidFill>
                <a:latin typeface="Heiti TC"/>
                <a:ea typeface="Heiti TC"/>
                <a:cs typeface="Heiti TC"/>
              </a:defRPr>
            </a:pPr>
            <a:r>
              <a:rPr sz="2250" b="0">
                <a:solidFill>
                  <a:srgbClr val="173C43"/>
                </a:solidFill>
                <a:latin typeface="Heiti TC"/>
                <a:ea typeface="Heiti TC"/>
                <a:cs typeface="Heiti TC"/>
              </a:rPr>
              <a:t>記錄真實類別及預測；若 A 全對，可寫「未見錯誤」</a:t>
            </a:r>
          </a:p>
        </p:txBody>
      </p:sp>
      <p:sp>
        <p:nvSpPr>
          <p:cNvPr id="9" name="">
            <a:extLst xmlns:a="http://schemas.openxmlformats.org/drawingml/2006/main">
              <a:ext uri="{FF2B5EF4-FFF2-40B4-BE49-F238E27FC236}">
                <a16:creationId xmlns:a16="http://schemas.microsoft.com/office/drawing/2014/main" id="{92177863-7A61-4C77-B452-756F90DA67DD}"/>
              </a:ext>
            </a:extLst>
          </p:cNvPr>
          <p:cNvSpPr>
            <a:spLocks xmlns:a="http://schemas.openxmlformats.org/drawingml/2006/main" noGrp="1"/>
          </p:cNvSpPr>
          <p:nvPr/>
        </p:nvSpPr>
        <p:spPr>
          <a:xfrm xmlns:a="http://schemas.openxmlformats.org/drawingml/2006/main">
            <a:off x="609600" y="50101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Record actual and predicted classes. If A is all correct, write “none found”</a:t>
            </a:r>
          </a:p>
        </p:txBody>
      </p:sp>
    </p:spTree>
    <p:extLst>
      <p:ext uri="{BB962C8B-B14F-4D97-AF65-F5344CB8AC3E}">
        <p14:creationId xmlns:p14="http://schemas.microsoft.com/office/powerpoint/2010/main" val="590336628"/>
      </p:ext>
    </p:extLst>
  </p:cSld>
</p:sld>
</file>

<file path=ppt/slides/slide1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F894CCE-7E91-4335-8D82-5BC4496CBFC3}"/>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模型「很有信心」，也可能答錯</a:t>
            </a:r>
          </a:p>
        </p:txBody>
      </p:sp>
      <p:sp>
        <p:nvSpPr>
          <p:cNvPr id="2" name="">
            <a:extLst xmlns:a="http://schemas.openxmlformats.org/drawingml/2006/main">
              <a:ext uri="{FF2B5EF4-FFF2-40B4-BE49-F238E27FC236}">
                <a16:creationId xmlns:a16="http://schemas.microsoft.com/office/drawing/2014/main" id="{9BE895D0-8ACD-4DB5-8B19-AD02EF9703D6}"/>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A confident-looking model can be wrong</a:t>
            </a:r>
          </a:p>
        </p:txBody>
      </p:sp>
      <p:sp>
        <p:nvSpPr>
          <p:cNvPr id="3" name="">
            <a:extLst xmlns:a="http://schemas.openxmlformats.org/drawingml/2006/main">
              <a:ext uri="{FF2B5EF4-FFF2-40B4-BE49-F238E27FC236}">
                <a16:creationId xmlns:a16="http://schemas.microsoft.com/office/drawing/2014/main" id="{64BEE2E3-2FE7-473B-B7A3-9CE9BA6791CB}"/>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12</a:t>
            </a:r>
          </a:p>
        </p:txBody>
      </p:sp>
      <p:graphicFrame>
        <p:nvGraphicFramePr>
          <p:cNvPr id="13" name="Chart"/>
          <p:cNvGraphicFramePr/>
          <p:nvPr/>
        </p:nvGraphicFramePr>
        <p:xfrm>
          <a:off xmlns:a="http://schemas.openxmlformats.org/drawingml/2006/main" x="609600" y="1809750"/>
          <a:ext xmlns:a="http://schemas.openxmlformats.org/drawingml/2006/main" cx="6953250" cy="3762375"/>
        </p:xfrm>
        <a:graphic xmlns:a="http://schemas.openxmlformats.org/drawingml/2006/main">
          <a:graphicData uri="http://schemas.openxmlformats.org/drawingml/2006/chart">
            <c:chart xmlns:r="http://schemas.openxmlformats.org/officeDocument/2006/relationships" xmlns:c="http://schemas.openxmlformats.org/drawingml/2006/chart" r:id="R4d456a2e34174517"/>
          </a:graphicData>
        </a:graphic>
      </p:graphicFrame>
      <p:sp>
        <p:nvSpPr>
          <p:cNvPr id="5" name="">
            <a:extLst xmlns:a="http://schemas.openxmlformats.org/drawingml/2006/main">
              <a:ext uri="{FF2B5EF4-FFF2-40B4-BE49-F238E27FC236}">
                <a16:creationId xmlns:a16="http://schemas.microsoft.com/office/drawing/2014/main" id="{F57ABF48-DEB2-44BC-948A-FAB79DFFDB3A}"/>
              </a:ext>
            </a:extLst>
          </p:cNvPr>
          <p:cNvSpPr>
            <a:spLocks xmlns:a="http://schemas.openxmlformats.org/drawingml/2006/main" noGrp="1"/>
          </p:cNvSpPr>
          <p:nvPr/>
        </p:nvSpPr>
        <p:spPr>
          <a:xfrm xmlns:a="http://schemas.openxmlformats.org/drawingml/2006/main">
            <a:off x="8096250" y="2047875"/>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C43"/>
                </a:solidFill>
                <a:latin typeface="Heiti TC"/>
                <a:ea typeface="Heiti TC"/>
                <a:cs typeface="Heiti TC"/>
              </a:defRPr>
            </a:pPr>
            <a:r>
              <a:rPr sz="2100" b="0">
                <a:solidFill>
                  <a:srgbClr val="173C43"/>
                </a:solidFill>
                <a:latin typeface="Heiti TC"/>
                <a:ea typeface="Heiti TC"/>
                <a:cs typeface="Heiti TC"/>
              </a:rPr>
              <a:t>實際拿的是擦膠！</a:t>
            </a:r>
          </a:p>
        </p:txBody>
      </p:sp>
      <p:sp>
        <p:nvSpPr>
          <p:cNvPr id="6" name="">
            <a:extLst xmlns:a="http://schemas.openxmlformats.org/drawingml/2006/main">
              <a:ext uri="{FF2B5EF4-FFF2-40B4-BE49-F238E27FC236}">
                <a16:creationId xmlns:a16="http://schemas.microsoft.com/office/drawing/2014/main" id="{39BCE1BB-D01C-4AEB-BF38-3A806499DA22}"/>
              </a:ext>
            </a:extLst>
          </p:cNvPr>
          <p:cNvSpPr>
            <a:spLocks xmlns:a="http://schemas.openxmlformats.org/drawingml/2006/main" noGrp="1"/>
          </p:cNvSpPr>
          <p:nvPr/>
        </p:nvSpPr>
        <p:spPr>
          <a:xfrm xmlns:a="http://schemas.openxmlformats.org/drawingml/2006/main">
            <a:off x="8096250" y="25146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It is actually an eraser!</a:t>
            </a:r>
          </a:p>
        </p:txBody>
      </p:sp>
      <p:sp>
        <p:nvSpPr>
          <p:cNvPr id="7" name="">
            <a:extLst xmlns:a="http://schemas.openxmlformats.org/drawingml/2006/main">
              <a:ext uri="{FF2B5EF4-FFF2-40B4-BE49-F238E27FC236}">
                <a16:creationId xmlns:a16="http://schemas.microsoft.com/office/drawing/2014/main" id="{76353247-86F1-4DCD-B4F7-4A1B6288F425}"/>
              </a:ext>
            </a:extLst>
          </p:cNvPr>
          <p:cNvSpPr>
            <a:spLocks xmlns:a="http://schemas.openxmlformats.org/drawingml/2006/main" noGrp="1"/>
          </p:cNvSpPr>
          <p:nvPr/>
        </p:nvSpPr>
        <p:spPr>
          <a:xfrm xmlns:a="http://schemas.openxmlformats.org/drawingml/2006/main">
            <a:off x="8096250" y="3848100"/>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C43"/>
                </a:solidFill>
                <a:latin typeface="Heiti TC"/>
                <a:ea typeface="Heiti TC"/>
                <a:cs typeface="Heiti TC"/>
              </a:defRPr>
            </a:pPr>
            <a:r>
              <a:rPr sz="1950" b="0">
                <a:solidFill>
                  <a:srgbClr val="173C43"/>
                </a:solidFill>
                <a:latin typeface="Heiti TC"/>
                <a:ea typeface="Heiti TC"/>
                <a:cs typeface="Heiti TC"/>
              </a:rPr>
              <a:t>90% 不是測試準確率</a:t>
            </a:r>
          </a:p>
        </p:txBody>
      </p:sp>
      <p:sp>
        <p:nvSpPr>
          <p:cNvPr id="8" name="">
            <a:extLst xmlns:a="http://schemas.openxmlformats.org/drawingml/2006/main">
              <a:ext uri="{FF2B5EF4-FFF2-40B4-BE49-F238E27FC236}">
                <a16:creationId xmlns:a16="http://schemas.microsoft.com/office/drawing/2014/main" id="{7B061C77-A20A-487C-9211-44E8BFBEE5CE}"/>
              </a:ext>
            </a:extLst>
          </p:cNvPr>
          <p:cNvSpPr>
            <a:spLocks xmlns:a="http://schemas.openxmlformats.org/drawingml/2006/main" noGrp="1"/>
          </p:cNvSpPr>
          <p:nvPr/>
        </p:nvSpPr>
        <p:spPr>
          <a:xfrm xmlns:a="http://schemas.openxmlformats.org/drawingml/2006/main">
            <a:off x="8096250" y="431482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90% is not test accuracy</a:t>
            </a:r>
          </a:p>
        </p:txBody>
      </p:sp>
      <p:sp>
        <p:nvSpPr>
          <p:cNvPr id="9" name="">
            <a:extLst xmlns:a="http://schemas.openxmlformats.org/drawingml/2006/main">
              <a:ext uri="{FF2B5EF4-FFF2-40B4-BE49-F238E27FC236}">
                <a16:creationId xmlns:a16="http://schemas.microsoft.com/office/drawing/2014/main" id="{0156BED7-7224-412C-BE40-7C737A12CC3D}"/>
              </a:ext>
            </a:extLst>
          </p:cNvPr>
          <p:cNvSpPr>
            <a:spLocks xmlns:a="http://schemas.openxmlformats.org/drawingml/2006/main" noGrp="1"/>
          </p:cNvSpPr>
          <p:nvPr/>
        </p:nvSpPr>
        <p:spPr>
          <a:xfrm xmlns:a="http://schemas.openxmlformats.org/drawingml/2006/main">
            <a:off x="609600" y="59245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B70"/>
                </a:solidFill>
                <a:latin typeface="Heiti TC"/>
                <a:ea typeface="Heiti TC"/>
                <a:cs typeface="Heiti TC"/>
              </a:defRPr>
            </a:pPr>
            <a:r>
              <a:rPr sz="1575" b="0">
                <a:solidFill>
                  <a:srgbClr val="526B70"/>
                </a:solidFill>
                <a:latin typeface="Heiti TC"/>
                <a:ea typeface="Heiti TC"/>
                <a:cs typeface="Heiti TC"/>
              </a:rPr>
              <a:t>這是示例畫面；要用新圖片的實際結果來檢查 / Illustration: check against actual results on new images</a:t>
            </a:r>
          </a:p>
        </p:txBody>
      </p:sp>
    </p:spTree>
    <p:extLst>
      <p:ext uri="{BB962C8B-B14F-4D97-AF65-F5344CB8AC3E}">
        <p14:creationId xmlns:p14="http://schemas.microsoft.com/office/powerpoint/2010/main" val="220666931"/>
      </p:ext>
    </p:extLst>
  </p:cSld>
</p:sld>
</file>

<file path=ppt/slides/slide1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529D722-8A86-405A-890E-109DDD8B9A06}"/>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考完 A，改善，再考新的 B</a:t>
            </a:r>
          </a:p>
        </p:txBody>
      </p:sp>
      <p:sp>
        <p:nvSpPr>
          <p:cNvPr id="2" name="">
            <a:extLst xmlns:a="http://schemas.openxmlformats.org/drawingml/2006/main">
              <a:ext uri="{FF2B5EF4-FFF2-40B4-BE49-F238E27FC236}">
                <a16:creationId xmlns:a16="http://schemas.microsoft.com/office/drawing/2014/main" id="{AC0607E2-74F4-436E-8B33-6F163048A135}"/>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Test A, improve, then try fresh B</a:t>
            </a:r>
          </a:p>
        </p:txBody>
      </p:sp>
      <p:sp>
        <p:nvSpPr>
          <p:cNvPr id="3" name="">
            <a:extLst xmlns:a="http://schemas.openxmlformats.org/drawingml/2006/main">
              <a:ext uri="{FF2B5EF4-FFF2-40B4-BE49-F238E27FC236}">
                <a16:creationId xmlns:a16="http://schemas.microsoft.com/office/drawing/2014/main" id="{21A137DA-3B2F-4F81-B7EE-6E8A3CB8743E}"/>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31B63ECF-FC68-4AE2-A751-82353F95358B}"/>
              </a:ext>
            </a:extLst>
          </p:cNvPr>
          <p:cNvSpPr>
            <a:spLocks xmlns:a="http://schemas.openxmlformats.org/drawingml/2006/main" noGrp="1"/>
          </p:cNvSpPr>
          <p:nvPr/>
        </p:nvSpPr>
        <p:spPr>
          <a:xfrm xmlns:a="http://schemas.openxmlformats.org/drawingml/2006/main">
            <a:off x="609600" y="17145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3C43"/>
                </a:solidFill>
                <a:latin typeface="Heiti TC"/>
                <a:ea typeface="Heiti TC"/>
                <a:cs typeface="Heiti TC"/>
              </a:defRPr>
            </a:pPr>
            <a:r>
              <a:rPr sz="2475" b="0">
                <a:solidFill>
                  <a:srgbClr val="173C43"/>
                </a:solidFill>
                <a:latin typeface="Heiti TC"/>
                <a:ea typeface="Heiti TC"/>
                <a:cs typeface="Heiti TC"/>
              </a:rPr>
              <a:t>看看 A 的錯誤：哪些角度、距離或背景較困難？</a:t>
            </a:r>
          </a:p>
        </p:txBody>
      </p:sp>
      <p:sp>
        <p:nvSpPr>
          <p:cNvPr id="5" name="">
            <a:extLst xmlns:a="http://schemas.openxmlformats.org/drawingml/2006/main">
              <a:ext uri="{FF2B5EF4-FFF2-40B4-BE49-F238E27FC236}">
                <a16:creationId xmlns:a16="http://schemas.microsoft.com/office/drawing/2014/main" id="{CD203A5E-449E-41B9-B4CA-D9CB097374C0}"/>
              </a:ext>
            </a:extLst>
          </p:cNvPr>
          <p:cNvSpPr>
            <a:spLocks xmlns:a="http://schemas.openxmlformats.org/drawingml/2006/main" noGrp="1"/>
          </p:cNvSpPr>
          <p:nvPr/>
        </p:nvSpPr>
        <p:spPr>
          <a:xfrm xmlns:a="http://schemas.openxmlformats.org/drawingml/2006/main">
            <a:off x="609600" y="21812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B70"/>
                </a:solidFill>
                <a:latin typeface="Arial"/>
                <a:ea typeface="Arial"/>
                <a:cs typeface="Arial"/>
              </a:defRPr>
            </a:pPr>
            <a:r>
              <a:rPr sz="1875" b="0">
                <a:solidFill>
                  <a:srgbClr val="526B70"/>
                </a:solidFill>
                <a:latin typeface="Arial"/>
                <a:ea typeface="Arial"/>
                <a:cs typeface="Arial"/>
              </a:rPr>
              <a:t>Inspect mistakes on A. Which views were difficult?</a:t>
            </a:r>
          </a:p>
        </p:txBody>
      </p:sp>
      <p:sp>
        <p:nvSpPr>
          <p:cNvPr id="6" name="">
            <a:extLst xmlns:a="http://schemas.openxmlformats.org/drawingml/2006/main">
              <a:ext uri="{FF2B5EF4-FFF2-40B4-BE49-F238E27FC236}">
                <a16:creationId xmlns:a16="http://schemas.microsoft.com/office/drawing/2014/main" id="{0F9C2CF4-E5E8-4288-9ED5-ABDD5A8B2814}"/>
              </a:ext>
            </a:extLst>
          </p:cNvPr>
          <p:cNvSpPr>
            <a:spLocks xmlns:a="http://schemas.openxmlformats.org/drawingml/2006/main" noGrp="1"/>
          </p:cNvSpPr>
          <p:nvPr/>
        </p:nvSpPr>
        <p:spPr>
          <a:xfrm xmlns:a="http://schemas.openxmlformats.org/drawingml/2006/main">
            <a:off x="609600" y="31146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C43"/>
                </a:solidFill>
                <a:latin typeface="Heiti TC"/>
                <a:ea typeface="Heiti TC"/>
                <a:cs typeface="Heiti TC"/>
              </a:defRPr>
            </a:pPr>
            <a:r>
              <a:rPr sz="2550" b="0">
                <a:solidFill>
                  <a:srgbClr val="173C43"/>
                </a:solidFill>
                <a:latin typeface="Heiti TC"/>
                <a:ea typeface="Heiti TC"/>
                <a:cs typeface="Heiti TC"/>
              </a:rPr>
              <a:t>補充合適的訓練圖片，再訓練一次</a:t>
            </a:r>
          </a:p>
        </p:txBody>
      </p:sp>
      <p:sp>
        <p:nvSpPr>
          <p:cNvPr id="7" name="">
            <a:extLst xmlns:a="http://schemas.openxmlformats.org/drawingml/2006/main">
              <a:ext uri="{FF2B5EF4-FFF2-40B4-BE49-F238E27FC236}">
                <a16:creationId xmlns:a16="http://schemas.microsoft.com/office/drawing/2014/main" id="{4BD13058-D5F5-4E20-B6FD-498C28A60ECC}"/>
              </a:ext>
            </a:extLst>
          </p:cNvPr>
          <p:cNvSpPr>
            <a:spLocks xmlns:a="http://schemas.openxmlformats.org/drawingml/2006/main" noGrp="1"/>
          </p:cNvSpPr>
          <p:nvPr/>
        </p:nvSpPr>
        <p:spPr>
          <a:xfrm xmlns:a="http://schemas.openxmlformats.org/drawingml/2006/main">
            <a:off x="609600" y="35814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B70"/>
                </a:solidFill>
                <a:latin typeface="Arial"/>
                <a:ea typeface="Arial"/>
                <a:cs typeface="Arial"/>
              </a:defRPr>
            </a:pPr>
            <a:r>
              <a:rPr sz="1950" b="0">
                <a:solidFill>
                  <a:srgbClr val="526B70"/>
                </a:solidFill>
                <a:latin typeface="Arial"/>
                <a:ea typeface="Arial"/>
                <a:cs typeface="Arial"/>
              </a:rPr>
              <a:t>Add useful training images, then train again</a:t>
            </a:r>
          </a:p>
        </p:txBody>
      </p:sp>
      <p:sp>
        <p:nvSpPr>
          <p:cNvPr id="8" name="">
            <a:extLst xmlns:a="http://schemas.openxmlformats.org/drawingml/2006/main">
              <a:ext uri="{FF2B5EF4-FFF2-40B4-BE49-F238E27FC236}">
                <a16:creationId xmlns:a16="http://schemas.microsoft.com/office/drawing/2014/main" id="{A3F90B1B-48DA-4EB4-8879-B199DA8D869F}"/>
              </a:ext>
            </a:extLst>
          </p:cNvPr>
          <p:cNvSpPr>
            <a:spLocks xmlns:a="http://schemas.openxmlformats.org/drawingml/2006/main" noGrp="1"/>
          </p:cNvSpPr>
          <p:nvPr/>
        </p:nvSpPr>
        <p:spPr>
          <a:xfrm xmlns:a="http://schemas.openxmlformats.org/drawingml/2006/main">
            <a:off x="609600" y="45148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C43"/>
                </a:solidFill>
                <a:latin typeface="Heiti TC"/>
                <a:ea typeface="Heiti TC"/>
                <a:cs typeface="Heiti TC"/>
              </a:defRPr>
            </a:pPr>
            <a:r>
              <a:rPr sz="2250" b="0">
                <a:solidFill>
                  <a:srgbClr val="173C43"/>
                </a:solidFill>
                <a:latin typeface="Heiti TC"/>
                <a:ea typeface="Heiti TC"/>
                <a:cs typeface="Heiti TC"/>
              </a:rPr>
              <a:t>最後才使用 B，記每類答對多少張；不需計百分比</a:t>
            </a:r>
          </a:p>
        </p:txBody>
      </p:sp>
      <p:sp>
        <p:nvSpPr>
          <p:cNvPr id="9" name="">
            <a:extLst xmlns:a="http://schemas.openxmlformats.org/drawingml/2006/main">
              <a:ext uri="{FF2B5EF4-FFF2-40B4-BE49-F238E27FC236}">
                <a16:creationId xmlns:a16="http://schemas.microsoft.com/office/drawing/2014/main" id="{7C434440-F820-48B5-83AF-2974239C841D}"/>
              </a:ext>
            </a:extLst>
          </p:cNvPr>
          <p:cNvSpPr>
            <a:spLocks xmlns:a="http://schemas.openxmlformats.org/drawingml/2006/main" noGrp="1"/>
          </p:cNvSpPr>
          <p:nvPr/>
        </p:nvSpPr>
        <p:spPr>
          <a:xfrm xmlns:a="http://schemas.openxmlformats.org/drawingml/2006/main">
            <a:off x="609600" y="49815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Use B last. Record correct counts per class; no percentages needed</a:t>
            </a:r>
          </a:p>
        </p:txBody>
      </p:sp>
    </p:spTree>
    <p:extLst>
      <p:ext uri="{BB962C8B-B14F-4D97-AF65-F5344CB8AC3E}">
        <p14:creationId xmlns:p14="http://schemas.microsoft.com/office/powerpoint/2010/main" val="826453566"/>
      </p:ext>
    </p:extLst>
  </p:cSld>
</p:sld>
</file>

<file path=ppt/slides/slide1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712E095-68BE-4768-A411-43FA1946365B}"/>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突擊小考：拿一件沒教過的物件</a:t>
            </a:r>
          </a:p>
        </p:txBody>
      </p:sp>
      <p:sp>
        <p:nvSpPr>
          <p:cNvPr id="2" name="">
            <a:extLst xmlns:a="http://schemas.openxmlformats.org/drawingml/2006/main">
              <a:ext uri="{FF2B5EF4-FFF2-40B4-BE49-F238E27FC236}">
                <a16:creationId xmlns:a16="http://schemas.microsoft.com/office/drawing/2014/main" id="{E89F8206-4C27-4609-B1E0-13212FEC6273}"/>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Surprise challenge: an object never taught</a:t>
            </a:r>
          </a:p>
        </p:txBody>
      </p:sp>
      <p:sp>
        <p:nvSpPr>
          <p:cNvPr id="3" name="">
            <a:extLst xmlns:a="http://schemas.openxmlformats.org/drawingml/2006/main">
              <a:ext uri="{FF2B5EF4-FFF2-40B4-BE49-F238E27FC236}">
                <a16:creationId xmlns:a16="http://schemas.microsoft.com/office/drawing/2014/main" id="{44387192-69A5-428C-8998-8F3F81335A31}"/>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B07688EB-C00C-415B-9B6F-64260154B4BB}"/>
              </a:ext>
            </a:extLst>
          </p:cNvPr>
          <p:cNvSpPr>
            <a:spLocks xmlns:a="http://schemas.openxmlformats.org/drawingml/2006/main" noGrp="1"/>
          </p:cNvSpPr>
          <p:nvPr/>
        </p:nvSpPr>
        <p:spPr>
          <a:xfrm xmlns:a="http://schemas.openxmlformats.org/drawingml/2006/main">
            <a:off x="609600" y="17145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C43"/>
                </a:solidFill>
                <a:latin typeface="Heiti TC"/>
                <a:ea typeface="Heiti TC"/>
                <a:cs typeface="Heiti TC"/>
              </a:defRPr>
            </a:pPr>
            <a:r>
              <a:rPr sz="2400" b="0">
                <a:solidFill>
                  <a:srgbClr val="173C43"/>
                </a:solidFill>
                <a:latin typeface="Heiti TC"/>
                <a:ea typeface="Heiti TC"/>
                <a:cs typeface="Heiti TC"/>
              </a:rPr>
              <a:t>換成水樽或間尺，先猜模型會選哪一類</a:t>
            </a:r>
          </a:p>
        </p:txBody>
      </p:sp>
      <p:sp>
        <p:nvSpPr>
          <p:cNvPr id="5" name="">
            <a:extLst xmlns:a="http://schemas.openxmlformats.org/drawingml/2006/main">
              <a:ext uri="{FF2B5EF4-FFF2-40B4-BE49-F238E27FC236}">
                <a16:creationId xmlns:a16="http://schemas.microsoft.com/office/drawing/2014/main" id="{80FED9E3-FE29-4A92-A469-C4B2AA1209D4}"/>
              </a:ext>
            </a:extLst>
          </p:cNvPr>
          <p:cNvSpPr>
            <a:spLocks xmlns:a="http://schemas.openxmlformats.org/drawingml/2006/main" noGrp="1"/>
          </p:cNvSpPr>
          <p:nvPr/>
        </p:nvSpPr>
        <p:spPr>
          <a:xfrm xmlns:a="http://schemas.openxmlformats.org/drawingml/2006/main">
            <a:off x="609600" y="21812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Try a bottle or ruler. Guess which class the model will choose</a:t>
            </a:r>
          </a:p>
        </p:txBody>
      </p:sp>
      <p:sp>
        <p:nvSpPr>
          <p:cNvPr id="6" name="">
            <a:extLst xmlns:a="http://schemas.openxmlformats.org/drawingml/2006/main">
              <a:ext uri="{FF2B5EF4-FFF2-40B4-BE49-F238E27FC236}">
                <a16:creationId xmlns:a16="http://schemas.microsoft.com/office/drawing/2014/main" id="{B8E370F6-CF66-46A3-97FD-06377E7E9B97}"/>
              </a:ext>
            </a:extLst>
          </p:cNvPr>
          <p:cNvSpPr>
            <a:spLocks xmlns:a="http://schemas.openxmlformats.org/drawingml/2006/main" noGrp="1"/>
          </p:cNvSpPr>
          <p:nvPr/>
        </p:nvSpPr>
        <p:spPr>
          <a:xfrm xmlns:a="http://schemas.openxmlformats.org/drawingml/2006/main">
            <a:off x="609600" y="31146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C43"/>
                </a:solidFill>
                <a:latin typeface="Heiti TC"/>
                <a:ea typeface="Heiti TC"/>
                <a:cs typeface="Heiti TC"/>
              </a:defRPr>
            </a:pPr>
            <a:r>
              <a:rPr sz="2250" b="0">
                <a:solidFill>
                  <a:srgbClr val="173C43"/>
                </a:solidFill>
                <a:latin typeface="Heiti TC"/>
                <a:ea typeface="Heiti TC"/>
                <a:cs typeface="Heiti TC"/>
              </a:rPr>
              <a:t>它只有三個選項，不能自動新增「水樽」這一類</a:t>
            </a:r>
          </a:p>
        </p:txBody>
      </p:sp>
      <p:sp>
        <p:nvSpPr>
          <p:cNvPr id="7" name="">
            <a:extLst xmlns:a="http://schemas.openxmlformats.org/drawingml/2006/main">
              <a:ext uri="{FF2B5EF4-FFF2-40B4-BE49-F238E27FC236}">
                <a16:creationId xmlns:a16="http://schemas.microsoft.com/office/drawing/2014/main" id="{1C9A612A-C96D-45AB-8A01-321AC4900262}"/>
              </a:ext>
            </a:extLst>
          </p:cNvPr>
          <p:cNvSpPr>
            <a:spLocks xmlns:a="http://schemas.openxmlformats.org/drawingml/2006/main" noGrp="1"/>
          </p:cNvSpPr>
          <p:nvPr/>
        </p:nvSpPr>
        <p:spPr>
          <a:xfrm xmlns:a="http://schemas.openxmlformats.org/drawingml/2006/main">
            <a:off x="609600" y="35814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It has three choices; it does not automatically create a bottle class</a:t>
            </a:r>
          </a:p>
        </p:txBody>
      </p:sp>
      <p:sp>
        <p:nvSpPr>
          <p:cNvPr id="8" name="">
            <a:extLst xmlns:a="http://schemas.openxmlformats.org/drawingml/2006/main">
              <a:ext uri="{FF2B5EF4-FFF2-40B4-BE49-F238E27FC236}">
                <a16:creationId xmlns:a16="http://schemas.microsoft.com/office/drawing/2014/main" id="{E4C4D405-41BA-4956-9F76-0FD7D3623FB3}"/>
              </a:ext>
            </a:extLst>
          </p:cNvPr>
          <p:cNvSpPr>
            <a:spLocks xmlns:a="http://schemas.openxmlformats.org/drawingml/2006/main" noGrp="1"/>
          </p:cNvSpPr>
          <p:nvPr/>
        </p:nvSpPr>
        <p:spPr>
          <a:xfrm xmlns:a="http://schemas.openxmlformats.org/drawingml/2006/main">
            <a:off x="609600" y="45148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C43"/>
                </a:solidFill>
                <a:latin typeface="Heiti TC"/>
                <a:ea typeface="Heiti TC"/>
                <a:cs typeface="Heiti TC"/>
              </a:defRPr>
            </a:pPr>
            <a:r>
              <a:rPr sz="2175" b="0">
                <a:solidFill>
                  <a:srgbClr val="173C43"/>
                </a:solidFill>
                <a:latin typeface="Heiti TC"/>
                <a:ea typeface="Heiti TC"/>
                <a:cs typeface="Heiti TC"/>
              </a:rPr>
              <a:t>空背景只代表教過的背景例子，不是所有未知物件</a:t>
            </a:r>
          </a:p>
        </p:txBody>
      </p:sp>
      <p:sp>
        <p:nvSpPr>
          <p:cNvPr id="9" name="">
            <a:extLst xmlns:a="http://schemas.openxmlformats.org/drawingml/2006/main">
              <a:ext uri="{FF2B5EF4-FFF2-40B4-BE49-F238E27FC236}">
                <a16:creationId xmlns:a16="http://schemas.microsoft.com/office/drawing/2014/main" id="{B98F9175-A2C4-486E-94D7-1E6BAB8C8460}"/>
              </a:ext>
            </a:extLst>
          </p:cNvPr>
          <p:cNvSpPr>
            <a:spLocks xmlns:a="http://schemas.openxmlformats.org/drawingml/2006/main" noGrp="1"/>
          </p:cNvSpPr>
          <p:nvPr/>
        </p:nvSpPr>
        <p:spPr>
          <a:xfrm xmlns:a="http://schemas.openxmlformats.org/drawingml/2006/main">
            <a:off x="609600" y="49815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Empty background means learned background examples, not every unknown object</a:t>
            </a:r>
          </a:p>
        </p:txBody>
      </p:sp>
    </p:spTree>
    <p:extLst>
      <p:ext uri="{BB962C8B-B14F-4D97-AF65-F5344CB8AC3E}">
        <p14:creationId xmlns:p14="http://schemas.microsoft.com/office/powerpoint/2010/main" val="1851309731"/>
      </p:ext>
    </p:extLst>
  </p:cSld>
</p:sld>
</file>

<file path=ppt/slides/slide1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BEC0866-B013-482C-BAD2-6970F52F414F}"/>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你的偵探報告</a:t>
            </a:r>
          </a:p>
        </p:txBody>
      </p:sp>
      <p:sp>
        <p:nvSpPr>
          <p:cNvPr id="2" name="">
            <a:extLst xmlns:a="http://schemas.openxmlformats.org/drawingml/2006/main">
              <a:ext uri="{FF2B5EF4-FFF2-40B4-BE49-F238E27FC236}">
                <a16:creationId xmlns:a16="http://schemas.microsoft.com/office/drawing/2014/main" id="{BCB83999-0EF2-4F38-8438-973BC88D79A8}"/>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Your detective report</a:t>
            </a:r>
          </a:p>
        </p:txBody>
      </p:sp>
      <p:sp>
        <p:nvSpPr>
          <p:cNvPr id="3" name="">
            <a:extLst xmlns:a="http://schemas.openxmlformats.org/drawingml/2006/main">
              <a:ext uri="{FF2B5EF4-FFF2-40B4-BE49-F238E27FC236}">
                <a16:creationId xmlns:a16="http://schemas.microsoft.com/office/drawing/2014/main" id="{3BA1589F-BFC7-48BE-A5B4-2180FBEA4A57}"/>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6EAFA45A-9750-4083-8A41-8EF7F425DC30}"/>
              </a:ext>
            </a:extLst>
          </p:cNvPr>
          <p:cNvSpPr>
            <a:spLocks xmlns:a="http://schemas.openxmlformats.org/drawingml/2006/main" noGrp="1"/>
          </p:cNvSpPr>
          <p:nvPr/>
        </p:nvSpPr>
        <p:spPr>
          <a:xfrm xmlns:a="http://schemas.openxmlformats.org/drawingml/2006/main">
            <a:off x="609600" y="17621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3C43"/>
                </a:solidFill>
                <a:latin typeface="Heiti TC"/>
                <a:ea typeface="Heiti TC"/>
                <a:cs typeface="Heiti TC"/>
              </a:defRPr>
            </a:pPr>
            <a:r>
              <a:rPr sz="2475" b="0">
                <a:solidFill>
                  <a:srgbClr val="173C43"/>
                </a:solidFill>
                <a:latin typeface="Heiti TC"/>
                <a:ea typeface="Heiti TC"/>
                <a:cs typeface="Heiti TC"/>
              </a:rPr>
              <a:t>你改了哪些訓練例子？模型有甚麼改變？</a:t>
            </a:r>
          </a:p>
        </p:txBody>
      </p:sp>
      <p:sp>
        <p:nvSpPr>
          <p:cNvPr id="5" name="">
            <a:extLst xmlns:a="http://schemas.openxmlformats.org/drawingml/2006/main">
              <a:ext uri="{FF2B5EF4-FFF2-40B4-BE49-F238E27FC236}">
                <a16:creationId xmlns:a16="http://schemas.microsoft.com/office/drawing/2014/main" id="{32D2B690-C9E1-4640-A4A6-0C5F41F25D30}"/>
              </a:ext>
            </a:extLst>
          </p:cNvPr>
          <p:cNvSpPr>
            <a:spLocks xmlns:a="http://schemas.openxmlformats.org/drawingml/2006/main" noGrp="1"/>
          </p:cNvSpPr>
          <p:nvPr/>
        </p:nvSpPr>
        <p:spPr>
          <a:xfrm xmlns:a="http://schemas.openxmlformats.org/drawingml/2006/main">
            <a:off x="609600" y="2228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B70"/>
                </a:solidFill>
                <a:latin typeface="Arial"/>
                <a:ea typeface="Arial"/>
                <a:cs typeface="Arial"/>
              </a:defRPr>
            </a:pPr>
            <a:r>
              <a:rPr sz="1875" b="0">
                <a:solidFill>
                  <a:srgbClr val="526B70"/>
                </a:solidFill>
                <a:latin typeface="Arial"/>
                <a:ea typeface="Arial"/>
                <a:cs typeface="Arial"/>
              </a:rPr>
              <a:t>What training examples did you change? What happened?</a:t>
            </a:r>
          </a:p>
        </p:txBody>
      </p:sp>
      <p:sp>
        <p:nvSpPr>
          <p:cNvPr id="6" name="">
            <a:extLst xmlns:a="http://schemas.openxmlformats.org/drawingml/2006/main">
              <a:ext uri="{FF2B5EF4-FFF2-40B4-BE49-F238E27FC236}">
                <a16:creationId xmlns:a16="http://schemas.microsoft.com/office/drawing/2014/main" id="{ABBF6A97-EF38-493B-B52A-B85B4DF16795}"/>
              </a:ext>
            </a:extLst>
          </p:cNvPr>
          <p:cNvSpPr>
            <a:spLocks xmlns:a="http://schemas.openxmlformats.org/drawingml/2006/main" noGrp="1"/>
          </p:cNvSpPr>
          <p:nvPr/>
        </p:nvSpPr>
        <p:spPr>
          <a:xfrm xmlns:a="http://schemas.openxmlformats.org/drawingml/2006/main">
            <a:off x="609600" y="31527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C43"/>
                </a:solidFill>
                <a:latin typeface="Heiti TC"/>
                <a:ea typeface="Heiti TC"/>
                <a:cs typeface="Heiti TC"/>
              </a:defRPr>
            </a:pPr>
            <a:r>
              <a:rPr sz="2550" b="0">
                <a:solidFill>
                  <a:srgbClr val="173C43"/>
                </a:solidFill>
                <a:latin typeface="Heiti TC"/>
                <a:ea typeface="Heiti TC"/>
                <a:cs typeface="Heiti TC"/>
              </a:rPr>
              <a:t>為甚麼要用模型未見過的新圖片來測試？</a:t>
            </a:r>
          </a:p>
        </p:txBody>
      </p:sp>
      <p:sp>
        <p:nvSpPr>
          <p:cNvPr id="7" name="">
            <a:extLst xmlns:a="http://schemas.openxmlformats.org/drawingml/2006/main">
              <a:ext uri="{FF2B5EF4-FFF2-40B4-BE49-F238E27FC236}">
                <a16:creationId xmlns:a16="http://schemas.microsoft.com/office/drawing/2014/main" id="{08F946FD-E88E-4694-A7DC-11B96C430C5B}"/>
              </a:ext>
            </a:extLst>
          </p:cNvPr>
          <p:cNvSpPr>
            <a:spLocks xmlns:a="http://schemas.openxmlformats.org/drawingml/2006/main" noGrp="1"/>
          </p:cNvSpPr>
          <p:nvPr/>
        </p:nvSpPr>
        <p:spPr>
          <a:xfrm xmlns:a="http://schemas.openxmlformats.org/drawingml/2006/main">
            <a:off x="609600" y="36195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B70"/>
                </a:solidFill>
                <a:latin typeface="Arial"/>
                <a:ea typeface="Arial"/>
                <a:cs typeface="Arial"/>
              </a:defRPr>
            </a:pPr>
            <a:r>
              <a:rPr sz="1950" b="0">
                <a:solidFill>
                  <a:srgbClr val="526B70"/>
                </a:solidFill>
                <a:latin typeface="Arial"/>
                <a:ea typeface="Arial"/>
                <a:cs typeface="Arial"/>
              </a:rPr>
              <a:t>Why test with new images the model has not seen?</a:t>
            </a:r>
          </a:p>
        </p:txBody>
      </p:sp>
      <p:sp>
        <p:nvSpPr>
          <p:cNvPr id="8" name="">
            <a:extLst xmlns:a="http://schemas.openxmlformats.org/drawingml/2006/main">
              <a:ext uri="{FF2B5EF4-FFF2-40B4-BE49-F238E27FC236}">
                <a16:creationId xmlns:a16="http://schemas.microsoft.com/office/drawing/2014/main" id="{BC24E589-7B53-4CF9-874C-BA5213E22C49}"/>
              </a:ext>
            </a:extLst>
          </p:cNvPr>
          <p:cNvSpPr>
            <a:spLocks xmlns:a="http://schemas.openxmlformats.org/drawingml/2006/main" noGrp="1"/>
          </p:cNvSpPr>
          <p:nvPr/>
        </p:nvSpPr>
        <p:spPr>
          <a:xfrm xmlns:a="http://schemas.openxmlformats.org/drawingml/2006/main">
            <a:off x="609600" y="45434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C43"/>
                </a:solidFill>
                <a:latin typeface="Heiti TC"/>
                <a:ea typeface="Heiti TC"/>
                <a:cs typeface="Heiti TC"/>
              </a:defRPr>
            </a:pPr>
            <a:r>
              <a:rPr sz="2550" b="0">
                <a:solidFill>
                  <a:srgbClr val="173C43"/>
                </a:solidFill>
                <a:latin typeface="Heiti TC"/>
                <a:ea typeface="Heiti TC"/>
                <a:cs typeface="Heiti TC"/>
              </a:rPr>
              <a:t>模型猜得很有信心，還需要人檢查嗎？</a:t>
            </a:r>
          </a:p>
        </p:txBody>
      </p:sp>
      <p:sp>
        <p:nvSpPr>
          <p:cNvPr id="9" name="">
            <a:extLst xmlns:a="http://schemas.openxmlformats.org/drawingml/2006/main">
              <a:ext uri="{FF2B5EF4-FFF2-40B4-BE49-F238E27FC236}">
                <a16:creationId xmlns:a16="http://schemas.microsoft.com/office/drawing/2014/main" id="{3B323695-0FC1-4A40-8A90-04CFB605BD86}"/>
              </a:ext>
            </a:extLst>
          </p:cNvPr>
          <p:cNvSpPr>
            <a:spLocks xmlns:a="http://schemas.openxmlformats.org/drawingml/2006/main" noGrp="1"/>
          </p:cNvSpPr>
          <p:nvPr/>
        </p:nvSpPr>
        <p:spPr>
          <a:xfrm xmlns:a="http://schemas.openxmlformats.org/drawingml/2006/main">
            <a:off x="609600" y="50101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B70"/>
                </a:solidFill>
                <a:latin typeface="Arial"/>
                <a:ea typeface="Arial"/>
                <a:cs typeface="Arial"/>
              </a:defRPr>
            </a:pPr>
            <a:r>
              <a:rPr sz="1950" b="0">
                <a:solidFill>
                  <a:srgbClr val="526B70"/>
                </a:solidFill>
                <a:latin typeface="Arial"/>
                <a:ea typeface="Arial"/>
                <a:cs typeface="Arial"/>
              </a:rPr>
              <a:t>If the model looks confident, do we still need to check?</a:t>
            </a:r>
          </a:p>
        </p:txBody>
      </p:sp>
    </p:spTree>
    <p:extLst>
      <p:ext uri="{BB962C8B-B14F-4D97-AF65-F5344CB8AC3E}">
        <p14:creationId xmlns:p14="http://schemas.microsoft.com/office/powerpoint/2010/main" val="12609817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2026-10-06T04:08:02.2660000Z</dcterms:created>
  <dcterms:modified xsi:type="dcterms:W3CDTF">2026-10-06T04:08:02.2660000Z</dcterms:modified>
</coreProperties>
</file>