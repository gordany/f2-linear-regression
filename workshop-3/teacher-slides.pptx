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54bbc2189742bb" /><Relationship Type="http://schemas.openxmlformats.org/officeDocument/2006/relationships/extended-properties" Target="/docProps/app.xml" Id="R08b8bf1bfc6f4693" /><Relationship Type="http://schemas.openxmlformats.org/officeDocument/2006/relationships/officeDocument" Target="/ppt/presentation.xml" Id="R65df91bd8fcf4e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73fe7a85bc45c9"/>
  </p:sldMasterIdLst>
  <p:notesMasterIdLst>
    <p:notesMasterId xmlns:r="http://schemas.openxmlformats.org/officeDocument/2006/relationships" r:id="Rf5d995ec39aa4b8a"/>
  </p:notesMasterIdLst>
  <p:sldIdLst>
    <p:sldId xmlns:r="http://schemas.openxmlformats.org/officeDocument/2006/relationships" id="256" r:id="R260344d90b5a4e80"/>
    <p:sldId xmlns:r="http://schemas.openxmlformats.org/officeDocument/2006/relationships" id="257" r:id="R5bda33e527d24c38"/>
    <p:sldId xmlns:r="http://schemas.openxmlformats.org/officeDocument/2006/relationships" id="258" r:id="Ra0963a6bc4c146f9"/>
    <p:sldId xmlns:r="http://schemas.openxmlformats.org/officeDocument/2006/relationships" id="259" r:id="R32d3ac1d5e95487b"/>
    <p:sldId xmlns:r="http://schemas.openxmlformats.org/officeDocument/2006/relationships" id="260" r:id="R3a60ce4240f848a6"/>
    <p:sldId xmlns:r="http://schemas.openxmlformats.org/officeDocument/2006/relationships" id="261" r:id="Rf21ec6e5baea44ac"/>
    <p:sldId xmlns:r="http://schemas.openxmlformats.org/officeDocument/2006/relationships" id="262" r:id="R3628809e66c04e78"/>
    <p:sldId xmlns:r="http://schemas.openxmlformats.org/officeDocument/2006/relationships" id="263" r:id="R511744e5bbc04d23"/>
    <p:sldId xmlns:r="http://schemas.openxmlformats.org/officeDocument/2006/relationships" id="264" r:id="R0e84858b95fb43c0"/>
    <p:sldId xmlns:r="http://schemas.openxmlformats.org/officeDocument/2006/relationships" id="265" r:id="Rf24549e0c38c4e4b"/>
    <p:sldId xmlns:r="http://schemas.openxmlformats.org/officeDocument/2006/relationships" id="266" r:id="Re162623424e749a6"/>
    <p:sldId xmlns:r="http://schemas.openxmlformats.org/officeDocument/2006/relationships" id="267" r:id="R5e2c5646998f4b40"/>
    <p:sldId xmlns:r="http://schemas.openxmlformats.org/officeDocument/2006/relationships" id="268" r:id="Rba382dc9fd544ea1"/>
    <p:sldId xmlns:r="http://schemas.openxmlformats.org/officeDocument/2006/relationships" id="269" r:id="R214aec4f69204125"/>
    <p:sldId xmlns:r="http://schemas.openxmlformats.org/officeDocument/2006/relationships" id="270" r:id="R22100a77763f41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f49cc346024a41" /><Relationship Type="http://schemas.openxmlformats.org/officeDocument/2006/relationships/slideMaster" Target="/ppt/slideMasters/slideMaster1.xml" Id="R8b73fe7a85bc45c9" /><Relationship Type="http://schemas.openxmlformats.org/officeDocument/2006/relationships/notesMaster" Target="/ppt/notesMasters/notesMaster1.xml" Id="Rf5d995ec39aa4b8a" /><Relationship Type="http://schemas.openxmlformats.org/officeDocument/2006/relationships/presProps" Target="/ppt/presProps.xml" Id="R07aaa30b7cf8494d" /><Relationship Type="http://schemas.openxmlformats.org/officeDocument/2006/relationships/tableStyles" Target="/ppt/tableStyles.xml" Id="Rfdb8cd8fae8948e0" /><Relationship Type="http://schemas.openxmlformats.org/officeDocument/2006/relationships/slide" Target="/ppt/slides/slide1.xml" Id="R260344d90b5a4e80" /><Relationship Type="http://schemas.openxmlformats.org/officeDocument/2006/relationships/slide" Target="/ppt/slides/slide2.xml" Id="R5bda33e527d24c38" /><Relationship Type="http://schemas.openxmlformats.org/officeDocument/2006/relationships/slide" Target="/ppt/slides/slide3.xml" Id="Ra0963a6bc4c146f9" /><Relationship Type="http://schemas.openxmlformats.org/officeDocument/2006/relationships/slide" Target="/ppt/slides/slide4.xml" Id="R32d3ac1d5e95487b" /><Relationship Type="http://schemas.openxmlformats.org/officeDocument/2006/relationships/slide" Target="/ppt/slides/slide5.xml" Id="R3a60ce4240f848a6" /><Relationship Type="http://schemas.openxmlformats.org/officeDocument/2006/relationships/slide" Target="/ppt/slides/slide6.xml" Id="Rf21ec6e5baea44ac" /><Relationship Type="http://schemas.openxmlformats.org/officeDocument/2006/relationships/slide" Target="/ppt/slides/slide7.xml" Id="R3628809e66c04e78" /><Relationship Type="http://schemas.openxmlformats.org/officeDocument/2006/relationships/slide" Target="/ppt/slides/slide8.xml" Id="R511744e5bbc04d23" /><Relationship Type="http://schemas.openxmlformats.org/officeDocument/2006/relationships/slide" Target="/ppt/slides/slide9.xml" Id="R0e84858b95fb43c0" /><Relationship Type="http://schemas.openxmlformats.org/officeDocument/2006/relationships/slide" Target="/ppt/slides/slide10.xml" Id="Rf24549e0c38c4e4b" /><Relationship Type="http://schemas.openxmlformats.org/officeDocument/2006/relationships/slide" Target="/ppt/slides/slide11.xml" Id="Re162623424e749a6" /><Relationship Type="http://schemas.openxmlformats.org/officeDocument/2006/relationships/slide" Target="/ppt/slides/slide12.xml" Id="R5e2c5646998f4b40" /><Relationship Type="http://schemas.openxmlformats.org/officeDocument/2006/relationships/slide" Target="/ppt/slides/slide13.xml" Id="Rba382dc9fd544ea1" /><Relationship Type="http://schemas.openxmlformats.org/officeDocument/2006/relationships/slide" Target="/ppt/slides/slide14.xml" Id="R214aec4f69204125" /><Relationship Type="http://schemas.openxmlformats.org/officeDocument/2006/relationships/slide" Target="/ppt/slides/slide15.xml" Id="R22100a77763f41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4ea079761a43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039e6361c40ae" /><Relationship Type="http://schemas.openxmlformats.org/officeDocument/2006/relationships/notesMaster" Target="/ppt/notesMasters/notesMaster1.xml" Id="R8eb9ce6754fe49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2447fd968447ad" /><Relationship Type="http://schemas.openxmlformats.org/officeDocument/2006/relationships/notesMaster" Target="/ppt/notesMasters/notesMaster1.xml" Id="Rb15b9e054fa548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389e4a22174066" /><Relationship Type="http://schemas.openxmlformats.org/officeDocument/2006/relationships/notesMaster" Target="/ppt/notesMasters/notesMaster1.xml" Id="Rde51aa46098b4b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9c7f43dbbd4e19" /><Relationship Type="http://schemas.openxmlformats.org/officeDocument/2006/relationships/notesMaster" Target="/ppt/notesMasters/notesMaster1.xml" Id="Ra43df4631aa34d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b976bcee9c4c16" /><Relationship Type="http://schemas.openxmlformats.org/officeDocument/2006/relationships/notesMaster" Target="/ppt/notesMasters/notesMaster1.xml" Id="R3f85e27161d54e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7daa125894d30" /><Relationship Type="http://schemas.openxmlformats.org/officeDocument/2006/relationships/notesMaster" Target="/ppt/notesMasters/notesMaster1.xml" Id="Rd3f6607239164c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353a75a7544b29" /><Relationship Type="http://schemas.openxmlformats.org/officeDocument/2006/relationships/notesMaster" Target="/ppt/notesMasters/notesMaster1.xml" Id="Rde172cbe34a349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c351f10d694830" /><Relationship Type="http://schemas.openxmlformats.org/officeDocument/2006/relationships/notesMaster" Target="/ppt/notesMasters/notesMaster1.xml" Id="Rb8fa5ce45c604c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75f5d9cc16403c" /><Relationship Type="http://schemas.openxmlformats.org/officeDocument/2006/relationships/notesMaster" Target="/ppt/notesMasters/notesMaster1.xml" Id="Rdfe9cd9ebce547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c6ea3eb3794f91" /><Relationship Type="http://schemas.openxmlformats.org/officeDocument/2006/relationships/notesMaster" Target="/ppt/notesMasters/notesMaster1.xml" Id="R1946b320228143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6415751e064e4c" /><Relationship Type="http://schemas.openxmlformats.org/officeDocument/2006/relationships/notesMaster" Target="/ppt/notesMasters/notesMaster1.xml" Id="R77e8f1bc21da42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cb361ed838419c" /><Relationship Type="http://schemas.openxmlformats.org/officeDocument/2006/relationships/notesMaster" Target="/ppt/notesMasters/notesMaster1.xml" Id="R501d847ea8f445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91e51a637e40dd" /><Relationship Type="http://schemas.openxmlformats.org/officeDocument/2006/relationships/notesMaster" Target="/ppt/notesMasters/notesMaster1.xml" Id="Rd9d604912c734b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e479e29f1814681" /><Relationship Type="http://schemas.openxmlformats.org/officeDocument/2006/relationships/notesMaster" Target="/ppt/notesMasters/notesMaster1.xml" Id="Rf440b3307a434a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a5801342ef4004" /><Relationship Type="http://schemas.openxmlformats.org/officeDocument/2006/relationships/notesMaster" Target="/ppt/notesMasters/notesMaster1.xml" Id="R09ee074eaa1a4d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8-minute introductory game. Teacher holds a pen or eraser partly behind paper; show a little more after guesses. Physical objects, no model yet. Ask what visual clues helped: colour, edge, shape. Do not say a model sees/understands as humans 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Continue warm-up. Show the same object against two backgrounds or at two angles. Ask whether a computer trained only on one view might struggle. Students write a prediction before 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Begin setup. Define the allowed classes: Pen, Eraser, Empty background. Empty means background only with no object present, not a universal unknown category.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Link the first two workshops to the third. Do not derive either algorithm. A classification score is not a measured evaluation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 one minute. Explain pixels as small coloured pieces. A digital image is represented numerically; the model does not receive the physical object. Teacher may zoom a photo on screen or use the webcam preview, without teaching pixel calculations.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CNN stands for convolutional neural network. Mention the name only once. It can learn local patterns and combine them across layers. Edges/textures are examples, not hand-coded rules for every CNN. No convolution arithmetic or architecture specification. Source: https://www.tensorflow.org/tutorials/images/cnn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transfer learning in plain language. Current Teachable Machine image models build on pretrained MobileNet and train a classifier with the user’s labelled examples. Not building a full CNN from scratch. Sources: https://github.com/googlecreativelab/teachablemachine-community/tree/master/libraries/image and https://www.tensorflow.org/tutorials/images/transfer_learning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official current UI screenshot as a locating aid, not a training result. Choose Image Project and Standard image model; rename classes and add a third. Webcam or Upload are alternatives. Use object pictures, not faces. Teacher checks camera permissions or prepares object photos. Source: https://teachablemachine.withgoogle.com/train/image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15-minute gather/train block. Aim20+ varied images/class, similar counts. This is a classroom target, not a product minimum. Repeated adjacent video frames are not20 independent views; vary views deliberately. Both object classes should appear on multiple backgrounds.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teacher-prepared sets A and B, each4 images/class=12, not added to training. Use similar conditions/difficulty in the two sets. TestA guides improvements. After those improvements, A is no longer independent evidence; test freshB. Teacher prepares and distributes clearly named A and B folders before class. Each contains four fresh images per class under matching conditions; B remains closed until the final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sufficient varied samples, click Train Model and wait until it finishes before using Preview. Do not change advanced settings for this beginner workshop. Explain that the highest-scoring class is the current prediction. If A is all correct, students may write none found; never require an invented mistake. UI presence verified, no claim of classroom model training or webcam tests yet.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percentages, not an actual run. Hold an eraser and imagine a displayed Pen90/Eraser7/Empty3. Highest output score means strongest model preference among its classes, not90% measured accuracy or a guarantee. Student compares with known actual class.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20-minute test/improve block. Use worksheet counts, not percentage arithmetic. A mistake may suggest poor examples, background clues or unseen views; do not assume a single cause without checking. Add varied training images, retrain, then evaluate unusedB. B was not used to make the model changes.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Try a bottle not used in training. The model still outputs only the chosen classes; high score does not create knowledge of a missing class. Empty background is learned background examples, not universal other/unknown. This is classification, not a general detector of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Final5 minutes. Students complete reflection without mathematical theory. Accept honest errors and explanations. Optional show another group one surprising failure; no public model upload is required. Save a teacher-approved local project if available; avoid promising a successful export unless observed.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6fe11d8e649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4077e0b81841a7" /><Relationship Type="http://schemas.openxmlformats.org/officeDocument/2006/relationships/slideLayout" Target="/ppt/slideLayouts/slideLayout1.xml" Id="R59dc8dfab51a4c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dc8dfab51a4c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ceed14deb4ee7" /><Relationship Type="http://schemas.openxmlformats.org/officeDocument/2006/relationships/notesSlide" Target="/ppt/notesSlides/notesSlide1.xml" Id="Rdbc487db1cb044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de3b15d5d4e2a" /><Relationship Type="http://schemas.openxmlformats.org/officeDocument/2006/relationships/notesSlide" Target="/ppt/notesSlides/notesSlide2.xml" Id="Rdab8a690679443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b00b59a8e43f7" /><Relationship Type="http://schemas.openxmlformats.org/officeDocument/2006/relationships/notesSlide" Target="/ppt/notesSlides/notesSlide3.xml" Id="Rf1a93c335d2e49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7945742594f80" /><Relationship Type="http://schemas.openxmlformats.org/officeDocument/2006/relationships/notesSlide" Target="/ppt/notesSlides/notesSlide4.xml" Id="R4c7ae88396ce4e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95671e90f4593" /><Relationship Type="http://schemas.openxmlformats.org/officeDocument/2006/relationships/notesSlide" Target="/ppt/notesSlides/notesSlide5.xml" Id="Rc43039a424ea42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ac154c78a4374" /><Relationship Type="http://schemas.openxmlformats.org/officeDocument/2006/relationships/notesSlide" Target="/ppt/notesSlides/notesSlide6.xml" Id="Rca6b6a75782e41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35a388a924a2c" /><Relationship Type="http://schemas.openxmlformats.org/officeDocument/2006/relationships/notesSlide" Target="/ppt/notesSlides/notesSlide7.xml" Id="Rff47a14081e249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f616bd30d4d9a" /><Relationship Type="http://schemas.openxmlformats.org/officeDocument/2006/relationships/image" Target="/ppt/media/image.png" Id="Recb6d0c3c1fa42c0" /><Relationship Type="http://schemas.openxmlformats.org/officeDocument/2006/relationships/notesSlide" Target="/ppt/notesSlides/notesSlide8.xml" Id="R6ace46540f8249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931b93f974f16" /><Relationship Type="http://schemas.openxmlformats.org/officeDocument/2006/relationships/notesSlide" Target="/ppt/notesSlides/notesSlide9.xml" Id="R505b979908774f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eb4c06ddf45f6" /><Relationship Type="http://schemas.openxmlformats.org/officeDocument/2006/relationships/notesSlide" Target="/ppt/notesSlides/notesSlide10.xml" Id="Rcc5037b0fd5f47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fd82973784f7f" /><Relationship Type="http://schemas.openxmlformats.org/officeDocument/2006/relationships/notesSlide" Target="/ppt/notesSlides/notesSlide11.xml" Id="Re201168414b84e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10055cb824fe9" /><Relationship Type="http://schemas.openxmlformats.org/officeDocument/2006/relationships/chart" Target="/ppt/slides/charts/chart1.xml" Id="R9a820ebbf6544de8" /><Relationship Type="http://schemas.openxmlformats.org/officeDocument/2006/relationships/notesSlide" Target="/ppt/notesSlides/notesSlide12.xml" Id="R3e4887d152bc40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c56a2183e4179" /><Relationship Type="http://schemas.openxmlformats.org/officeDocument/2006/relationships/notesSlide" Target="/ppt/notesSlides/notesSlide13.xml" Id="Rd667d36b43bc49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3235fdfb1442e" /><Relationship Type="http://schemas.openxmlformats.org/officeDocument/2006/relationships/notesSlide" Target="/ppt/notesSlides/notesSlide14.xml" Id="Rcddebd91277b4a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64d45fc494e9c" /><Relationship Type="http://schemas.openxmlformats.org/officeDocument/2006/relationships/notesSlide" Target="/ppt/notesSlides/notesSlide15.xml" Id="R828b7ad3d80147b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示例分數 / Illustrative scores</c:v>
          </c:tx>
          <c:spPr>
            <a:solidFill xmlns:a="http://schemas.openxmlformats.org/drawingml/2006/main">
              <a:srgbClr val="086C61"/>
            </a:solidFill>
          </c:spPr>
          <c:cat>
            <c:strLit>
              <c:ptCount val="3"/>
              <c:pt idx="0">
                <c:v>Pen / 筆</c:v>
              </c:pt>
              <c:pt idx="1">
                <c:v>Eraser / 擦膠</c:v>
              </c:pt>
              <c:pt idx="2">
                <c:v>Empty / 空背景</c:v>
              </c:pt>
            </c:strLit>
          </c:cat>
          <c:val>
            <c:numLit>
              <c:formatCode>0"%"</c:formatCode>
              <c:ptCount val="3"/>
              <c:pt idx="0">
                <c:v>90</c:v>
              </c:pt>
              <c:pt idx="1">
                <c:v>7</c:v>
              </c:pt>
              <c:pt idx="2">
                <c:v>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latin typeface="Heiti TC"/>
                  <a:ea typeface="Heiti TC"/>
                  <a:cs typeface="Heiti T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crossBetween val="between"/>
        <c:majorUnit val="20"/>
      </c:valAx>
    </c:plotArea>
    <c:plotVisOnly val="1"/>
  </c:chart>
  <c:spPr>
    <a:solidFill xmlns:a="http://schemas.openxmlformats.org/drawingml/2006/main">
      <a:srgbClr val="F5F7F4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911F6-B506-4682-90DB-D50319EC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只看一小角，你猜得中嗎？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1454D-AFBA-4C87-836A-75762EE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Can you guess from just one corner?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1F9A9-F8FE-435D-ACD9-A06B3D56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4C25E-AE85-44DB-9B0C-DA634334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老師藏起一件物件，只露出一小角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F21CA-96DE-46E2-BAEB-E0E46F0E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teacher hides an object and shows just one corner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084AC-411C-4BE1-87E9-742C8728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是筆？擦膠？還是……猜錯也沒關係！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67DE1-BA7E-4C32-A843-7E160044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pen? An eraser? A wrong guess is welcome!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8FA84-80C7-42F2-A1FE-E38482F3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你用了甚麼線索：顏色、邊緣、形狀？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95521-8A61-4999-9FE6-543BB09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Which clues helped: colour, edges or shape?</a:t>
            </a:r>
          </a:p>
        </p:txBody>
      </p:sp>
    </p:spTree>
    <p:extLst>
      <p:ext uri="{BB962C8B-B14F-4D97-AF65-F5344CB8AC3E}">
        <p14:creationId xmlns:p14="http://schemas.microsoft.com/office/powerpoint/2010/main" val="7044128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5D4A5-8A7E-485B-927F-7379C879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換個背景，還認得到嗎？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86E6C-1AF5-4148-A3A8-22B9E85D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new background: still recognisable?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B1A1D-8211-43B6-B0D9-285C066C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61F34-41F9-4433-9DA0-618CE922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同一支筆，換背景、轉角度、拉遠一點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243F5-B49D-450B-AA1B-3E682D87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same pen: change its background, angle or distance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AF355-79FC-412B-B79F-7B429701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換了背景，你仍認得這支筆嗎？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6AD8F-BC97-4A59-852C-03B5029E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Can you still recognise the pen after its background changes?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49CA6-7D3E-4102-BF19-4123DA8B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說說你看到的線索：形狀、顏色、邊緣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C3AA6-B42D-4010-AEF0-2B05BF32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Discuss the clues you notice: shape, colour and edges</a:t>
            </a:r>
          </a:p>
        </p:txBody>
      </p:sp>
    </p:spTree>
    <p:extLst>
      <p:ext uri="{BB962C8B-B14F-4D97-AF65-F5344CB8AC3E}">
        <p14:creationId xmlns:p14="http://schemas.microsoft.com/office/powerpoint/2010/main" val="14165257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6BD3B-4364-4224-ACD7-519EF097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今天給電腦三個可選答案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117EB-D08E-4AD0-8D81-66DC9AF9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Today the computer has three possible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02CC0-3700-4993-9A31-23351CCB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CE4F6-A69E-48F4-818E-F330405B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1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筆、擦膠、空背景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F42BE-108A-4D27-B747-AA14A7C7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Pen, eraser, empty background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C1CEA-878B-416B-BD5E-1699ACE6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用貼好標籤的相片，教模型分辨這三類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CE4C5-66C5-45FC-AFC8-19275ECD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Teach these classes with labelled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3996F-1CA7-48C4-91CC-9A4B45CB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模型只會在我們設定的類別中作選擇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C1D38-A7A7-4F29-98D8-1BF6FF7B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model chooses among the classes we set</a:t>
            </a:r>
          </a:p>
        </p:txBody>
      </p:sp>
    </p:spTree>
    <p:extLst>
      <p:ext uri="{BB962C8B-B14F-4D97-AF65-F5344CB8AC3E}">
        <p14:creationId xmlns:p14="http://schemas.microsoft.com/office/powerpoint/2010/main" val="6483020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C9F13-0CCC-4086-90CC-5067F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回歸猜數值，分類猜類別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D2832-9279-4653-8BE0-E0AC6B87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Regression predicts a number; classification predicts a class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903B7-CE08-4CFF-B5BB-C3400CA6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9CF7E-CC02-4922-A732-9A684086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上兩堂：每天溫習時間，預測考試成績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4F2A84-27E9-4866-A914-7016140A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Previously: study time predicts an exam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1B03A-37A0-443A-B387-95D30D5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今堂：模型根據圖片，選擇一個類別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98A43-4A8A-4E8A-ACCD-77699A74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Today: the model uses an image to choose a class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38B23-881D-4AF0-A2D1-A7948C19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一個輸出是數值，另一個輸出是類別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93522-7C90-40E9-BF80-785B77AA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One output is a number; the other is a class</a:t>
            </a:r>
          </a:p>
        </p:txBody>
      </p:sp>
    </p:spTree>
    <p:extLst>
      <p:ext uri="{BB962C8B-B14F-4D97-AF65-F5344CB8AC3E}">
        <p14:creationId xmlns:p14="http://schemas.microsoft.com/office/powerpoint/2010/main" val="4167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2B901-B1E5-43D5-BD95-62FF61DF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圖片也是數據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D01A9-BC91-40BB-BE6C-624C3CF4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picture is data too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8BD90-C473-4DC7-9622-DB17B4FE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4EBE48-A93E-4AFA-8B47-90B0F80D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數位圖片由很多小色點組成，稱為「像素」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366E4-A8CF-478B-96B9-DB12F7E5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digital image contains tiny coloured pieces called pixels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61CE8-9FC4-456B-9231-94729FD1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你看見一支筆；電腦接收的是圖像數據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8AADF-1849-4AF7-91CA-B22DB83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You see a pen; the computer receives image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B1E06-0287-4C92-928E-7B59325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改角度或背景，收到的圖像數據也會改變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3FA0F-EC3C-440F-B56B-11888DFA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Change the angle or background, and the image data changes</a:t>
            </a:r>
          </a:p>
        </p:txBody>
      </p:sp>
    </p:spTree>
    <p:extLst>
      <p:ext uri="{BB962C8B-B14F-4D97-AF65-F5344CB8AC3E}">
        <p14:creationId xmlns:p14="http://schemas.microsoft.com/office/powerpoint/2010/main" val="4927934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799C2-6F23-4C98-BED7-D19F9CBE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CNN：從局部圖像學習模式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64DB8F-49ED-496F-87EB-AAAD669E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CNN: learning patterns from parts of an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98309-E5D2-48E7-9A5E-975C4EBB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894D0-6D7D-4D50-BC81-0AB9F39E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先看局部圖像，可能學到邊緣、紋理等模式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6D054-E3BD-4A79-8A65-8F9E14EE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Local parts can reveal patterns such as edges and textures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BCA55-1F3E-4FDE-98FA-1DD8FADA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把不同模式組合起來，幫助作分類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6D81D-8B0B-4F37-8834-A0D79E2F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Combining patterns helps classify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38480-64CF-403A-B957-F0C9D91D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我們只需理解想法，不需計算像素或推導公式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F7D57-DF34-4646-ACEE-F7095CF8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Understand the idea. No pixel calculations or formulas needed</a:t>
            </a:r>
          </a:p>
        </p:txBody>
      </p:sp>
    </p:spTree>
    <p:extLst>
      <p:ext uri="{BB962C8B-B14F-4D97-AF65-F5344CB8AC3E}">
        <p14:creationId xmlns:p14="http://schemas.microsoft.com/office/powerpoint/2010/main" val="3261919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98CEA1-BD4D-4DEC-B662-4AF0F567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借用一個已學過圖像的模型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034D0-51BD-4240-8830-05342255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Reuse a model that has already learned image 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88A60-78DD-4F8C-B076-D839F653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9B185-B266-42C6-8108-BBC39245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Teachable Machine 借用已訓練的圖像模型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5BADA-5261-4929-A746-99A0EE45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Teachable Machine reuses a trained image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77CAA-3CEC-4A17-9F1B-39B2F805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用我們的相片，教它分辨今天的三類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C8FBD-1A9D-409B-9EA5-5E342ED3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our photos to teach it today’s three classes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DF6864-EEF0-465D-9B5B-E66F2355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今天要花心思選好例子，不需從零編寫 CNN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9B9B6-2632-479B-BC3E-A746560B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Today we focus on good examples, without coding a CNN from scratch</a:t>
            </a:r>
          </a:p>
        </p:txBody>
      </p:sp>
    </p:spTree>
    <p:extLst>
      <p:ext uri="{BB962C8B-B14F-4D97-AF65-F5344CB8AC3E}">
        <p14:creationId xmlns:p14="http://schemas.microsoft.com/office/powerpoint/2010/main" val="6591074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E488D-DB95-4416-9729-655F01FF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開啟你的圖像專案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5BAB7-DEC2-4A9A-81F5-8CFB97C3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Open your image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1C3F8-344E-4461-B877-70407C75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6d0c3c1fa42c0"/>
          <a:stretch xmlns:a="http://schemas.openxmlformats.org/drawingml/2006/main"/>
        </p:blipFill>
        <p:spPr>
          <a:xfrm xmlns:a="http://schemas.openxmlformats.org/drawingml/2006/main">
            <a:off x="939165" y="1609725"/>
            <a:ext cx="7056120" cy="44100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1B79F-1815-4B1B-944F-DA975284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三個類別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9E5D16-B0E4-4C69-A37C-B6C4EB1B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764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Three classes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9FFAF-072D-44D6-85F9-41CD781E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1051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加相片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1136A-866D-4629-9A6A-7FEC20F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571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Add images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A794D-2CCC-4187-B5B3-5AD13D4B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00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訓練，再預覽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59466-D505-4582-916E-3000B3B9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672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Train, then preview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74E47-68E2-4766-A973-D0DC75AA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網站 / Website: teachablemachine.withgoogle.com</a:t>
            </a:r>
          </a:p>
        </p:txBody>
      </p:sp>
    </p:spTree>
    <p:extLst>
      <p:ext uri="{BB962C8B-B14F-4D97-AF65-F5344CB8AC3E}">
        <p14:creationId xmlns:p14="http://schemas.microsoft.com/office/powerpoint/2010/main" val="3590103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1065E-73A1-4E3E-B27B-49145EAB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訓練相片的「食譜」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CEAC2-6CE8-40A3-9792-673005B8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recipe for training images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5A5AA-FAD1-4981-905C-33BE2232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61603-5025-4FE7-9892-E0ED4519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每類目標至少 20 張，數量大致相近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DABCC-31CF-4179-8D1D-C7040A9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Aim for 20 or more per class, with similar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1428D-8A61-4BAF-81C5-A3E96C57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改角度、距離、背景；試不同的筆和擦膠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36B47D-3B6B-427E-8C84-2FAABEDE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Vary angle, distance and background; try different pens and erasers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46639-0642-482B-9CA5-5CFB0ED5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一直拍同一角度，可能只讓模型「背熟那一幕」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B7278-776D-4326-BF04-47F2F84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Repeated identical views may teach only that one scene</a:t>
            </a:r>
          </a:p>
        </p:txBody>
      </p:sp>
    </p:spTree>
    <p:extLst>
      <p:ext uri="{BB962C8B-B14F-4D97-AF65-F5344CB8AC3E}">
        <p14:creationId xmlns:p14="http://schemas.microsoft.com/office/powerpoint/2010/main" val="20460110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DDF80-D137-4410-AAB5-5E97FB33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按訓練之前，先留起測試圖片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E90A1-1CC4-4C47-8CBF-E5881767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Reserve test images before training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36ED8-5A6B-4319-B805-250087DE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86EE8-5909-4960-B8B2-FFBF742F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訓練圖片：給模型學習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66769-A74F-43E1-97D7-F6F1349A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Training images: examples for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57C32-F0C7-42E3-B139-14F8E931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老師備妥 A：每類 4 張，用來第一次檢查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1DBDD-2BA6-4C99-A9A1-567A3C5B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Teacher prepares A: four new images per class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9E39D-F9FE-4B76-A963-6AB60C0C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B：另留每類 4 張，改善後才用；兩批難度相近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694C9-07AD-4821-A107-7E7C4B9F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B: another four per class, used after improvement; similar difficulty</a:t>
            </a:r>
          </a:p>
        </p:txBody>
      </p:sp>
    </p:spTree>
    <p:extLst>
      <p:ext uri="{BB962C8B-B14F-4D97-AF65-F5344CB8AC3E}">
        <p14:creationId xmlns:p14="http://schemas.microsoft.com/office/powerpoint/2010/main" val="8804911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7E97C-E678-4485-BE14-4D66E76D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Train Model：開始學習你的類別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81E48-4E3B-4886-BEC2-8BAA5D44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Train Model: learn your classes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FEA3C-4B98-4384-A050-2BC70DC5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941CE-1FF3-4FB2-8062-E07341CF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先檢查三類是否都有相片，再按 Train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42F4D-0A2D-4ADA-BD71-689103FF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Check that every class has images, then select Train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F04CD-A69F-4E0D-89D0-E3F401E4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完成後，用 Preview 試 A 的新圖片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47199-1A16-497E-BDA7-D0A6FA97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After training, use Preview with the new images in set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E5D86-A157-4D5C-B0B9-C1C9C35A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分數最高的類別，就是模型這次的選擇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D817A-532A-4AA0-AA33-D48A4DCD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highest-scoring class is the model’s choice</a:t>
            </a:r>
          </a:p>
        </p:txBody>
      </p:sp>
    </p:spTree>
    <p:extLst>
      <p:ext uri="{BB962C8B-B14F-4D97-AF65-F5344CB8AC3E}">
        <p14:creationId xmlns:p14="http://schemas.microsoft.com/office/powerpoint/2010/main" val="6594062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561F27-7119-4097-BF8D-B41762E4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模型「很有信心」，也可能答錯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35127-95AC-4265-B78C-606A3CDB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confident-looking model can be wrong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91FAD-460C-4D47-9130-31FF6753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6953250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820ebbf6544de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6C8D1-C2E2-4750-B7F3-DAE0AF40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47875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實際拿的是擦膠！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94C56-61C5-4AA9-B646-27148DC3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146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It is actually an eraser!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E5B6C-5C73-41F4-B616-C6B3020E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333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90% 不是測試準確率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FA828-CE9F-41A7-A60E-0F7E601D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148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90% is not test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13E626-7821-4AD7-9CDA-E197267E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6B70"/>
                </a:solidFill>
                <a:latin typeface="Heiti TC"/>
                <a:ea typeface="Heiti TC"/>
                <a:cs typeface="Heiti TC"/>
              </a:rPr>
              <a:t>這是示例畫面；要用新圖片的實際結果來檢查 / Illustration: check against actual results on new images</a:t>
            </a:r>
          </a:p>
        </p:txBody>
      </p:sp>
    </p:spTree>
    <p:extLst>
      <p:ext uri="{BB962C8B-B14F-4D97-AF65-F5344CB8AC3E}">
        <p14:creationId xmlns:p14="http://schemas.microsoft.com/office/powerpoint/2010/main" val="17452712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58A6B-221C-4B92-9A7E-0D285C52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考完 A，改善，再考新的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9706D-0A96-43E9-A9FD-7AD0CEC8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Test A, improve, then try fresh 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83F26-4DA5-4416-8733-24A5DB97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CB339E-04F3-459A-A104-2D4BC6A3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看看 A 的結果；若有錯誤，檢查當時的圖片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55A86-AD66-491B-ABE0-5DF0BF64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Examine A’s results. If there is a mistake, inspect that image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3E177-9AFC-4627-9287-3444C6C6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補充合適的訓練圖片，再訓練一次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D84A8-2A7B-401B-A0AA-BA948FAF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Add useful training images, then train again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8BCC1-6B58-4DF2-B1F0-DAC59115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最後才使用 B，記每類答對多少張；不需計百分比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47E72-133F-4EB9-A5D9-03883FBE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B last. Record correct counts per class; no percentages needed</a:t>
            </a:r>
          </a:p>
        </p:txBody>
      </p:sp>
    </p:spTree>
    <p:extLst>
      <p:ext uri="{BB962C8B-B14F-4D97-AF65-F5344CB8AC3E}">
        <p14:creationId xmlns:p14="http://schemas.microsoft.com/office/powerpoint/2010/main" val="2070455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0285F-FA61-4589-AC32-3442016A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突擊小考：拿一件沒教過的物件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72333E-B450-496B-B5FD-F0F98616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Surprise challenge: an object never taught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F8A60-C64B-4D9A-8495-00A4D4CE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4B8B4-C512-4E9E-ADA9-B3344DB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換成水樽，先猜模型會選哪一類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43155-9F2E-46AB-85A1-566B0597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Try a bottle. Guess which class the model will choose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65480-B2EB-480B-8983-5743416A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它只有三個選項，不能自動新增「水樽」這一類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3F8315-5C77-4D42-B2C8-179F9F8D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It has three choices; it does not automatically create a bottle class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9F950-1355-411A-B883-D98EC611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空背景只代表教過的背景例子，不是所有未知物件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FFFC9-150F-4A5B-AD23-BDED1655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Empty background means learned background examples, not every unknown object</a:t>
            </a:r>
          </a:p>
        </p:txBody>
      </p:sp>
    </p:spTree>
    <p:extLst>
      <p:ext uri="{BB962C8B-B14F-4D97-AF65-F5344CB8AC3E}">
        <p14:creationId xmlns:p14="http://schemas.microsoft.com/office/powerpoint/2010/main" val="1633407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4912C-5EDF-43A2-9491-7D6F94F9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分享你的觀察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5681FC-7F39-4FF9-924C-01055EF7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Share your observations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771953-6AB5-4A83-9E56-F6DE0CAC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B9E97-4BB4-4CA2-BA81-74162E56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你改了哪些訓練例子？模型有甚麼改變？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27B6F-11FD-4A67-B226-78C7A75F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What training examples did you change? What happened?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07C05-8D59-4BD6-BAB5-22F299DA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為甚麼要用模型未見過的新圖片來測試？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B71750-8714-4309-8980-843BE99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Why test with new images the model has not seen?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539D28-D78A-4DC4-9A51-C4D6AEE9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模型猜得很有信心，還需要人檢查嗎？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BCC7B-8800-4BB1-86AF-E2E7D05B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If the model looks confident, do we still need to check?</a:t>
            </a:r>
          </a:p>
        </p:txBody>
      </p:sp>
    </p:spTree>
    <p:extLst>
      <p:ext uri="{BB962C8B-B14F-4D97-AF65-F5344CB8AC3E}">
        <p14:creationId xmlns:p14="http://schemas.microsoft.com/office/powerpoint/2010/main" val="1138446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2026-10-06T08:53:55.5480000Z</dcterms:created>
  <dcterms:modified xsi:type="dcterms:W3CDTF">2026-10-06T08:53:55.5480000Z</dcterms:modified>
</coreProperties>
</file>